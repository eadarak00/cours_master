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66" r:id="rId13"/>
    <p:sldId id="267" r:id="rId14"/>
    <p:sldId id="268" r:id="rId15"/>
    <p:sldId id="269" r:id="rId16"/>
    <p:sldId id="272" r:id="rId17"/>
    <p:sldId id="273" r:id="rId18"/>
    <p:sldId id="270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301" r:id="rId34"/>
    <p:sldId id="300" r:id="rId35"/>
    <p:sldId id="290" r:id="rId36"/>
    <p:sldId id="291" r:id="rId37"/>
    <p:sldId id="299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302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78" autoAdjust="0"/>
    <p:restoredTop sz="94660"/>
  </p:normalViewPr>
  <p:slideViewPr>
    <p:cSldViewPr snapToGrid="0">
      <p:cViewPr varScale="1">
        <p:scale>
          <a:sx n="96" d="100"/>
          <a:sy n="96" d="100"/>
        </p:scale>
        <p:origin x="6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B85B5B-03D1-4171-9D1D-EB9907A45893}" type="datetimeFigureOut">
              <a:rPr lang="fr-FR" smtClean="0"/>
              <a:t>15/01/2025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4B39D9-EE15-4F1A-AFFA-1E3402E613A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2489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B39D9-EE15-4F1A-AFFA-1E3402E613A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217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99E7DBD-1DB1-4A0F-B4D0-194B172FB395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7EF5D-837F-4D04-AA7C-E7E6278E615A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0806-D36F-4983-981C-01444258F8AF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C5940-DE9B-40F9-987E-1CE5FA57F996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A7CE1A-6E12-4CF5-BF76-F27D98D0771F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8C1743-7F41-4075-B083-C9F0B43122DF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E09A2-61FE-4D70-A56D-88CE421F4301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84E5BA-98EA-4089-B34C-8FB6275687A9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453F5-435E-4308-9ABA-E69710EE9615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286F2-01F5-40B1-B930-799CCC82F62E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E30D78-B1F0-4AE4-93EB-4FFD2D9D02B0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2AFA02-B019-4B13-9126-D2CD87514766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C2EB0-2E10-4831-B90A-FEBEFEBB0C32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751E38-FB33-45A6-80F7-8C1358C28D8A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00BD3-E44B-4F62-B227-4942E07246C4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571F-AA08-4270-BCCF-BC7764854A77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C56CE-F845-4F3F-80AD-A3E0E70AC734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B31D0A-8112-4991-AC60-D8EE75804BDD}" type="datetime1">
              <a:rPr lang="en-US" smtClean="0"/>
              <a:t>1/15/25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96980" y="1429555"/>
            <a:ext cx="9710671" cy="1841679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Chapitre I 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langage PL-SQL :</a:t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Procedural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 sous oracle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055099" y="3756585"/>
            <a:ext cx="4434224" cy="1459359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Master 1 Informatique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Année académique 2023 – 2024</a:t>
            </a:r>
          </a:p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Premier semestre</a:t>
            </a:r>
          </a:p>
        </p:txBody>
      </p:sp>
      <p:sp>
        <p:nvSpPr>
          <p:cNvPr id="4" name="Sous-titre 2"/>
          <p:cNvSpPr txBox="1">
            <a:spLocks/>
          </p:cNvSpPr>
          <p:nvPr/>
        </p:nvSpPr>
        <p:spPr>
          <a:xfrm>
            <a:off x="7212169" y="0"/>
            <a:ext cx="4979831" cy="1122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Université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ASSane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Seck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fr-FR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ziguinchor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UFR des sciences et technologies département d’informatique</a:t>
            </a:r>
          </a:p>
        </p:txBody>
      </p:sp>
      <p:sp>
        <p:nvSpPr>
          <p:cNvPr id="5" name="Sous-titre 2"/>
          <p:cNvSpPr txBox="1">
            <a:spLocks/>
          </p:cNvSpPr>
          <p:nvPr/>
        </p:nvSpPr>
        <p:spPr>
          <a:xfrm>
            <a:off x="4055099" y="5782614"/>
            <a:ext cx="4434224" cy="476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Serigne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diagne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4F6E124-684E-94C8-69B0-1C603F2E07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472540" cy="145905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7438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709684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du cours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600502"/>
            <a:ext cx="9905999" cy="62574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structure d’un code PL-SQL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L’ent</a:t>
            </a:r>
            <a:r>
              <a:rPr lang="fr-FR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ê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déclarations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corps du programme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bases du PL-SQL sous Oracle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variables et les constantes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L’affectation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opérateurs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commentaires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L’affichage à l’écran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instructions conditionnelles et les boucles</a:t>
            </a:r>
          </a:p>
          <a:p>
            <a:pPr marL="51435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sous-programmes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triggers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fonctions et les procédures stockées</a:t>
            </a:r>
          </a:p>
          <a:p>
            <a:pPr marL="514350" lvl="0" indent="-514350">
              <a:buFont typeface="+mj-lt"/>
              <a:buAutoNum type="roman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enregistrements et les curseurs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curseurs</a:t>
            </a:r>
          </a:p>
          <a:p>
            <a:pPr marL="971550" lvl="1" indent="-514350">
              <a:buFont typeface="+mj-lt"/>
              <a:buAutoNum type="arabi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enregistrements</a:t>
            </a:r>
          </a:p>
          <a:p>
            <a:pPr marL="514350" indent="-514350">
              <a:buFont typeface="+mj-lt"/>
              <a:buAutoNum type="romanUcPeriod"/>
            </a:pP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romanUcPeriod"/>
            </a:pPr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1" y="6238116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0268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17431"/>
          </a:xfrm>
        </p:spPr>
        <p:txBody>
          <a:bodyPr/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0006" y="1468191"/>
            <a:ext cx="11341994" cy="4790941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plupart des SGBD relationnels implémente le langage SQL pour la création, la manipulation et le contrôle des bases de données relationnelles ;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ne permet pas une programmation avancée ;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Ainsi des fonctionnalités supplémentaires y sont ajoutées pour permettre de faire de la programmation procédurale dans les SGBD relationnels ;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Plusieurs langages sont issus de l’amélioration de SQL 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PL/SQL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Procedural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SQL) sous Oracle et MySQL, 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SQL Server,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PL/</a:t>
            </a:r>
            <a:r>
              <a:rPr lang="fr-FR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pgSQL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</a:t>
            </a:r>
            <a:r>
              <a:rPr lang="fr-F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etc. 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1" y="6259132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271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La structure d’un Code PL-SQL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137893"/>
            <a:ext cx="9905999" cy="44198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programme PL-SQL est composé généralement de trois parties 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entête 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déclarations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corps.</a:t>
            </a: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>
          <a:xfrm>
            <a:off x="11047411" y="6192624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055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3944" y="1742301"/>
            <a:ext cx="11548056" cy="511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L’entête d’un module PL/SQL contient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type de programme à créer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nom et éventuellement ses arguments (fonction et procédure) ;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domaine de la valeur de retour (fonction)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moment et l’évènement ainsi que la table sur laquelle elle porte (trigger).</a:t>
            </a:r>
          </a:p>
          <a:p>
            <a:pPr marL="0" indent="0">
              <a:buNone/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Syntaxe :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Module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Nom_Module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[(Var1 [Type]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Var2 [Type]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 [</a:t>
            </a: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[Moment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Evenement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Row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1. L’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entete</a:t>
            </a:r>
            <a:endParaRPr lang="fr-FR" sz="2800" dirty="0"/>
          </a:p>
        </p:txBody>
      </p:sp>
      <p:sp>
        <p:nvSpPr>
          <p:cNvPr id="13" name="Espace réservé du numéro de diapositive 12"/>
          <p:cNvSpPr>
            <a:spLocks noGrp="1"/>
          </p:cNvSpPr>
          <p:nvPr>
            <p:ph type="sldNum" sz="quarter" idx="12"/>
          </p:nvPr>
        </p:nvSpPr>
        <p:spPr>
          <a:xfrm>
            <a:off x="11047411" y="618352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La structure d’un Code PL-SQL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33073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05040"/>
            <a:ext cx="11050588" cy="5552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déclarations sont faites juste après l’entête 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Curseur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Enregistrement, etc.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Elle est ouverte par le mot clé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Domaine_1 := valeur ;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Domaine_2 ;</a:t>
            </a:r>
            <a:endParaRPr lang="fr-F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Espace réservé du numéro de diapositive 18"/>
          <p:cNvSpPr>
            <a:spLocks noGrp="1"/>
          </p:cNvSpPr>
          <p:nvPr>
            <p:ph type="sldNum" sz="quarter" idx="12"/>
          </p:nvPr>
        </p:nvSpPr>
        <p:spPr>
          <a:xfrm>
            <a:off x="11047411" y="6210820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La structure d’un Code PL-SQL</a:t>
            </a:r>
            <a:endParaRPr lang="fr-FR" dirty="0"/>
          </a:p>
        </p:txBody>
      </p:sp>
      <p:sp>
        <p:nvSpPr>
          <p:cNvPr id="13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2. Les déclarations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145586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305040"/>
            <a:ext cx="11050588" cy="555296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corps d’un programme PL/SQL est ouvert par le mot-clé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fermé par le mot-clé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Toutes les instructions doivent être écrites entre ces deux mots-clés.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défaut, pour exécuter un programme PL/SQL sous Oracle on ferme le code par le caractère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"/".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Instruction_1 ;</a:t>
            </a:r>
          </a:p>
          <a:p>
            <a:pPr marL="914400" lvl="2" indent="0">
              <a:buNone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Instruction_2 ;</a:t>
            </a:r>
          </a:p>
          <a:p>
            <a:pPr marL="457200" lvl="1" indent="0">
              <a:buNone/>
            </a:pP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457200" lvl="1" indent="0">
              <a:buNone/>
            </a:pPr>
            <a:r>
              <a:rPr lang="fr-FR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1047411" y="6183524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La structure d’un Code PL-SQL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 3. Le corps du programme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5989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468192"/>
            <a:ext cx="11050588" cy="53898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Les variables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syntaxe de la déclaration d’une variable est la suivante :</a:t>
            </a:r>
          </a:p>
          <a:p>
            <a:pPr marL="457200" lvl="1" indent="0">
              <a:buNone/>
            </a:pPr>
            <a:r>
              <a:rPr lang="fr-FR" sz="24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		Type ;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plusieurs variables doivent être déclarées, on utilise une seule fois le mot-clé </a:t>
            </a:r>
            <a:r>
              <a:rPr lang="fr-FR" sz="28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(18)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1047411" y="6320002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1. Les variables et les constantes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242330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1742301"/>
            <a:ext cx="11050588" cy="511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Les constantes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la déclaration d’une constante, entre l’identificateur de la constante et son type on utilise le mot-clé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La syntaxe est la suivante :</a:t>
            </a:r>
            <a:endParaRPr lang="fr-F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Const_1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Domaine := valeur ;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:= 3.14 ;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:= 25 ;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1047411" y="6238116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1. Les variables et les constantes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66555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965915" y="1742300"/>
            <a:ext cx="11226085" cy="51156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L'affectation d'une valeur à une variable peut se faire de différentes manières en PL/SQL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 lors de la déclaration 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id_variable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Domaine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Affectation d'une valeur à une variable déjà déclarée :</a:t>
            </a:r>
          </a:p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id_variable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:=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Affectation du résultat d'une requête à une variable :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Attribut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id_variable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[</a:t>
            </a:r>
            <a:r>
              <a:rPr lang="en-GB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condition(s)]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11047411" y="6238115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2. L’affectation d’une valeur à une variable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2574769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"/>
          </p:nvPr>
        </p:nvSpPr>
        <p:spPr>
          <a:xfrm>
            <a:off x="862885" y="1305040"/>
            <a:ext cx="11329115" cy="555295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faut veiller à ce que le résultat de la requête puise être affecté à la variable, cela veut dire :</a:t>
            </a:r>
          </a:p>
          <a:p>
            <a:pPr lvl="1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la requête renvoie une valeur, son type doit être compatible à celui de la variable ;</a:t>
            </a:r>
          </a:p>
          <a:p>
            <a:pPr lvl="1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la requête renvoie plusieurs valeurs ou lignes, la variable doit pouvoir les contenir.</a:t>
            </a:r>
          </a:p>
          <a:p>
            <a:pPr marL="0" indent="0">
              <a:buNone/>
            </a:pPr>
            <a:r>
              <a:rPr lang="en-US" sz="28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	Integer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78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y 	Char(9) ;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z 	Date 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:= ‘202406235’ 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DateNaiss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M1Informatique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Matricule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y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>
          <a:xfrm>
            <a:off x="11047411" y="6238116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9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2. L’affectation d’une valeur à une variable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210793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2" y="2055667"/>
            <a:ext cx="11050588" cy="45383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 les autres langages de programmation le PL/SQL permet l'utilisation d'opérateurs pour effectuer des calculs ou des comparaisons 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Arithmétiques : + ; - ; * ; /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Comparaison : = ; &lt;&gt; / != ; &lt;= ; &gt;= ; &lt; ; &gt;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Booléens :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; OR ; NOT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Ensemblistes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IS NULL ; LIKE ; BETWEEN ; IN ; ANY; NOT IN ; ||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047410" y="622885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3. Les opérateurs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6638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0724" y="1841679"/>
            <a:ext cx="11051276" cy="4913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donner des explications dans un code PL/SQL, il est possible d'y intégrer des commentaires pour faciliter la compréhension du code. Il existe deux manières de commenter un code PL/SQL 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Commentaires sur une seule ligne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/*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Commentaire 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sur plusieurs</a:t>
            </a: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lignes 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*/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047410" y="622350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4. Les commentaires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570239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21217" y="1305040"/>
            <a:ext cx="11470783" cy="555295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L'affichage à l'écran se fait avec </a:t>
            </a:r>
            <a:r>
              <a:rPr lang="fr-FR" sz="3200" b="1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selon les syntaxes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id_variable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fr-F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fr-F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(‘Texte à afficher’) ;</a:t>
            </a:r>
          </a:p>
          <a:p>
            <a:pPr marL="0" indent="0">
              <a:buNone/>
            </a:pPr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afficher le contenu d’une variable et une chaine littérale, on utilise l’opérateur de concaténation </a:t>
            </a:r>
            <a:r>
              <a:rPr lang="fr-FR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||</a:t>
            </a:r>
            <a:r>
              <a:rPr lang="fr-F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</a:t>
            </a:r>
          </a:p>
          <a:p>
            <a:pPr marL="0" indent="0">
              <a:buNone/>
            </a:pPr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32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fr-FR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(‘Texte à afficher’ || </a:t>
            </a:r>
            <a:r>
              <a:rPr lang="fr-FR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id_variable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r>
              <a:rPr lang="fr-FR" sz="3200" b="1" dirty="0"/>
              <a:t> </a:t>
            </a:r>
          </a:p>
          <a:p>
            <a:pPr marL="0" indent="0">
              <a:buNone/>
            </a:pPr>
            <a:r>
              <a:rPr lang="fr-FR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9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sz="29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	Char(8)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‘Alphabet’ ;</a:t>
            </a:r>
            <a:endParaRPr lang="fr-FR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y	</a:t>
            </a:r>
            <a:r>
              <a:rPr lang="fr-FR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(25) </a:t>
            </a:r>
            <a:r>
              <a:rPr lang="fr-FR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</a:t>
            </a:r>
            <a:r>
              <a:rPr lang="fr-FR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'Une chaine de caractères' ;</a:t>
            </a:r>
          </a:p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29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sz="29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9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sz="29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x) ; -- </a:t>
            </a:r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Affiche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Alphabet</a:t>
            </a:r>
            <a:endParaRPr lang="fr-FR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sz="2900" b="1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fr-FR" sz="2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(‘La valeur de x est ’ || x) ; -- Affiche : La valeur de x est Alphabet</a:t>
            </a:r>
          </a:p>
          <a:p>
            <a:pPr marL="0" indent="0">
              <a:buNone/>
            </a:pPr>
            <a:r>
              <a:rPr lang="fr-FR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9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sz="29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fr-FR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1047410" y="6296167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1141413" y="750628"/>
            <a:ext cx="9905998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5. L’affichage à l’écran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4219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20254" y="1305040"/>
            <a:ext cx="11071746" cy="555296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Les instructions conditionnelles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PL/SQL (sous Oracle) nous avons les instructions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1. L’Instruction IF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Instruction(s) ;	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ElsIf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Instruction(s) ;		</a:t>
            </a:r>
            <a:r>
              <a:rPr lang="en-GB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Instruction(s) ;]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If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047410" y="6231772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6. Les instructions conditionnelles et les boucles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644836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7127" y="1305040"/>
            <a:ext cx="11354873" cy="5552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2. </a:t>
            </a:r>
            <a:r>
              <a:rPr lang="en-GB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L’Instruction</a:t>
            </a:r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Case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id_variable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/Expression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Valeur_1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Instruction(s) ;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Valeur_n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Instruction(s) ; 			    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[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Instruction(s) ;]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Case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						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Condition_1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Instruction(s) ;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Condition_n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Instruction(s) ;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[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Instruction(s) ;]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Case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047410" y="6269640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6. Les instructions conditionnelles et les boucles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50393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37127" y="1305040"/>
            <a:ext cx="11354873" cy="5552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Les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boucles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 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Instruction(s) ;					Instruction(s)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Loop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Condition]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Loop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compteur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Val_Min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..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Val_Max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Instruction (s)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Loop</a:t>
            </a: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 commande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d’arrêter l'exécution de la boucle dans laquelle elle est placée ;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1047410" y="6289246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Les bases du PL-SQL sous oracle</a:t>
            </a:r>
            <a:endParaRPr lang="fr-FR" dirty="0"/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II. 6. Les instructions conditionnelles et les boucles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04832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305040"/>
            <a:ext cx="11050589" cy="55529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trigger est un objet de base de données associé à une table et une seule table.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exécution est déclenchée par la survenance d’une action bien déterminée à un moment donné.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Chaque trigger est lié à un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évènement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un </a:t>
            </a:r>
            <a:r>
              <a:rPr lang="fr-FR" sz="2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Moment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indique à quel moment le trigger doit être appelé. Il prend les valeurs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(avant l'exécution de la requête qui appelle le trigger) ou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(après l'exécution de la requête qui appelle le trigger)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Événement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donne l'opération qui déclenche l'exécution du trigger. Les opérations possibles sont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27905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872322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triggers doivent respecter les conditions suivantes 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trigger ne peut pas être placé sur une vue ou sur une table temporaire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Deux triggers de même moment et même évènement ne peuvent porter sur la même table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nécessaire d’être super-utilisateur pour créer, modifier ou supprimer un trigger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l'exécution d'un trigger dont le moment est BEFORE échoue, l’exécution de la requête qui l'a appelé échoue également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seule manière d’interrompre l'exécution d'un trigger est de provoquer une erreur en son sein.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27905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022492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syntaxe de la création d'un trigger est :</a:t>
            </a:r>
          </a:p>
          <a:p>
            <a:pPr marL="0" indent="0">
              <a:buNone/>
            </a:pP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TRIGGER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Nom_Tigger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Moment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Evenement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Nom_Table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[</a:t>
            </a:r>
            <a:r>
              <a:rPr lang="en-GB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Row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sz="28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V1		Type 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V2		Type 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sz="2800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(s) ;</a:t>
            </a:r>
          </a:p>
          <a:p>
            <a:pPr marL="0" indent="0">
              <a:buNone/>
            </a:pPr>
            <a:r>
              <a:rPr lang="fr-FR" sz="28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trigger est appelé de manière automatique selon son événement et son moment.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861434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 et New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le corps d'un trigger, on peut faire référence aux colonnes de la table associée au trigger en utilisant les mots clés 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:Old</a:t>
            </a:r>
            <a:r>
              <a:rPr lang="fr-FR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fr-FR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:New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Old.</a:t>
            </a:r>
            <a:r>
              <a:rPr lang="fr-FR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Col_name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référence à la valeur de l’attribut pour un enregistrement déjà inséré dans la base avant sa modification ou sa suppression 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4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New.</a:t>
            </a:r>
            <a:r>
              <a:rPr lang="fr-FR" sz="2400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Col_name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référence à la valeur de l’attribut pour un enregistrement qui sera inséré après l'exécution du trigger.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646862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Remarques</a:t>
            </a:r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L'utilisation de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New.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Col_name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requiert le droit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la colonne 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L'utilisation de 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 :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New.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Col_name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requiert le droit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 la colonne ; 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commande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TRIGGER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requiert le droit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l’évènement est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:Old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n’a pas de valeur et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:New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contient les nouvelles valeurs ;</a:t>
            </a:r>
          </a:p>
          <a:p>
            <a:pPr lvl="0"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l’évènement est 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:Old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contient les anciennes valeurs et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:New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nouvelles valeurs ;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 l’évènement est </a:t>
            </a:r>
            <a:r>
              <a:rPr lang="fr-FR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:Old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contient les anciennes valeurs et </a:t>
            </a: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:New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n’a pas de valeur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4175519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910686"/>
            <a:ext cx="11050589" cy="49473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prédicats conditionnels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Inserting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fr-FR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8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Deleting</a:t>
            </a:r>
            <a:endParaRPr lang="fr-FR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est possible qu’un trigger comporte plusieurs évènements séparés par l’opérateur OR (par exemple 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fr-FR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ce cas, on peut utiliser les prédicats conditionnels 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Inserting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Deleting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fr-FR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pour exécuter des blocs de code spécifiques à chaque évènement.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888951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305040"/>
            <a:ext cx="11050589" cy="5552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Trigger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Nom_Trigger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Insert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row 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…………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.......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 If 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Then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........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If 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8544316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peut être suivi d'un nom de colonne : </a:t>
            </a:r>
          </a:p>
          <a:p>
            <a:pPr marL="0" indent="0">
              <a:buNone/>
            </a:pP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Trigger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 Before Update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Commission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each Row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dirty="0">
              <a:solidFill>
                <a:schemeClr val="accent6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……….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Updating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('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Salaire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') Then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........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End If ; 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1. Les triggers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913944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305040"/>
            <a:ext cx="11050589" cy="555296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Les procédures stockées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Nom_Procedure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INOUT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Type)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v1	Type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v2	Type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Instruction(s) 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Nom_Procedure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Valeur_Arguments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2. Les fonctions et les procédures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393516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610436"/>
            <a:ext cx="11050589" cy="52475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une procédure stockée la partie contenant les déclarations ne commence pas par </a:t>
            </a: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mais plutôt par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argument peut être en entrée (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en sortie (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ou en entrée et sortie (</a:t>
            </a: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InOut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argument en entrée (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est un argument dont la valeur avant le début de l’exécution de la procédure peut être utilisée dans le corps de la procédure ;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argument en sortie (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est un argument dont la valeur obtenue durant l’exécution de la procédure peut être utilisée après l’exécution de la procédure 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argument en entrée-sortie (</a:t>
            </a: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InOut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fait les deux à la fois.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2. Les fonctions et les procédures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55057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Les fonctions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(arg_1 type, arg_2 type, … ,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arg_n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type)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Type_Retour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v1	Type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v2	Type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	Instruction(s)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	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Variable_Retour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2. Les fonctions et les procédures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2149047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Dans une fonction la partie contenant les déclarations ne commence pas par </a:t>
            </a: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mais plutôt par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comme pour les procédures stockées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fonction est appelée comme suit 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Id_Var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Type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id_Var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:=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Nom_Fonction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Valeur_Arguments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id_Var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2. Les fonctions et les procédures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65676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1473958"/>
            <a:ext cx="11050589" cy="538404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Quelques fonctions utiles 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Concat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(c1, c2, 'Chaine 3', c4, …., 'Chaine n' ) : Elle permet de concaténer deux ou plusieurs chaines de caractères. Elle permet aussi de concaténer une chaine et un entier.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(var,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debut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nb_caracteres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: Elle permet d'extraire une sous-chaine d'une chaine de caractères. Dans cette syntaxe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</a:t>
            </a:r>
            <a:r>
              <a:rPr lang="fr-F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la variable contenant la chaine dans laquelle on veut extraire la sous-chaine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debut</a:t>
            </a:r>
            <a:r>
              <a:rPr lang="fr-F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la position du premier caractère à extraire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nb_caracteres</a:t>
            </a:r>
            <a:r>
              <a:rPr lang="fr-F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le nombre de caractères à extraire.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Current_Date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SysDate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Ces fonctions renvoient une date sous le format : JJ/MM/AA.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Current_Date</a:t>
            </a:r>
            <a:r>
              <a:rPr lang="fr-F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donne la date du jour ;		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2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SysDate</a:t>
            </a:r>
            <a:r>
              <a:rPr lang="fr-FR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donne la date du système.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2. Les fonctions et les procédures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1969494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41411" y="2936383"/>
            <a:ext cx="11050589" cy="3921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 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l’entête d’une procédure ou d’une fonction </a:t>
            </a:r>
            <a:r>
              <a:rPr lang="fr-FR" b="1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b="1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 sont pas suivis d’une précision pour la taille.</a:t>
            </a:r>
            <a:endParaRPr lang="fr-FR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III. Les sous-Programmes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2. Les fonctions et les procédures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679695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584101"/>
            <a:ext cx="11457904" cy="527389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curseur est une zone mémoire utilisée par le moteur de base de données Oracle pour analyser et interpréter tout ordre SQL.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curseur est une structure permettant de stocker plusieurs enregistrements.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existe deux types de curseur 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curseurs implicites créés, utilisés et gérés par Oracle pour traiter les ordres SQL ;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curseurs explicites créés et utilisés par l’utilisateur pour exploiter le résultat d’une requête SQL.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 :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Tous les curseurs explicites utilisés dans le corps d’une routine doivent être déclarés dans la partie déclarative.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17687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841680"/>
            <a:ext cx="11457904" cy="50163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Dans le reste de la présentation, on utilise la table Etudiant définie comme suit :</a:t>
            </a:r>
          </a:p>
          <a:p>
            <a:pPr marL="0" indent="0" algn="ctr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Nom,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Age, Adresse)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Matricule	: char(5)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		: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(15)</a:t>
            </a:r>
          </a:p>
          <a:p>
            <a:pPr marL="0" indent="0">
              <a:buNone/>
            </a:pP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: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(25)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		: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SmallInt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Adresse	: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(30)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3357183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403798"/>
            <a:ext cx="11457904" cy="54542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 algn="ctr">
              <a:buNone/>
            </a:pP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Nom_Curseur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Requete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 :</a:t>
            </a:r>
          </a:p>
          <a:p>
            <a:pPr marL="0" indent="0" algn="just">
              <a:buNone/>
            </a:pP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 (x In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 Out Char)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marL="0" indent="0" algn="just">
              <a:buNone/>
            </a:pP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C1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Nom,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Age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Etudiant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 &gt;= 18 and Age &lt;= 20 ;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Instruction(s) ;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617472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687132"/>
            <a:ext cx="11457904" cy="51708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curseur peut être parcouru avec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ou en utilisant la boucle 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Parcours avec FETCH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Pour exploiter un curseur avec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 doit l’ouvrir, le parcourir et le fermer à la fin.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Nom_Cursor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Nom_Curseur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Liste, Variables | Enregistrement 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Nom_Cursor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ramène une seule ligne à la fois, pour traiter plusieurs lignes, il faut une boucle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7337760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6" y="1584101"/>
            <a:ext cx="11457904" cy="53683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Test_Parcours_Fetch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(x In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y In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</a:p>
          <a:p>
            <a:pPr marL="0" indent="0" algn="just">
              <a:buNone/>
            </a:pP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C1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Nom,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Age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Etudiant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 &gt;= x and Age &lt;= y ;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	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Etudiant.Age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%Type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	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	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Default 0 ;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	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Etudiant.Nom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%Type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 </a:t>
            </a:r>
          </a:p>
          <a:p>
            <a:pPr marL="0" indent="0" algn="just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	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Etudiant.Prenom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%Type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36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0029442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210614"/>
            <a:ext cx="11457904" cy="564738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Select count(*)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nb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Etudiant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 &gt;= x and Age &lt;= y 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Open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C1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nb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Fetch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C1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n, p, a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(n || '   ' || p || '   ' || a)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:=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+ 1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End Loop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Close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C1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1131824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742302"/>
            <a:ext cx="11457904" cy="511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Parcours avec la boucle FOR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est possible d’utiliser la boucle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exploiter un curseur. Cette manière de faire est plus simple dans la mesure où, cette boucle permet de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Déclarer implicitement la variable de parcours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Ouvrir le curseur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Réaliser les </a:t>
            </a:r>
            <a:r>
              <a:rPr lang="fr-FR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successifs 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Fermer le curseur à la fin 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Arrêter le parcours quand il n’y a plus d’enregistrements.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90774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742301"/>
            <a:ext cx="11457904" cy="51156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Procedure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Test_Parcours_For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 In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C2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* From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Where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C2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i.Nom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 ' ||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i.Prenom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 ' ||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i.Age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 ' ||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i.Adresse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End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1. Les </a:t>
            </a:r>
            <a:r>
              <a:rPr lang="fr-FR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cursEurs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23218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6" y="1481070"/>
            <a:ext cx="11457904" cy="53769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existe deux types d’enregistrement : des enregistrements basés sur les une table ou un curseur et des enregistrements qui ne se basent ni sur une table, ni sur un curseur.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Enregistrement basé sur une table ou un curseur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syntaxe de la déclaration d’un enregistrement basé sur une table ou un curseur est :</a:t>
            </a:r>
          </a:p>
          <a:p>
            <a:pPr marL="0" indent="0" algn="ctr">
              <a:buNone/>
            </a:pP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Nom_Enreg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NomObjet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fr-FR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Rowtype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Remarque :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on utilise </a:t>
            </a: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pour affecter une ligne dans un curseur à un enregistrement (Record), on utilise la syntaxe suivante :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Nom_Curseur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Nom_Enreg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2. Les enregistrements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905431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305040"/>
            <a:ext cx="11457904" cy="55529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C3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*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E     C3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Rowtype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Open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C3 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Loop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	Fetch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C3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 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C3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%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NotFound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E.Matricule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E.Nom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E.Prenom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E.Age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E.Adresse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Loop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	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C3 ;</a:t>
            </a:r>
            <a:endParaRPr lang="fr-FR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2. Les enregistrements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52603838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596980"/>
            <a:ext cx="11457904" cy="5261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Enregistrement non basé sur une table ou un curseur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syntaxe de la déclaration d’un enregistrement non basé sur une table ou un curseur est 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Nom_Enreg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RECORD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	Champ1  Domaine1  [NOT NULL]  [:= DEFAULT EXPRESSION],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	Champ2  Domaine2   [NOT NULL]  [:= DEFAULT EXPRESSION],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ea typeface="Arial Unicode MS" panose="020B0604020202020204" pitchFamily="34" charset="-128"/>
                <a:cs typeface="Times New Roman" panose="02020603050405020304" pitchFamily="18" charset="0"/>
              </a:rPr>
              <a:t>				…………………….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ChampN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[NOT NULL]  [:= DEFAULT EXPRESSION]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2. Les enregistrements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9005163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734097" y="1305040"/>
            <a:ext cx="11457904" cy="55529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Declare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TYPE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E1 IS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Name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(15) Not Null,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Pre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(25) Not Null,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Ag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SmallInt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varchar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(30)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)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M	E1 ; 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Cursor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C4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Select Nom,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Age,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Adresse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2. Les enregistrements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9707738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5003" y="1305040"/>
            <a:ext cx="11766998" cy="5552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Begin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Open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C4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Loop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Fetch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C4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C4%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NotFound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Dbms_Output.Put_Line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M.Name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M.Pre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M.Ag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|| '  ' ||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M.Adr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Loop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C4 ;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 ;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Les enregistrements et les curseurs</a:t>
            </a:r>
            <a:endParaRPr lang="fr-FR" dirty="0"/>
          </a:p>
        </p:txBody>
      </p:sp>
      <p:sp>
        <p:nvSpPr>
          <p:cNvPr id="8" name="Titre 1"/>
          <p:cNvSpPr txBox="1">
            <a:spLocks/>
          </p:cNvSpPr>
          <p:nvPr/>
        </p:nvSpPr>
        <p:spPr>
          <a:xfrm>
            <a:off x="643944" y="750628"/>
            <a:ext cx="10921284" cy="554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IV. 2. Les enregistrements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785384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0551" y="1622738"/>
            <a:ext cx="10017100" cy="52352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fr-FR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 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Matricule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Nom, </a:t>
            </a:r>
            <a:r>
              <a:rPr lang="fr-FR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Prenom</a:t>
            </a:r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Age, Adresse)</a:t>
            </a: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Ecrivez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function qui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renvoie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nom du plus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jeune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Ecrivez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procedure qui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affiche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le nom, le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prénom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l’adresse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qui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habitent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ensemble ;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Ecrivez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 trigger qui attribute un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nouveau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étudiant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inscrit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Les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matricules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sont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'AANUM' (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22038)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11047410" y="6320003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z="1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734096" y="0"/>
            <a:ext cx="10573555" cy="991673"/>
          </a:xfrm>
        </p:spPr>
        <p:txBody>
          <a:bodyPr>
            <a:normAutofit/>
          </a:bodyPr>
          <a:lstStyle/>
          <a:p>
            <a:pPr algn="ctr"/>
            <a:r>
              <a:rPr lang="fr-F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V. cas pratique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502458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5156</TotalTime>
  <Words>4017</Words>
  <Application>Microsoft Macintosh PowerPoint</Application>
  <PresentationFormat>Grand écran</PresentationFormat>
  <Paragraphs>492</Paragraphs>
  <Slides>45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45</vt:i4>
      </vt:variant>
    </vt:vector>
  </HeadingPairs>
  <TitlesOfParts>
    <vt:vector size="51" baseType="lpstr">
      <vt:lpstr>Arial</vt:lpstr>
      <vt:lpstr>Calibri</vt:lpstr>
      <vt:lpstr>Times New Roman</vt:lpstr>
      <vt:lpstr>Tw Cen MT</vt:lpstr>
      <vt:lpstr>Wingdings</vt:lpstr>
      <vt:lpstr>Circuit</vt:lpstr>
      <vt:lpstr>Chapitre I  Le langage PL-SQL : Procedural SQL sous oracle</vt:lpstr>
      <vt:lpstr>Plan du cours</vt:lpstr>
      <vt:lpstr>Introduction</vt:lpstr>
      <vt:lpstr>I. La structure d’un Code PL-SQL</vt:lpstr>
      <vt:lpstr>I. La structure d’un Code PL-SQL</vt:lpstr>
      <vt:lpstr>I. La structure d’un Code PL-SQL</vt:lpstr>
      <vt:lpstr>I. La structure d’un Code PL-SQL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II. Les bases du PL-SQL sous oracle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III. Les sous-Programmes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IV. Les enregistrements et les curseurs</vt:lpstr>
      <vt:lpstr>V. cas pratique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Chapitre II  Optimisation de schémas relationnels</dc:title>
  <dc:creator>HP PC</dc:creator>
  <cp:lastModifiedBy>Khalifa</cp:lastModifiedBy>
  <cp:revision>218</cp:revision>
  <dcterms:created xsi:type="dcterms:W3CDTF">2021-12-17T14:41:09Z</dcterms:created>
  <dcterms:modified xsi:type="dcterms:W3CDTF">2025-01-15T15:08:21Z</dcterms:modified>
</cp:coreProperties>
</file>