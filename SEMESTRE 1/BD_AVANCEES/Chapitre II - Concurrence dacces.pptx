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94" r:id="rId5"/>
    <p:sldId id="295" r:id="rId6"/>
    <p:sldId id="267" r:id="rId7"/>
    <p:sldId id="290" r:id="rId8"/>
    <p:sldId id="292" r:id="rId9"/>
    <p:sldId id="259" r:id="rId10"/>
    <p:sldId id="260" r:id="rId11"/>
    <p:sldId id="296" r:id="rId12"/>
    <p:sldId id="261" r:id="rId13"/>
    <p:sldId id="268" r:id="rId14"/>
    <p:sldId id="270" r:id="rId15"/>
    <p:sldId id="281" r:id="rId16"/>
    <p:sldId id="271" r:id="rId17"/>
    <p:sldId id="262" r:id="rId18"/>
    <p:sldId id="293" r:id="rId19"/>
    <p:sldId id="297" r:id="rId20"/>
    <p:sldId id="263" r:id="rId21"/>
    <p:sldId id="264" r:id="rId22"/>
    <p:sldId id="26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65" r:id="rId33"/>
    <p:sldId id="298" r:id="rId34"/>
    <p:sldId id="299" r:id="rId35"/>
    <p:sldId id="30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C1532-CDB2-40B3-A03E-DED29B3201E9}" type="datetimeFigureOut">
              <a:rPr lang="fr-FR" smtClean="0"/>
              <a:t>10/03/2025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6819C-47B5-400E-8C09-CF6F246DFA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96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A6819C-47B5-400E-8C09-CF6F246DFA5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698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15F9321-5B42-464C-AA5B-EA524F12A73E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3DD10-FA3D-43F5-8E2E-36CEF621CC65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2BCF-001B-43C8-802B-3B618D2A8563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9C029-B956-4EB6-9837-919C5959166C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9EF6-5D7C-4D8F-BE80-12E163E07B71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38D6-668D-4A44-8857-55603D1C3D43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1992-128E-4D82-AA02-4FF16AFEF52B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C8B9D-D68C-4D33-A14B-C10AB95C7FB1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4CBC-87AC-4CEB-BB5D-1E2E9138E50A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B4B6-5710-4167-808E-E9AE96E791F2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8F422-3F6A-41D3-9464-46EDE94DECC0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04FC1-B64A-4452-8E2B-A8499CB4DA1D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D46E-2F87-4694-840A-BFDD23BFF7AF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EDDE6-6135-4BEF-8778-E4F3049DC2AD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F2AF-4F92-4E27-84B4-3B08E3F76C76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0F50-70F0-4764-A689-97442D2AB4B6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2A36-FC38-440D-8345-9AB1F341FF71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1B829-D439-446C-A4DB-6F494E1338D2}" type="datetime1">
              <a:rPr lang="en-US" smtClean="0"/>
              <a:t>3/10/25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1876423" y="1464806"/>
            <a:ext cx="8791575" cy="143294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II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Concurrence d’accès</a:t>
            </a:r>
          </a:p>
        </p:txBody>
      </p:sp>
      <p:sp>
        <p:nvSpPr>
          <p:cNvPr id="5" name="Sous-titre 2"/>
          <p:cNvSpPr>
            <a:spLocks noGrp="1"/>
          </p:cNvSpPr>
          <p:nvPr>
            <p:ph type="subTitle" idx="1"/>
          </p:nvPr>
        </p:nvSpPr>
        <p:spPr>
          <a:xfrm>
            <a:off x="2653049" y="3240191"/>
            <a:ext cx="7237926" cy="2194694"/>
          </a:xfrm>
        </p:spPr>
        <p:txBody>
          <a:bodyPr>
            <a:no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1 Informatique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Génie logiciel – Réseaux &amp; systèmes 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2023 – 2024</a:t>
            </a:r>
          </a:p>
          <a:p>
            <a:pPr algn="ctr"/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 semestre</a:t>
            </a:r>
          </a:p>
        </p:txBody>
      </p:sp>
      <p:sp>
        <p:nvSpPr>
          <p:cNvPr id="6" name="Sous-titre 2"/>
          <p:cNvSpPr txBox="1">
            <a:spLocks/>
          </p:cNvSpPr>
          <p:nvPr/>
        </p:nvSpPr>
        <p:spPr>
          <a:xfrm>
            <a:off x="7212169" y="0"/>
            <a:ext cx="4979831" cy="112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ASSane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Seck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ziguinchor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UFR des sciences et technologies département d’informatique</a:t>
            </a:r>
          </a:p>
        </p:txBody>
      </p:sp>
      <p:sp>
        <p:nvSpPr>
          <p:cNvPr id="7" name="Sous-titre 2"/>
          <p:cNvSpPr txBox="1">
            <a:spLocks/>
          </p:cNvSpPr>
          <p:nvPr/>
        </p:nvSpPr>
        <p:spPr>
          <a:xfrm>
            <a:off x="4054900" y="5971339"/>
            <a:ext cx="4434224" cy="4765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Serigne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32" y="74732"/>
            <a:ext cx="1105469" cy="10476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783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57589" y="528034"/>
            <a:ext cx="9089822" cy="63299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Qu’est-ce qu’une transaction ?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différents états d’une transaction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Quelques définitions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Problèmes causés par les accès concurrents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Perte de mise à jour (PMAJ)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impropre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non reproductible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Objets fantômes (Références fantômes)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concurrence d’accès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de sauvegarde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Blocage d’utilisateurs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Niveau d’isolation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Verrous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Interblocage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709684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du chapitre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306631" y="630827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1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3513"/>
            <a:ext cx="11701670" cy="5254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Pendant l’utilisation d’une base de données, il arrive que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plusieurs utilisateurs lancent des requêtes simultanément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plusieurs requêtes accèdent simultanément aux ressources (CPU, RAM, etc.)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l’exécution d’une requête soit accidentellement interrompue ;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données soient inaccessibles temporairement ou définitivement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 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853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2EBB-37EA-15E2-B452-9B346A11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23E84-8166-BD5E-0273-EF28AF9C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864F96-1F06-A7D9-3C9E-F8400476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113" y="1577009"/>
            <a:ext cx="11502888" cy="52809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L’administrateur de la base de données a souvent le souci de faire de sorte que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tâche lancée soit intégralement exécutée indépendamment des autres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soient exécutées dans le bon ordre par le SGBD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cohérence de la base et la disponibilité des données soient assurées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aucune mise à jour ne soit perdue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modifiées et non validées ne soient pas accessibles ;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1017C7AD-2214-E7E3-0E62-026CA027D3ED}"/>
              </a:ext>
            </a:extLst>
          </p:cNvPr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9479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3CA7-E7C3-DE26-7616-B8FCDC88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F191B-D318-DC60-D56A-C586F4DA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079B0E-EFA2-0B6A-0470-E6DA0683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86609"/>
            <a:ext cx="11050587" cy="46713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Nécessité d’assurer le contrôle de l’accès aux ressources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faut alors gérer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partage concurrent des données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partage concurrent des ressources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arrêts spontanés d’exécution. 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E2FF94CE-5FC8-1741-E157-93C26D81AF73}"/>
              </a:ext>
            </a:extLst>
          </p:cNvPr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022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33670" y="1775791"/>
            <a:ext cx="11158330" cy="508220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est une suite d’opérations interrogeant et/ou modifiant la base, dans laquelle toutes les opérations doivent être validées ou annulées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Oracle une transaction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commence par un ordre SQL ou la fin de la précédente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termine par un </a:t>
            </a:r>
            <a:r>
              <a:rPr lang="fr-F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(validation) ou un </a:t>
            </a:r>
            <a:r>
              <a:rPr lang="fr-F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(annulation)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opérations constituant une transaction forment une unité d’exécution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succession des opérations d’une transaction doit être cohérente.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transaction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6547" y="751788"/>
            <a:ext cx="52357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I. 1. Qu’est-ce qu’une transaction ?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59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30310" y="1442433"/>
            <a:ext cx="11161690" cy="541556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L’exécution d’une transaction passe par trois étapes différentes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Ouverture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transaction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Exécution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ses opérations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Fermeture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transaction (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peut se trouver dans cinq états différents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Echec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Avortée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Partiellement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transaction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3536" y="811369"/>
            <a:ext cx="54617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I. 2. Étapes et états d’une transaction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65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7791" y="1429555"/>
            <a:ext cx="11404209" cy="542844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la transaction reste dans cet état durant son exécution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Echec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après avoir découvert qu’une exécution "normale" ne peut pas avoir lieu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Avortée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Après que toutes les modifications faites par la transaction soient annulées (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Deux options sont possibles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Ré-exécuter la transaction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Tuer la transaction.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Partiellement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validée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juste après l’exécution de la dernière opération ;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Validée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après validation avec commit.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transaction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3536" y="811369"/>
            <a:ext cx="54617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I. 2. Étapes et états d’une transaction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4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1218" y="1481071"/>
            <a:ext cx="11470782" cy="53769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Exécution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sérialisable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 Une exécution en parallèle de n transactions T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sérialisable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son résultat est équivalent à une exécution en série de ces n transactions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Opérations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commutables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Les opérations A et B sont commutables si l’exécution de A suivie de B est équivalente à celle de B suivie de A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Concurrence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parfaite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Si chaque opération de chaque transaction est exécutée dès son arrivée, on parle de concurrence parfaite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 concurrent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Il y a un accès concurrent lorsque plusieurs transactions accèdent en même temps à la même donnée dans une base de données ;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transaction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0661" y="816183"/>
            <a:ext cx="46875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I. 3. Quelques définitions utiles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90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transaction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695459" y="1609859"/>
            <a:ext cx="11496541" cy="52481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Entrelacement d’opérations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 parle d’entrelacement si le serveur ne peut plus exécuter des transactions du fait de l’inter-blocage de leurs opérations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serveur de données étant multi-utilisateur et multitâche, il exécute les transactions en parallèle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exécuter correctement les transactions, un entrelacement des opérations est modifié en retardant l’exécution de certaines d’entre elles.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procédé peut engendrer des pertes de performance.</a:t>
            </a:r>
          </a:p>
          <a:p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0661" y="816183"/>
            <a:ext cx="46875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I. 3. Quelques définitions utiles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4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54C7-D907-6A84-3932-99516AE7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3A9A888-FCA8-7569-8E72-9F7F35C27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817" y="2232213"/>
            <a:ext cx="6496489" cy="2864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Perte de mises à jour ;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impropre ;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non reproductible ;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Objets fantômes (références fantômes).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8F927EF0-D4C0-6E9E-C373-593B886A575C}"/>
              </a:ext>
            </a:extLst>
          </p:cNvPr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EF84E5E-F7E8-0AED-0887-AE4C601D593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Problèmes causés par l’accès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3690405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0"/>
            <a:ext cx="12192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Problèmes causés par l’accès concurrents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4625895" y="1884348"/>
            <a:ext cx="0" cy="4135368"/>
          </a:xfrm>
          <a:prstGeom prst="straightConnector1">
            <a:avLst/>
          </a:prstGeom>
          <a:ln w="66675" cmpd="sng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03653" y="2248322"/>
            <a:ext cx="3022242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Op11: Lire (S)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Op12: S = S – 8</a:t>
            </a:r>
          </a:p>
          <a:p>
            <a:r>
              <a:rPr lang="fr-FR" sz="2800" dirty="0">
                <a:latin typeface="Times New Roman" panose="02020603050405020304" pitchFamily="18" charset="0"/>
              </a:rPr>
              <a:t>Op13: Ecrire (S)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Commit</a:t>
            </a:r>
            <a:endParaRPr lang="fr-FR" sz="2800" dirty="0"/>
          </a:p>
        </p:txBody>
      </p:sp>
      <p:sp>
        <p:nvSpPr>
          <p:cNvPr id="8" name="Rectangle 7"/>
          <p:cNvSpPr/>
          <p:nvPr/>
        </p:nvSpPr>
        <p:spPr>
          <a:xfrm>
            <a:off x="4788538" y="2755604"/>
            <a:ext cx="313197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Op21: Lire (S)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Op22: S = S – 13</a:t>
            </a:r>
          </a:p>
          <a:p>
            <a:r>
              <a:rPr lang="fr-FR" sz="2800" dirty="0">
                <a:latin typeface="Times New Roman" panose="02020603050405020304" pitchFamily="18" charset="0"/>
              </a:rPr>
              <a:t>OP23: Ecrire (S)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endParaRPr lang="fr-FR" sz="8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Commit</a:t>
            </a:r>
            <a:endParaRPr lang="fr-FR" sz="2800" dirty="0"/>
          </a:p>
        </p:txBody>
      </p:sp>
      <p:sp>
        <p:nvSpPr>
          <p:cNvPr id="9" name="Rectangle 8"/>
          <p:cNvSpPr/>
          <p:nvPr/>
        </p:nvSpPr>
        <p:spPr>
          <a:xfrm>
            <a:off x="2868556" y="1622738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94213" y="1622738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7740203" y="1884348"/>
            <a:ext cx="0" cy="4140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920508" y="1622738"/>
            <a:ext cx="3022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48750" y="2248322"/>
            <a:ext cx="2374336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75 boites</a:t>
            </a: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6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67 boites</a:t>
            </a: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endParaRPr lang="fr-FR" sz="14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62 boites</a:t>
            </a:r>
            <a:endParaRPr lang="fr-FR" sz="1100" dirty="0"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60296" y="6048874"/>
            <a:ext cx="11666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120138" y="811369"/>
            <a:ext cx="39517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II. 1. Perte de mises à jour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884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17430" y="1885071"/>
            <a:ext cx="11174569" cy="410776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Après exécution des transactions T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T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il y a perte de mise à jour.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effet, après vente effectuée par les 2, il reste 62 boites au lieu de 54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SGBD relationnels prennent en compte la résolution des accès concurrents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DBA doit, néanmoins, prévoir lors de l’écriture d’un programme, un certain nombre de mécanismes permettant de résoudre les problèmes qui peuvent survenir dans certains cas. 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0" y="0"/>
            <a:ext cx="12192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Problèmes causés par l’accès concurrents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0138" y="811369"/>
            <a:ext cx="39517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II. 1. Perte de mises à jour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577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0462" y="1517647"/>
            <a:ext cx="11071538" cy="1087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lit une donnée modifiée et non validée par une transaction concurrente.</a:t>
            </a: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4960745" y="2736276"/>
            <a:ext cx="28135" cy="3585382"/>
          </a:xfrm>
          <a:prstGeom prst="straightConnector1">
            <a:avLst/>
          </a:prstGeom>
          <a:ln w="66675" cmpd="sng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15921" y="3093582"/>
            <a:ext cx="3144824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Op11: Lire (S)</a:t>
            </a:r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Op12: S = S - 8 </a:t>
            </a:r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Op13: Ecrire (S)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r>
              <a:rPr lang="fr-FR" sz="2800" dirty="0" err="1">
                <a:latin typeface="Times New Roman" panose="02020603050405020304" pitchFamily="18" charset="0"/>
              </a:rPr>
              <a:t>Rollback</a:t>
            </a:r>
            <a:endParaRPr lang="fr-FR" sz="2800" dirty="0">
              <a:latin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31085" y="4751933"/>
            <a:ext cx="27971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Op21: Lire (S)</a:t>
            </a:r>
          </a:p>
          <a:p>
            <a:endParaRPr lang="fr-FR" sz="2800" dirty="0"/>
          </a:p>
        </p:txBody>
      </p:sp>
      <p:sp>
        <p:nvSpPr>
          <p:cNvPr id="10" name="Rectangle 9"/>
          <p:cNvSpPr/>
          <p:nvPr/>
        </p:nvSpPr>
        <p:spPr>
          <a:xfrm>
            <a:off x="3071998" y="2567955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86843" y="2567955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3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0" y="0"/>
            <a:ext cx="12192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Problèmes Causés par l’accès concurrents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3795" y="817773"/>
            <a:ext cx="34644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II. 2. Lecture impropre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16" name="Connecteur droit 15"/>
          <p:cNvCxnSpPr/>
          <p:nvPr/>
        </p:nvCxnSpPr>
        <p:spPr>
          <a:xfrm flipH="1">
            <a:off x="7782036" y="2736276"/>
            <a:ext cx="0" cy="3537017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087682" y="2567955"/>
            <a:ext cx="3022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701222" y="3081036"/>
            <a:ext cx="2012441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75 boites</a:t>
            </a: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67 boites</a:t>
            </a:r>
          </a:p>
          <a:p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405566" y="6287171"/>
            <a:ext cx="11666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652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850006" y="1504865"/>
            <a:ext cx="11341994" cy="1244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même transaction lit deux fois la même donnée et obtient deux valeurs différentes (à cause d'une transaction concurrente)</a:t>
            </a:r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973622" y="2979391"/>
            <a:ext cx="1" cy="3392693"/>
          </a:xfrm>
          <a:prstGeom prst="straightConnector1">
            <a:avLst/>
          </a:prstGeom>
          <a:ln w="66675" cmpd="sng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67435" y="3336697"/>
            <a:ext cx="3106187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Op11: Lire (S)</a:t>
            </a: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Op12: S = S – 8 </a:t>
            </a:r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Op13: Ecrire (S)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Commit</a:t>
            </a:r>
            <a:endParaRPr lang="fr-FR" sz="2800" dirty="0"/>
          </a:p>
        </p:txBody>
      </p:sp>
      <p:sp>
        <p:nvSpPr>
          <p:cNvPr id="10" name="Rectangle 9"/>
          <p:cNvSpPr/>
          <p:nvPr/>
        </p:nvSpPr>
        <p:spPr>
          <a:xfrm>
            <a:off x="5136265" y="3879094"/>
            <a:ext cx="417020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Op21: Lire (S)</a:t>
            </a:r>
          </a:p>
          <a:p>
            <a:endParaRPr lang="fr-FR" sz="3200" dirty="0">
              <a:latin typeface="Times New Roman" panose="02020603050405020304" pitchFamily="18" charset="0"/>
            </a:endParaRPr>
          </a:p>
          <a:p>
            <a:endParaRPr lang="fr-FR" sz="3200" dirty="0">
              <a:latin typeface="Times New Roman" panose="02020603050405020304" pitchFamily="18" charset="0"/>
            </a:endParaRPr>
          </a:p>
          <a:p>
            <a:endParaRPr lang="fr-FR" sz="8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Op22: Lire (S)</a:t>
            </a: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1789" y="2810878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82249" y="2810878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3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0" y="0"/>
            <a:ext cx="12192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Problèmes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CAUsés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l’accès concurrents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986" y="811369"/>
            <a:ext cx="49680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II. 3. Lectures non reproductibles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16" name="Connecteur droit 15"/>
          <p:cNvCxnSpPr/>
          <p:nvPr/>
        </p:nvCxnSpPr>
        <p:spPr>
          <a:xfrm>
            <a:off x="7868991" y="2979391"/>
            <a:ext cx="0" cy="339269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759843" y="3333681"/>
            <a:ext cx="2012441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75 boites</a:t>
            </a: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67 boites</a:t>
            </a:r>
          </a:p>
          <a:p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95381" y="2810461"/>
            <a:ext cx="3022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43211" y="6396058"/>
            <a:ext cx="1107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0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1107583" y="1634666"/>
            <a:ext cx="11084417" cy="1332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transaction ré-exécute la même requête sur les mêmes données et obtient deux valeurs différentes (à cause d'une transaction concurrente)</a:t>
            </a:r>
          </a:p>
        </p:txBody>
      </p:sp>
      <p:cxnSp>
        <p:nvCxnSpPr>
          <p:cNvPr id="12" name="Connecteur droit avec flèche 11"/>
          <p:cNvCxnSpPr/>
          <p:nvPr/>
        </p:nvCxnSpPr>
        <p:spPr>
          <a:xfrm>
            <a:off x="4569906" y="3282172"/>
            <a:ext cx="0" cy="2836748"/>
          </a:xfrm>
          <a:prstGeom prst="straightConnector1">
            <a:avLst/>
          </a:prstGeom>
          <a:ln w="66675" cmpd="sng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84730" y="3575845"/>
            <a:ext cx="25851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Op11: Count(*)</a:t>
            </a:r>
            <a:endParaRPr lang="fr-FR" sz="11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Op12: Count(*)</a:t>
            </a: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69907" y="4261521"/>
            <a:ext cx="437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Op21: Insertion de 4 lignes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9853" y="3067062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998818" y="3067062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7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0" y="0"/>
            <a:ext cx="12192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Problèmes causés par l’accès concurrents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6018" y="817773"/>
            <a:ext cx="40799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II. 4. Références fantômes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33296" y="3540931"/>
            <a:ext cx="136598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25</a:t>
            </a: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29</a:t>
            </a: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1" name="Connecteur droit 20"/>
          <p:cNvCxnSpPr/>
          <p:nvPr/>
        </p:nvCxnSpPr>
        <p:spPr>
          <a:xfrm>
            <a:off x="8628846" y="3282172"/>
            <a:ext cx="0" cy="283674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949806" y="3067062"/>
            <a:ext cx="3022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056018" y="6213311"/>
            <a:ext cx="11084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472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3864" y="781541"/>
            <a:ext cx="41120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1. Points de sauvegarde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1030310" y="2086302"/>
            <a:ext cx="11161689" cy="36576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 mécanisme permettant de garder l’état cohérent de la base de données à des moments donnés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rétablir la base de données avec l’état cohérent le plus proche possible du point d’interruption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d’annuler une partie d’une transaction sans annuler toutes les opérations déjà exécutées.</a:t>
            </a: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48091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3864" y="781541"/>
            <a:ext cx="41120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1. Points de sauvegarde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12772" y="1304761"/>
            <a:ext cx="3154205" cy="543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Debut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transaction</a:t>
            </a:r>
            <a:endParaRPr lang="fr-FR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 1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Savepoint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t1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 2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Savepoint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t2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 3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 4 ;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t2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t1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 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 </a:t>
            </a:r>
          </a:p>
          <a:p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 transaction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3540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ECEE-A5B2-679C-F23D-578AF09D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DDBE14E-9974-ED34-B19A-FA6156742C83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4CAF39-1660-4076-B6DD-E3EDBCFCBEEB}"/>
              </a:ext>
            </a:extLst>
          </p:cNvPr>
          <p:cNvSpPr/>
          <p:nvPr/>
        </p:nvSpPr>
        <p:spPr>
          <a:xfrm>
            <a:off x="4033864" y="781541"/>
            <a:ext cx="41120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1. Points de sauvegarde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69F9C0-FC4D-070B-56B0-8A3A99587E22}"/>
              </a:ext>
            </a:extLst>
          </p:cNvPr>
          <p:cNvSpPr/>
          <p:nvPr/>
        </p:nvSpPr>
        <p:spPr>
          <a:xfrm>
            <a:off x="282388" y="1304761"/>
            <a:ext cx="7167283" cy="5582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Declare</a:t>
            </a: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  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    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SmallInt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b     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SmallInt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Begin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  </a:t>
            </a:r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Into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UE values ('INF113', 'UE Test',…, 'Licence')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Savepoint</a:t>
            </a: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t1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Into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EC Values ('INF1131', 'EC Test 1',…, 'INF113') 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Into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EC Values ('INF1132', 'EC Test 2',…, 'INF113') 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Savepoint</a:t>
            </a: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t2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EC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UE = 'INF113’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Count(*)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Into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UE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Code Like ‘%11_' 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Count(*)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Into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EC </a:t>
            </a:r>
            <a:r>
              <a:rPr lang="fr-FR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UE Like '%113’';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endParaRPr lang="fr-FR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2CB1E2F2-E1DB-0FCA-E016-64C46C88115B}"/>
              </a:ext>
            </a:extLst>
          </p:cNvPr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2A7B5-D99B-9224-1677-038145BA17FC}"/>
              </a:ext>
            </a:extLst>
          </p:cNvPr>
          <p:cNvSpPr/>
          <p:nvPr/>
        </p:nvSpPr>
        <p:spPr>
          <a:xfrm>
            <a:off x="7449670" y="1304761"/>
            <a:ext cx="4730079" cy="5150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= 3 </a:t>
            </a:r>
            <a:r>
              <a:rPr lang="fr-FR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        </a:t>
            </a:r>
            <a:r>
              <a:rPr lang="fr-FR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</a:t>
            </a: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fr-FR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ElsIf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 = 0 </a:t>
            </a:r>
            <a:r>
              <a:rPr lang="fr-FR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        </a:t>
            </a:r>
            <a:r>
              <a:rPr lang="fr-FR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t2 ;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        </a:t>
            </a: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Commit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 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fr-FR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ElsIf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 2 </a:t>
            </a:r>
            <a:r>
              <a:rPr lang="fr-FR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lang="fr-FR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t1 ;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         </a:t>
            </a: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Commit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 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fr-FR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          </a:t>
            </a: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Commit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;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End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;</a:t>
            </a:r>
          </a:p>
          <a:p>
            <a:pPr marL="228600" indent="220980" algn="just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;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704F8E0-C353-B173-7116-30F077D6B05A}"/>
              </a:ext>
            </a:extLst>
          </p:cNvPr>
          <p:cNvCxnSpPr>
            <a:cxnSpLocks/>
          </p:cNvCxnSpPr>
          <p:nvPr/>
        </p:nvCxnSpPr>
        <p:spPr>
          <a:xfrm>
            <a:off x="7674105" y="1304761"/>
            <a:ext cx="0" cy="5150449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727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984699" y="808297"/>
            <a:ext cx="42194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2. Blocage d’utilisateurs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1141412" y="2425148"/>
            <a:ext cx="11050588" cy="29324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s’agit de verrouiller des ressources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Enregistrements.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mécanisme permet de bloquer les utilisateurs voulant accéder aux mêmes ressources momentanément.</a:t>
            </a:r>
          </a:p>
        </p:txBody>
      </p:sp>
      <p:sp>
        <p:nvSpPr>
          <p:cNvPr id="10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74131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017059"/>
            <a:ext cx="11050588" cy="3774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le fait de mettre en place un mécanisme permettant d’avoir plus de concurrences en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demandant au système d’avoir plus de fluidité dans les exécutions concurrentes avec un niveau d’isolation moins strict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prenant en charge dans son programme le verrouillage des ressources critiques.</a:t>
            </a:r>
          </a:p>
        </p:txBody>
      </p:sp>
      <p:sp>
        <p:nvSpPr>
          <p:cNvPr id="2" name="Rectangle 1"/>
          <p:cNvSpPr/>
          <p:nvPr/>
        </p:nvSpPr>
        <p:spPr>
          <a:xfrm>
            <a:off x="4672387" y="811369"/>
            <a:ext cx="3743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3. Niveau d’isolation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4560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92428" y="1316896"/>
            <a:ext cx="11599572" cy="552341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Verrou implicite :</a:t>
            </a:r>
          </a:p>
          <a:p>
            <a:pPr marL="0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verrou implicite est posé par le système pour résoudre un problème d’accès concurrent et assurer la cohérence des données selon les trois règles suivantes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modification bloque toute autre modification sur les mêmes données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lecture ne bloque pas une modification sur les mêmes donnés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modification ne bloque pas une lecture sur les mêmes donnés.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verrous implicites tels que implémentés par Oracle garantissent la cohérence en lecture au niveau opération : pas de lecture impropre et pas de perte de mise à jour.</a:t>
            </a:r>
          </a:p>
        </p:txBody>
      </p:sp>
      <p:sp>
        <p:nvSpPr>
          <p:cNvPr id="2" name="Rectangle 1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sp>
        <p:nvSpPr>
          <p:cNvPr id="8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87818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850006" y="2047740"/>
            <a:ext cx="11204619" cy="4005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Verrou explicite :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verrous explicites sont utilisés pour assurer la cohérence des lectures dans une transaction. Sous Oracle il existe deux méthodes de verrouillage explicite des données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verrouillage explicite de lignes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verrouillage explicite de tables.</a:t>
            </a: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686761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334589"/>
            <a:ext cx="11676845" cy="5523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Verrouillage explicite de lignes 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type de verrouillage permet de verrouiller des lignes répondant à une condition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lignes verrouillées ne peuvent être MAJ que par la transaction bloquante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autres lignes sont disponibles en MAJ par d’autres transactions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autres sessions peuvent continuer de lire la table, y compris la ligne qui est en cours de MAJ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 sessions accèdent à l’ancienne valeur de la ligne jusqu’à ce que les modifications soient effectivement validées par la transaction bloquante.</a:t>
            </a: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3825651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334589"/>
            <a:ext cx="11676845" cy="5523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Verrouillage explicite de lignes 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Lorsqu’une transaction place un verrou de ligne sur un enregistrement 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verrou de modification de données est placé sur la ligne. Ce verrou empêche les autres sessions de modifier ou verrouiller cette ligne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verrou DDL est placé sur la table pour empêcher les altérations de structure de la table ;</a:t>
            </a:r>
          </a:p>
          <a:p>
            <a:pPr marL="0" lv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 verrous sont relâchés seulement lorsque la transaction bloquante est annulée ou validée.</a:t>
            </a: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*|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attributs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Table Where Condition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UPDATE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680809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493949"/>
            <a:ext cx="11676845" cy="5364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Verrouillage explicite de tables :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verrouiller une table, il faut préciser le mode de verrou à poser. Il existe plusieurs modes de verrous de tables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(lignes partagées)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Exclusive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(lignes exclusives)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(tables partagées)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Exclusive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(partage exclusif de lignes)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Exclusive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(tables exclusives).</a:t>
            </a:r>
          </a:p>
          <a:p>
            <a:pPr marL="0" indent="0" algn="ctr"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Table1[, Table2, …]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mode_verrou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2127225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622738"/>
            <a:ext cx="11676845" cy="5235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(lignes partagées)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fr-FR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verrouiller des lignes sélectionnées en vue de leur MAJ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Toutes les opérations et tous les autres types de verrouillage à l’exception du verrouillage exclusif de table sont autorisés.</a:t>
            </a:r>
          </a:p>
          <a:p>
            <a:pPr marL="457200" lvl="1" indent="0">
              <a:buNone/>
            </a:pP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Table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Table1, Table2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Row Share MODE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*|Liste attributs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UPDATE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3772650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334589"/>
            <a:ext cx="11676845" cy="552341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Exclusive (lignes exclusives)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endParaRPr lang="fr-FR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verrouiller des lignes sélectionnées en vue de leur MAJ.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Toutes les opérations et tous les autres types de verrouillage à l’exception de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eclusive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autorisés.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ce type de verrouillage qui est appliqué si on lance des requêtes telles que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Insert,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ctr"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Table1, Table2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Row Exclusive MODE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endParaRPr lang="fr-FR" sz="2000" dirty="0"/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2898483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918952"/>
            <a:ext cx="11676845" cy="417275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(tables partagées)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endParaRPr lang="fr-FR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autres transactions peuvent effectuer des sélections sur cette table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Elles peuvent également poser les verrous en mode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 opération apportant une modification à la table est impossible.</a:t>
            </a:r>
          </a:p>
          <a:p>
            <a:pPr marL="457200" lvl="1" indent="0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Table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Table1, Table2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Share MODE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465371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334589"/>
            <a:ext cx="11676845" cy="552341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Exclusive (partage exclusif de lignes)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endParaRPr lang="fr-FR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mode de verrouillage permet de verrouiller une table entière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autres transactions peuvent effectuer des sélections sur cette table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autres transactions peuvent y poser les verrous en mode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 opération apportant une modification à la table est impossible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seule transaction peut poser à un moment donné ce mode de verrou sur une table.</a:t>
            </a:r>
          </a:p>
          <a:p>
            <a:pPr marL="457200" lvl="1" indent="0">
              <a:buNone/>
            </a:pPr>
            <a:endParaRPr lang="fr-FR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Table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Table1, Table2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Share Row Exclusive MODE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2820340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15155" y="1622738"/>
            <a:ext cx="11676845" cy="523526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Exclusive (tables exclusives) :</a:t>
            </a:r>
          </a:p>
          <a:p>
            <a:pPr marL="0" lvl="0" indent="0">
              <a:buNone/>
            </a:pPr>
            <a:endParaRPr lang="fr-FR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mode de verrouillage permet de verrouiller une table entière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autres transactions ne peuvent effectuer que des sélections sur cette table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 opération apportant une modification à la table est impossible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seule transaction peut poser à un moment donné ce mode de verrou sur une table.</a:t>
            </a:r>
          </a:p>
          <a:p>
            <a:pPr marL="457200" lvl="1" indent="0">
              <a:buNone/>
            </a:pPr>
            <a:endParaRPr lang="fr-FR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Table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Table1, Table2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Exclusive MODE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315502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4589"/>
            <a:ext cx="10282149" cy="5375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Compatibilité entre les modes de verrou</a:t>
            </a: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784208"/>
              </p:ext>
            </p:extLst>
          </p:nvPr>
        </p:nvGraphicFramePr>
        <p:xfrm>
          <a:off x="978794" y="2145958"/>
          <a:ext cx="10534919" cy="42417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9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9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44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7835"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 de verrouillage</a:t>
                      </a:r>
                      <a:endParaRPr lang="fr-FR" sz="2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Compatibilité avec les autres modes de verrouillage</a:t>
                      </a:r>
                      <a:endParaRPr lang="fr-FR" sz="2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00"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466725" algn="l"/>
                        </a:tabLs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Lignes partagées</a:t>
                      </a:r>
                      <a:endParaRPr lang="fr-FR" sz="2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Lignes exclusives</a:t>
                      </a:r>
                      <a:endParaRPr lang="fr-FR" sz="2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Tables partagées</a:t>
                      </a:r>
                      <a:endParaRPr lang="fr-FR" sz="2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Partage exclusif de lignes</a:t>
                      </a:r>
                      <a:endParaRPr lang="fr-FR" sz="2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Tables exclusives</a:t>
                      </a:r>
                      <a:endParaRPr lang="fr-FR" sz="2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sp>
        <p:nvSpPr>
          <p:cNvPr id="9" name="Espace réservé du numéro de diapositive 5"/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058" y="811369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4. Les verrous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1330566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1C15-B078-1AB7-8693-F82DBFCC0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7B2E41-10F8-2B78-EFD8-2E6755832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7" y="1334588"/>
            <a:ext cx="11237843" cy="552341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L’impasse générée par deux (ou plusieurs) transactions dont l’une est bloquée par l’autre qu’elle a bloquée elle-même.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48C12F32-97E5-3C15-C0A2-DC24237FFF54}"/>
              </a:ext>
            </a:extLst>
          </p:cNvPr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F36D7B-06AB-A125-D8F8-04C5704317D5}"/>
              </a:ext>
            </a:extLst>
          </p:cNvPr>
          <p:cNvSpPr/>
          <p:nvPr/>
        </p:nvSpPr>
        <p:spPr>
          <a:xfrm>
            <a:off x="4710058" y="811369"/>
            <a:ext cx="2876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5. Interblocage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5DFD552-665E-CD20-0927-6F0BC4F5EAD5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6AFEA57A-E8C1-B2B8-AF75-0230F2177D4F}"/>
              </a:ext>
            </a:extLst>
          </p:cNvPr>
          <p:cNvCxnSpPr>
            <a:cxnSpLocks/>
          </p:cNvCxnSpPr>
          <p:nvPr/>
        </p:nvCxnSpPr>
        <p:spPr>
          <a:xfrm>
            <a:off x="6129814" y="2748987"/>
            <a:ext cx="108712" cy="3500332"/>
          </a:xfrm>
          <a:prstGeom prst="straightConnector1">
            <a:avLst/>
          </a:prstGeom>
          <a:ln w="66675" cmpd="sng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043ADAC-8F4B-3169-7B56-682BB95126AD}"/>
              </a:ext>
            </a:extLst>
          </p:cNvPr>
          <p:cNvSpPr/>
          <p:nvPr/>
        </p:nvSpPr>
        <p:spPr>
          <a:xfrm>
            <a:off x="3156964" y="3090821"/>
            <a:ext cx="3106187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Lock Reed(S)</a:t>
            </a:r>
          </a:p>
          <a:p>
            <a:endParaRPr lang="fr-FR" sz="2800" dirty="0">
              <a:latin typeface="Times New Roman" panose="02020603050405020304" pitchFamily="18" charset="0"/>
            </a:endParaRPr>
          </a:p>
          <a:p>
            <a:endParaRPr lang="fr-FR" sz="16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Lock Write(P) </a:t>
            </a:r>
            <a:endParaRPr lang="fr-FR" sz="11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Attente T</a:t>
            </a:r>
            <a:r>
              <a:rPr lang="fr-FR" sz="2800" baseline="-25000" dirty="0">
                <a:latin typeface="Times New Roman" panose="02020603050405020304" pitchFamily="18" charset="0"/>
              </a:rPr>
              <a:t>2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CD691-AF3D-2A32-01FE-5E0C5B3CE825}"/>
              </a:ext>
            </a:extLst>
          </p:cNvPr>
          <p:cNvSpPr/>
          <p:nvPr/>
        </p:nvSpPr>
        <p:spPr>
          <a:xfrm>
            <a:off x="6425794" y="3633218"/>
            <a:ext cx="287610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</a:rPr>
              <a:t>Lock Read(P)</a:t>
            </a:r>
          </a:p>
          <a:p>
            <a:endParaRPr lang="fr-FR" sz="3200" dirty="0">
              <a:latin typeface="Times New Roman" panose="02020603050405020304" pitchFamily="18" charset="0"/>
            </a:endParaRPr>
          </a:p>
          <a:p>
            <a:endParaRPr lang="fr-FR" sz="3200" dirty="0">
              <a:latin typeface="Times New Roman" panose="02020603050405020304" pitchFamily="18" charset="0"/>
            </a:endParaRPr>
          </a:p>
          <a:p>
            <a:endParaRPr lang="fr-FR" sz="1600" dirty="0">
              <a:latin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</a:rPr>
              <a:t>Lock Write(S)</a:t>
            </a:r>
          </a:p>
          <a:p>
            <a:r>
              <a:rPr lang="fr-FR" sz="2800" dirty="0">
                <a:latin typeface="Times New Roman" panose="02020603050405020304" pitchFamily="18" charset="0"/>
              </a:rPr>
              <a:t>Attente T</a:t>
            </a:r>
            <a:r>
              <a:rPr lang="fr-FR" sz="2800" baseline="-25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FD7ED-DAE9-EA52-251F-2A9414CDECC8}"/>
              </a:ext>
            </a:extLst>
          </p:cNvPr>
          <p:cNvSpPr/>
          <p:nvPr/>
        </p:nvSpPr>
        <p:spPr>
          <a:xfrm>
            <a:off x="7481318" y="2565002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6A7D0-E8A1-2E39-B13E-93ECF064534B}"/>
              </a:ext>
            </a:extLst>
          </p:cNvPr>
          <p:cNvSpPr/>
          <p:nvPr/>
        </p:nvSpPr>
        <p:spPr>
          <a:xfrm>
            <a:off x="4471778" y="2565002"/>
            <a:ext cx="632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05C63F-2186-E7A4-2804-43B25000AC87}"/>
              </a:ext>
            </a:extLst>
          </p:cNvPr>
          <p:cNvSpPr/>
          <p:nvPr/>
        </p:nvSpPr>
        <p:spPr>
          <a:xfrm>
            <a:off x="5717894" y="6150182"/>
            <a:ext cx="11225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5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E11E2-6E5E-B6D9-CD49-D1BD83E07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AA55DB-E363-67D2-9860-421E6177C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7" y="1334588"/>
            <a:ext cx="11237843" cy="55234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SN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Graphe d’interblocage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8F9E842-636B-40E9-0EC3-223253B556C8}"/>
              </a:ext>
            </a:extLst>
          </p:cNvPr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CC7A6E-1B45-2F5E-01DE-724DD9861978}"/>
              </a:ext>
            </a:extLst>
          </p:cNvPr>
          <p:cNvSpPr/>
          <p:nvPr/>
        </p:nvSpPr>
        <p:spPr>
          <a:xfrm>
            <a:off x="4710058" y="811369"/>
            <a:ext cx="2876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5. Interblocage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82E19C39-7FB3-23DB-DA96-B27C3BBFE725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B65BC87-A199-4502-44B5-51330EE3570F}"/>
              </a:ext>
            </a:extLst>
          </p:cNvPr>
          <p:cNvSpPr/>
          <p:nvPr/>
        </p:nvSpPr>
        <p:spPr>
          <a:xfrm>
            <a:off x="2628900" y="3632200"/>
            <a:ext cx="1016000" cy="863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1C367D9-9F58-C2B5-01FA-3C0E2C986BB3}"/>
              </a:ext>
            </a:extLst>
          </p:cNvPr>
          <p:cNvSpPr/>
          <p:nvPr/>
        </p:nvSpPr>
        <p:spPr>
          <a:xfrm>
            <a:off x="4953000" y="1963012"/>
            <a:ext cx="1016000" cy="863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7410DFB-DD9F-866D-5334-D769719C73CA}"/>
              </a:ext>
            </a:extLst>
          </p:cNvPr>
          <p:cNvSpPr/>
          <p:nvPr/>
        </p:nvSpPr>
        <p:spPr>
          <a:xfrm>
            <a:off x="7734302" y="2565400"/>
            <a:ext cx="1016000" cy="863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33B71D7-6E92-7446-0CF9-AAA5ACD5F612}"/>
              </a:ext>
            </a:extLst>
          </p:cNvPr>
          <p:cNvSpPr/>
          <p:nvPr/>
        </p:nvSpPr>
        <p:spPr>
          <a:xfrm>
            <a:off x="7327900" y="4921422"/>
            <a:ext cx="1016000" cy="863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162FBFD-9C82-A69A-B256-DE836577A222}"/>
              </a:ext>
            </a:extLst>
          </p:cNvPr>
          <p:cNvSpPr/>
          <p:nvPr/>
        </p:nvSpPr>
        <p:spPr>
          <a:xfrm>
            <a:off x="4687552" y="5261802"/>
            <a:ext cx="1016000" cy="863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24" name="Connecteur en arc 23">
            <a:extLst>
              <a:ext uri="{FF2B5EF4-FFF2-40B4-BE49-F238E27FC236}">
                <a16:creationId xmlns:a16="http://schemas.microsoft.com/office/drawing/2014/main" id="{54B66D8A-147A-68EC-8A1E-3DB51E6D7A8D}"/>
              </a:ext>
            </a:extLst>
          </p:cNvPr>
          <p:cNvCxnSpPr>
            <a:cxnSpLocks/>
            <a:stCxn id="2" idx="0"/>
            <a:endCxn id="8" idx="2"/>
          </p:cNvCxnSpPr>
          <p:nvPr/>
        </p:nvCxnSpPr>
        <p:spPr>
          <a:xfrm rot="5400000" flipH="1" flipV="1">
            <a:off x="3441000" y="2106812"/>
            <a:ext cx="1224000" cy="18000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en arc 26">
            <a:extLst>
              <a:ext uri="{FF2B5EF4-FFF2-40B4-BE49-F238E27FC236}">
                <a16:creationId xmlns:a16="http://schemas.microsoft.com/office/drawing/2014/main" id="{0CB078AE-DF88-DD57-5D66-27F4505732C3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969000" y="2263433"/>
            <a:ext cx="2273302" cy="3019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en arc 36">
            <a:extLst>
              <a:ext uri="{FF2B5EF4-FFF2-40B4-BE49-F238E27FC236}">
                <a16:creationId xmlns:a16="http://schemas.microsoft.com/office/drawing/2014/main" id="{DF11E0F0-FF23-1C94-17B6-6F8325C7E2B7}"/>
              </a:ext>
            </a:extLst>
          </p:cNvPr>
          <p:cNvCxnSpPr>
            <a:stCxn id="15" idx="3"/>
          </p:cNvCxnSpPr>
          <p:nvPr/>
        </p:nvCxnSpPr>
        <p:spPr>
          <a:xfrm rot="5400000">
            <a:off x="6339021" y="4888478"/>
            <a:ext cx="367597" cy="19077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en arc 38">
            <a:extLst>
              <a:ext uri="{FF2B5EF4-FFF2-40B4-BE49-F238E27FC236}">
                <a16:creationId xmlns:a16="http://schemas.microsoft.com/office/drawing/2014/main" id="{EEF3B207-F3FF-4197-F04C-49B846CAC87C}"/>
              </a:ext>
            </a:extLst>
          </p:cNvPr>
          <p:cNvCxnSpPr>
            <a:cxnSpLocks/>
            <a:endCxn id="2" idx="4"/>
          </p:cNvCxnSpPr>
          <p:nvPr/>
        </p:nvCxnSpPr>
        <p:spPr>
          <a:xfrm rot="10800000">
            <a:off x="3136900" y="4495801"/>
            <a:ext cx="1573158" cy="134654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en arc 43">
            <a:extLst>
              <a:ext uri="{FF2B5EF4-FFF2-40B4-BE49-F238E27FC236}">
                <a16:creationId xmlns:a16="http://schemas.microsoft.com/office/drawing/2014/main" id="{0B398414-A2EB-B6ED-D731-5F4B6E631AE9}"/>
              </a:ext>
            </a:extLst>
          </p:cNvPr>
          <p:cNvCxnSpPr>
            <a:cxnSpLocks/>
            <a:stCxn id="14" idx="5"/>
            <a:endCxn id="15" idx="6"/>
          </p:cNvCxnSpPr>
          <p:nvPr/>
        </p:nvCxnSpPr>
        <p:spPr>
          <a:xfrm rot="5400000">
            <a:off x="7447360" y="4199069"/>
            <a:ext cx="2050693" cy="25761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eur en arc 49">
            <a:extLst>
              <a:ext uri="{FF2B5EF4-FFF2-40B4-BE49-F238E27FC236}">
                <a16:creationId xmlns:a16="http://schemas.microsoft.com/office/drawing/2014/main" id="{A4142B57-AE43-E501-5E48-5DB06F5B5C28}"/>
              </a:ext>
            </a:extLst>
          </p:cNvPr>
          <p:cNvCxnSpPr>
            <a:stCxn id="2" idx="6"/>
            <a:endCxn id="15" idx="0"/>
          </p:cNvCxnSpPr>
          <p:nvPr/>
        </p:nvCxnSpPr>
        <p:spPr>
          <a:xfrm>
            <a:off x="3644900" y="4064000"/>
            <a:ext cx="4191000" cy="857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eur en arc 51">
            <a:extLst>
              <a:ext uri="{FF2B5EF4-FFF2-40B4-BE49-F238E27FC236}">
                <a16:creationId xmlns:a16="http://schemas.microsoft.com/office/drawing/2014/main" id="{E37A1C88-4F5D-5C60-58BF-7DB992FEB2DB}"/>
              </a:ext>
            </a:extLst>
          </p:cNvPr>
          <p:cNvCxnSpPr>
            <a:stCxn id="14" idx="3"/>
          </p:cNvCxnSpPr>
          <p:nvPr/>
        </p:nvCxnSpPr>
        <p:spPr>
          <a:xfrm rot="5400000">
            <a:off x="5432888" y="1514541"/>
            <a:ext cx="662217" cy="423819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971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AAEE4-116C-5513-62FB-62715608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8F2467-EF1B-43E9-6A84-D6AC04961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7" y="1334588"/>
            <a:ext cx="11237843" cy="552341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Prévention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Toutes les ressources nécessaires à la transaction sont verrouillées au départ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Problème : cas des transactions qui ne démarrent jamais ! </a:t>
            </a:r>
            <a:endParaRPr lang="fr-S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Détection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inspecte à intervalles réguliers le graphe d’attente pour détecter si un interblocage s’est produit :</a:t>
            </a:r>
          </a:p>
          <a:p>
            <a:pPr lvl="2"/>
            <a:r>
              <a:rPr lang="fr-S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SN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éfaire une des transactions bloquées ;</a:t>
            </a:r>
          </a:p>
          <a:p>
            <a:pPr lvl="2"/>
            <a:r>
              <a:rPr lang="fr-S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SN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elancer la transaction un peu plus tard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annule une transaction dont le temps d’attente dépasse un certain seuil, et on la relance un peu plus tard. </a:t>
            </a:r>
          </a:p>
          <a:p>
            <a:pPr marL="0" indent="0" algn="ctr">
              <a:buNone/>
            </a:pPr>
            <a:endParaRPr lang="fr-SN" sz="2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B9C28435-F74F-BBAB-4ED7-93EC1A335BA0}"/>
              </a:ext>
            </a:extLst>
          </p:cNvPr>
          <p:cNvSpPr txBox="1">
            <a:spLocks/>
          </p:cNvSpPr>
          <p:nvPr/>
        </p:nvSpPr>
        <p:spPr>
          <a:xfrm>
            <a:off x="11306631" y="630827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38DE0-2497-1A0E-A79B-B227F2DF2A84}"/>
              </a:ext>
            </a:extLst>
          </p:cNvPr>
          <p:cNvSpPr/>
          <p:nvPr/>
        </p:nvSpPr>
        <p:spPr>
          <a:xfrm>
            <a:off x="4710058" y="811369"/>
            <a:ext cx="2876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III. 5. Interblocage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583E779-CF55-C71F-952A-0C2185F670BE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Gestion des Accès concurrents</a:t>
            </a:r>
          </a:p>
        </p:txBody>
      </p:sp>
    </p:spTree>
    <p:extLst>
      <p:ext uri="{BB962C8B-B14F-4D97-AF65-F5344CB8AC3E}">
        <p14:creationId xmlns:p14="http://schemas.microsoft.com/office/powerpoint/2010/main" val="4005457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1721</TotalTime>
  <Words>2587</Words>
  <Application>Microsoft Macintosh PowerPoint</Application>
  <PresentationFormat>Grand écran</PresentationFormat>
  <Paragraphs>460</Paragraphs>
  <Slides>35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1" baseType="lpstr">
      <vt:lpstr>Arial</vt:lpstr>
      <vt:lpstr>Calibri</vt:lpstr>
      <vt:lpstr>Times New Roman</vt:lpstr>
      <vt:lpstr>Tw Cen MT</vt:lpstr>
      <vt:lpstr>Wingdings</vt:lpstr>
      <vt:lpstr>Circuit</vt:lpstr>
      <vt:lpstr>Chapitre II  Concurrence d’accès</vt:lpstr>
      <vt:lpstr>Plan du chapitre</vt:lpstr>
      <vt:lpstr>Introduction</vt:lpstr>
      <vt:lpstr>Introduction</vt:lpstr>
      <vt:lpstr>Introduction</vt:lpstr>
      <vt:lpstr>I. transaction</vt:lpstr>
      <vt:lpstr>I. transaction</vt:lpstr>
      <vt:lpstr>I. transaction</vt:lpstr>
      <vt:lpstr>I. transaction</vt:lpstr>
      <vt:lpstr>I. transaction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III  Optimisation de requêtes</dc:title>
  <dc:creator>HP PC</dc:creator>
  <cp:lastModifiedBy>Khalifa</cp:lastModifiedBy>
  <cp:revision>320</cp:revision>
  <dcterms:created xsi:type="dcterms:W3CDTF">2021-12-18T13:46:07Z</dcterms:created>
  <dcterms:modified xsi:type="dcterms:W3CDTF">2025-03-10T09:04:53Z</dcterms:modified>
</cp:coreProperties>
</file>