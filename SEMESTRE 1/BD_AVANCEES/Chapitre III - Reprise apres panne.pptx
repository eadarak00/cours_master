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306" r:id="rId5"/>
    <p:sldId id="267" r:id="rId6"/>
    <p:sldId id="302" r:id="rId7"/>
    <p:sldId id="294" r:id="rId8"/>
    <p:sldId id="303" r:id="rId9"/>
    <p:sldId id="295" r:id="rId10"/>
    <p:sldId id="305" r:id="rId11"/>
    <p:sldId id="296" r:id="rId12"/>
    <p:sldId id="290" r:id="rId13"/>
    <p:sldId id="259" r:id="rId14"/>
    <p:sldId id="291" r:id="rId15"/>
    <p:sldId id="297" r:id="rId16"/>
    <p:sldId id="298" r:id="rId17"/>
    <p:sldId id="292" r:id="rId18"/>
    <p:sldId id="260" r:id="rId19"/>
    <p:sldId id="293" r:id="rId20"/>
    <p:sldId id="304" r:id="rId21"/>
    <p:sldId id="299" r:id="rId22"/>
    <p:sldId id="300" r:id="rId23"/>
    <p:sldId id="307" r:id="rId24"/>
    <p:sldId id="30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7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0F537F-78CC-2841-B5E9-896FDC607D4A}" type="datetimeFigureOut">
              <a:rPr lang="fr-FR" smtClean="0"/>
              <a:t>19/03/2025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9B405-A547-624A-8312-D8CFFB357E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808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B405-A547-624A-8312-D8CFFB357E6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148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359EF2F-A41D-7547-A7F7-CBBBAEA3F4B7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13292-CCCF-6E46-9675-88D499367917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098E2-8DA4-C343-9BF2-40806F72394E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6CA95-3C54-8C4B-A159-5913A8719933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19094-4520-1749-9764-D81ED1779180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44E36-B5F8-3542-8B40-C242DBB6E734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4C47-98A4-4A4C-B653-49CC8B9E202B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D6C57-4E31-0F4A-B5F0-11CD40865B08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B30C7-8275-1449-A2CD-5A66B2B3A7E8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8F94C-ADFF-A543-A3E2-A514C7AD33CA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68DC0-D2FF-3648-9CC2-1BEA8FE64CFE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EAC-701C-2647-8B76-95BE656343C3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16F8-D391-1642-8C96-533D76750005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3F44C-E148-044D-A73C-E83806D51362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458E8-58F0-1243-A1BF-18EFCCC3DA82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C6238-E7A4-2547-A8E7-FBC0DD72F212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E315-D961-AB4E-A53E-1D98806D791A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54890-B138-5B42-BCFF-D2189A127767}" type="datetime1">
              <a:rPr lang="fr-SN" smtClean="0"/>
              <a:t>19/03/2025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ctrTitle"/>
          </p:nvPr>
        </p:nvSpPr>
        <p:spPr>
          <a:xfrm>
            <a:off x="1876423" y="1464806"/>
            <a:ext cx="8791575" cy="143294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III </a:t>
            </a:r>
            <a:b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Reprise après Panne</a:t>
            </a:r>
          </a:p>
        </p:txBody>
      </p:sp>
      <p:sp>
        <p:nvSpPr>
          <p:cNvPr id="6" name="Sous-titre 2"/>
          <p:cNvSpPr txBox="1">
            <a:spLocks/>
          </p:cNvSpPr>
          <p:nvPr/>
        </p:nvSpPr>
        <p:spPr>
          <a:xfrm>
            <a:off x="7212169" y="0"/>
            <a:ext cx="4979831" cy="1122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Université </a:t>
            </a:r>
            <a:r>
              <a:rPr lang="fr-FR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ASSane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Seck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ziguinchor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UFR des sciences et technologies département d’informatique</a:t>
            </a:r>
          </a:p>
        </p:txBody>
      </p:sp>
      <p:pic>
        <p:nvPicPr>
          <p:cNvPr id="8" name="Picture 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32" y="74732"/>
            <a:ext cx="1105469" cy="104763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ous-titre 2"/>
          <p:cNvSpPr>
            <a:spLocks noGrp="1"/>
          </p:cNvSpPr>
          <p:nvPr>
            <p:ph type="subTitle" idx="1"/>
          </p:nvPr>
        </p:nvSpPr>
        <p:spPr>
          <a:xfrm>
            <a:off x="2653049" y="3240191"/>
            <a:ext cx="7237926" cy="2194694"/>
          </a:xfrm>
        </p:spPr>
        <p:txBody>
          <a:bodyPr>
            <a:no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1 Informatique</a:t>
            </a:r>
          </a:p>
          <a:p>
            <a:pPr algn="ctr"/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Génie logiciel – Réseaux &amp; systèmes </a:t>
            </a:r>
          </a:p>
          <a:p>
            <a:pPr algn="ctr"/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académique 2023 – 2024</a:t>
            </a:r>
          </a:p>
          <a:p>
            <a:pPr algn="ctr"/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Premier semestre</a:t>
            </a:r>
          </a:p>
        </p:txBody>
      </p:sp>
      <p:sp>
        <p:nvSpPr>
          <p:cNvPr id="10" name="Sous-titre 2"/>
          <p:cNvSpPr txBox="1">
            <a:spLocks/>
          </p:cNvSpPr>
          <p:nvPr/>
        </p:nvSpPr>
        <p:spPr>
          <a:xfrm>
            <a:off x="4054900" y="5971339"/>
            <a:ext cx="4434224" cy="4765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Serigne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diagne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7830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957589" y="824248"/>
            <a:ext cx="9089822" cy="60337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Quelques définitions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types de panne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L’Objectif de la reprise après une panne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Rétablir la base à son état avant panne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Procédures de reprise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Reprise basée sur la mise à jour différée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Reprise basée sur la mise à jour immédiate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gestionnaires de reprise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Politique d’écriture sur disque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de gestionnaires de reprise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Exercice d’application</a:t>
            </a: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709684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du Chapitre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CDA4E8-27F4-5615-1A2A-9DE72A6A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3973" y="6280840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  <a:cs typeface="AkayaTelivigala" pitchFamily="2" charset="77"/>
              </a:rPr>
              <a:t>2</a:t>
            </a:fld>
            <a:endParaRPr lang="en-US" sz="1800" dirty="0">
              <a:latin typeface="Bernard MT Condensed" panose="02050806060905020404" pitchFamily="18" charset="77"/>
              <a:cs typeface="AkayaTelivigala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0114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72197" y="1908313"/>
            <a:ext cx="11319803" cy="44790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s'appuie sur le journal des transactions, donc sur :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l'état des transactions au moment de la panne ;</a:t>
            </a:r>
          </a:p>
          <a:p>
            <a:pPr lvl="1">
              <a:buFont typeface="Wingdings" pitchFamily="2" charset="2"/>
              <a:buChar char="ü"/>
            </a:pP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dernier point de contrôle.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L'échec d'une transaction (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suicide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assassinat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peut entrainer un état incohérent de la base de données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faut donc ramener la base dans l'état cohérent le plus proche.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10BA55B-6272-51CC-D5F4-00977843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217" y="6204790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3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6853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24730-3904-D586-4F20-F7755B729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34D02D-5991-4282-C22F-B4E15E8BE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87B47C-3EB9-BE67-A904-3D60E03A0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197" y="2305878"/>
            <a:ext cx="11319803" cy="40814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mécanisme de reprise offre deux opérations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Défaire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Refaire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Défaire une opération peut amener à en défaire d'autres.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17DD264-38D0-CBF3-4CB3-A4272BB5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217" y="6204791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4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76660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54157" y="927652"/>
            <a:ext cx="11237844" cy="5930347"/>
          </a:xfrm>
        </p:spPr>
        <p:txBody>
          <a:bodyPr>
            <a:no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État</a:t>
            </a:r>
            <a:r>
              <a:rPr lang="fr-F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 base :</a:t>
            </a:r>
            <a:r>
              <a:rPr lang="fr-F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l’état à l’instant </a:t>
            </a:r>
            <a:r>
              <a:rPr lang="fr-FR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 résulte de toutes des transactions validées à cet instant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doit toujours être stocké sur le disque physique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avant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l’image avant le début d’exécution d’une transaction 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désigne les valeurs des n-uplets </a:t>
            </a:r>
            <a:r>
              <a:rPr lang="fr-FR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leur modification par la transaction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Jusqu’au</a:t>
            </a:r>
            <a:r>
              <a:rPr lang="fr-SN" sz="1800" dirty="0">
                <a:solidFill>
                  <a:srgbClr val="494949"/>
                </a:solidFill>
                <a:effectLst/>
                <a:latin typeface="SFSS1095"/>
              </a:rPr>
              <a:t> </a:t>
            </a: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 de </a:t>
            </a:r>
            <a:r>
              <a:rPr lang="fr-S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fr-SN" sz="1800" dirty="0">
                <a:solidFill>
                  <a:srgbClr val="494949"/>
                </a:solidFill>
                <a:effectLst/>
                <a:latin typeface="SFSS1095"/>
              </a:rPr>
              <a:t> </a:t>
            </a: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</a:t>
            </a:r>
            <a:r>
              <a:rPr lang="fr-SN" sz="1800" dirty="0">
                <a:solidFill>
                  <a:srgbClr val="494949"/>
                </a:solidFill>
                <a:effectLst/>
                <a:latin typeface="SFSS1095"/>
              </a:rPr>
              <a:t> </a:t>
            </a:r>
            <a:r>
              <a:rPr lang="fr-S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l’image</a:t>
            </a:r>
            <a:r>
              <a:rPr lang="fr-SN" sz="1800" dirty="0">
                <a:solidFill>
                  <a:srgbClr val="E00019"/>
                </a:solidFill>
                <a:effectLst/>
                <a:latin typeface="SFSX1095"/>
              </a:rPr>
              <a:t> </a:t>
            </a:r>
            <a:r>
              <a:rPr lang="fr-S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avant</a:t>
            </a:r>
            <a:r>
              <a:rPr lang="fr-SN" sz="1800" dirty="0">
                <a:solidFill>
                  <a:srgbClr val="E00019"/>
                </a:solidFill>
                <a:effectLst/>
                <a:latin typeface="SFSX1095"/>
              </a:rPr>
              <a:t> </a:t>
            </a: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fait partie de l’état de la base.</a:t>
            </a:r>
            <a:endParaRPr lang="fr-FR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après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l’image après validation d’une transaction T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désigne les valeurs des n-uplets </a:t>
            </a:r>
            <a:r>
              <a:rPr lang="fr-FR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après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leur modification par la transaction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fr-SN" sz="1800" dirty="0">
                <a:solidFill>
                  <a:srgbClr val="494949"/>
                </a:solidFill>
                <a:effectLst/>
                <a:latin typeface="SFSS1095"/>
              </a:rPr>
              <a:t> </a:t>
            </a: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 de </a:t>
            </a:r>
            <a:r>
              <a:rPr lang="fr-S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S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l’image</a:t>
            </a:r>
            <a:r>
              <a:rPr lang="fr-SN" sz="1800" dirty="0">
                <a:solidFill>
                  <a:srgbClr val="E00019"/>
                </a:solidFill>
                <a:effectLst/>
                <a:latin typeface="SFSX1095"/>
              </a:rPr>
              <a:t> </a:t>
            </a:r>
            <a:r>
              <a:rPr lang="fr-S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après</a:t>
            </a:r>
            <a:r>
              <a:rPr lang="fr-SN" sz="1800" dirty="0">
                <a:solidFill>
                  <a:srgbClr val="E00019"/>
                </a:solidFill>
                <a:effectLst/>
                <a:latin typeface="SFSX1095"/>
              </a:rPr>
              <a:t> </a:t>
            </a: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remplace</a:t>
            </a:r>
            <a:r>
              <a:rPr lang="fr-SN" sz="1800" dirty="0">
                <a:solidFill>
                  <a:srgbClr val="494949"/>
                </a:solidFill>
                <a:effectLst/>
                <a:latin typeface="SFSS1095"/>
              </a:rPr>
              <a:t> </a:t>
            </a:r>
            <a:r>
              <a:rPr lang="fr-S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l’image</a:t>
            </a:r>
            <a:r>
              <a:rPr lang="fr-SN" sz="1800" dirty="0">
                <a:solidFill>
                  <a:srgbClr val="E00019"/>
                </a:solidFill>
                <a:effectLst/>
                <a:latin typeface="SFSX1095"/>
              </a:rPr>
              <a:t> </a:t>
            </a:r>
            <a:r>
              <a:rPr lang="fr-S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avant</a:t>
            </a:r>
            <a:r>
              <a:rPr lang="fr-SN" sz="1800" dirty="0">
                <a:solidFill>
                  <a:srgbClr val="E00019"/>
                </a:solidFill>
                <a:effectLst/>
                <a:latin typeface="SFSX1095"/>
              </a:rPr>
              <a:t> </a:t>
            </a: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</a:t>
            </a:r>
            <a:r>
              <a:rPr lang="fr-SN" sz="1800" dirty="0">
                <a:solidFill>
                  <a:srgbClr val="494949"/>
                </a:solidFill>
                <a:effectLst/>
                <a:latin typeface="SFSS1095"/>
              </a:rPr>
              <a:t> </a:t>
            </a: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l’état</a:t>
            </a:r>
            <a:r>
              <a:rPr lang="fr-SN" sz="1800" dirty="0">
                <a:solidFill>
                  <a:srgbClr val="494949"/>
                </a:solidFill>
                <a:effectLst/>
                <a:latin typeface="SFSS1095"/>
              </a:rPr>
              <a:t> </a:t>
            </a: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la base. 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Quelques Définitions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6BF6F16-EC56-4495-6E9A-3C2D7DF18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078" y="624108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5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43592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84101" y="2326341"/>
            <a:ext cx="10607899" cy="24742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existe essentiellement trois types de panne 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Panne d’une transaction 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Panne du système (software)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Panne du support (hardware).</a:t>
            </a:r>
          </a:p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Types de panne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A71244-E4DA-519C-78AC-613A6024E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721" y="6315572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6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7953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3" y="2292439"/>
            <a:ext cx="11050587" cy="242122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supposant qu’il y a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point de contrôle à l’instant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défaillance à l’instant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5 états possibles pour une transaction au moment de la panne.</a:t>
            </a: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Types de panne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2F84627-3628-958E-E1AC-8E476814A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964" y="6294091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7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98402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3" y="1120462"/>
            <a:ext cx="11050587" cy="5737537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État 1 :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transaction  (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buFont typeface="+mj-lt"/>
              <a:buAutoNum type="alphaL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a débuté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avant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914400" lvl="1" indent="-457200">
              <a:buFont typeface="+mj-lt"/>
              <a:buAutoNum type="alphaL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s’est terminée avec succès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point de contrôle à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marL="914400" lvl="1" indent="-457200">
              <a:buFont typeface="+mj-lt"/>
              <a:buAutoNum type="alphaL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n’intervient pas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 processus de reprise.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État 2 :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transaction (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914400" lvl="1" indent="-457200">
              <a:buFont typeface="+mj-lt"/>
              <a:buAutoNum type="alphaL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a débuté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914400" lvl="1" indent="-457200">
              <a:buFont typeface="+mj-lt"/>
              <a:buAutoNum type="alphaL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s’est terminée avec commit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marL="914400" lvl="1" indent="-457200">
              <a:buFont typeface="+mj-lt"/>
              <a:buAutoNum type="alphaL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devra être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ré-exécutée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(Refaire) pour respecter la durabilité des propriétés ACI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il n'est pas sûr que les données qu'elle manipulait aient été correctement inscrites en mémoire centrale,).</a:t>
            </a: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Types de panne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059C0C-2FAF-A237-A069-C830BAC1B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217" y="6267587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8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00577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3" y="1573306"/>
            <a:ext cx="11050587" cy="5188102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État 3 :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transaction (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914400" lvl="1" indent="-457200">
              <a:buFont typeface="+mj-lt"/>
              <a:buAutoNum type="alphaL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a débuté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avant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914400" lvl="1" indent="-457200">
              <a:buFont typeface="+mj-lt"/>
              <a:buAutoNum type="alphaL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est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cours d’exécution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moment de la panne survenue à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marL="914400" lvl="1" indent="-457200">
              <a:buFont typeface="+mj-lt"/>
              <a:buAutoNum type="alphaL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devra être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annulée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(Défaire).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État 4 :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transaction (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914400" lvl="1" indent="-457200">
              <a:buFont typeface="+mj-lt"/>
              <a:buAutoNum type="alphaL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a débuté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après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914400" lvl="1" indent="-457200">
              <a:buFont typeface="+mj-lt"/>
              <a:buAutoNum type="alphaL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s’est terminée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avant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marL="914400" lvl="1" indent="-457200">
              <a:buFont typeface="+mj-lt"/>
              <a:buAutoNum type="alphaL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devra être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ré-exécutée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(Refaire).</a:t>
            </a: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Types de panne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61AB0F0-52C0-B94C-7FEF-3FEF957DF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964" y="624108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9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40058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3" y="2554941"/>
            <a:ext cx="11050587" cy="4206467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État 5 :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transaction (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914400" lvl="1" indent="-457200">
              <a:buFont typeface="+mj-lt"/>
              <a:buAutoNum type="alphaL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a débuté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après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914400" lvl="1" indent="-457200">
              <a:buFont typeface="+mj-lt"/>
              <a:buAutoNum type="alphaL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est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cours d’exécution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moment de la panne survenue à 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914400" lvl="1" indent="-457200">
              <a:buFont typeface="+mj-lt"/>
              <a:buAutoNum type="alphaLcPeriod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devra être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annulée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(Défaire).</a:t>
            </a: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Types de panne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76B660B-B590-70A3-5577-D200268EB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217" y="6267587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10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15813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de panne</a:t>
            </a:r>
          </a:p>
        </p:txBody>
      </p:sp>
      <p:pic>
        <p:nvPicPr>
          <p:cNvPr id="5" name="Image 4" descr="C:\Users\HP PC\Desktop\Cours annuels\0. Cours en presentiel\10. 2019-2020\1. Semestre 1\2. BDA M1 Informatique\RAP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071" y="1016106"/>
            <a:ext cx="4676682" cy="55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DF657D5-D786-331C-37CE-66ACC97C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217" y="622241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11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0930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7791" y="1030311"/>
            <a:ext cx="11404209" cy="582769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moment de la panne, il peut y avoir des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incohérences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dans la base de données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L’objectif d’une reprise après panne est de reconstituer un état cohérent de la base de données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s’agit de ramener la base à son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dernier état cohérent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validé avant la panne;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cela, le système doit assurer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atomicité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annuler dans la base de données les transactions non validées au moment de la panne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durabilité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reproduire dans la base les effets de toutes les transactions validées au moment de la panne ou avant sans point de contrôle.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631065" y="0"/>
            <a:ext cx="11336816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L’Objectif de la reprise après panne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EE1004-6FB2-2731-695A-A64CC2342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6792" y="6280840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12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46653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81824" y="995082"/>
            <a:ext cx="10908407" cy="5634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cas de figure peuvent se présenter 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Arrêt normal du système :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point de reprise système est écrit en fin de journal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Restauration du contexte d'exécution sauvegardé du point de reprise.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Panne système :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Perte mémoire centrale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 de perte mémoire secondaire.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Panne du support de stockage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Panne de mémoire secondaire, perte d'une partie des données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Incohérence de la base de données.</a:t>
            </a:r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84094" y="20834"/>
            <a:ext cx="11403106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Rétablir la base à son état avant panne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1A7786-E7DF-537A-DFE6-F7963414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0176" y="62642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13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40904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3944" y="1461752"/>
            <a:ext cx="11499129" cy="5396248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Après une panne du système 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Recherche du dernier point de reprise dans le journal 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(en avant) du journal du point de reprise vers la panne : Permet de connaître 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transactions validées ;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transactions pas encore validées.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Traitement du journal en arrière : </a:t>
            </a:r>
            <a:r>
              <a:rPr lang="fr-FR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Défaire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transactions non validées (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Traitement du journal en avant : </a:t>
            </a:r>
            <a:r>
              <a:rPr lang="fr-FR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Refaire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transactions validées (</a:t>
            </a:r>
            <a:r>
              <a:rPr lang="fr-FR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874059" y="650383"/>
            <a:ext cx="10623176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1. Procédures de reprise</a:t>
            </a:r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84094" y="20834"/>
            <a:ext cx="11403106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Rétablir la base à son état avant panne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15EB31-3F07-AFF2-65E7-79406AB7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511" y="6333848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14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68221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74059" y="1838648"/>
            <a:ext cx="11269014" cy="397048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cas de perte de données ou d’incohérence de la base 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d'une sauvegarde cohérente de la base en plus des fichiers de journal des transactions qui ont suivies 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retrouve le checkpoint associé 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réapplique toutes les transactions validées depuis ce point (for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committed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fr-FR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</a:t>
            </a:r>
            <a:r>
              <a:rPr lang="fr-FR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– application des images après la sauvegarde 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général, il enchaîne sur une reprise à chaud.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874059" y="650383"/>
            <a:ext cx="10623176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1. Procédures de reprise</a:t>
            </a:r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84094" y="20834"/>
            <a:ext cx="11403106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Rétablir la base à son état avant panne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14F16B1-7D9F-4123-3818-DCA4F4A35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6111" y="6207617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15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69359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21218" y="1609859"/>
            <a:ext cx="11269014" cy="524814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mise à jour différée consiste à ne faire les écritures effectives qu'au moment de la validation de la transaction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modifications sur la base de données sont enregistrées dans le journal au moment de la validation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procédure de reprise consiste alors à parcourir le journal pour refaire les opérations d'écriture des transactions validées depuis le dernier point de reprise (dans l'ordre d'apparition dans le journal)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contre, il n'y a rien à faire pour les transactions non validées.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874059" y="650383"/>
            <a:ext cx="10623176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2. Reprise basée sur la mise à jour différée</a:t>
            </a: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484094" y="20834"/>
            <a:ext cx="11403106" cy="811369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Rétablir la base à son état avant panne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B3DC4D-E8BC-13C6-DFA8-F525EF35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1690" y="630734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16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97806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21218" y="1461752"/>
            <a:ext cx="11470782" cy="539624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écritures sont effectuées sur la base de données immédiatement après modification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anciennes valeurs des informations modifiées sont enregistrées dans le journal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procédure de reprise consiste alors à 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Refaire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opérations d'écriture des transactions validées depuis le dernier point de reprise (dans l'ordre d'apparition dans le journal) 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Défaire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toutes les opérations d'écriture des transactions non validées depuis le dernier point de reprise (dans l'ordre inverse d'apparition dans le journal).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484094" y="20834"/>
            <a:ext cx="11403106" cy="811369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Rétablir la base à son état avant panne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874059" y="650383"/>
            <a:ext cx="10623176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3. Reprise basée sur la mise à jour immédiate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45946B-43E6-DDC7-EA79-2D1E8138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6111" y="6213217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17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05859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Les Gestionnaires de reprise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00766"/>
            <a:ext cx="11050587" cy="555723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gestionnaire de reprise a pour rôles de 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Réaliser les opérations dans la base de données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Valider et annuler les transactions lancées par les utilisateurs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Gérer la journalisation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Gérer les échanges tampon – disque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Réaliser la reprise après panne.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exécute un algorithme de reprise défini par deux paramètres 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Forcer ou non l'écriture sur disque des modifications dans le tampon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façon d'enregistrer les écritures dans le journal.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74722DB-7A0F-EDE1-1DA4-199B10FA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4217" y="625433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18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01441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Les Gestionnaires de reprise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1035425" y="2459865"/>
            <a:ext cx="11156576" cy="2833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Elles dépendent de la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période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d’écriture des données sur le disque ; </a:t>
            </a:r>
          </a:p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Ainsi il est possible 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d’écrire des valeurs non validées sur disque (MAJ immédiate)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d’écrire toutes les valeurs validées sur disque au </a:t>
            </a:r>
            <a:r>
              <a:rPr lang="fr-F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(MAJ différée).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874059" y="650383"/>
            <a:ext cx="10623176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1. Politiques d’écriture sur disque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9314890-D38A-11A5-7A6A-10DDE3EE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1690" y="6283677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19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11650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Les Gestionnaires de reprise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850006" y="1461751"/>
            <a:ext cx="11341994" cy="5396247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Écriture des valeurs non validées sur disque 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politique </a:t>
            </a:r>
            <a:r>
              <a:rPr lang="fr-FR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Steal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2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Permettre l’écriture des valeurs non validées sur le disque ;</a:t>
            </a:r>
          </a:p>
          <a:p>
            <a:pPr lvl="2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faut alors annuler à la reprise les écritures non validées sur le disque ;</a:t>
            </a:r>
          </a:p>
          <a:p>
            <a:pPr lvl="2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 rapide en fonctionnement normal, mais plus coûteux à la reprise.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politique</a:t>
            </a:r>
            <a:r>
              <a:rPr lang="fr-FR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</a:t>
            </a:r>
            <a:r>
              <a:rPr lang="fr-FR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Steal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2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pas permettre l’écriture des valeurs non validées sur le disque ; </a:t>
            </a:r>
          </a:p>
          <a:p>
            <a:pPr lvl="2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Reprise plus rapide car pas d’annulation ;</a:t>
            </a:r>
          </a:p>
          <a:p>
            <a:pPr lvl="2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 coûteux en fonctionnement normal.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874059" y="650383"/>
            <a:ext cx="10623176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1. Politiques d’écriture sur disque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BB64AE8-35D7-D0AE-979C-195117C2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1690" y="6302658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20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53872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Les Gestionnaires de reprise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850006" y="1815353"/>
            <a:ext cx="11341994" cy="5042646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Écriture de toutes les valeurs validées sur disque au </a:t>
            </a:r>
            <a:r>
              <a:rPr lang="fr-F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politique</a:t>
            </a:r>
            <a:r>
              <a:rPr lang="fr-FR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2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Toujours écrire toutes les valeurs validées sur disque au </a:t>
            </a:r>
            <a:r>
              <a:rPr lang="fr-F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2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 coûteux en fonctionnement normal ; </a:t>
            </a:r>
          </a:p>
          <a:p>
            <a:pPr lvl="2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 de répétition à la reprise.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politique </a:t>
            </a:r>
            <a:r>
              <a:rPr lang="fr-FR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No-Force</a:t>
            </a:r>
            <a:r>
              <a:rPr lang="fr-FR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2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pas écrire toutes les valeurs validées sur disque au </a:t>
            </a:r>
            <a:r>
              <a:rPr lang="fr-F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2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faut répéter à la reprise les écritures validées.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874059" y="650383"/>
            <a:ext cx="10623176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1. Politique d’écriture sur disque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B79563C-7442-AE95-0AE5-4F003C22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1690" y="6207617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21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55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Les Gestionnaires de reprise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850006" y="1613647"/>
            <a:ext cx="11341994" cy="5244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existe 4 types de gestionnaires de reprise selon les combinaisons des 4 politiques d’écriture sur disque ci-dessus :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Steal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No-Force</a:t>
            </a: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Permettre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’écriture des valeurs non validées sur le disque et ne pas écrire toutes les valeurs validées sur disque au </a:t>
            </a:r>
            <a:r>
              <a:rPr lang="fr-F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Steal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Force</a:t>
            </a: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Permettre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’écriture des valeurs non validées sur disque et écrire toutes les valeurs validées sur disque au </a:t>
            </a:r>
            <a:r>
              <a:rPr lang="fr-F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Steal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No-Force</a:t>
            </a: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 pas permettre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’écriture des valeurs non validées sur disque et ne pas écrire toutes les valeurs validées sur disque au </a:t>
            </a:r>
            <a:r>
              <a:rPr lang="fr-F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Steal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Force</a:t>
            </a: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 pas permettre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’écriture des valeurs non validées sur disque et toujours écrire toutes les valeurs validées sur disque au </a:t>
            </a:r>
            <a:r>
              <a:rPr lang="fr-F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874059" y="650383"/>
            <a:ext cx="10623176" cy="81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2. Types de gestionnaire de reprise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5DB0EAD-2DBB-3546-CED9-0CFDE2249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1690" y="6207617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22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5068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F4498F-35D0-EC9C-F193-FCBFAECDB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811368"/>
            <a:ext cx="11050588" cy="604663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Soient </a:t>
            </a:r>
            <a:r>
              <a:rPr lang="fr-FR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quatre</a:t>
            </a:r>
            <a:r>
              <a:rPr lang="fr-FR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transactions T0, T1, T2 et T3. </a:t>
            </a:r>
            <a:r>
              <a:rPr lang="fr-FR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considère que :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fr-FR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Dans la mémoire centrale on a : </a:t>
            </a:r>
            <a:r>
              <a:rPr lang="fr-FR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= 0</a:t>
            </a:r>
            <a:r>
              <a:rPr lang="fr-FR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; </a:t>
            </a:r>
            <a:r>
              <a:rPr lang="fr-FR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 = 20</a:t>
            </a:r>
            <a:r>
              <a:rPr lang="fr-FR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; </a:t>
            </a:r>
            <a:r>
              <a:rPr lang="fr-FR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= 5 </a:t>
            </a:r>
            <a:r>
              <a:rPr lang="fr-FR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 </a:t>
            </a:r>
            <a:r>
              <a:rPr lang="fr-FR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 = 0</a:t>
            </a:r>
            <a:r>
              <a:rPr lang="fr-S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kern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fr-FR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ans le journal de transactions, on a 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45065795-9CBD-D6D4-F233-5EACECEAB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VI. Exercice d’application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B1731D90-CFC8-D876-5589-54455996E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237044"/>
              </p:ext>
            </p:extLst>
          </p:nvPr>
        </p:nvGraphicFramePr>
        <p:xfrm>
          <a:off x="3551584" y="2282936"/>
          <a:ext cx="4899044" cy="44557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2434">
                  <a:extLst>
                    <a:ext uri="{9D8B030D-6E8A-4147-A177-3AD203B41FA5}">
                      <a16:colId xmlns:a16="http://schemas.microsoft.com/office/drawing/2014/main" val="3920527953"/>
                    </a:ext>
                  </a:extLst>
                </a:gridCol>
                <a:gridCol w="1225758">
                  <a:extLst>
                    <a:ext uri="{9D8B030D-6E8A-4147-A177-3AD203B41FA5}">
                      <a16:colId xmlns:a16="http://schemas.microsoft.com/office/drawing/2014/main" val="3857365025"/>
                    </a:ext>
                  </a:extLst>
                </a:gridCol>
                <a:gridCol w="1225758">
                  <a:extLst>
                    <a:ext uri="{9D8B030D-6E8A-4147-A177-3AD203B41FA5}">
                      <a16:colId xmlns:a16="http://schemas.microsoft.com/office/drawing/2014/main" val="174830245"/>
                    </a:ext>
                  </a:extLst>
                </a:gridCol>
                <a:gridCol w="1225094">
                  <a:extLst>
                    <a:ext uri="{9D8B030D-6E8A-4147-A177-3AD203B41FA5}">
                      <a16:colId xmlns:a16="http://schemas.microsoft.com/office/drawing/2014/main" val="1989438461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T0</a:t>
                      </a:r>
                      <a:endParaRPr lang="fr-S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T1</a:t>
                      </a:r>
                      <a:endParaRPr lang="fr-S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T2</a:t>
                      </a:r>
                      <a:endParaRPr lang="fr-S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T3</a:t>
                      </a:r>
                      <a:endParaRPr lang="fr-SN" sz="18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4739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Début</a:t>
                      </a:r>
                      <a:endParaRPr lang="fr-S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6406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= A + 10</a:t>
                      </a:r>
                      <a:endParaRPr lang="fr-S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440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Début</a:t>
                      </a:r>
                      <a:endParaRPr lang="fr-S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9641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fr-FR" sz="1800" b="0" kern="1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= B + 10</a:t>
                      </a:r>
                      <a:endParaRPr lang="fr-S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9234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Début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3093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= C + 5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5883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= D + 5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6085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Commit</a:t>
                      </a:r>
                      <a:endParaRPr lang="fr-SN" sz="1800" b="0" kern="1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1849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= A + 5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3173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= B + 10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9797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Rollback</a:t>
                      </a:r>
                      <a:endParaRPr lang="fr-SN" sz="1800" b="0" kern="100" dirty="0"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4643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= C + 10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6374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Début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1401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= A + 12</a:t>
                      </a:r>
                      <a:endParaRPr lang="fr-S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057514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b="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Panne</a:t>
                      </a:r>
                      <a:endParaRPr lang="fr-SN" sz="1800" b="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844141"/>
                  </a:ext>
                </a:extLst>
              </a:tr>
            </a:tbl>
          </a:graphicData>
        </a:graphic>
      </p:graphicFrame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FBDF91B-DD22-4651-D2C9-E2A6CD53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965" y="6214578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23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2880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062E0-A189-071D-2198-F4CBF7E7F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E5EAAC-4953-97A6-9B78-6615B73A6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390" y="1311966"/>
            <a:ext cx="11330609" cy="5546034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fr-S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Donner l’état de la base de données dans la mémoire centrale et dans le disque. Si le gestionnaire est de type :</a:t>
            </a:r>
          </a:p>
          <a:p>
            <a:pPr marL="914400" lvl="1" indent="-457200">
              <a:lnSpc>
                <a:spcPct val="15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SN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Steal</a:t>
            </a:r>
            <a:r>
              <a:rPr lang="fr-S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/Force ;</a:t>
            </a:r>
          </a:p>
          <a:p>
            <a:pPr marL="914400" lvl="1" indent="-457200">
              <a:lnSpc>
                <a:spcPct val="15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S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No-</a:t>
            </a:r>
            <a:r>
              <a:rPr lang="fr-SN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steal</a:t>
            </a:r>
            <a:r>
              <a:rPr lang="fr-S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/No-force ;</a:t>
            </a:r>
          </a:p>
          <a:p>
            <a:pPr marL="914400" lvl="1" indent="-457200">
              <a:lnSpc>
                <a:spcPct val="150000"/>
              </a:lnSpc>
              <a:spcAft>
                <a:spcPts val="800"/>
              </a:spcAft>
              <a:buFont typeface="+mj-lt"/>
              <a:buAutoNum type="alphaLcPeriod"/>
            </a:pPr>
            <a:r>
              <a:rPr lang="fr-S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No-</a:t>
            </a:r>
            <a:r>
              <a:rPr lang="fr-SN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Steal</a:t>
            </a:r>
            <a:r>
              <a:rPr lang="fr-S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/Force.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fr-FR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Quelles sont les opérations effectuées par le mécanisme de repise après la panne pour chacun de ces cas ?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D4644E3-DC32-312B-5CD2-D1A4FDF80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811369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VI. Exercice d’application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D0264C-D983-B277-8D45-6FD33302C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965" y="6251367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Bernard MT Condensed" panose="02050806060905020404" pitchFamily="18" charset="77"/>
              </a:rPr>
              <a:t>24</a:t>
            </a:fld>
            <a:endParaRPr lang="en-US" sz="1800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204803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4976</TotalTime>
  <Words>1851</Words>
  <Application>Microsoft Macintosh PowerPoint</Application>
  <PresentationFormat>Grand écran</PresentationFormat>
  <Paragraphs>263</Paragraphs>
  <Slides>24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3" baseType="lpstr">
      <vt:lpstr>Arial</vt:lpstr>
      <vt:lpstr>Bernard MT Condensed</vt:lpstr>
      <vt:lpstr>Calibri</vt:lpstr>
      <vt:lpstr>SFSS1095</vt:lpstr>
      <vt:lpstr>SFSX1095</vt:lpstr>
      <vt:lpstr>Times New Roman</vt:lpstr>
      <vt:lpstr>Tw Cen MT</vt:lpstr>
      <vt:lpstr>Wingdings</vt:lpstr>
      <vt:lpstr>Circuit</vt:lpstr>
      <vt:lpstr>Chapitre III  Reprise après Panne</vt:lpstr>
      <vt:lpstr>Plan du Chapitre</vt:lpstr>
      <vt:lpstr>Introduction</vt:lpstr>
      <vt:lpstr>Introduction</vt:lpstr>
      <vt:lpstr>I. Quelques Définitions</vt:lpstr>
      <vt:lpstr>II. LES Types de panne</vt:lpstr>
      <vt:lpstr>II. Les Types de panne</vt:lpstr>
      <vt:lpstr>II. Les Types de panne</vt:lpstr>
      <vt:lpstr>II. Les Types de panne</vt:lpstr>
      <vt:lpstr>II. Les Types de panne</vt:lpstr>
      <vt:lpstr>II. Les de panne</vt:lpstr>
      <vt:lpstr>III. L’Objectif de la reprise après panne</vt:lpstr>
      <vt:lpstr>Présentation PowerPoint</vt:lpstr>
      <vt:lpstr>Présentation PowerPoint</vt:lpstr>
      <vt:lpstr>Présentation PowerPoint</vt:lpstr>
      <vt:lpstr>IV. Rétablir la base à son état avant panne</vt:lpstr>
      <vt:lpstr>IV. Rétablir la base à son état avant panne</vt:lpstr>
      <vt:lpstr>V. Les Gestionnaires de reprise</vt:lpstr>
      <vt:lpstr>V. Les Gestionnaires de reprise</vt:lpstr>
      <vt:lpstr>V. Les Gestionnaires de reprise</vt:lpstr>
      <vt:lpstr>V. Les Gestionnaires de reprise</vt:lpstr>
      <vt:lpstr>V. Les Gestionnaires de reprise</vt:lpstr>
      <vt:lpstr>VI. Exercice d’application</vt:lpstr>
      <vt:lpstr>VI. Exercice d’application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III  Optimisation de requêtes</dc:title>
  <dc:creator>HP PC</dc:creator>
  <cp:lastModifiedBy>Khalifa</cp:lastModifiedBy>
  <cp:revision>292</cp:revision>
  <dcterms:created xsi:type="dcterms:W3CDTF">2021-12-18T13:46:07Z</dcterms:created>
  <dcterms:modified xsi:type="dcterms:W3CDTF">2025-03-20T07:57:07Z</dcterms:modified>
</cp:coreProperties>
</file>