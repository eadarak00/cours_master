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86" r:id="rId5"/>
    <p:sldId id="267" r:id="rId6"/>
    <p:sldId id="287" r:id="rId7"/>
    <p:sldId id="259" r:id="rId8"/>
    <p:sldId id="260" r:id="rId9"/>
    <p:sldId id="261" r:id="rId10"/>
    <p:sldId id="288" r:id="rId11"/>
    <p:sldId id="268" r:id="rId12"/>
    <p:sldId id="262" r:id="rId13"/>
    <p:sldId id="281" r:id="rId14"/>
    <p:sldId id="289" r:id="rId15"/>
    <p:sldId id="295" r:id="rId16"/>
    <p:sldId id="271" r:id="rId17"/>
    <p:sldId id="263" r:id="rId18"/>
    <p:sldId id="290" r:id="rId19"/>
    <p:sldId id="264" r:id="rId20"/>
    <p:sldId id="269" r:id="rId21"/>
    <p:sldId id="270" r:id="rId22"/>
    <p:sldId id="280" r:id="rId23"/>
    <p:sldId id="291" r:id="rId24"/>
    <p:sldId id="294" r:id="rId25"/>
    <p:sldId id="282" r:id="rId26"/>
    <p:sldId id="296" r:id="rId27"/>
    <p:sldId id="292" r:id="rId28"/>
    <p:sldId id="283" r:id="rId29"/>
    <p:sldId id="297" r:id="rId30"/>
    <p:sldId id="272" r:id="rId31"/>
    <p:sldId id="273" r:id="rId32"/>
    <p:sldId id="274" r:id="rId33"/>
    <p:sldId id="275" r:id="rId34"/>
    <p:sldId id="276" r:id="rId35"/>
    <p:sldId id="284" r:id="rId36"/>
    <p:sldId id="277" r:id="rId37"/>
    <p:sldId id="278" r:id="rId38"/>
    <p:sldId id="285" r:id="rId39"/>
    <p:sldId id="298" r:id="rId40"/>
    <p:sldId id="304" r:id="rId41"/>
    <p:sldId id="301" r:id="rId42"/>
    <p:sldId id="299" r:id="rId43"/>
    <p:sldId id="300" r:id="rId44"/>
    <p:sldId id="302" r:id="rId45"/>
    <p:sldId id="303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95" d="100"/>
          <a:sy n="95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F5E4D-968E-4FE4-8952-416F417B2105}" type="datetimeFigureOut">
              <a:rPr lang="fr-FR" smtClean="0"/>
              <a:t>24/03/2025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7A2E9-8931-4634-A8D9-85873AEC2A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9187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37A2E9-8931-4634-A8D9-85873AEC2AA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1021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3DA9FF0-D68C-4352-8110-A6AD03E40FB4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CC556-664A-43B1-9CBB-9C1C0FB0EFF2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8033-420C-4188-885E-7BEC08C0DC6E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9ACE-BB4C-4C2F-9526-48619E82E51D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D2620-0144-4AE8-B891-0FD8B38DCA3C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4D85-EFFD-4927-9CA7-232BF1BA3FB3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53BDD-AAEB-4AB8-BCDA-9F12019DEFC3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5F836-D9B6-45F9-AC32-AC4B3A9C841D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7A68-15AC-4840-8F39-DADB45171C7D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9F627-B7FD-41E3-BBC5-2C9B5D40621B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E455-7408-42C0-84B7-CAF1852CCAC7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96E1-F200-41A1-A9E4-2B00749699DA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DA52-A653-4FCA-B51F-D163498BB581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F8DF3-C4C1-4858-9721-2E8E9D3A357C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E4238-1B3A-418B-8050-6208CA76685C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17932-D4DE-48DC-8BE1-481DEEF92EDE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2C734-533F-4C27-883D-CA85539C67CD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BBC3F-97D2-4ADA-8682-97EE255322BC}" type="datetime1">
              <a:rPr lang="en-US" smtClean="0"/>
              <a:t>3/24/25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ctrTitle"/>
          </p:nvPr>
        </p:nvSpPr>
        <p:spPr>
          <a:xfrm>
            <a:off x="1876423" y="1464806"/>
            <a:ext cx="8791575" cy="1432941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IV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Optimisation de requêtes</a:t>
            </a:r>
          </a:p>
        </p:txBody>
      </p:sp>
      <p:sp>
        <p:nvSpPr>
          <p:cNvPr id="6" name="Sous-titre 2"/>
          <p:cNvSpPr txBox="1">
            <a:spLocks/>
          </p:cNvSpPr>
          <p:nvPr/>
        </p:nvSpPr>
        <p:spPr>
          <a:xfrm>
            <a:off x="7212169" y="0"/>
            <a:ext cx="4979831" cy="1122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Université </a:t>
            </a:r>
            <a:r>
              <a:rPr lang="fr-FR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ASSane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Seck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ziguinchor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UFR des sciences et </a:t>
            </a:r>
            <a:r>
              <a:rPr lang="fr-FR" sz="1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   département 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d’informatique</a:t>
            </a:r>
          </a:p>
        </p:txBody>
      </p:sp>
      <p:pic>
        <p:nvPicPr>
          <p:cNvPr id="8" name="Picture 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32" y="74732"/>
            <a:ext cx="1105469" cy="104763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ous-titre 2"/>
          <p:cNvSpPr>
            <a:spLocks noGrp="1"/>
          </p:cNvSpPr>
          <p:nvPr>
            <p:ph type="subTitle" idx="1"/>
          </p:nvPr>
        </p:nvSpPr>
        <p:spPr>
          <a:xfrm>
            <a:off x="2653049" y="3240191"/>
            <a:ext cx="7237926" cy="2194694"/>
          </a:xfrm>
        </p:spPr>
        <p:txBody>
          <a:bodyPr>
            <a:no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1 Informatique</a:t>
            </a:r>
          </a:p>
          <a:p>
            <a:pPr algn="ctr"/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Génie logiciel – Réseaux &amp; systèmes </a:t>
            </a:r>
          </a:p>
          <a:p>
            <a:pPr algn="ctr"/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académique 2023 – 2024</a:t>
            </a:r>
          </a:p>
          <a:p>
            <a:pPr algn="ctr"/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Premier semestre</a:t>
            </a:r>
          </a:p>
        </p:txBody>
      </p:sp>
      <p:sp>
        <p:nvSpPr>
          <p:cNvPr id="10" name="Sous-titre 2"/>
          <p:cNvSpPr txBox="1">
            <a:spLocks/>
          </p:cNvSpPr>
          <p:nvPr/>
        </p:nvSpPr>
        <p:spPr>
          <a:xfrm>
            <a:off x="4054900" y="5971339"/>
            <a:ext cx="4434224" cy="4765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Serigne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diagne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7830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957589" y="709684"/>
            <a:ext cx="9089822" cy="61483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Arbre algébrique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Représentation des opérations de l’algèbre relationnelle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Optimisation de requêtes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Restructuration algébrique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Heuristiques d’optimisation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notion d’index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Représentation et utilisation d’un index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d’index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Création et suppression d’index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des Index par la gauche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d’exécution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Exercice d’application</a:t>
            </a: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709684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du cours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856739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14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53037" y="1179443"/>
            <a:ext cx="11238962" cy="567855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SGBD relationnels utilisent le langage SQL :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procédural ;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opérations ensemblistes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L’utilisateur :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décrit les données à visualiser ;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donne pas les algorithmes d’accès à ces données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L’optimiseur : 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construit des algorithmes d’accès aux données ;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diminue les temps de réponse.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2818102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53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C6369-2A58-746F-4543-8D1F1A7EC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FD6D5A-081C-618E-DBB4-7411606C6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1CD615-EE37-008D-2E71-FB1AEDA7D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037" y="811369"/>
            <a:ext cx="11238962" cy="60466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L’optimisation consiste à :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déterminer l’ensemble des algorithmes d’accès concernant une requête :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plans d’exécution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utiliser le plus optimal pour exécuter la requête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L’optimiseur transforme une requête écrite en SQL en plan d’exécution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séquence d’opérations de bas niveau réalisant efficacement l’accès aux données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plan d’exécution dépend :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schéma interne de la base de données ;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ses d’index ;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la taille des données.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A6F026-AAAB-CC2C-9408-21931239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18102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29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62609" y="1815548"/>
            <a:ext cx="11529391" cy="50424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L’exécution d’une requête SQL par un SGBD suit les étapes suivantes 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 syntaxique :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contrôle de la syntaxique et traduction en opérations algébriques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Contrôle de l’accès aux données :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Vérification des droits d’accès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Optimisation :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choix du meilleur plan d’exécution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Exécution :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Compilation et exécution du plan choisi.</a:t>
            </a: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856739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5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592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0DFA6-D84B-A062-B3B5-95FE5E99C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4DCC7E-2F61-341C-F70F-20B99D7B8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25216"/>
            <a:ext cx="11050588" cy="55327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Optimiser une requête consiste à :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chercher le plan d’exécution optimal ;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minimiser le coût d’exécution en ressources (CPU, RAM) ;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diminuer la durée d’exécution (temps d’attente)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: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construit tous les arbres algébriques possibles pour la requête ;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évalue leur coût ; 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choisit celui qui a le plus petit coût d’exécution.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6F0722F-3837-07B5-D7F5-FD6B552DF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2F2BA28-EA7C-8B5A-6F65-3919CED53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56739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6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874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50006" y="1334589"/>
            <a:ext cx="11341994" cy="5523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la représentation graphique sous forme d’arbre d’une requête dans laquelle 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feuilles représentent les relations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nœuds intermédiaires représentent les opérateurs algébriques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nœud racine représente le résultat de la requête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arcs représentent les flux de données entre les opérations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tris sont représentés par des rectangles contenant les attributs sur lesquels ils portent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agrégats sont représentés par un rectangle contenant les attributs de la clause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d’un autre rectangle contenant les attributs résultats calculés.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Arbre Algébrique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5280" y="811369"/>
            <a:ext cx="23182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I. 1. Définition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882497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7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904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8786643"/>
              </p:ext>
            </p:extLst>
          </p:nvPr>
        </p:nvGraphicFramePr>
        <p:xfrm>
          <a:off x="771087" y="1130238"/>
          <a:ext cx="11128990" cy="5705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1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4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3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3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23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46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669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9735">
                <a:tc gridSpan="2"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Projection</a:t>
                      </a:r>
                    </a:p>
                  </a:txBody>
                  <a:tcPr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Sélection</a:t>
                      </a:r>
                    </a:p>
                  </a:txBody>
                  <a:tcPr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Jointure naturelle</a:t>
                      </a:r>
                    </a:p>
                  </a:txBody>
                  <a:tcPr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665">
                <a:tc gridSpan="2">
                  <a:txBody>
                    <a:bodyPr/>
                    <a:lstStyle/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735">
                <a:tc gridSpan="4"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</a:t>
                      </a:r>
                    </a:p>
                  </a:txBody>
                  <a:tcPr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Agrégats</a:t>
                      </a:r>
                    </a:p>
                  </a:txBody>
                  <a:tcPr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9020">
                <a:tc gridSpan="4">
                  <a:txBody>
                    <a:bodyPr/>
                    <a:lstStyle/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735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Union</a:t>
                      </a:r>
                    </a:p>
                  </a:txBody>
                  <a:tcPr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Intersection</a:t>
                      </a:r>
                    </a:p>
                  </a:txBody>
                  <a:tcPr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Différence</a:t>
                      </a:r>
                    </a:p>
                  </a:txBody>
                  <a:tcPr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Produit cartésien</a:t>
                      </a:r>
                    </a:p>
                  </a:txBody>
                  <a:tcPr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Division</a:t>
                      </a:r>
                    </a:p>
                  </a:txBody>
                  <a:tcPr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8836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Arbre Algébrique</a:t>
            </a:r>
          </a:p>
        </p:txBody>
      </p:sp>
      <p:pic>
        <p:nvPicPr>
          <p:cNvPr id="12" name="Image 11" descr="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864" y="1553399"/>
            <a:ext cx="2196968" cy="1267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 12" descr="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121" y="1561216"/>
            <a:ext cx="1716259" cy="1267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 13" descr="C:\Users\user\Desktop\Cours annuels\2015-2016\Semestre 1\Figures\Jointure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836" y="1553398"/>
            <a:ext cx="1921962" cy="1267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 14" descr="C:\Users\user\Desktop\Cours annuels\2015-2016\Semestre 1\Figures\Tri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016" y="3362937"/>
            <a:ext cx="1997612" cy="1358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 15" descr="C:\Users\user\Desktop\Cours annuels\2015-2016\Semestre 1\Figures\10. Agregat.PNG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243" y="3354820"/>
            <a:ext cx="2145240" cy="1358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 16" descr="C:\Users\user\Desktop\Cours annuels\2015-2016\Semestre 1\Figures\Union.PNG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740" y="5205839"/>
            <a:ext cx="1057762" cy="155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Image 17" descr="C:\Users\user\Desktop\Cours annuels\2015-2016\Semestre 1\Figures\Intersection.PNG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191" y="5205839"/>
            <a:ext cx="1073577" cy="155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Image 18" descr="C:\Users\user\Desktop\Cours annuels\2015-2016\Semestre 1\Figures\Difference.PNG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831" y="5205839"/>
            <a:ext cx="1020015" cy="155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 19" descr="C:\Users\user\Desktop\Cours annuels\2015-2016\Semestre 1\Figures\Produit.PNG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313" y="5205839"/>
            <a:ext cx="1152509" cy="155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 20" descr="C:\Users\user\Desktop\Cours annuels\2015-2016\Semestre 1\Figures\Division.PNG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0933" y="5205839"/>
            <a:ext cx="1053359" cy="15581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879838" y="639126"/>
            <a:ext cx="88168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I. 2. Représentation des opérations de l’algèbre relationnelle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0" y="282887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8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441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04552" y="1974574"/>
            <a:ext cx="11187448" cy="48834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optimiser une requête on la réécrit pour obtenir une requête équivalente en utilisant 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commutativité et l’associativité de la jointure naturelle : elles permettent de changer l’ordre des jointures pour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minimiser la taille des données à parcourir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Diminuer le nombre de comparaisons de valeurs à faire ;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34596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Optimisation d’arbres algébriques</a:t>
            </a:r>
          </a:p>
        </p:txBody>
      </p:sp>
      <p:sp>
        <p:nvSpPr>
          <p:cNvPr id="2" name="Rectangle 1"/>
          <p:cNvSpPr/>
          <p:nvPr/>
        </p:nvSpPr>
        <p:spPr>
          <a:xfrm>
            <a:off x="3898960" y="811369"/>
            <a:ext cx="47772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II. 1. Restructuration algébrique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2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884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FE457-EA7C-B517-7784-60CC6B6EA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E4365E-700A-B1A3-DA78-577044F1F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552" y="2145958"/>
            <a:ext cx="11187448" cy="471204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regroupement des sélections : il permet d’effectuer plusieurs sélections en un seul parcours de la table au lieu d’une sélection par parcours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commutativité entre sélection et jointure : elle permet d’effectuer les sélections avant les jointures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descente des projections en veillant à conserver les attributs qui seront affichées ou utilisés dans des conditions.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7797951E-4C03-A45E-FE96-9F7F3E733748}"/>
              </a:ext>
            </a:extLst>
          </p:cNvPr>
          <p:cNvSpPr txBox="1">
            <a:spLocks/>
          </p:cNvSpPr>
          <p:nvPr/>
        </p:nvSpPr>
        <p:spPr>
          <a:xfrm>
            <a:off x="1334596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Optimisation d’arbres algébriques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D72F82-BFD5-F7CE-A920-25C60F1497C4}"/>
              </a:ext>
            </a:extLst>
          </p:cNvPr>
          <p:cNvSpPr/>
          <p:nvPr/>
        </p:nvSpPr>
        <p:spPr>
          <a:xfrm>
            <a:off x="3898960" y="811369"/>
            <a:ext cx="47772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II. 1. Restructuration algébrique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DC70377-048E-91FE-3FCD-829920EE4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18102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10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567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89" y="2145957"/>
            <a:ext cx="11420911" cy="4466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L’ordonnancement des opérations se fait ensuite comme suit 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fait descendre les opérations réductrices (projection, sélection) le maximum possible vers les feuilles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retarde le plus possible les jointures et les produits cartésien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exécute d’abord à chaque fois que possible les jointures qui font appel aux relations les moins volumineuses.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3615207" y="811369"/>
            <a:ext cx="49584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II. 2. Heuristiques d’optimisation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Optimisation d’arbres algébriques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830981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11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577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2145958"/>
            <a:ext cx="11050587" cy="41223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Soit la requête : 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Resultat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Moyenne &gt;= 10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récupérer toutes les lignes répondant à la clause 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Moyenne &gt;= 10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 système va balayer toute la table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S’il y a plusieurs centaines de lignes dans la table, le temps d’exécution sera long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éviter le temps de réponse, on peut indexer l’attribut 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Moyenne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4815055" y="811369"/>
            <a:ext cx="23253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Introduction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869618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12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091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62130" y="2027582"/>
            <a:ext cx="10929870" cy="483041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index est une structure de données qui permet d'accélérer les recherches dans une table en associant à une clé d'index (la liste des attributs indexés)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l'emplacement physique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l'enregistrement sur le disque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accès effectués sur un index ne se font donc pas par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parcours séquentiel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intégral des enregistrements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marL="0" indent="0"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4815055" y="811369"/>
            <a:ext cx="25587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1. Définition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869617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13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140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3B91D-AF0C-801F-C40C-C3BDC1CBA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1630CB-2DAF-F0AD-26B5-DAF309D95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130" y="2145958"/>
            <a:ext cx="10929870" cy="471204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une structure de données permettant de minimiser les temps de réponse durant les opérations de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Recherche de données 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 de données 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Jointure de tables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Regroupement de données.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E36C94A5-C377-9726-AAA1-9AF24485F726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723CA1-E14E-C330-DC44-36EE07E80F3B}"/>
              </a:ext>
            </a:extLst>
          </p:cNvPr>
          <p:cNvSpPr/>
          <p:nvPr/>
        </p:nvSpPr>
        <p:spPr>
          <a:xfrm>
            <a:off x="4815055" y="811369"/>
            <a:ext cx="25587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1. Définition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D6BC910-6588-5D78-E8A6-B3A4AE95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69617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14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154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6EC61-1237-9930-D886-FFC0ABD1B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D5D4F1-BA41-AF4A-59C5-2B67E572A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130" y="1748118"/>
            <a:ext cx="10929870" cy="510988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faut </a:t>
            </a: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créer un index sur : 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attributs utilisés comme critère de jointure ;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attributs servant souvent de critères de sélection ; 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 une table de gros volume.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est déconseillé d’indexer un attribut si :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table contient peu de données ;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y a très peu de recherche portant sur cet attribut ;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n’y a jamais de tri de la table sur cet attribut.</a:t>
            </a:r>
            <a:endParaRPr lang="fr-S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930E87D-6BBD-FEC7-A4CB-1CE77CD5BC1F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505DA9-315E-7719-BB1B-2A1FE8397B0C}"/>
              </a:ext>
            </a:extLst>
          </p:cNvPr>
          <p:cNvSpPr/>
          <p:nvPr/>
        </p:nvSpPr>
        <p:spPr>
          <a:xfrm>
            <a:off x="4815055" y="811369"/>
            <a:ext cx="25587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1. Définition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A10E91F-026F-5452-A161-B5B1C32EB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69617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15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502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87381" y="1479176"/>
            <a:ext cx="11204619" cy="5378824"/>
          </a:xfrm>
        </p:spPr>
        <p:txBody>
          <a:bodyPr/>
          <a:lstStyle/>
          <a:p>
            <a:pPr marL="0" lv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Remarques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L’index complète le schéma d’une table ;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création d’index ralentit les opérations de mise à jour : insertion, modification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L’index occupe de l’espace sur le disque et en mémoire 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clé primaire est toujours indexée sans doublons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index sur plusieurs attributs correspond à un index sur un seul attribut avec concaténation des autres attributs.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5055" y="811369"/>
            <a:ext cx="25587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1. Définition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843860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16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472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14400" y="1775791"/>
            <a:ext cx="11277600" cy="4972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Chaque index est représenté par une table contenant une valeur (clé d’index) et le numéro de l’enregistrement associé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entrées de la table comportent chacune :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valeur extraite des données ;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numéro de l’enregistrement et un pointeur sur son emplacement exacte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retrouver un enregistrement, le système utilise l’index pour trouver sa localisation ; 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2724739" y="811369"/>
            <a:ext cx="67393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2. Représentation et utilisation d’un 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869617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17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131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8427C-860A-85FD-5396-96D8F665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D302B3-0D91-53F2-9E1D-6A42208F8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22738"/>
            <a:ext cx="11277600" cy="52352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table peut comporter plusieurs index : </a:t>
            </a:r>
          </a:p>
          <a:p>
            <a:pPr lvl="1">
              <a:buFont typeface="Wingdings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index primaire ;</a:t>
            </a:r>
          </a:p>
          <a:p>
            <a:pPr lvl="1">
              <a:buFont typeface="Wingdings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un/des index secondaire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Chaque index est créé sur :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attribut ;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une combinaison de plusieurs attributs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chaque table, le système utilise d’abord l’index primaire lors de la recherche d’informations.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A9867287-2921-3002-6255-80FC6AE6365A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FB08FE-128A-5F8C-48FC-F19DBB66D6F3}"/>
              </a:ext>
            </a:extLst>
          </p:cNvPr>
          <p:cNvSpPr/>
          <p:nvPr/>
        </p:nvSpPr>
        <p:spPr>
          <a:xfrm>
            <a:off x="2724739" y="811369"/>
            <a:ext cx="67393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2. Représentation et utilisation d’un 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E8A3E7B-646B-2FE6-2E07-A897EB38C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69617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18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665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2145958"/>
            <a:ext cx="11050588" cy="37645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existe plusieurs types d’index dont le plus utilisé en base de données est le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B-</a:t>
            </a: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(B-arbre ou Arbre B)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Cependant, l’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de hachage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aussi utilisé en base de données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entrepôt de données c’est l’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Bitmap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l’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de jointure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sont les plus utilisés.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2" name="Rectangle 1"/>
          <p:cNvSpPr/>
          <p:nvPr/>
        </p:nvSpPr>
        <p:spPr>
          <a:xfrm>
            <a:off x="4595988" y="811369"/>
            <a:ext cx="29968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3. Type d’Index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2805224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19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601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50006" y="1991412"/>
            <a:ext cx="11204619" cy="48665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B-arbre d’ordre k ≥ 2 est un arbre tel que 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chaque sommet contient entre k − 1 et 2k − 1 valeurs à l’exception de la racine qui peut contenir de 1 à 2k − 1 valeurs 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un sommet contient m valeurs x</a:t>
            </a:r>
            <a:r>
              <a:rPr lang="fr-FR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fr-FR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 . . 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telles que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et 1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&lt; j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Alors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24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chaque sommet possède entre k et 2k sous-arbres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toutes les feuilles ont la même profondeur.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2" name="Rectangle 1"/>
          <p:cNvSpPr/>
          <p:nvPr/>
        </p:nvSpPr>
        <p:spPr>
          <a:xfrm>
            <a:off x="5000202" y="1468191"/>
            <a:ext cx="21884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Index B-arbre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95988" y="811369"/>
            <a:ext cx="29968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3. Type d’Index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2830981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20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818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50006" y="1991411"/>
            <a:ext cx="11341994" cy="486658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B-arbre est un arbre équilibré qui stocke les données sous une forme triée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nœuds parents peuvent posséder plus de deux nœuds enfants contrairement aux arbres binaires de recherche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B-arbre grandit à partir de la racine alors que les arbres binaires de recherche grandissent à partir des feuilles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est plus efficace si le nombre de valeurs est important avec plusieurs valeurs distinctes.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2" name="Rectangle 1"/>
          <p:cNvSpPr/>
          <p:nvPr/>
        </p:nvSpPr>
        <p:spPr>
          <a:xfrm>
            <a:off x="5000202" y="1468191"/>
            <a:ext cx="21884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Index B-arbre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95988" y="811369"/>
            <a:ext cx="29968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3. Type d’Index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21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652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50006" y="1815548"/>
            <a:ext cx="11341994" cy="50424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:</a:t>
            </a:r>
          </a:p>
          <a:p>
            <a:pPr marL="0" indent="0">
              <a:buNone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B-arbre d’ordre 3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2" name="Rectangle 1"/>
          <p:cNvSpPr/>
          <p:nvPr/>
        </p:nvSpPr>
        <p:spPr>
          <a:xfrm>
            <a:off x="5000202" y="1468191"/>
            <a:ext cx="21884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Index B-arbre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95988" y="811369"/>
            <a:ext cx="29968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3. Type d’Index</a:t>
            </a:r>
            <a:endParaRPr lang="fr-FR" sz="2800" dirty="0">
              <a:solidFill>
                <a:schemeClr val="bg1"/>
              </a:solidFill>
            </a:endParaRP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242" y="4950705"/>
            <a:ext cx="5664338" cy="1383834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2766587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22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D383150-E867-56B8-A167-9E7DF0F13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013" y="2077359"/>
            <a:ext cx="6276796" cy="28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573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6E671-B419-48A8-88E8-3331D95FD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235349-53F0-C138-A216-DA8C8099D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006" y="1991412"/>
            <a:ext cx="11341994" cy="4866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Exercice :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B-arbre d’ordre ?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ED16486-80FA-046D-540C-A02185D953CD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6C54DD-004C-E4E0-D29F-DAA9E2719EFA}"/>
              </a:ext>
            </a:extLst>
          </p:cNvPr>
          <p:cNvSpPr/>
          <p:nvPr/>
        </p:nvSpPr>
        <p:spPr>
          <a:xfrm>
            <a:off x="5000202" y="1468191"/>
            <a:ext cx="21884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Index B-arbre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F6E50F-404C-952B-72E2-BDFB0E183B53}"/>
              </a:ext>
            </a:extLst>
          </p:cNvPr>
          <p:cNvSpPr/>
          <p:nvPr/>
        </p:nvSpPr>
        <p:spPr>
          <a:xfrm>
            <a:off x="4595988" y="811369"/>
            <a:ext cx="29968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3. Type d’Index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D7A66A-CD41-CCB7-F2A7-4601A7EA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766587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23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Tout apprendre sur les systèmes de gestion de bases de données">
            <a:extLst>
              <a:ext uri="{FF2B5EF4-FFF2-40B4-BE49-F238E27FC236}">
                <a16:creationId xmlns:a16="http://schemas.microsoft.com/office/drawing/2014/main" id="{A1514D38-1B93-1FE7-E051-0618F68ED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181" y="2669179"/>
            <a:ext cx="8394700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5999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AB405-4D68-2E66-5927-489B9CE09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17210D-50F9-00E0-AD70-17294F0D2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006" y="1991412"/>
            <a:ext cx="11341994" cy="4866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Ajout d’une valeur dans un B-Arbre :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Soit l’arbre A1 d’ordre 2 suivant</a:t>
            </a:r>
          </a:p>
          <a:p>
            <a:pPr marL="0" indent="0">
              <a:buNone/>
            </a:pP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Ajout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la valeur E dans A1</a:t>
            </a:r>
          </a:p>
          <a:p>
            <a:pPr>
              <a:buFont typeface="Wingdings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Ajout de la valeur U dans A1 et A2.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001A40EF-ECD8-222D-DF03-0C394A2B9553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79B9D0-118A-4AB3-7057-496CDB67475F}"/>
              </a:ext>
            </a:extLst>
          </p:cNvPr>
          <p:cNvSpPr/>
          <p:nvPr/>
        </p:nvSpPr>
        <p:spPr>
          <a:xfrm>
            <a:off x="5000202" y="1468191"/>
            <a:ext cx="21884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Index B-arbre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4B3853-D82C-5546-7023-C04E3C4E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766587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24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897A30-8136-AF1C-AA58-18DB8B6DA73B}"/>
              </a:ext>
            </a:extLst>
          </p:cNvPr>
          <p:cNvSpPr/>
          <p:nvPr/>
        </p:nvSpPr>
        <p:spPr>
          <a:xfrm>
            <a:off x="4595988" y="811369"/>
            <a:ext cx="29968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3. Type d’Index</a:t>
            </a:r>
            <a:endParaRPr lang="fr-FR" sz="2800" dirty="0">
              <a:solidFill>
                <a:schemeClr val="bg1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383C20A-5328-4D53-CA23-674CC8E5F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403" y="2564328"/>
            <a:ext cx="3759200" cy="13589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3DD9B63-0BC3-F665-F077-0070E7163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653" y="4580051"/>
            <a:ext cx="4838700" cy="13589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BF314C2-FF23-65B4-C774-CA8271607829}"/>
              </a:ext>
            </a:extLst>
          </p:cNvPr>
          <p:cNvSpPr txBox="1"/>
          <p:nvPr/>
        </p:nvSpPr>
        <p:spPr>
          <a:xfrm>
            <a:off x="8400603" y="3054899"/>
            <a:ext cx="569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38A8D68-8445-F783-BF48-9347F9EE0467}"/>
              </a:ext>
            </a:extLst>
          </p:cNvPr>
          <p:cNvSpPr txBox="1"/>
          <p:nvPr/>
        </p:nvSpPr>
        <p:spPr>
          <a:xfrm>
            <a:off x="8962544" y="5028668"/>
            <a:ext cx="569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1612412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2830981"/>
            <a:ext cx="11050588" cy="40270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index bitmap considère toutes les valeurs possibles pour un attribut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chaque valeur, il stocke un tableau de bits (dit bitmap) avec autant de bits qu'il y a de lignes dans la table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est très utile pour les colonnes qui ne possèdent que quelques valeurs distinctes.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2" name="Rectangle 1"/>
          <p:cNvSpPr/>
          <p:nvPr/>
        </p:nvSpPr>
        <p:spPr>
          <a:xfrm>
            <a:off x="4595988" y="811369"/>
            <a:ext cx="29968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3. Type d’Index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00202" y="1468191"/>
            <a:ext cx="24497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Index BITMAP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2830981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25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625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4B768-00DF-D264-6A98-6260B38A5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099431-2F89-9E07-DCBF-754A59EB3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91410"/>
            <a:ext cx="11050588" cy="486658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index Bitmap sont destinés à l'indexation de colonnes qui :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comportent peu de valeurs distinctes ;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beaucoup d'enregistrements pour chacune de ces valeurs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l'inverse des index B-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les index Bitmap :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stockent pas un pointeur vers un enregistrement ;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valeur est codée sur un bit (vrai ou faux) pour chaque valeur de la colonne indexée (2 bits pour une cardinalité 2, 3 pour une cardinalité 3, etc.) dans un fichier trié sur la clé ;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5BA62271-D233-90BE-B987-B867496BA8D8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99319E-2B98-58D7-E53F-2868FEE3B6B1}"/>
              </a:ext>
            </a:extLst>
          </p:cNvPr>
          <p:cNvSpPr/>
          <p:nvPr/>
        </p:nvSpPr>
        <p:spPr>
          <a:xfrm>
            <a:off x="4595988" y="811369"/>
            <a:ext cx="29968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3. Type d’Index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6630A0-F015-1EFC-1238-53607779817C}"/>
              </a:ext>
            </a:extLst>
          </p:cNvPr>
          <p:cNvSpPr/>
          <p:nvPr/>
        </p:nvSpPr>
        <p:spPr>
          <a:xfrm>
            <a:off x="5000202" y="1468191"/>
            <a:ext cx="24497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Index BITMAP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5278FD-76B6-E83F-80D1-20861C9A8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30981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26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795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6D6DF-8EF3-0D1D-D4D9-72782983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CF69B1-A600-DA2E-CC73-E1ADA5A1E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89" y="2729948"/>
            <a:ext cx="11420911" cy="41280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tels index optimisent la recherche relative à une question du type : "l'enregistrement appartient-il à un sous ensemble du domaine sur l'index ?"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exemple pour savoir si un enregistrement est de genre "Femme", il suffit de consulter un bit au lieu de comparer des chaînes.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D7BDDE00-4A0F-0FAA-D74D-047540A791E2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EBD3E6-FBAF-0A50-26DD-CAAAE2B3A15F}"/>
              </a:ext>
            </a:extLst>
          </p:cNvPr>
          <p:cNvSpPr/>
          <p:nvPr/>
        </p:nvSpPr>
        <p:spPr>
          <a:xfrm>
            <a:off x="4595988" y="811369"/>
            <a:ext cx="29968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3. Type d’Index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BBC17C-01A3-CF01-4483-CB3A370FCFBB}"/>
              </a:ext>
            </a:extLst>
          </p:cNvPr>
          <p:cNvSpPr/>
          <p:nvPr/>
        </p:nvSpPr>
        <p:spPr>
          <a:xfrm>
            <a:off x="5000202" y="1468191"/>
            <a:ext cx="24497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Index BITMAP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E61D1E-E025-9BA2-86CE-650F61A48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30981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27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06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2" name="Rectangle 1"/>
          <p:cNvSpPr/>
          <p:nvPr/>
        </p:nvSpPr>
        <p:spPr>
          <a:xfrm>
            <a:off x="4595988" y="811369"/>
            <a:ext cx="29968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3. Type d’Index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00202" y="1468191"/>
            <a:ext cx="24497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Index BITMAP</a:t>
            </a:r>
            <a:endParaRPr lang="fr-FR" sz="2800" dirty="0">
              <a:solidFill>
                <a:schemeClr val="bg1"/>
              </a:solidFill>
            </a:endParaRPr>
          </a:p>
        </p:txBody>
      </p:sp>
      <p:pic>
        <p:nvPicPr>
          <p:cNvPr id="1026" name="Picture 2" descr="https://stph.scenari-community.org/dwh/opt.prs/res/bitma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862" y="2630539"/>
            <a:ext cx="6546203" cy="1880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2108400" y="2013134"/>
            <a:ext cx="16482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Exemple :</a:t>
            </a:r>
            <a:endParaRPr lang="fr-FR" sz="2800" dirty="0">
              <a:solidFill>
                <a:schemeClr val="bg1"/>
              </a:solidFill>
            </a:endParaRPr>
          </a:p>
        </p:txBody>
      </p:sp>
      <p:pic>
        <p:nvPicPr>
          <p:cNvPr id="1028" name="Picture 4" descr="https://stph.scenari-community.org/dwh/opt.prs/res/bitmap-an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469" y="4712102"/>
            <a:ext cx="8586987" cy="191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0" y="2830981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28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682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C989-9AA8-C93E-EAC8-0EA711AE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80371EF4-1E93-854A-519D-FA9268B8236F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DD443-C8CC-44EE-5EC1-D9FC326E945E}"/>
              </a:ext>
            </a:extLst>
          </p:cNvPr>
          <p:cNvSpPr/>
          <p:nvPr/>
        </p:nvSpPr>
        <p:spPr>
          <a:xfrm>
            <a:off x="4595988" y="811369"/>
            <a:ext cx="29968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3. Type d’Index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07F661-4CED-6F36-7B5A-A8B9444EB552}"/>
              </a:ext>
            </a:extLst>
          </p:cNvPr>
          <p:cNvSpPr/>
          <p:nvPr/>
        </p:nvSpPr>
        <p:spPr>
          <a:xfrm>
            <a:off x="5000202" y="1468191"/>
            <a:ext cx="24497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Index BITMAP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5F3D8E-CCB4-F781-9620-02CF5EE8808C}"/>
              </a:ext>
            </a:extLst>
          </p:cNvPr>
          <p:cNvSpPr/>
          <p:nvPr/>
        </p:nvSpPr>
        <p:spPr>
          <a:xfrm>
            <a:off x="2108400" y="2013134"/>
            <a:ext cx="16482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Exemple :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41D2DD4-354D-712E-A1EA-48C93A5DF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30981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29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52BD47B-4912-221A-A4D6-B3DC6FE3A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988" y="2013134"/>
            <a:ext cx="5212580" cy="478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05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35617" y="1120462"/>
            <a:ext cx="9787944" cy="57375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Création de l’index sous forme de contrainte de colonne</a:t>
            </a:r>
          </a:p>
          <a:p>
            <a:pPr marL="0" indent="0">
              <a:buNone/>
            </a:pP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Nom_Table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	Colonne1	Type		Index1,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Colonne2	Type		Index2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;</a:t>
            </a:r>
          </a:p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Bureau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Char(2)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Telephone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(15)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;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3051752" y="597242"/>
            <a:ext cx="6085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4. Création et suppression d’un 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792345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30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4545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43190" y="1934816"/>
            <a:ext cx="11148810" cy="44527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Avec cette méthode 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index </a:t>
            </a:r>
            <a:r>
              <a:rPr lang="fr-FR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fr-FR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 sont pas précédés du mot Clé INDEX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n’est pas possible de définir des index composites (composés de plusieurs attributs)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n’est pas possible également de définir un index sur une partie d’un attribut.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notion d’index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3051752" y="597242"/>
            <a:ext cx="6085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4. Création et suppression d’un 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818102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31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4402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82324" y="1068947"/>
            <a:ext cx="10282149" cy="57890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Création de l’index sous forme de contrainte de table</a:t>
            </a:r>
          </a:p>
          <a:p>
            <a:pPr marL="0" indent="0">
              <a:buNone/>
            </a:pP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Nom_Table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	Colonne1	Domaine,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Colonne2	Domaine,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Colonne3	Domaine,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Colonne4	Domaine,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Constraint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PK_Nom_Table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(Colonne1),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(Colonne2 [, Colonne3]),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[INDEX]	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(Colonne4 [, Colonne3])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;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notion d’index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3051752" y="597242"/>
            <a:ext cx="6085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4. Création et suppression d’un 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80522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32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189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67437" y="1068947"/>
            <a:ext cx="9955369" cy="57890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Personne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	CNI		char(12),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Nom		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(15),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(25),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DateNaiss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Date,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Telephone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char(12),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PK_Personne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Primary Key	(CNI),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Ind_Pers_1	(Nom,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DateNaiss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UQ_Tel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Telephone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;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notion d’index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3051752" y="597242"/>
            <a:ext cx="6085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4. Création et suppression d’un 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753708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33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179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36372" y="1361128"/>
            <a:ext cx="10955628" cy="5496871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Avec la syntaxe Alter Table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Nom_Table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[BITMAP] 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(Colonne1 [, Colonne2, …])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Nom_Table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UNIQUE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(Colonne1 [, Colonne2, …])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Nom_Table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FULLTEXT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(Colonne1 [, Colonne2, …])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Avec la syntaxe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Index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[BITMAP] 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Nom_Table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(Colonne1 [, Colonne2, …])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UNIQUE 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Nom_Table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(Colonne1 [, Colonne2, …])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FULLTEXT 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Nom_Table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(Colonne1 [, Colonne2, …]) 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Personne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Prenom_DateNaiss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DateNaiss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;</a:t>
            </a:r>
          </a:p>
          <a:p>
            <a:pPr marL="0" indent="0" algn="ctr">
              <a:buNone/>
            </a:pP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PN_Pers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Personne 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Nom) ;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notion d’index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3051752" y="597242"/>
            <a:ext cx="6085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4. Création et suppression d’un 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779466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34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0708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49251" y="2163651"/>
            <a:ext cx="10942749" cy="351593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 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FULLTEXT Index est utilisé pour faire des recherches de manière rapide sur un texte 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Seules les tables utilisant le moteur de stockage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MyISAM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peuvent avoir un index FULLTEXT 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 ne peut être créé que sur les attributs de type CHAR, VARCHAR ou TEXT.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notion d’index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3051752" y="597242"/>
            <a:ext cx="6085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4. Création et suppression d’un 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843860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35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8720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62130" y="1957589"/>
            <a:ext cx="10929870" cy="421139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index créé ne peut pas être modifié. On peut par contre le supprimer et en créer un nouveau.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syntaxe de la suppression d’un index est 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Nom_Table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 Table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Personne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Prenom_DateNaiss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  <a:p>
            <a:pPr marL="0" indent="0" algn="ctr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Index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Prenom_Pers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notion d’index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52213" y="1052035"/>
            <a:ext cx="38843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Suppression d’un l’index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51752" y="597242"/>
            <a:ext cx="6085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4. Création et suppression d’un index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766587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36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8483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7127" y="1365161"/>
            <a:ext cx="11354874" cy="5177307"/>
          </a:xfrm>
        </p:spPr>
        <p:txBody>
          <a:bodyPr>
            <a:noAutofit/>
          </a:bodyPr>
          <a:lstStyle/>
          <a:p>
            <a:pPr>
              <a:lnSpc>
                <a:spcPts val="3360"/>
              </a:lnSpc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un index A porte sur plusieurs attributs, le système tri les enregistrements suivant 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premier attribut ;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puis le second ;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ensuite le troisième, etc. ;</a:t>
            </a:r>
          </a:p>
          <a:p>
            <a:pPr>
              <a:lnSpc>
                <a:spcPts val="3360"/>
              </a:lnSpc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S’il y a fréquemment de recherches dont les conditions portent sur le premier attribut uniquement ou sur le premier et le deuxième attribut, le système utilise l’index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>
              <a:lnSpc>
                <a:spcPts val="3360"/>
              </a:lnSpc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S’il y a, par contre, fréquemment de recherches dont les conditions portent sur le deuxième ou le troisième ou le deuxième et le troisième en même temps, il faudra créer d’autres index.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1615" y="652790"/>
            <a:ext cx="64524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5. Utilisation d’un l’index par la gauche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792344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37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7089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75763" y="1300766"/>
            <a:ext cx="11316237" cy="555723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Bus(Matricule, Marque, Version,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Annee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Nb_Place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Consommation, Vitesse)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les index Ind_1 et Ind_2 ci-dessous sont créés 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Ind_1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portant sur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Nb_place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Annee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Consommation, Vitesse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Ind_2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portant sur Vitesse,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Nb_place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Annee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 index sera utilisé pour une recherche portant sur 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consommation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vitesse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nombre de places et l’année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nombre de places et la vitesse 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l’année et la consommation.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1615" y="652790"/>
            <a:ext cx="64524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5. Utilisation d’un l’index par la gauche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0" y="2805224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38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3870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561AC-8585-8040-D81F-B9B5DCCD9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FC35AD86-B132-1DBD-B194-00A407BAAE90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A41338-5194-DFC3-5A71-574E11794CF4}"/>
              </a:ext>
            </a:extLst>
          </p:cNvPr>
          <p:cNvSpPr/>
          <p:nvPr/>
        </p:nvSpPr>
        <p:spPr>
          <a:xfrm>
            <a:off x="3280981" y="666237"/>
            <a:ext cx="56268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6. Plan d’exécution :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Explain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Plan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997B5E5-F678-8CA3-254F-941AD747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05224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39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6E15BF4-C951-BB1F-7643-A12898A60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110" y="1773488"/>
            <a:ext cx="7768601" cy="15624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34A23B7-9A04-944E-4D6F-F6078AE4A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110" y="3840506"/>
            <a:ext cx="7768601" cy="182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118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07A50-1BD4-E901-FDC1-013B5EAEC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00FDB5-0785-BC12-6764-EA7799F27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47" y="1189457"/>
            <a:ext cx="10578353" cy="566854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fr-S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fr-SN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SN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 :</a:t>
            </a: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Identifiant de l’opérateur ;</a:t>
            </a:r>
            <a:endParaRPr lang="fr-S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SN" sz="2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lang="fr-SN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type d’opération utilisée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SN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 : </a:t>
            </a: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Nom de la relation utilisée ;</a:t>
            </a:r>
            <a:endParaRPr lang="fr-S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SN" sz="2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fr-SN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coût estimé par oracle ;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SN" sz="2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  <a:r>
              <a:rPr lang="fr-SN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 nombre de lignes qu’Oracle pense transférer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SN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Bytes :</a:t>
            </a: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Nombre d’octets qu’oracle pense transférer. 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FBCA8FE-5856-D270-CCEA-6595FCA15507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FAE3EE-DEFF-4C72-6BBE-D8721B88883E}"/>
              </a:ext>
            </a:extLst>
          </p:cNvPr>
          <p:cNvSpPr/>
          <p:nvPr/>
        </p:nvSpPr>
        <p:spPr>
          <a:xfrm>
            <a:off x="3280981" y="666237"/>
            <a:ext cx="56268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6. Plan d’exécution :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Explain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Plan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0FC6B63-6E1D-12E9-CB84-3FF5F260F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05224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40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6458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7C328-D09D-3742-3E3D-EA2B0F86F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3748E1-7214-093F-33A1-D0FBBA58D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763" y="2407023"/>
            <a:ext cx="11316237" cy="445097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Chaque opération sur un objet est notée avec : </a:t>
            </a:r>
          </a:p>
          <a:p>
            <a:pPr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L’ordre d’exécution des opérateurs ;</a:t>
            </a:r>
          </a:p>
          <a:p>
            <a:pPr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chemin d’accès aux objets consultés (table, index, cluster, </a:t>
            </a:r>
            <a:r>
              <a:rPr lang="fr-SN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...) ;</a:t>
            </a:r>
          </a:p>
          <a:p>
            <a:pPr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opérateurs physiques.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DF4B592-2880-368B-E415-E06C4BEA95C9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E2EBCD-099B-1600-AAA3-50AF0E337A6A}"/>
              </a:ext>
            </a:extLst>
          </p:cNvPr>
          <p:cNvSpPr/>
          <p:nvPr/>
        </p:nvSpPr>
        <p:spPr>
          <a:xfrm>
            <a:off x="3280981" y="666237"/>
            <a:ext cx="56268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6. Plan d’exécution :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Explain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Plan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65FD155-C90B-0E7B-9DEF-664FC896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05224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41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3097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7F800-D856-A493-C532-D2A8631BF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49914F-9052-B3FA-56E7-39145B5F7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671" y="1667434"/>
            <a:ext cx="11600329" cy="5190565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r-S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Chemin d’accès</a:t>
            </a:r>
          </a:p>
          <a:p>
            <a:pPr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Parcours séquentiel (balayage complet) 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TABLE ACCESS FULL ;</a:t>
            </a:r>
          </a:p>
          <a:p>
            <a:pPr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Accès direct par adresse : TABLE ACCESS BY (INDEX|USER|...) ROWID ; </a:t>
            </a:r>
          </a:p>
          <a:p>
            <a:pPr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Accès par index 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INDEX (UNIQUE|RANGE|...) SCAN ;</a:t>
            </a:r>
          </a:p>
          <a:p>
            <a:pPr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Accès par hachage 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 ACCESS HASH ;</a:t>
            </a:r>
          </a:p>
          <a:p>
            <a:pPr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Accès par cluster 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 ACCESS CLUSTER.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7A5A5A0-3218-90A2-84D0-5067EBE3F94B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46CE92-8E2B-B1CD-FCDC-4D26CFB1F91E}"/>
              </a:ext>
            </a:extLst>
          </p:cNvPr>
          <p:cNvSpPr/>
          <p:nvPr/>
        </p:nvSpPr>
        <p:spPr>
          <a:xfrm>
            <a:off x="3280981" y="666237"/>
            <a:ext cx="56268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6. Plan d’exécution :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Explain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Plan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0B78C67-798A-D173-B9E8-037C876C8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05224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42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257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732ED-F4F6-ACFA-55DA-E9494CF4B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2455DD-8373-6D4B-BD43-3D9259BA6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89" y="1189458"/>
            <a:ext cx="11420911" cy="5668542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fr-S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Opérateurs physiques</a:t>
            </a:r>
          </a:p>
          <a:p>
            <a:pPr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Pour la jointure :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Boucles imbriquées : </a:t>
            </a:r>
            <a:r>
              <a:rPr lang="fr-SN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NESTED LOOPS </a:t>
            </a: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Tri-fusion : </a:t>
            </a:r>
            <a:r>
              <a:rPr lang="fr-SN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SORT JOIN</a:t>
            </a: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SN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MERGE JOIN </a:t>
            </a: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Hachage : </a:t>
            </a:r>
            <a:r>
              <a:rPr lang="fr-SN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HASH JOIN</a:t>
            </a: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r>
              <a:rPr lang="fr-S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Autres opérations :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Union d'ensembles d'articles : </a:t>
            </a:r>
            <a:r>
              <a:rPr lang="fr-SN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</a:t>
            </a: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SN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Intersection d'ensembles d'articles : </a:t>
            </a:r>
            <a:r>
              <a:rPr lang="fr-SN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INTERSECTION</a:t>
            </a: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Différence d'ensembles d'articles : </a:t>
            </a:r>
            <a:r>
              <a:rPr lang="fr-SN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MINUS</a:t>
            </a: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Filtrage d'articles d'une table basé sur une autre table : </a:t>
            </a:r>
            <a:r>
              <a:rPr lang="fr-SN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Intersection d'ensembles de ROWID : </a:t>
            </a:r>
            <a:r>
              <a:rPr lang="fr-SN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AND-EQUAL</a:t>
            </a:r>
            <a:r>
              <a:rPr lang="fr-S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endParaRPr lang="fr-SN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DF14FE86-CA56-F233-8301-10FDDDB1509D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La notion d’index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DFBDB8-F86D-44E7-8810-EA706C7044B2}"/>
              </a:ext>
            </a:extLst>
          </p:cNvPr>
          <p:cNvSpPr/>
          <p:nvPr/>
        </p:nvSpPr>
        <p:spPr>
          <a:xfrm>
            <a:off x="3280981" y="666237"/>
            <a:ext cx="56268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III. 6. Plan d’exécution :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Explain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Plan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3221003-27AA-79A0-37EF-D47D8A560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05224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43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4777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5D370-9F3F-8B30-EAA5-0866C87E0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2EEA9F-D34C-E661-D7D8-8393C80E5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89" y="1532964"/>
            <a:ext cx="11420911" cy="532503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Bus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(</a:t>
            </a:r>
            <a:r>
              <a:rPr lang="fr-FR" u="sng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Matricule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Marque, Version, </a:t>
            </a:r>
            <a:r>
              <a:rPr lang="fr-FR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Annee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fr-FR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Nb_Place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Consommation, Vitesse)</a:t>
            </a:r>
            <a:endParaRPr lang="fr-SN" kern="100" dirty="0"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Chauffeur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(</a:t>
            </a:r>
            <a:r>
              <a:rPr lang="fr-FR" u="sng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Num_permis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Nom, </a:t>
            </a:r>
            <a:r>
              <a:rPr lang="fr-FR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Prenom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Age, Sexe, Adresse, </a:t>
            </a:r>
            <a:r>
              <a:rPr lang="fr-FR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Telephone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fr-FR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Annee_permis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)</a:t>
            </a:r>
            <a:endParaRPr lang="fr-SN" kern="100" dirty="0"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Passager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(</a:t>
            </a:r>
            <a:r>
              <a:rPr lang="fr-FR" u="sng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NIN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Nom, </a:t>
            </a:r>
            <a:r>
              <a:rPr lang="fr-FR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Prenom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Adresse, </a:t>
            </a:r>
            <a:r>
              <a:rPr lang="fr-FR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Telephone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Age, Sexe)</a:t>
            </a:r>
            <a:endParaRPr lang="fr-SN" kern="100" dirty="0"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Voyage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(</a:t>
            </a:r>
            <a:r>
              <a:rPr lang="fr-FR" u="sng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Date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fr-FR" u="sng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Heure_Depart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fr-FR" u="sng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Ville_Depart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fr-FR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Heure_Arrive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lang="fr-FR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Ville_Arrive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#Bus)</a:t>
            </a:r>
            <a:endParaRPr lang="fr-SN" kern="100" dirty="0"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Effectuer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(#</a:t>
            </a:r>
            <a:r>
              <a:rPr lang="fr-FR" u="sng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Chauffeur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#</a:t>
            </a:r>
            <a:r>
              <a:rPr lang="fr-FR" u="sng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Date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#</a:t>
            </a:r>
            <a:r>
              <a:rPr lang="fr-FR" u="sng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Heure_Depart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#</a:t>
            </a:r>
            <a:r>
              <a:rPr lang="fr-FR" u="sng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Ville_Depart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)</a:t>
            </a:r>
            <a:endParaRPr lang="fr-SN" kern="100" dirty="0"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b="1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Voyager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(#</a:t>
            </a:r>
            <a:r>
              <a:rPr lang="fr-FR" u="sng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Client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#</a:t>
            </a:r>
            <a:r>
              <a:rPr lang="fr-FR" u="sng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Date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#</a:t>
            </a:r>
            <a:r>
              <a:rPr lang="fr-FR" u="sng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Heure_Depart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, #</a:t>
            </a:r>
            <a:r>
              <a:rPr lang="fr-FR" u="sng" kern="100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Ville_Depart</a:t>
            </a:r>
            <a:r>
              <a:rPr lang="fr-FR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)</a:t>
            </a:r>
            <a:endParaRPr lang="fr-S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A5096BE1-3648-8EDE-5F6A-1381733F9375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Exercice d’application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6B55B8B-3812-28C2-5C39-D8ADDC5A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05224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44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0515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763BD-D4CF-E559-573B-AE570161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686354-19A6-73EF-FB24-65272D893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89" y="981634"/>
            <a:ext cx="11420911" cy="5876365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fr-FR" sz="2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Mangal" panose="02040503050203030202" pitchFamily="18" charset="0"/>
              </a:rPr>
              <a:t>Quels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index devrait-on créer s’il y a Plusieurs recherches qui portent sur :</a:t>
            </a:r>
            <a:endParaRPr lang="fr-SN" sz="2800" kern="100" dirty="0"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Mangal" panose="02040503050203030202" pitchFamily="18" charset="0"/>
            </a:endParaRP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sz="2400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Le nombre de places des bus ?</a:t>
            </a:r>
            <a:endParaRPr lang="fr-SN" sz="2400" kern="100" dirty="0"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sz="2400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Le nombre de places et la consommation des dus ?</a:t>
            </a:r>
            <a:endParaRPr lang="fr-SN" sz="2400" kern="100" dirty="0"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sz="2400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La date et l’heure de départ ?</a:t>
            </a:r>
            <a:endParaRPr lang="fr-SN" sz="2400" kern="100" dirty="0"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sz="2400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La date, l’heure de départ et la destination ?</a:t>
            </a:r>
            <a:endParaRPr lang="fr-FR" sz="2400" b="1" kern="100" dirty="0"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sz="2400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La date, l’heure de départ et la ville de départ ?</a:t>
            </a:r>
            <a:endParaRPr lang="fr-SN" sz="2400" kern="100" dirty="0"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sz="2400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La date, l’heure de départ, la ville de départ et la durée du trajet ?</a:t>
            </a:r>
            <a:endParaRPr lang="fr-SN" sz="2400" kern="100" dirty="0"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sz="2400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Le nom et le prénom du chauffeur ?</a:t>
            </a:r>
            <a:endParaRPr lang="fr-SN" sz="2400" kern="100" dirty="0"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800100" lvl="1" indent="-342900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r-FR" sz="2400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Le numéro de permis, le nom et le prénom du chauffeur ?</a:t>
            </a:r>
            <a:endParaRPr lang="fr-SN" sz="2400" b="1" kern="100" dirty="0"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lvl="0" indent="-342900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r-FR" sz="2800" kern="100" dirty="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D</a:t>
            </a:r>
            <a:r>
              <a:rPr lang="fr-FR" sz="2800" kern="1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onner au moins deux syntaxes de création de l’index.</a:t>
            </a:r>
            <a:endParaRPr lang="fr-SN" sz="2800" kern="100" dirty="0">
              <a:effectLst/>
              <a:latin typeface="Times New Roman" panose="02020603050405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C0262BC-75F1-FC3F-5FB2-94EBE00494E6}"/>
              </a:ext>
            </a:extLst>
          </p:cNvPr>
          <p:cNvSpPr txBox="1">
            <a:spLocks/>
          </p:cNvSpPr>
          <p:nvPr/>
        </p:nvSpPr>
        <p:spPr>
          <a:xfrm>
            <a:off x="1141413" y="0"/>
            <a:ext cx="9905998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Exercice d’application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592C3D7-5027-5E50-761C-5044B91F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05224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45</a:t>
            </a:fld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9028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1393</TotalTime>
  <Words>3135</Words>
  <Application>Microsoft Macintosh PowerPoint</Application>
  <PresentationFormat>Grand écran</PresentationFormat>
  <Paragraphs>429</Paragraphs>
  <Slides>45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51" baseType="lpstr">
      <vt:lpstr>Arial</vt:lpstr>
      <vt:lpstr>Calibri</vt:lpstr>
      <vt:lpstr>Times New Roman</vt:lpstr>
      <vt:lpstr>Tw Cen MT</vt:lpstr>
      <vt:lpstr>Wingdings</vt:lpstr>
      <vt:lpstr>Circuit</vt:lpstr>
      <vt:lpstr>Chapitre IV  Optimisation de requêtes</vt:lpstr>
      <vt:lpstr>Plan du cours</vt:lpstr>
      <vt:lpstr>Introduction</vt:lpstr>
      <vt:lpstr>Introduction</vt:lpstr>
      <vt:lpstr>Introduction</vt:lpstr>
      <vt:lpstr>Introduction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III  Optimisation de requêtes</dc:title>
  <dc:creator>HP PC</dc:creator>
  <cp:lastModifiedBy>Khalifa</cp:lastModifiedBy>
  <cp:revision>209</cp:revision>
  <dcterms:created xsi:type="dcterms:W3CDTF">2021-12-18T13:46:07Z</dcterms:created>
  <dcterms:modified xsi:type="dcterms:W3CDTF">2025-03-24T13:50:28Z</dcterms:modified>
</cp:coreProperties>
</file>