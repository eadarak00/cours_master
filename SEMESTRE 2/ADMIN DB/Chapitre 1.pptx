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346" r:id="rId5"/>
    <p:sldId id="309" r:id="rId6"/>
    <p:sldId id="271" r:id="rId7"/>
    <p:sldId id="333" r:id="rId8"/>
    <p:sldId id="310" r:id="rId9"/>
    <p:sldId id="311" r:id="rId10"/>
    <p:sldId id="334" r:id="rId11"/>
    <p:sldId id="335" r:id="rId12"/>
    <p:sldId id="349" r:id="rId13"/>
    <p:sldId id="330" r:id="rId14"/>
    <p:sldId id="312" r:id="rId15"/>
    <p:sldId id="313" r:id="rId16"/>
    <p:sldId id="329" r:id="rId17"/>
    <p:sldId id="314" r:id="rId18"/>
    <p:sldId id="315" r:id="rId19"/>
    <p:sldId id="322" r:id="rId20"/>
    <p:sldId id="336" r:id="rId21"/>
    <p:sldId id="316" r:id="rId22"/>
    <p:sldId id="317" r:id="rId23"/>
    <p:sldId id="344" r:id="rId24"/>
    <p:sldId id="318" r:id="rId25"/>
    <p:sldId id="345" r:id="rId26"/>
    <p:sldId id="347" r:id="rId27"/>
    <p:sldId id="319" r:id="rId28"/>
    <p:sldId id="320" r:id="rId29"/>
    <p:sldId id="337" r:id="rId30"/>
    <p:sldId id="338" r:id="rId31"/>
    <p:sldId id="331" r:id="rId32"/>
    <p:sldId id="340" r:id="rId33"/>
    <p:sldId id="339" r:id="rId34"/>
    <p:sldId id="343" r:id="rId35"/>
    <p:sldId id="348" r:id="rId36"/>
    <p:sldId id="321" r:id="rId37"/>
    <p:sldId id="323" r:id="rId38"/>
    <p:sldId id="324" r:id="rId39"/>
    <p:sldId id="325" r:id="rId40"/>
    <p:sldId id="341" r:id="rId41"/>
    <p:sldId id="332" r:id="rId42"/>
    <p:sldId id="326" r:id="rId43"/>
    <p:sldId id="327" r:id="rId44"/>
    <p:sldId id="342" r:id="rId45"/>
    <p:sldId id="328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35" autoAdjust="0"/>
    <p:restoredTop sz="94660"/>
  </p:normalViewPr>
  <p:slideViewPr>
    <p:cSldViewPr snapToGrid="0">
      <p:cViewPr varScale="1">
        <p:scale>
          <a:sx n="97" d="100"/>
          <a:sy n="97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85B5B-03D1-4171-9D1D-EB9907A45893}" type="datetimeFigureOut">
              <a:rPr lang="fr-FR" smtClean="0"/>
              <a:t>03/07/2025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B39D9-EE15-4F1A-AFFA-1E3402E613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48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B39D9-EE15-4F1A-AFFA-1E3402E613A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1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99E7DBD-1DB1-4A0F-B4D0-194B172FB395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EF5D-837F-4D04-AA7C-E7E6278E615A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0806-D36F-4983-981C-01444258F8AF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C5940-DE9B-40F9-987E-1CE5FA57F996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CE1A-6E12-4CF5-BF76-F27D98D0771F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1743-7F41-4075-B083-C9F0B43122DF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09A2-61FE-4D70-A56D-88CE421F4301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4E5BA-98EA-4089-B34C-8FB6275687A9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53F5-435E-4308-9ABA-E69710EE9615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6F2-01F5-40B1-B930-799CCC82F62E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30D78-B1F0-4AE4-93EB-4FFD2D9D02B0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FA02-B019-4B13-9126-D2CD87514766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2EB0-2E10-4831-B90A-FEBEFEBB0C32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1E38-FB33-45A6-80F7-8C1358C28D8A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0BD3-E44B-4F62-B227-4942E07246C4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571F-AA08-4270-BCCF-BC7764854A77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56CE-F845-4F3F-80AD-A3E0E70AC734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31D0A-8112-4991-AC60-D8EE75804BDD}" type="datetime1">
              <a:rPr lang="en-US" smtClean="0"/>
              <a:t>7/3/25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27279" y="1481071"/>
            <a:ext cx="11264721" cy="1804944"/>
          </a:xfrm>
        </p:spPr>
        <p:txBody>
          <a:bodyPr anchor="ctr" anchorCtr="0"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I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SGBD Oracle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168203" y="3633743"/>
            <a:ext cx="6168980" cy="1582201"/>
          </a:xfrm>
        </p:spPr>
        <p:txBody>
          <a:bodyPr>
            <a:no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1 Génie Logiciel</a:t>
            </a:r>
          </a:p>
          <a:p>
            <a:pPr algn="ctr"/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2023 – 2024</a:t>
            </a:r>
          </a:p>
          <a:p>
            <a:pPr algn="ctr"/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Semestre 2</a:t>
            </a: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7212169" y="0"/>
            <a:ext cx="4979831" cy="112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ASSane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Seck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ziguinchor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UFR des sciences et technologies département d’informatique</a:t>
            </a:r>
          </a:p>
        </p:txBody>
      </p:sp>
      <p:sp>
        <p:nvSpPr>
          <p:cNvPr id="5" name="Sous-titre 2"/>
          <p:cNvSpPr txBox="1">
            <a:spLocks/>
          </p:cNvSpPr>
          <p:nvPr/>
        </p:nvSpPr>
        <p:spPr>
          <a:xfrm>
            <a:off x="4055099" y="5782614"/>
            <a:ext cx="4434224" cy="476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1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Serigne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diagne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Image 5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4" y="101566"/>
            <a:ext cx="1489307" cy="152117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743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709684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du 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968486" y="618186"/>
            <a:ext cx="7331949" cy="623981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physique d’Oracle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SGA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processus d’arrière plan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obligatoires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de contrôle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de données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</a:t>
            </a:r>
            <a:r>
              <a:rPr lang="fr-FR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facultatifs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Fichier de paramètre</a:t>
            </a:r>
          </a:p>
          <a:p>
            <a:pPr marL="1428750" lvl="2" indent="-514350">
              <a:buFont typeface="+mj-lt"/>
              <a:buAutoNum type="arabicPeriod"/>
            </a:pP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Fichier de mot de passe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PGA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logique d’Oracle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dictionnaire de données</a:t>
            </a:r>
          </a:p>
          <a:p>
            <a:pPr marL="514350" indent="-514350">
              <a:buFont typeface="+mj-lt"/>
              <a:buAutoNum type="romanUcPeriod"/>
            </a:pPr>
            <a:r>
              <a:rPr lang="fr-F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d’une Base de données Oracle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69618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02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87897" y="1017432"/>
            <a:ext cx="11304104" cy="584056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L’administration d’une base de données englobe toutes les activités liées à :</a:t>
            </a:r>
          </a:p>
          <a:p>
            <a:pPr lvl="1" algn="just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gestion ; </a:t>
            </a:r>
          </a:p>
          <a:p>
            <a:pPr lvl="1" algn="just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maintenance ; </a:t>
            </a:r>
          </a:p>
          <a:p>
            <a:pPr lvl="1" algn="just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sécurité ;</a:t>
            </a:r>
          </a:p>
          <a:p>
            <a:pPr lvl="1" algn="just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l'optimisation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itchFamily="2" charset="2"/>
              <a:buChar char="Ø"/>
            </a:pPr>
            <a:r>
              <a:rPr lang="fr-S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DBA doit 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s'assurer que les données sont :</a:t>
            </a:r>
          </a:p>
          <a:p>
            <a:pPr marL="798300" lvl="1" indent="-342900" algn="just" fontAlgn="ctr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correctement stockées ;</a:t>
            </a:r>
          </a:p>
          <a:p>
            <a:pPr marL="798300" lvl="1" indent="-342900" algn="just" fontAlgn="ctr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Accessibles ;</a:t>
            </a:r>
          </a:p>
          <a:p>
            <a:pPr marL="798300" lvl="1" indent="-342900" algn="just" fontAlgn="ctr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sécurisées ;</a:t>
            </a:r>
          </a:p>
          <a:p>
            <a:pPr marL="798300" lvl="1" indent="-342900" algn="just" fontAlgn="ctr">
              <a:buFont typeface="Wingdings" pitchFamily="2" charset="2"/>
              <a:buChar char="ü"/>
            </a:pPr>
            <a:r>
              <a:rPr lang="fr-S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performantes.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3335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27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26D29-90FE-C642-E937-0AAEDCB3F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39FC9D-2371-EAD4-ABFA-9A8B77934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6CA5FE-1C07-05C3-24C8-EA9803EA6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1" y="1171979"/>
            <a:ext cx="11050589" cy="5087154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est un SGBD commercial multiutilisateur très utilisé dans le monde ;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un SGBD qui assure portabilité et interopérabilité et est conforme aux normes ANSI, ISO, OMG, etc. 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très puissant et peut gérer des bases de données de très grands volumes 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dispose d’un langage procédural très puissant appelé PL-SQL 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Plusieurs versions du SGBD Oracle se sont succédé et les dernières en date sont les versions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21c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23ai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L’architecture d’Oracle comprend plusieurs parties permettant aux DBA de mener leurs tâches d’administration.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CF5633D-3CC4-E059-5A8D-C3EF01B35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3335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81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022283" y="2305878"/>
            <a:ext cx="8144257" cy="4680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L’architecture d’Oracle est constituée 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architecture physique 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architecture logique 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 Data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(tables et vues systèmes).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3335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5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021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93194" y="2125014"/>
            <a:ext cx="10298805" cy="3206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L’architecture physique d’Oracle est constituée : 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instance ;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fichiers obligatoires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fichiers facultatifs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PGA (Program Global Area)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6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917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0" y="1828800"/>
            <a:ext cx="11050589" cy="5029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Oracle, une instance est constituée d’éléments que sont :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zone mémoire partagée appelé la SGA ;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processus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processus d’arrière-plan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processus serveur pour le traitement des requêtes des utilisateurs. 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instance ne peut ouvrir qu’une seule base de données à la fois.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7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3011617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62886" y="1365160"/>
            <a:ext cx="11329114" cy="54928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I.1.1. La SGA (System Global Area)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SGA est une zone mémoire servant à stocker les informations provenant des fichiers de données enregistrés sur le support de masse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assure le partage des données des différents utilisateurs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la zone mémoire contenant les structures de données accessibles par tous les processus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composée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 Cache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-log Buffer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la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Pool Area (SQL Area,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Dictionary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Cache, Library Cache).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8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2576411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0" y="2034861"/>
            <a:ext cx="11050589" cy="48231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I.1.1. La SGA (System Global Area)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Elle est allouée au démarrage de l’instance et est libérée lors de son arrêt.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LcPeriod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Pool Area (SPA)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la zone de partage des requêtes et du dictionnaire Oracle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taille est déterminée par le paramètre </a:t>
            </a:r>
            <a:r>
              <a:rPr lang="fr-F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SHARED_POOL_SIZE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le fichier </a:t>
            </a:r>
            <a:r>
              <a:rPr lang="fr-F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init.ora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9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4216602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0" y="1687132"/>
            <a:ext cx="11050589" cy="51708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I.1.1. La SGA (System Global Area)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LcPeriod" startAt="2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Buffer Cache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la zone de partage des données de la base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Seules les données qui y sont chargées sont accessibles en lecture ou écriture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nombre de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Buffer Cache est déterminé par le paramètre </a:t>
            </a:r>
            <a:r>
              <a:rPr lang="fr-F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DB_BLOCK_BUFFERS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taille d’un Buffer est déterminée par le paramètre </a:t>
            </a:r>
            <a:r>
              <a:rPr lang="fr-F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DB_BLOCK_SIZE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le fichier </a:t>
            </a:r>
            <a:r>
              <a:rPr lang="fr-F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init.ora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valeur du paramètre </a:t>
            </a:r>
            <a:r>
              <a:rPr lang="fr-F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DB_BLOCK_SIZE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fixée lors de la création de la base.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10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2319786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0" y="2369712"/>
            <a:ext cx="11050589" cy="4488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I.1.1. La SGA (System Global Area)</a:t>
            </a:r>
          </a:p>
          <a:p>
            <a:pPr marL="457200" indent="-457200">
              <a:buFont typeface="+mj-lt"/>
              <a:buAutoNum type="alphaLcPeriod" startAt="3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-Log Buffer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contient les informations sur les mises à jour apportées à la base avant leur écriture sur un fichier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-log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taille est déterminée par le paramètre </a:t>
            </a:r>
            <a:r>
              <a:rPr lang="fr-FR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LOG_BUFFER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le fichier </a:t>
            </a:r>
            <a:r>
              <a:rPr lang="fr-FR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init.ora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11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162448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82DD9-118D-728D-4A36-1E331548E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9F339F-37D7-E435-E820-1352345FE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2522A80-54E8-85D6-7C0B-DB90ACF4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0" y="1365160"/>
            <a:ext cx="11050589" cy="5492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I.1.1. La SGA (System Global Area)</a:t>
            </a:r>
          </a:p>
          <a:p>
            <a:pPr marL="457200" indent="-457200">
              <a:buFont typeface="+mj-lt"/>
              <a:buAutoNum type="alphaLcPeriod" startAt="3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-Log Buffer 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5607864-2CC8-26D3-1E91-2604DEC39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12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7C78914-6341-3AAF-C9F1-FAFA159BE7DD}"/>
              </a:ext>
            </a:extLst>
          </p:cNvPr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DE8CD440-0A05-7AF3-DAA0-53DB196AA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819" y="2818103"/>
            <a:ext cx="7209183" cy="336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305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13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909592" y="153003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I.1.1 La SGA (System Global Area)</a:t>
            </a:r>
          </a:p>
        </p:txBody>
      </p:sp>
      <p:sp>
        <p:nvSpPr>
          <p:cNvPr id="8" name="AutoShape 4" descr="Oracle - Architecture"/>
          <p:cNvSpPr>
            <a:spLocks noChangeAspect="1" noChangeArrowheads="1"/>
          </p:cNvSpPr>
          <p:nvPr/>
        </p:nvSpPr>
        <p:spPr bwMode="auto">
          <a:xfrm>
            <a:off x="3697266" y="2212370"/>
            <a:ext cx="4519456" cy="45194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9" name="Image 8" descr="C:\Users\HP PC\Desktop\Cours annuels\0. Cours en presentiel\11. 2020-2021\Semestre 2\M1 GL - DBA Oracle\oracschema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073" y="2237961"/>
            <a:ext cx="6725476" cy="418842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Espace réservé du contenu 2"/>
          <p:cNvSpPr txBox="1">
            <a:spLocks/>
          </p:cNvSpPr>
          <p:nvPr/>
        </p:nvSpPr>
        <p:spPr>
          <a:xfrm>
            <a:off x="1293811" y="682172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19595456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0" y="1777285"/>
            <a:ext cx="11050589" cy="50807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I.1.2. Les processus d’arrière plan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Ces processus gèrent le fonctionnement interne de la base essentiellement le passage des données de la mémoire au(x) support(s) de stockage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Ils gèrent également l’écriture des données sur ces supports ;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existe des processus d’arrière-plan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Obligatoires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Optionnels.</a:t>
            </a:r>
          </a:p>
          <a:p>
            <a:pPr marL="0" lvl="0" indent="0">
              <a:buNone/>
            </a:pPr>
            <a:endParaRPr lang="fr-FR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14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162181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249251"/>
            <a:ext cx="11420910" cy="560874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I.1.2. Les processus d’arrière plan</a:t>
            </a:r>
          </a:p>
          <a:p>
            <a:pPr marL="0" lv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Processus obligatoires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DBWn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d’écriture dans la base de données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LGWR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d’écriture dans le journal. Il écrit sur le disque dans les fichiers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le contenu du cache de journal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Buffer)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(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CKPT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de contrôle. Il met à jour l’en-tête de tous les fichiers de données avec les détails d’un évènement appelé point de contrôle, ou checkpoint. Il peut déclencher l’exécution des processus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DBWn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LGWR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Monitor (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de surveillance. Il est le gardien de la cohésion de la base de données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(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PMON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de surveillance des processus. Il libère les ressources de sessions qui se sont terminées anormalement.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15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1935722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596980"/>
            <a:ext cx="11420910" cy="5261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I.1.2. Les processus d’arrière plan</a:t>
            </a:r>
          </a:p>
          <a:p>
            <a:pPr marL="0" lv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Processus optionnels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Queue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Coordinator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CJQ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de coordination des jobs. Il génère des processus pour exécuter les jobs planifiés qui se trouvent dans la file interne d’Oracle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Archiver (</a:t>
            </a:r>
            <a:r>
              <a:rPr lang="fr-FR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ARCn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d’archivage. Il copie les fichiers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vers un emplacement de stockage secondaire avant qu’ils ne soient réutilisés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Distributed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recovery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fr-F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: processus permettant de résoudre les transactions interrompues brutalement dans un système de bases de données distribuées.</a:t>
            </a: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16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I.1. Instance Oracle</a:t>
            </a:r>
          </a:p>
        </p:txBody>
      </p:sp>
    </p:spTree>
    <p:extLst>
      <p:ext uri="{BB962C8B-B14F-4D97-AF65-F5344CB8AC3E}">
        <p14:creationId xmlns:p14="http://schemas.microsoft.com/office/powerpoint/2010/main" val="849106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584101"/>
            <a:ext cx="11050587" cy="52739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obligatoires pour une base Oracle sont :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de contrôle (dont l'extension est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ctl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de données (dont l'extension est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dbf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(dont l'extension est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.log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 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base de données Oracle nécessite au minimum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fichier de données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fichiers </a:t>
            </a: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fichier de contrôle.</a:t>
            </a:r>
            <a:endParaRPr lang="fr-FR" sz="2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17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1035832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249251"/>
            <a:ext cx="11420910" cy="56087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1. Fichier de contrôle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fichier de contrôle contient les informations sur l’état de la base de données et sur les autres fichiers la constituant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 de la base de données, la date et l’heure de sa création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localisation des fichiers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localisation des informations de synchronisation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nom, l’emplacement et la taille des fichiers de la base (fichier de données, de journalisation, ...)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informations de restauration de la base en cas de panne.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de contrôle sont eux-mêmes repérés par le fichier d'initialisation.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18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27978651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365161"/>
            <a:ext cx="11420910" cy="549284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1. Fichier de contrôle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de contrôle est primordial pour que l’instance soit lancée correctement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lire les chemins des fichiers de données, ainsi que ceux des fichiers de journalisation (et d’autres informations nécessaires au lancement)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S’il est endommagé, la base de données ne peut pas être chargée même si les autres fichiers physiques sont intacts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est, alors, recommandé de multiplexer le fichier de contrôle sur des endroits différents du disque dur ; </a:t>
            </a:r>
          </a:p>
          <a:p>
            <a:pPr marL="0" indent="0">
              <a:buNone/>
            </a:pPr>
            <a:r>
              <a:rPr lang="fr-FR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 est à noter que les informations d’un fichier de contrôle peuvent être examinées à partir de la vue </a:t>
            </a:r>
            <a:r>
              <a:rPr lang="fr-FR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V$CONTROLFILE</a:t>
            </a: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fr-FR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19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23608904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20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384" y="2034861"/>
            <a:ext cx="4312841" cy="4185634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1" y="1687132"/>
            <a:ext cx="5032977" cy="482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43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777285"/>
            <a:ext cx="11420910" cy="44432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2. Les fichiers de données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de données contiennent toutes les informations stockées dans la base de données (tables, vues, procédures stockées, index, etc.)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C’est l’instance de la base de données et il en faut au minimum un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utilise un format qui lui est spécifique pour stocker leur contenu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ne peut visualiser le contenu de ces fichiers ou d’y écrire qu’à travers Oracle.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21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2022219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468192"/>
            <a:ext cx="11420910" cy="53898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3. Les fichiers </a:t>
            </a:r>
            <a:r>
              <a:rPr lang="fr-FR" sz="3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ligne (fichiers journaux)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 en ligne sont deux ou plusieurs fichiers pré-alloués qui stockent tous les changements effectués dans la base de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instance d'une base de données Oracle possède un fichier de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pour protéger la base de données en cas de crash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 une instance s'arrête anormalement, il arrive souvent que certaines informations dans les fichiers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soient pas encore écrites dans les fichiers de données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22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3921999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365160"/>
            <a:ext cx="11420910" cy="549284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3. Les fichiers </a:t>
            </a:r>
            <a:r>
              <a:rPr lang="fr-FR" sz="3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ligne (fichiers journaux)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contiennent les traces des transactions successives exécutées sur l’instance de la base de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L’activité des sessions qui interagissent avec Oracle est également consignée en détail dans ces fichiers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 s’agit en quelque sorte des journaux de transaction de la base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Oracle recommande l’utilisation de 2 fichiers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pour supporter l’instance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plupart des BD disposent d’au moins 2 groupes de fichiers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Chacun de ces groupes contient le même nombre de membres. L’ensemble de ces groupes est appelé 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</a:t>
            </a:r>
            <a:r>
              <a:rPr lang="fr-FR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23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1785990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803042"/>
            <a:ext cx="11420910" cy="505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3. Les fichiers </a:t>
            </a:r>
            <a:r>
              <a:rPr lang="fr-FR" sz="3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ligne (fichiers journaux)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copier les fichiers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 ligne sur le disque dur, on active le mode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ARCHIVELOG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 du répertoire dans lequel le fichier est archivé est spécifié dans les paramètres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ce répertoire est plein et que Oracle tente d’y archiver un fichier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l’activité de la base est interrompue jusqu’à ce que de l’espace soit libéré.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24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1673762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3944" y="1803042"/>
            <a:ext cx="11548056" cy="505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3. Les fichiers </a:t>
            </a:r>
            <a:r>
              <a:rPr lang="fr-FR" sz="3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ligne (fichiers journaux)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l'archivage est désactivé (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NOARCHIVELOG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un fichier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plein est disponible après que les modifications qu’il contient sont écrites dans les fichiers de données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l'archivage est activé (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ARCHIVELOG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un fichier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plein est disponible pour le processus LGWR après que les modifications qu’il contient sont écrites dans les fichiers de données et sont archivées.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25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36389669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76A9F-C6AE-C572-07F7-45309B05A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0DB67E-88BA-BB10-F934-8B0FAA046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F738DBF-204A-405D-2654-E621550F8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944" y="1803042"/>
            <a:ext cx="11548056" cy="505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3. Les fichiers </a:t>
            </a:r>
            <a:r>
              <a:rPr lang="fr-FR" sz="33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FR" sz="33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ligne (fichiers journaux)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lequel LGWR est en train d’écrire est appelé fichier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actuel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nécessaires à la récupération d'instance sont appelés fichiers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actifs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fichiers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 ne sont plus nécessaires à la récupération d'instance sont appelés fichiers </a:t>
            </a:r>
            <a:r>
              <a:rPr lang="fr-S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Redo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S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inactifs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.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563A51-9B67-F814-6E79-317D381A1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26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2CB8F8B-A3F2-886C-F2A3-4DE0191D873E}"/>
              </a:ext>
            </a:extLst>
          </p:cNvPr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I.2. Les fichiers obligatoires</a:t>
            </a:r>
          </a:p>
        </p:txBody>
      </p:sp>
    </p:spTree>
    <p:extLst>
      <p:ext uri="{BB962C8B-B14F-4D97-AF65-F5344CB8AC3E}">
        <p14:creationId xmlns:p14="http://schemas.microsoft.com/office/powerpoint/2010/main" val="19397243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2550018"/>
            <a:ext cx="11420910" cy="4307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Parmi les fichiers facultatifs d’une base de données Oracle nous avons 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d’initialisation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paramètre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fichier de mots de passe, etc.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27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Les fichiers facultatifs</a:t>
            </a:r>
          </a:p>
        </p:txBody>
      </p:sp>
    </p:spTree>
    <p:extLst>
      <p:ext uri="{BB962C8B-B14F-4D97-AF65-F5344CB8AC3E}">
        <p14:creationId xmlns:p14="http://schemas.microsoft.com/office/powerpoint/2010/main" val="14108498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481070"/>
            <a:ext cx="11420910" cy="537693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3. 1. Fichier d’initialisation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fichier est un fichier au format texte contenant l'ensemble des paramètres de démarrage de la base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généralement nommé </a:t>
            </a:r>
            <a:r>
              <a:rPr lang="fr-FR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initSID.ora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où SID représente le nom donné à l'instance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existence n'est toutefois pas majeure car il peut être facilement reconstruit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fichier d'initialisation par défaut est créé lors de la création d'une base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 est largement documenté et des exemples de valeurs sont donnés pour chaque paramètre.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28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Les fichiers facultatifs</a:t>
            </a:r>
          </a:p>
        </p:txBody>
      </p:sp>
    </p:spTree>
    <p:extLst>
      <p:ext uri="{BB962C8B-B14F-4D97-AF65-F5344CB8AC3E}">
        <p14:creationId xmlns:p14="http://schemas.microsoft.com/office/powerpoint/2010/main" val="39400234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29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Les fichiers facultatifs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89" y="2262208"/>
            <a:ext cx="11251033" cy="3571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6333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30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Les fichiers facultatifs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2" y="2004399"/>
            <a:ext cx="4635527" cy="382155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1" y="1687132"/>
            <a:ext cx="5488336" cy="445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910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300766" y="2253803"/>
            <a:ext cx="10891234" cy="46041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3. 2. Fichier de paramètre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fichier contient les paramètres de démarrage de la base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contient, aussi, d’autres valeurs qui détermine l’environnement dans lequel elle s’exécute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Lorsque la base est démarrée, ce fichier est lu et plusieurs structures mémoires sont allouées telles que définies par son contenu.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31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Les fichiers facultatifs</a:t>
            </a:r>
          </a:p>
        </p:txBody>
      </p:sp>
    </p:spTree>
    <p:extLst>
      <p:ext uri="{BB962C8B-B14F-4D97-AF65-F5344CB8AC3E}">
        <p14:creationId xmlns:p14="http://schemas.microsoft.com/office/powerpoint/2010/main" val="1017840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22738" y="2472744"/>
            <a:ext cx="10569262" cy="33613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3. 2. Fichier de paramètre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paramètres d'initialisation peuvent être utilisés afin de définir des limites pour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l'ensemble de la base de données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 les ressources de base de données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les utilisateurs ou les processus.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32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Les fichiers facultatifs</a:t>
            </a:r>
          </a:p>
        </p:txBody>
      </p:sp>
    </p:spTree>
    <p:extLst>
      <p:ext uri="{BB962C8B-B14F-4D97-AF65-F5344CB8AC3E}">
        <p14:creationId xmlns:p14="http://schemas.microsoft.com/office/powerpoint/2010/main" val="34600960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2818103"/>
            <a:ext cx="11420910" cy="40398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3. 3. Fichier de mots de passe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contient les utilisateurs avec leurs informations de connexion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d’authentifier les utilisateurs qui veulent se connecter au serveur.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33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I.3. Les fichiers facultatifs</a:t>
            </a:r>
          </a:p>
        </p:txBody>
      </p:sp>
    </p:spTree>
    <p:extLst>
      <p:ext uri="{BB962C8B-B14F-4D97-AF65-F5344CB8AC3E}">
        <p14:creationId xmlns:p14="http://schemas.microsoft.com/office/powerpoint/2010/main" val="41092038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425148"/>
            <a:ext cx="11050588" cy="443285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PGA est </a:t>
            </a: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zone mémoire privée allouée à chaque processus serveur pour stocker les informations qui lui sont spécifiques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S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permet de stocker toutes les données ne nécessitant pas d'être partagées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contient les données d’un seul processus.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34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I.4. La PGA (Program Global Area)</a:t>
            </a:r>
          </a:p>
        </p:txBody>
      </p:sp>
    </p:spTree>
    <p:extLst>
      <p:ext uri="{BB962C8B-B14F-4D97-AF65-F5344CB8AC3E}">
        <p14:creationId xmlns:p14="http://schemas.microsoft.com/office/powerpoint/2010/main" val="12411009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E27CF-BF10-8F32-10D3-5044B069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1A316F-1C8A-57A2-C4FA-BB014A19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67E6B-11D7-F48B-B1A3-A4B6113B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87132"/>
            <a:ext cx="11050588" cy="517086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Quand un utilisateur se connecte au serveur, il ouvre une session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système distribue la mémoire privée aux différents processus lors de la connexion de l’utilisateur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processus possède une zone mémoire privée appelée Program Global Area (PGA)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PGA est une zone mémoire contenant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données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informations de contrôle pour chaque processus serveur.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E02DBF5-6F31-1EB0-EE98-27BD5B9F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35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7F6FA6CA-FC31-6B43-9B7B-B8CADCCAB264}"/>
              </a:ext>
            </a:extLst>
          </p:cNvPr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I.4. La PGA (Program Global Area)</a:t>
            </a:r>
          </a:p>
        </p:txBody>
      </p:sp>
    </p:spTree>
    <p:extLst>
      <p:ext uri="{BB962C8B-B14F-4D97-AF65-F5344CB8AC3E}">
        <p14:creationId xmlns:p14="http://schemas.microsoft.com/office/powerpoint/2010/main" val="20298642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Architecture Physique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69701" y="1867437"/>
            <a:ext cx="11522299" cy="49905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un processus serveur, la PGA est constituée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d’une zone de tri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informations sur la session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informations sur le traitement des requêtes de la session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variables de session.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valeur est déterminée par le paramètre </a:t>
            </a:r>
            <a:r>
              <a:rPr lang="fr-FR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PGA_AGGREGATE_TARGET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36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141412" y="669701"/>
            <a:ext cx="9905999" cy="695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I.4. La PGA (Program Global Area)</a:t>
            </a:r>
          </a:p>
        </p:txBody>
      </p:sp>
    </p:spTree>
    <p:extLst>
      <p:ext uri="{BB962C8B-B14F-4D97-AF65-F5344CB8AC3E}">
        <p14:creationId xmlns:p14="http://schemas.microsoft.com/office/powerpoint/2010/main" val="34964493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Architecture Logique d’oracle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017432"/>
            <a:ext cx="11420910" cy="5840570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la plus petite espace de stockage sous Oracle. C’est un ensemble d’octets d’espace disque occupé par la base et contenant des données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extent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ensemble de blocs contigus contenu dans un segment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segment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structure de données constitué d’un ensemble d’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extents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alloués à une seule structure (table, partition d’une table, index, cluster, ...) ;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schéma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structure logique qui contient des objets de base de données tels que : segments, vues, procédures, fonctions, packages, triggers, etc.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nom d’un schéma est celui de l’utilisateur qui en a le contrôle (System, Sys, etc.)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base de données Oracle possède plusieurs schémas.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37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5796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Architecture Logique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313644"/>
            <a:ext cx="11420910" cy="5544357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tablespace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espace logique qui peut être constitué de plusieurs fichiers physiques sur le disque dur 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peut contenir des segments de type différents (segment de table, segment d’index, segment undo, segment temporaire, etc.)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segment ne peut être contenu que dans un seul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tablespace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 contre un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tablespace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peut contenir les données de plusieurs segments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segments de plusieurs schémas peuvent coexister dans un même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tablespace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fichier de données ne peut contenir que les données d’un seul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tablespace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tablespace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 peut appartenir qu’à une seule base de données.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38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18621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Dictionnaire de données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403797"/>
            <a:ext cx="11420910" cy="4790941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dictionnaire de données Oracle est constitué de plusieurs vues systèmes dans lesquelles Oracle sauvegarde les informations utiles pour les bases de données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vues fournissent à l'administrateur de la base le meilleur moyen pour obtenir les caractéristiques techniques de celle-ci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vues du dictionnaire de données sont classées par familles et nommées en fonction de la famille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vues </a:t>
            </a:r>
            <a:r>
              <a:rPr lang="fr-FR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(commençant par </a:t>
            </a:r>
            <a:r>
              <a:rPr lang="fr-FR" sz="2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donnent des informations sur tous les objets logiques dont l'utilisateur connecté est propriétaire (tables, index, vues, procédures, ...) ;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39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60926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Dictionnaire de données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3944" y="1970468"/>
            <a:ext cx="11548056" cy="4005330"/>
          </a:xfrm>
        </p:spPr>
        <p:txBody>
          <a:bodyPr>
            <a:normAutofit fontScale="70000" lnSpcReduction="20000"/>
          </a:bodyPr>
          <a:lstStyle/>
          <a:p>
            <a:pPr lvl="1">
              <a:buFont typeface="Wingdings" panose="05000000000000000000" pitchFamily="2" charset="2"/>
              <a:buChar char="ü"/>
            </a:pP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vues </a:t>
            </a:r>
            <a:r>
              <a:rPr lang="fr-FR" sz="3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(commençant par </a:t>
            </a:r>
            <a:r>
              <a:rPr lang="fr-FR" sz="3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ALL_</a:t>
            </a: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fournissent des informations sur les objets pour lesquels l'utilisateur a un droit d'accès. Les objets de la base créés par l'utilisateur ainsi que tous les objets accessibles par cet utilisateur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vues </a:t>
            </a:r>
            <a:r>
              <a:rPr lang="fr-FR" sz="3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</a:t>
            </a: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(commençant par </a:t>
            </a:r>
            <a:r>
              <a:rPr lang="fr-FR" sz="3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</a:t>
            </a: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sont réservées à l'administrateur de la base afin de lui fournir des informations sensibles sur tous les objets de la base de données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vues </a:t>
            </a:r>
            <a:r>
              <a:rPr lang="fr-FR" sz="3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</a:t>
            </a: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(commençant par </a:t>
            </a:r>
            <a:r>
              <a:rPr lang="fr-FR" sz="3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V$_</a:t>
            </a: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sont des vues dynamiques permettant d'avoir des informations sur l'état courant de l'instance de la base de données de son démarrage à son arrêt. Elles permettent de connaitre les fichiers physiques actuellement utilisés (Log, </a:t>
            </a:r>
            <a:r>
              <a:rPr lang="fr-FR" sz="3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Tollback</a:t>
            </a:r>
            <a:r>
              <a:rPr lang="fr-FR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segments, …).</a:t>
            </a:r>
          </a:p>
          <a:p>
            <a:pPr lvl="0">
              <a:buFont typeface="Wingdings" panose="05000000000000000000" pitchFamily="2" charset="2"/>
              <a:buChar char="Ø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40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07858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Dictionnaire de données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107583"/>
            <a:ext cx="11420910" cy="575041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V$DATABASE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contient les informations sur la base de données ouverte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V$INSTANCE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les informations sur l’instance ouverte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V$SESSION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les informations sur les sessions d’utilisateurs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V$SGA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des informations résumées sur la SGA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V$PARAMETER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des informations sur les différents paramètres de l’instance et de la base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V$OPTION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des informations sur les composants optionnels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V$SQL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des informations sur les requêtes SQL exécutées par les utilisateurs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41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5529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Dictionnaire de données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31065" y="1017431"/>
            <a:ext cx="11560935" cy="5840570"/>
          </a:xfrm>
        </p:spPr>
        <p:txBody>
          <a:bodyPr>
            <a:normAutofit fontScale="925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USER_Tables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connaitre les tables appartenant à l’utilisateur connecté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USER_Tab_Columns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les informations sur les attributs des tables de l’utilisateur connecté ;</a:t>
            </a:r>
            <a:endParaRPr lang="fr-FR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USER_Objects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contient les objets appartenant à l’utilisateur connecté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USER_Triggers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connaitre les triggers de l’utilisateur connecté ;</a:t>
            </a:r>
            <a:endParaRPr lang="fr-FR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USER_Procedures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connaitre les procédures de l’utilisateur connecté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USER_Sys_Privs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d’avoir la liste des privilèges système assignés à un rôle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USER_Tab_Privs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d’avoir la liste des privilèges objet assignés à un utilisateur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42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24703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Dictionnaire de données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275008"/>
            <a:ext cx="11420910" cy="5254581"/>
          </a:xfrm>
        </p:spPr>
        <p:txBody>
          <a:bodyPr>
            <a:no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DBA_Tables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 de connaitre toutes les tables de la base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DBA_Tablespaces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de connaitre les </a:t>
            </a:r>
            <a:r>
              <a:rPr lang="fr-F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tablespaces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d’une base de données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DBA_Indexes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d’afficher tous les index de la base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DBA_Ind_Columns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de déterminer les colonnes qui font partie d’un index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DBA_Clusters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d’afficher les paramètres de stockage et de statistiques associés aux clusters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DBA_Clu_Columns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de connaitre quelles colonnes de tables font partie d’un cluster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43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14421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Dictionnaire de données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71090" y="1996226"/>
            <a:ext cx="11420910" cy="3593206"/>
          </a:xfrm>
        </p:spPr>
        <p:txBody>
          <a:bodyPr>
            <a:normAutofit fontScale="85000" lnSpcReduction="1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fr-FR" sz="3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DBA_Roles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de connaitre les informations sur les rôles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DBA_Profiles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de connaitre les informations sur les profiles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3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DBA_Sys_Privs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d’avoir la liste des privilèges système assignés à un rôle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DBA_Role_Privs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d’avoir la liste des rôles assignés à un utilisateur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31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DBA_Tab_Privs</a:t>
            </a:r>
            <a:r>
              <a:rPr lang="fr-FR" sz="3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permet d’avoir la liste des privilèges objet assignés à un utilisateur.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44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5646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017431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Architecture d’une Base de données oracle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0" y="2818103"/>
            <a:ext cx="771089" cy="365125"/>
          </a:xfrm>
        </p:spPr>
        <p:txBody>
          <a:bodyPr/>
          <a:lstStyle/>
          <a:p>
            <a:pPr algn="ctr"/>
            <a:fld id="{6D22F896-40B5-4ADD-8801-0D06FADFA095}" type="slidenum">
              <a:rPr lang="en-US" sz="240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/>
              <a:t>45</a:t>
            </a:fld>
            <a:endParaRPr lang="en-US" sz="2400" dirty="0"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Espace réservé du contenu 5" descr="Base de donnees Oracle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722" y="3300216"/>
            <a:ext cx="7735380" cy="343900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914400" y="1246339"/>
            <a:ext cx="112776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base de données Oracle est constituée de plusieurs éléments 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processus chargés en mémoire sur le serveur 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fichiers physiques stockés sur le serveur ;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D'un espace mémoire sur le serveur appelé 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</a:t>
            </a:r>
            <a:r>
              <a:rPr lang="fr-FR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Global Area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fr-FR" sz="2800" b="0" i="0" u="none" strike="noStrike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5563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1659</TotalTime>
  <Words>3456</Words>
  <Application>Microsoft Macintosh PowerPoint</Application>
  <PresentationFormat>Grand écran</PresentationFormat>
  <Paragraphs>354</Paragraphs>
  <Slides>45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1" baseType="lpstr">
      <vt:lpstr>Arial</vt:lpstr>
      <vt:lpstr>Calibri</vt:lpstr>
      <vt:lpstr>Times New Roman</vt:lpstr>
      <vt:lpstr>Tw Cen MT</vt:lpstr>
      <vt:lpstr>Wingdings</vt:lpstr>
      <vt:lpstr>Circuit</vt:lpstr>
      <vt:lpstr>Chapitre I Architecture du SGBD Oracle</vt:lpstr>
      <vt:lpstr>Plan du cours</vt:lpstr>
      <vt:lpstr>Introduction</vt:lpstr>
      <vt:lpstr>Introduction</vt:lpstr>
      <vt:lpstr>Introduction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I. Architecture Physique</vt:lpstr>
      <vt:lpstr>II. Architecture Logique d’oracle</vt:lpstr>
      <vt:lpstr>II. Architecture Logique</vt:lpstr>
      <vt:lpstr>III. Dictionnaire de données</vt:lpstr>
      <vt:lpstr>III. Dictionnaire de données</vt:lpstr>
      <vt:lpstr>III. Dictionnaire de données</vt:lpstr>
      <vt:lpstr>III. Dictionnaire de données</vt:lpstr>
      <vt:lpstr>III. Dictionnaire de données</vt:lpstr>
      <vt:lpstr>III. Dictionnaire de données</vt:lpstr>
      <vt:lpstr>IV. Architecture d’une Base de données oracle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II  Optimisation de schémas relationnels</dc:title>
  <dc:creator>HP PC</dc:creator>
  <cp:lastModifiedBy>Khalifa</cp:lastModifiedBy>
  <cp:revision>358</cp:revision>
  <dcterms:created xsi:type="dcterms:W3CDTF">2021-12-17T14:41:09Z</dcterms:created>
  <dcterms:modified xsi:type="dcterms:W3CDTF">2025-07-03T16:46:02Z</dcterms:modified>
</cp:coreProperties>
</file>