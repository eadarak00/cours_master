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3"/>
  </p:notesMasterIdLst>
  <p:sldIdLst>
    <p:sldId id="256" r:id="rId2"/>
    <p:sldId id="257" r:id="rId3"/>
    <p:sldId id="258" r:id="rId4"/>
    <p:sldId id="271" r:id="rId5"/>
    <p:sldId id="357" r:id="rId6"/>
    <p:sldId id="333" r:id="rId7"/>
    <p:sldId id="334" r:id="rId8"/>
    <p:sldId id="335" r:id="rId9"/>
    <p:sldId id="359" r:id="rId10"/>
    <p:sldId id="336" r:id="rId11"/>
    <p:sldId id="337" r:id="rId12"/>
    <p:sldId id="338" r:id="rId13"/>
    <p:sldId id="358" r:id="rId14"/>
    <p:sldId id="339" r:id="rId15"/>
    <p:sldId id="340" r:id="rId16"/>
    <p:sldId id="341" r:id="rId17"/>
    <p:sldId id="342" r:id="rId18"/>
    <p:sldId id="343" r:id="rId19"/>
    <p:sldId id="344" r:id="rId20"/>
    <p:sldId id="345" r:id="rId21"/>
    <p:sldId id="346" r:id="rId22"/>
    <p:sldId id="347" r:id="rId23"/>
    <p:sldId id="348" r:id="rId24"/>
    <p:sldId id="349" r:id="rId25"/>
    <p:sldId id="356" r:id="rId26"/>
    <p:sldId id="350" r:id="rId27"/>
    <p:sldId id="351" r:id="rId28"/>
    <p:sldId id="352" r:id="rId29"/>
    <p:sldId id="353" r:id="rId30"/>
    <p:sldId id="354" r:id="rId31"/>
    <p:sldId id="35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78" autoAdjust="0"/>
    <p:restoredTop sz="94660"/>
  </p:normalViewPr>
  <p:slideViewPr>
    <p:cSldViewPr snapToGrid="0">
      <p:cViewPr varScale="1">
        <p:scale>
          <a:sx n="96" d="100"/>
          <a:sy n="96" d="100"/>
        </p:scale>
        <p:origin x="6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B85B5B-03D1-4171-9D1D-EB9907A45893}" type="datetimeFigureOut">
              <a:rPr lang="fr-FR" smtClean="0"/>
              <a:t>08/07/2025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4B39D9-EE15-4F1A-AFFA-1E3402E613A8}" type="slidenum">
              <a:rPr lang="fr-FR" smtClean="0"/>
              <a:t>‹N°›</a:t>
            </a:fld>
            <a:endParaRPr lang="fr-FR"/>
          </a:p>
        </p:txBody>
      </p:sp>
    </p:spTree>
    <p:extLst>
      <p:ext uri="{BB962C8B-B14F-4D97-AF65-F5344CB8AC3E}">
        <p14:creationId xmlns:p14="http://schemas.microsoft.com/office/powerpoint/2010/main" val="3742489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4F4B39D9-EE15-4F1A-AFFA-1E3402E613A8}" type="slidenum">
              <a:rPr lang="fr-FR" smtClean="0"/>
              <a:t>1</a:t>
            </a:fld>
            <a:endParaRPr lang="fr-FR"/>
          </a:p>
        </p:txBody>
      </p:sp>
    </p:spTree>
    <p:extLst>
      <p:ext uri="{BB962C8B-B14F-4D97-AF65-F5344CB8AC3E}">
        <p14:creationId xmlns:p14="http://schemas.microsoft.com/office/powerpoint/2010/main" val="158217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99E7DBD-1DB1-4A0F-B4D0-194B172FB395}" type="datetime1">
              <a:rPr lang="en-US" smtClean="0"/>
              <a:t>7/8/25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1F7EF5D-837F-4D04-AA7C-E7E6278E615A}"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2E2D0806-D36F-4983-981C-01444258F8AF}"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01C5940-DE9B-40F9-987E-1CE5FA57F996}"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2A7CE1A-6E12-4CF5-BF76-F27D98D0771F}" type="datetime1">
              <a:rPr lang="en-US" smtClean="0"/>
              <a:t>7/8/25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28C1743-7F41-4075-B083-C9F0B43122DF}" type="datetime1">
              <a:rPr lang="en-US" smtClean="0"/>
              <a:t>7/8/25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1E09A2-61FE-4D70-A56D-88CE421F4301}" type="datetime1">
              <a:rPr lang="en-US" smtClean="0"/>
              <a:t>7/8/25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5B84E5BA-98EA-4089-B34C-8FB6275687A9}"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AB453F5-435E-4308-9ABA-E69710EE9615}"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3B8286F2-01F5-40B1-B930-799CCC82F62E}"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9CE30D78-B1F0-4AE4-93EB-4FFD2D9D02B0}"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1F2AFA02-B019-4B13-9126-D2CD87514766}"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2CAC2EB0-2E10-4831-B90A-FEBEFEBB0C32}" type="datetime1">
              <a:rPr lang="en-US" smtClean="0"/>
              <a:t>7/8/25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3" name="Date Placeholder 2"/>
          <p:cNvSpPr>
            <a:spLocks noGrp="1"/>
          </p:cNvSpPr>
          <p:nvPr>
            <p:ph type="dt" sz="half" idx="10"/>
          </p:nvPr>
        </p:nvSpPr>
        <p:spPr/>
        <p:txBody>
          <a:bodyPr/>
          <a:lstStyle/>
          <a:p>
            <a:fld id="{EF751E38-FB33-45A6-80F7-8C1358C28D8A}" type="datetime1">
              <a:rPr lang="en-US" smtClean="0"/>
              <a:t>7/8/25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3" name="Date Placeholder 2"/>
          <p:cNvSpPr>
            <a:spLocks noGrp="1"/>
          </p:cNvSpPr>
          <p:nvPr>
            <p:ph type="dt" sz="half" idx="10"/>
          </p:nvPr>
        </p:nvSpPr>
        <p:spPr/>
        <p:txBody>
          <a:bodyPr/>
          <a:lstStyle/>
          <a:p>
            <a:fld id="{77E00BD3-E44B-4F62-B227-4942E07246C4}" type="datetime1">
              <a:rPr lang="en-US" smtClean="0"/>
              <a:t>7/8/25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47E571F-AA08-4270-BCCF-BC7764854A77}"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D1C56CE-F845-4F3F-80AD-A3E0E70AC734}" type="datetime1">
              <a:rPr lang="en-US" smtClean="0"/>
              <a:t>7/8/25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8B31D0A-8112-4991-AC60-D8EE75804BDD}" type="datetime1">
              <a:rPr lang="en-US" smtClean="0"/>
              <a:t>7/8/25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927279" y="1481071"/>
            <a:ext cx="11264721" cy="1804944"/>
          </a:xfrm>
        </p:spPr>
        <p:txBody>
          <a:bodyPr anchor="ctr" anchorCtr="0">
            <a:normAutofit/>
          </a:bodyPr>
          <a:lstStyle/>
          <a:p>
            <a:pPr algn="ctr"/>
            <a:r>
              <a:rPr lang="fr-FR" dirty="0">
                <a:solidFill>
                  <a:schemeClr val="bg1"/>
                </a:solidFill>
                <a:latin typeface="Times New Roman" panose="02020603050405020304" pitchFamily="18" charset="0"/>
                <a:cs typeface="Times New Roman" panose="02020603050405020304" pitchFamily="18" charset="0"/>
              </a:rPr>
              <a:t>Chapitre II</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Schéma - session et Objet oracle</a:t>
            </a:r>
          </a:p>
        </p:txBody>
      </p:sp>
      <p:sp>
        <p:nvSpPr>
          <p:cNvPr id="3" name="Sous-titre 2"/>
          <p:cNvSpPr>
            <a:spLocks noGrp="1"/>
          </p:cNvSpPr>
          <p:nvPr>
            <p:ph type="subTitle" idx="1"/>
          </p:nvPr>
        </p:nvSpPr>
        <p:spPr>
          <a:xfrm>
            <a:off x="3168203" y="3633743"/>
            <a:ext cx="6168980" cy="1582201"/>
          </a:xfrm>
        </p:spPr>
        <p:txBody>
          <a:bodyPr>
            <a:noAutofit/>
          </a:bodyPr>
          <a:lstStyle/>
          <a:p>
            <a:pPr algn="ctr"/>
            <a:r>
              <a:rPr lang="fr-FR" sz="2400" dirty="0">
                <a:solidFill>
                  <a:schemeClr val="bg1"/>
                </a:solidFill>
                <a:latin typeface="Times New Roman" panose="02020603050405020304" pitchFamily="18" charset="0"/>
                <a:cs typeface="Times New Roman" panose="02020603050405020304" pitchFamily="18" charset="0"/>
              </a:rPr>
              <a:t>Master 1 Génie Logiciel</a:t>
            </a:r>
          </a:p>
          <a:p>
            <a:pPr algn="ctr"/>
            <a:r>
              <a:rPr lang="fr-FR" sz="2400" dirty="0">
                <a:solidFill>
                  <a:schemeClr val="bg1"/>
                </a:solidFill>
                <a:latin typeface="Times New Roman" panose="02020603050405020304" pitchFamily="18" charset="0"/>
                <a:cs typeface="Times New Roman" panose="02020603050405020304" pitchFamily="18" charset="0"/>
              </a:rPr>
              <a:t>Année académique 2023 – 2024</a:t>
            </a:r>
          </a:p>
          <a:p>
            <a:pPr algn="ctr"/>
            <a:r>
              <a:rPr lang="fr-FR" sz="2400" dirty="0">
                <a:solidFill>
                  <a:srgbClr val="FF0000"/>
                </a:solidFill>
                <a:latin typeface="Times New Roman" panose="02020603050405020304" pitchFamily="18" charset="0"/>
                <a:cs typeface="Times New Roman" panose="02020603050405020304" pitchFamily="18" charset="0"/>
              </a:rPr>
              <a:t>Semestre 2</a:t>
            </a:r>
          </a:p>
        </p:txBody>
      </p:sp>
      <p:sp>
        <p:nvSpPr>
          <p:cNvPr id="4" name="Sous-titre 2"/>
          <p:cNvSpPr txBox="1">
            <a:spLocks/>
          </p:cNvSpPr>
          <p:nvPr/>
        </p:nvSpPr>
        <p:spPr>
          <a:xfrm>
            <a:off x="7212169" y="0"/>
            <a:ext cx="4979831" cy="1122363"/>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r>
              <a:rPr lang="fr-FR" sz="1800" dirty="0">
                <a:solidFill>
                  <a:schemeClr val="bg1"/>
                </a:solidFill>
                <a:latin typeface="Times New Roman" panose="02020603050405020304" pitchFamily="18" charset="0"/>
                <a:cs typeface="Times New Roman" panose="02020603050405020304" pitchFamily="18" charset="0"/>
              </a:rPr>
              <a:t>Université </a:t>
            </a:r>
            <a:r>
              <a:rPr lang="fr-FR" sz="1800" dirty="0" err="1">
                <a:solidFill>
                  <a:schemeClr val="bg1"/>
                </a:solidFill>
                <a:latin typeface="Times New Roman" panose="02020603050405020304" pitchFamily="18" charset="0"/>
                <a:cs typeface="Times New Roman" panose="02020603050405020304" pitchFamily="18" charset="0"/>
              </a:rPr>
              <a:t>ASSane</a:t>
            </a:r>
            <a:r>
              <a:rPr lang="fr-FR" sz="1800" dirty="0">
                <a:solidFill>
                  <a:schemeClr val="bg1"/>
                </a:solidFill>
                <a:latin typeface="Times New Roman" panose="02020603050405020304" pitchFamily="18" charset="0"/>
                <a:cs typeface="Times New Roman" panose="02020603050405020304" pitchFamily="18" charset="0"/>
              </a:rPr>
              <a:t> </a:t>
            </a:r>
            <a:r>
              <a:rPr lang="fr-FR" sz="1800" dirty="0" err="1">
                <a:solidFill>
                  <a:schemeClr val="bg1"/>
                </a:solidFill>
                <a:latin typeface="Times New Roman" panose="02020603050405020304" pitchFamily="18" charset="0"/>
                <a:cs typeface="Times New Roman" panose="02020603050405020304" pitchFamily="18" charset="0"/>
              </a:rPr>
              <a:t>Seck</a:t>
            </a:r>
            <a:r>
              <a:rPr lang="fr-FR" sz="1800" dirty="0">
                <a:solidFill>
                  <a:schemeClr val="bg1"/>
                </a:solidFill>
                <a:latin typeface="Times New Roman" panose="02020603050405020304" pitchFamily="18" charset="0"/>
                <a:cs typeface="Times New Roman" panose="02020603050405020304" pitchFamily="18" charset="0"/>
              </a:rPr>
              <a:t> de </a:t>
            </a:r>
            <a:r>
              <a:rPr lang="fr-FR" sz="1800" dirty="0" err="1">
                <a:solidFill>
                  <a:schemeClr val="bg1"/>
                </a:solidFill>
                <a:latin typeface="Times New Roman" panose="02020603050405020304" pitchFamily="18" charset="0"/>
                <a:cs typeface="Times New Roman" panose="02020603050405020304" pitchFamily="18" charset="0"/>
              </a:rPr>
              <a:t>ziguinchor</a:t>
            </a:r>
            <a:r>
              <a:rPr lang="fr-FR" sz="1800" dirty="0">
                <a:solidFill>
                  <a:schemeClr val="bg1"/>
                </a:solidFill>
                <a:latin typeface="Times New Roman" panose="02020603050405020304" pitchFamily="18" charset="0"/>
                <a:cs typeface="Times New Roman" panose="02020603050405020304" pitchFamily="18" charset="0"/>
              </a:rPr>
              <a:t> UFR des sciences et technologies département d’informatique</a:t>
            </a:r>
          </a:p>
        </p:txBody>
      </p:sp>
      <p:sp>
        <p:nvSpPr>
          <p:cNvPr id="5" name="Sous-titre 2"/>
          <p:cNvSpPr txBox="1">
            <a:spLocks/>
          </p:cNvSpPr>
          <p:nvPr/>
        </p:nvSpPr>
        <p:spPr>
          <a:xfrm>
            <a:off x="4055099" y="5782614"/>
            <a:ext cx="4434224" cy="476518"/>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r>
              <a:rPr lang="fr-FR" dirty="0">
                <a:solidFill>
                  <a:schemeClr val="tx1"/>
                </a:solidFill>
                <a:latin typeface="Times New Roman" panose="02020603050405020304" pitchFamily="18" charset="0"/>
                <a:cs typeface="Times New Roman" panose="02020603050405020304" pitchFamily="18" charset="0"/>
              </a:rPr>
              <a:t>D</a:t>
            </a:r>
            <a:r>
              <a:rPr lang="fr-FR" sz="1100" dirty="0">
                <a:solidFill>
                  <a:schemeClr val="tx1"/>
                </a:solidFill>
                <a:latin typeface="Times New Roman" panose="02020603050405020304" pitchFamily="18" charset="0"/>
                <a:cs typeface="Times New Roman" panose="02020603050405020304" pitchFamily="18" charset="0"/>
              </a:rPr>
              <a:t>R </a:t>
            </a:r>
            <a:r>
              <a:rPr lang="fr-FR" dirty="0" err="1">
                <a:solidFill>
                  <a:schemeClr val="tx1"/>
                </a:solidFill>
                <a:latin typeface="Times New Roman" panose="02020603050405020304" pitchFamily="18" charset="0"/>
                <a:cs typeface="Times New Roman" panose="02020603050405020304" pitchFamily="18" charset="0"/>
              </a:rPr>
              <a:t>Serigne</a:t>
            </a:r>
            <a:r>
              <a:rPr lang="fr-FR" dirty="0">
                <a:solidFill>
                  <a:schemeClr val="tx1"/>
                </a:solidFill>
                <a:latin typeface="Times New Roman" panose="02020603050405020304" pitchFamily="18" charset="0"/>
                <a:cs typeface="Times New Roman" panose="02020603050405020304" pitchFamily="18" charset="0"/>
              </a:rPr>
              <a:t> </a:t>
            </a:r>
            <a:r>
              <a:rPr lang="fr-FR" dirty="0" err="1">
                <a:solidFill>
                  <a:schemeClr val="tx1"/>
                </a:solidFill>
                <a:latin typeface="Times New Roman" panose="02020603050405020304" pitchFamily="18" charset="0"/>
                <a:cs typeface="Times New Roman" panose="02020603050405020304" pitchFamily="18" charset="0"/>
              </a:rPr>
              <a:t>diagne</a:t>
            </a:r>
            <a:r>
              <a:rPr lang="fr-FR" dirty="0">
                <a:solidFill>
                  <a:schemeClr val="tx1"/>
                </a:solidFill>
                <a:latin typeface="Times New Roman" panose="02020603050405020304" pitchFamily="18" charset="0"/>
                <a:cs typeface="Times New Roman" panose="02020603050405020304" pitchFamily="18" charset="0"/>
              </a:rPr>
              <a:t> </a:t>
            </a:r>
          </a:p>
        </p:txBody>
      </p:sp>
      <p:pic>
        <p:nvPicPr>
          <p:cNvPr id="6" name="Imag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94" y="101566"/>
            <a:ext cx="1489307" cy="1521172"/>
          </a:xfrm>
          <a:prstGeom prst="rect">
            <a:avLst/>
          </a:prstGeom>
          <a:solidFill>
            <a:srgbClr val="FFFFFF"/>
          </a:solidFill>
          <a:ln>
            <a:noFill/>
          </a:ln>
        </p:spPr>
      </p:pic>
    </p:spTree>
    <p:extLst>
      <p:ext uri="{BB962C8B-B14F-4D97-AF65-F5344CB8AC3E}">
        <p14:creationId xmlns:p14="http://schemas.microsoft.com/office/powerpoint/2010/main" val="2857438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709684"/>
          </a:xfrm>
        </p:spPr>
        <p:txBody>
          <a:bodyPr/>
          <a:lstStyle/>
          <a:p>
            <a:pPr algn="ctr"/>
            <a:r>
              <a:rPr lang="fr-FR" dirty="0">
                <a:solidFill>
                  <a:schemeClr val="bg1"/>
                </a:solidFill>
                <a:latin typeface="Times New Roman" panose="02020603050405020304" pitchFamily="18" charset="0"/>
                <a:cs typeface="Times New Roman" panose="02020603050405020304" pitchFamily="18" charset="0"/>
              </a:rPr>
              <a:t>Plan du cours</a:t>
            </a:r>
          </a:p>
        </p:txBody>
      </p:sp>
      <p:sp>
        <p:nvSpPr>
          <p:cNvPr id="3" name="Espace réservé du contenu 2"/>
          <p:cNvSpPr>
            <a:spLocks noGrp="1"/>
          </p:cNvSpPr>
          <p:nvPr>
            <p:ph idx="1"/>
          </p:nvPr>
        </p:nvSpPr>
        <p:spPr>
          <a:xfrm>
            <a:off x="2099256" y="618186"/>
            <a:ext cx="8201180" cy="6239814"/>
          </a:xfrm>
        </p:spPr>
        <p:txBody>
          <a:bodyPr>
            <a:normAutofit/>
          </a:bodyPr>
          <a:lstStyle/>
          <a:p>
            <a:pPr marL="0" indent="0">
              <a:buNone/>
            </a:pPr>
            <a:r>
              <a:rPr lang="fr-FR" sz="2600" dirty="0">
                <a:latin typeface="Times New Roman" panose="02020603050405020304" pitchFamily="18" charset="0"/>
                <a:cs typeface="Times New Roman" panose="02020603050405020304" pitchFamily="18" charset="0"/>
              </a:rPr>
              <a:t>Introduction</a:t>
            </a:r>
          </a:p>
          <a:p>
            <a:pPr marL="514350" indent="-514350">
              <a:buFont typeface="+mj-lt"/>
              <a:buAutoNum type="romanUcPeriod"/>
            </a:pPr>
            <a:r>
              <a:rPr lang="fr-FR" sz="2600" dirty="0">
                <a:latin typeface="Times New Roman" panose="02020603050405020304" pitchFamily="18" charset="0"/>
                <a:cs typeface="Times New Roman" panose="02020603050405020304" pitchFamily="18" charset="0"/>
              </a:rPr>
              <a:t>Schéma d’un utilisateur sous Oracle</a:t>
            </a:r>
          </a:p>
          <a:p>
            <a:pPr marL="514350" indent="-514350">
              <a:buFont typeface="+mj-lt"/>
              <a:buAutoNum type="romanUcPeriod"/>
            </a:pPr>
            <a:r>
              <a:rPr lang="fr-FR" sz="2600" dirty="0">
                <a:latin typeface="Times New Roman" panose="02020603050405020304" pitchFamily="18" charset="0"/>
                <a:cs typeface="Times New Roman" panose="02020603050405020304" pitchFamily="18" charset="0"/>
              </a:rPr>
              <a:t>Session Oracle</a:t>
            </a:r>
          </a:p>
          <a:p>
            <a:pPr marL="971550" lvl="1" indent="-514350">
              <a:buFont typeface="+mj-lt"/>
              <a:buAutoNum type="arabicPeriod"/>
            </a:pPr>
            <a:r>
              <a:rPr lang="fr-FR" sz="2200" dirty="0">
                <a:latin typeface="Times New Roman" panose="02020603050405020304" pitchFamily="18" charset="0"/>
                <a:cs typeface="Times New Roman" panose="02020603050405020304" pitchFamily="18" charset="0"/>
              </a:rPr>
              <a:t>Qu’est-ce qu’une session Oracle ?</a:t>
            </a:r>
          </a:p>
          <a:p>
            <a:pPr marL="971550" lvl="1" indent="-514350">
              <a:buFont typeface="+mj-lt"/>
              <a:buAutoNum type="arabicPeriod"/>
            </a:pPr>
            <a:r>
              <a:rPr lang="fr-FR" sz="2200" dirty="0">
                <a:latin typeface="Times New Roman" panose="02020603050405020304" pitchFamily="18" charset="0"/>
                <a:cs typeface="Times New Roman" panose="02020603050405020304" pitchFamily="18" charset="0"/>
              </a:rPr>
              <a:t>Comment arrêter une session bloquée ?</a:t>
            </a:r>
          </a:p>
          <a:p>
            <a:pPr marL="514350" indent="-514350">
              <a:buFont typeface="+mj-lt"/>
              <a:buAutoNum type="romanUcPeriod"/>
            </a:pPr>
            <a:r>
              <a:rPr lang="fr-FR" sz="2700" dirty="0">
                <a:latin typeface="Times New Roman" panose="02020603050405020304" pitchFamily="18" charset="0"/>
                <a:cs typeface="Times New Roman" panose="02020603050405020304" pitchFamily="18" charset="0"/>
              </a:rPr>
              <a:t>Quelques objets de base de données sous Oracle</a:t>
            </a:r>
          </a:p>
          <a:p>
            <a:pPr marL="971550" lvl="1" indent="-514350">
              <a:buFont typeface="+mj-lt"/>
              <a:buAutoNum type="arabicPeriod"/>
            </a:pPr>
            <a:r>
              <a:rPr lang="fr-FR" sz="2300" dirty="0">
                <a:latin typeface="Times New Roman" panose="02020603050405020304" pitchFamily="18" charset="0"/>
                <a:cs typeface="Times New Roman" panose="02020603050405020304" pitchFamily="18" charset="0"/>
              </a:rPr>
              <a:t>Synonyme</a:t>
            </a:r>
          </a:p>
          <a:p>
            <a:pPr marL="971550" lvl="1" indent="-514350">
              <a:buFont typeface="+mj-lt"/>
              <a:buAutoNum type="arabicPeriod"/>
            </a:pPr>
            <a:r>
              <a:rPr lang="fr-FR" sz="2300" dirty="0">
                <a:latin typeface="Times New Roman" panose="02020603050405020304" pitchFamily="18" charset="0"/>
                <a:cs typeface="Times New Roman" panose="02020603050405020304" pitchFamily="18" charset="0"/>
              </a:rPr>
              <a:t>Séquence</a:t>
            </a:r>
          </a:p>
          <a:p>
            <a:pPr marL="971550" lvl="1" indent="-514350">
              <a:buFont typeface="+mj-lt"/>
              <a:buAutoNum type="arabicPeriod"/>
            </a:pPr>
            <a:r>
              <a:rPr lang="fr-FR" sz="2300" dirty="0">
                <a:latin typeface="Times New Roman" panose="02020603050405020304" pitchFamily="18" charset="0"/>
                <a:cs typeface="Times New Roman" panose="02020603050405020304" pitchFamily="18" charset="0"/>
              </a:rPr>
              <a:t>Package</a:t>
            </a:r>
          </a:p>
          <a:p>
            <a:pPr marL="971550" lvl="1" indent="-514350">
              <a:buFont typeface="+mj-lt"/>
              <a:buAutoNum type="arabicPeriod"/>
            </a:pPr>
            <a:r>
              <a:rPr lang="fr-FR" sz="2300" dirty="0">
                <a:latin typeface="Times New Roman" panose="02020603050405020304" pitchFamily="18" charset="0"/>
                <a:cs typeface="Times New Roman" panose="02020603050405020304" pitchFamily="18" charset="0"/>
              </a:rPr>
              <a:t>Cluster</a:t>
            </a:r>
          </a:p>
          <a:p>
            <a:pPr marL="514350" indent="-514350">
              <a:buFont typeface="+mj-lt"/>
              <a:buAutoNum type="romanUcPeriod"/>
            </a:pPr>
            <a:r>
              <a:rPr lang="fr-FR" sz="2700" dirty="0">
                <a:latin typeface="Times New Roman" panose="02020603050405020304" pitchFamily="18" charset="0"/>
                <a:cs typeface="Times New Roman" panose="02020603050405020304" pitchFamily="18" charset="0"/>
              </a:rPr>
              <a:t> Les Jobs</a:t>
            </a:r>
          </a:p>
        </p:txBody>
      </p:sp>
      <p:sp>
        <p:nvSpPr>
          <p:cNvPr id="5" name="Espace réservé du numéro de diapositive 4"/>
          <p:cNvSpPr>
            <a:spLocks noGrp="1"/>
          </p:cNvSpPr>
          <p:nvPr>
            <p:ph type="sldNum" sz="quarter" idx="12"/>
          </p:nvPr>
        </p:nvSpPr>
        <p:spPr>
          <a:xfrm>
            <a:off x="0" y="2869618"/>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6026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lstStyle/>
          <a:p>
            <a:pPr algn="ctr"/>
            <a:r>
              <a:rPr lang="fr-FR" dirty="0">
                <a:solidFill>
                  <a:schemeClr val="bg1"/>
                </a:solidFill>
                <a:latin typeface="Times New Roman" panose="02020603050405020304" pitchFamily="18" charset="0"/>
                <a:cs typeface="Times New Roman" panose="02020603050405020304" pitchFamily="18" charset="0"/>
              </a:rPr>
              <a:t>Introduction</a:t>
            </a:r>
            <a:endParaRPr lang="fr-FR" dirty="0"/>
          </a:p>
        </p:txBody>
      </p:sp>
      <p:sp>
        <p:nvSpPr>
          <p:cNvPr id="3" name="Espace réservé du contenu 2"/>
          <p:cNvSpPr>
            <a:spLocks noGrp="1"/>
          </p:cNvSpPr>
          <p:nvPr>
            <p:ph idx="1"/>
          </p:nvPr>
        </p:nvSpPr>
        <p:spPr>
          <a:xfrm>
            <a:off x="1141413" y="1815921"/>
            <a:ext cx="11050587" cy="5042079"/>
          </a:xfrm>
        </p:spPr>
        <p:txBody>
          <a:bodyPr>
            <a:normAutofit/>
          </a:bodyPr>
          <a:lstStyle/>
          <a:p>
            <a:pPr marL="0" indent="0" algn="just">
              <a:buNone/>
            </a:pPr>
            <a:r>
              <a:rPr lang="fr-FR" sz="2800" dirty="0">
                <a:latin typeface="Times New Roman" panose="02020603050405020304" pitchFamily="18" charset="0"/>
                <a:cs typeface="Times New Roman" panose="02020603050405020304" pitchFamily="18" charset="0"/>
              </a:rPr>
              <a:t>Dans l’administration d’une Base de données Oracle, il faut nécessairement assurer :</a:t>
            </a:r>
          </a:p>
          <a:p>
            <a:pPr algn="just">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gestion des utilisateurs (</a:t>
            </a:r>
            <a:r>
              <a:rPr lang="fr-FR" sz="2800" dirty="0">
                <a:solidFill>
                  <a:srgbClr val="FF0000"/>
                </a:solidFill>
                <a:latin typeface="Times New Roman" panose="02020603050405020304" pitchFamily="18" charset="0"/>
                <a:cs typeface="Times New Roman" panose="02020603050405020304" pitchFamily="18" charset="0"/>
              </a:rPr>
              <a:t>Schéma</a:t>
            </a:r>
            <a:r>
              <a:rPr lang="fr-FR" sz="28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gestion des connections au serveur (</a:t>
            </a:r>
            <a:r>
              <a:rPr lang="fr-FR" sz="2800" dirty="0">
                <a:solidFill>
                  <a:srgbClr val="FF0000"/>
                </a:solidFill>
                <a:latin typeface="Times New Roman" panose="02020603050405020304" pitchFamily="18" charset="0"/>
                <a:cs typeface="Times New Roman" panose="02020603050405020304" pitchFamily="18" charset="0"/>
              </a:rPr>
              <a:t>Session</a:t>
            </a:r>
            <a:r>
              <a:rPr lang="fr-FR" sz="28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création et le suivi des objets d’administration (</a:t>
            </a:r>
            <a:r>
              <a:rPr lang="fr-FR" sz="2800" dirty="0">
                <a:solidFill>
                  <a:srgbClr val="FF0000"/>
                </a:solidFill>
                <a:latin typeface="Times New Roman" panose="02020603050405020304" pitchFamily="18" charset="0"/>
                <a:cs typeface="Times New Roman" panose="02020603050405020304" pitchFamily="18" charset="0"/>
              </a:rPr>
              <a:t>Synonyme</a:t>
            </a:r>
            <a:r>
              <a:rPr lang="fr-FR" sz="2800" dirty="0">
                <a:latin typeface="Times New Roman" panose="02020603050405020304" pitchFamily="18" charset="0"/>
                <a:cs typeface="Times New Roman" panose="02020603050405020304" pitchFamily="18" charset="0"/>
              </a:rPr>
              <a:t>, </a:t>
            </a:r>
            <a:r>
              <a:rPr lang="fr-FR" sz="2800" dirty="0">
                <a:solidFill>
                  <a:srgbClr val="FF0000"/>
                </a:solidFill>
                <a:latin typeface="Times New Roman" panose="02020603050405020304" pitchFamily="18" charset="0"/>
                <a:cs typeface="Times New Roman" panose="02020603050405020304" pitchFamily="18" charset="0"/>
              </a:rPr>
              <a:t>Séquence</a:t>
            </a:r>
            <a:r>
              <a:rPr lang="fr-FR" sz="2800" dirty="0">
                <a:latin typeface="Times New Roman" panose="02020603050405020304" pitchFamily="18" charset="0"/>
                <a:cs typeface="Times New Roman" panose="02020603050405020304" pitchFamily="18" charset="0"/>
              </a:rPr>
              <a:t>, </a:t>
            </a:r>
            <a:r>
              <a:rPr lang="fr-FR" sz="2800" dirty="0">
                <a:solidFill>
                  <a:srgbClr val="FF0000"/>
                </a:solidFill>
                <a:latin typeface="Times New Roman" panose="02020603050405020304" pitchFamily="18" charset="0"/>
                <a:cs typeface="Times New Roman" panose="02020603050405020304" pitchFamily="18" charset="0"/>
              </a:rPr>
              <a:t>Package</a:t>
            </a:r>
            <a:r>
              <a:rPr lang="fr-FR" sz="2800" dirty="0">
                <a:latin typeface="Times New Roman" panose="02020603050405020304" pitchFamily="18" charset="0"/>
                <a:cs typeface="Times New Roman" panose="02020603050405020304" pitchFamily="18" charset="0"/>
              </a:rPr>
              <a:t>, </a:t>
            </a:r>
            <a:r>
              <a:rPr lang="fr-FR" sz="2800" dirty="0">
                <a:solidFill>
                  <a:srgbClr val="FF0000"/>
                </a:solidFill>
                <a:latin typeface="Times New Roman" panose="02020603050405020304" pitchFamily="18" charset="0"/>
                <a:cs typeface="Times New Roman" panose="02020603050405020304" pitchFamily="18" charset="0"/>
              </a:rPr>
              <a:t>Cluster</a:t>
            </a:r>
            <a:r>
              <a:rPr lang="fr-FR" sz="28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planification des tâches répétitives (</a:t>
            </a:r>
            <a:r>
              <a:rPr lang="fr-FR" sz="2800" dirty="0">
                <a:solidFill>
                  <a:srgbClr val="FF0000"/>
                </a:solidFill>
                <a:latin typeface="Times New Roman" panose="02020603050405020304" pitchFamily="18" charset="0"/>
                <a:cs typeface="Times New Roman" panose="02020603050405020304" pitchFamily="18" charset="0"/>
              </a:rPr>
              <a:t>Jobs</a:t>
            </a:r>
            <a:r>
              <a:rPr lang="fr-FR" sz="2800" dirty="0">
                <a:latin typeface="Times New Roman" panose="02020603050405020304" pitchFamily="18" charset="0"/>
                <a:cs typeface="Times New Roman" panose="02020603050405020304" pitchFamily="18" charset="0"/>
              </a:rPr>
              <a:t>).</a:t>
            </a:r>
          </a:p>
        </p:txBody>
      </p:sp>
      <p:sp>
        <p:nvSpPr>
          <p:cNvPr id="5" name="Espace réservé du numéro de diapositive 4"/>
          <p:cNvSpPr>
            <a:spLocks noGrp="1"/>
          </p:cNvSpPr>
          <p:nvPr>
            <p:ph type="sldNum" sz="quarter" idx="12"/>
          </p:nvPr>
        </p:nvSpPr>
        <p:spPr>
          <a:xfrm>
            <a:off x="0" y="283335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3</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27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 Schéma oracle</a:t>
            </a:r>
            <a:endParaRPr lang="fr-FR" dirty="0">
              <a:solidFill>
                <a:schemeClr val="bg1"/>
              </a:solidFill>
            </a:endParaRPr>
          </a:p>
        </p:txBody>
      </p:sp>
      <p:sp>
        <p:nvSpPr>
          <p:cNvPr id="3" name="Espace réservé du contenu 2"/>
          <p:cNvSpPr>
            <a:spLocks noGrp="1"/>
          </p:cNvSpPr>
          <p:nvPr>
            <p:ph idx="1"/>
          </p:nvPr>
        </p:nvSpPr>
        <p:spPr>
          <a:xfrm>
            <a:off x="1141413" y="1970467"/>
            <a:ext cx="11050587" cy="4687909"/>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Oracle associe une structure logique appelée schéma à chaque utilisateur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Le schéma d’un utilisateur contient l’ensemble des objets associés à cet utilisateur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Il est créé automatiquement avec l’utilisateur et porte le </a:t>
            </a:r>
            <a:r>
              <a:rPr lang="fr-FR" sz="2800" dirty="0">
                <a:solidFill>
                  <a:srgbClr val="FF0000"/>
                </a:solidFill>
                <a:latin typeface="Times New Roman" panose="02020603050405020304" pitchFamily="18" charset="0"/>
                <a:cs typeface="Times New Roman" panose="02020603050405020304" pitchFamily="18" charset="0"/>
              </a:rPr>
              <a:t>même nom </a:t>
            </a:r>
            <a:r>
              <a:rPr lang="fr-FR" sz="2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utilisateur n’est associé qu’à un seul schéma ;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schéma ne peut être associé qu’à un seul utilisateur.</a:t>
            </a:r>
            <a:endParaRPr lang="fr-FR" sz="2400" dirty="0">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4</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9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 Schéma oracle</a:t>
            </a:r>
            <a:endParaRPr lang="fr-FR" dirty="0">
              <a:solidFill>
                <a:schemeClr val="bg1"/>
              </a:solidFill>
            </a:endParaRPr>
          </a:p>
        </p:txBody>
      </p:sp>
      <p:sp>
        <p:nvSpPr>
          <p:cNvPr id="3" name="Espace réservé du contenu 2"/>
          <p:cNvSpPr>
            <a:spLocks noGrp="1"/>
          </p:cNvSpPr>
          <p:nvPr>
            <p:ph idx="1"/>
          </p:nvPr>
        </p:nvSpPr>
        <p:spPr>
          <a:xfrm>
            <a:off x="1141413" y="1532585"/>
            <a:ext cx="11050587" cy="4687909"/>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Le schéma d’un utilisateur contient ses objets manipulables en SQL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Ses tables, vues, index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Ses triggers, fonctions, procédures stockées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Ses clusters,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Lorsqu'un utilisateur se connecte il se connecte généralement dans son propre schéma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Il peut travailler sur les tables d'autres schémas, à condition d'avoir les droits associés.</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5</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0427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 Session oracle</a:t>
            </a:r>
            <a:endParaRPr lang="fr-FR" dirty="0">
              <a:solidFill>
                <a:schemeClr val="bg1"/>
              </a:solidFill>
            </a:endParaRPr>
          </a:p>
        </p:txBody>
      </p:sp>
      <p:sp>
        <p:nvSpPr>
          <p:cNvPr id="3" name="Espace réservé du contenu 2"/>
          <p:cNvSpPr>
            <a:spLocks noGrp="1"/>
          </p:cNvSpPr>
          <p:nvPr>
            <p:ph idx="1"/>
          </p:nvPr>
        </p:nvSpPr>
        <p:spPr>
          <a:xfrm>
            <a:off x="940158" y="1468192"/>
            <a:ext cx="11251841" cy="538980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Lorsqu’un utilisateur se connecte à un serveur de base de données Oracle, une session démarre dès que son authentification est validée et sa connexion acceptée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session se termine dès que l’utilisateur se déconnecte ou quand le lien entre l’utilisateur et le serveur est rompu (problème de réseau, arrêt du serveur, problème sur le poste du client)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Cependant, la session d’un utilisateur peut se bloquer au moment où l’utilisateur est en train de travailler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Il faut, alors, savoir suppression cette session et en ouvrir une autre.</a:t>
            </a:r>
            <a:endParaRPr lang="fr-FR" sz="24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6</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II.1. Qu’est-ce qu’une session Oracle ?</a:t>
            </a:r>
          </a:p>
        </p:txBody>
      </p:sp>
    </p:spTree>
    <p:extLst>
      <p:ext uri="{BB962C8B-B14F-4D97-AF65-F5344CB8AC3E}">
        <p14:creationId xmlns:p14="http://schemas.microsoft.com/office/powerpoint/2010/main" val="3011617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 Session oracle</a:t>
            </a:r>
            <a:endParaRPr lang="fr-FR" dirty="0">
              <a:solidFill>
                <a:schemeClr val="bg1"/>
              </a:solidFill>
            </a:endParaRPr>
          </a:p>
        </p:txBody>
      </p:sp>
      <p:sp>
        <p:nvSpPr>
          <p:cNvPr id="3" name="Espace réservé du contenu 2"/>
          <p:cNvSpPr>
            <a:spLocks noGrp="1"/>
          </p:cNvSpPr>
          <p:nvPr>
            <p:ph idx="1"/>
          </p:nvPr>
        </p:nvSpPr>
        <p:spPr>
          <a:xfrm>
            <a:off x="940158" y="1687132"/>
            <a:ext cx="11251841" cy="517086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Pour supprimer une session oracle bloquée on se connecte à la base de données avec le compte Sys ou System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On utilise la vue </a:t>
            </a:r>
            <a:r>
              <a:rPr lang="fr-FR" sz="2800" dirty="0">
                <a:solidFill>
                  <a:srgbClr val="FF0000"/>
                </a:solidFill>
                <a:latin typeface="Times New Roman" panose="02020603050405020304" pitchFamily="18" charset="0"/>
                <a:cs typeface="Times New Roman" panose="02020603050405020304" pitchFamily="18" charset="0"/>
              </a:rPr>
              <a:t>V$SESSION</a:t>
            </a:r>
            <a:r>
              <a:rPr lang="fr-FR" sz="2800" dirty="0">
                <a:latin typeface="Times New Roman" panose="02020603050405020304" pitchFamily="18" charset="0"/>
                <a:cs typeface="Times New Roman" panose="02020603050405020304" pitchFamily="18" charset="0"/>
              </a:rPr>
              <a:t> pour afficher les sessions ouvertes sur la base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Pour chaque session, on affiche les valeurs des attributs : </a:t>
            </a:r>
            <a:r>
              <a:rPr lang="fr-FR" sz="2800" dirty="0" err="1">
                <a:latin typeface="Times New Roman" panose="02020603050405020304" pitchFamily="18" charset="0"/>
                <a:cs typeface="Times New Roman" panose="02020603050405020304" pitchFamily="18" charset="0"/>
              </a:rPr>
              <a:t>Username</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Osuser</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Status</a:t>
            </a:r>
            <a:r>
              <a:rPr lang="fr-FR" sz="2800" dirty="0">
                <a:latin typeface="Times New Roman" panose="02020603050405020304" pitchFamily="18" charset="0"/>
                <a:cs typeface="Times New Roman" panose="02020603050405020304" pitchFamily="18" charset="0"/>
              </a:rPr>
              <a:t>, Program, </a:t>
            </a:r>
            <a:r>
              <a:rPr lang="fr-FR" sz="2800" dirty="0" err="1">
                <a:latin typeface="Times New Roman" panose="02020603050405020304" pitchFamily="18" charset="0"/>
                <a:cs typeface="Times New Roman" panose="02020603050405020304" pitchFamily="18" charset="0"/>
              </a:rPr>
              <a:t>Logon_Time</a:t>
            </a:r>
            <a:r>
              <a:rPr lang="fr-FR" sz="2800" dirty="0">
                <a:latin typeface="Times New Roman" panose="02020603050405020304" pitchFamily="18" charset="0"/>
                <a:cs typeface="Times New Roman" panose="02020603050405020304" pitchFamily="18" charset="0"/>
              </a:rPr>
              <a:t> (sous le format DD/MM/YYYY HH:MM), Sid et Serial#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Les deux derniers attributs sont regroupés dans une colonne appelée généralement </a:t>
            </a:r>
            <a:r>
              <a:rPr lang="fr-FR" sz="2800" dirty="0">
                <a:solidFill>
                  <a:srgbClr val="FF0000"/>
                </a:solidFill>
                <a:latin typeface="Times New Roman" panose="02020603050405020304" pitchFamily="18" charset="0"/>
                <a:cs typeface="Times New Roman" panose="02020603050405020304" pitchFamily="18" charset="0"/>
              </a:rPr>
              <a:t>Identifiant</a:t>
            </a:r>
            <a:r>
              <a:rPr lang="fr-FR" sz="2800" dirty="0">
                <a:latin typeface="Times New Roman" panose="02020603050405020304" pitchFamily="18" charset="0"/>
                <a:cs typeface="Times New Roman" panose="02020603050405020304" pitchFamily="18" charset="0"/>
              </a:rPr>
              <a:t> (</a:t>
            </a:r>
            <a:r>
              <a:rPr lang="fr-FR" sz="2800" dirty="0" err="1">
                <a:latin typeface="Times New Roman" panose="02020603050405020304" pitchFamily="18" charset="0"/>
                <a:cs typeface="Times New Roman" panose="02020603050405020304" pitchFamily="18" charset="0"/>
              </a:rPr>
              <a:t>Sid,Serial</a:t>
            </a:r>
            <a:r>
              <a:rPr lang="fr-FR" sz="2800" dirty="0">
                <a:latin typeface="Times New Roman" panose="02020603050405020304" pitchFamily="18" charset="0"/>
                <a:cs typeface="Times New Roman" panose="02020603050405020304" pitchFamily="18" charset="0"/>
              </a:rPr>
              <a:t>#).</a:t>
            </a:r>
            <a:endParaRPr lang="fr-FR" sz="24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7</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II.2. Suppression d’une session Oracle bloquée ?</a:t>
            </a:r>
          </a:p>
        </p:txBody>
      </p:sp>
    </p:spTree>
    <p:extLst>
      <p:ext uri="{BB962C8B-B14F-4D97-AF65-F5344CB8AC3E}">
        <p14:creationId xmlns:p14="http://schemas.microsoft.com/office/powerpoint/2010/main" val="2306023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 Session oracle</a:t>
            </a:r>
            <a:endParaRPr lang="fr-FR" dirty="0">
              <a:solidFill>
                <a:schemeClr val="bg1"/>
              </a:solidFill>
            </a:endParaRPr>
          </a:p>
        </p:txBody>
      </p:sp>
      <p:sp>
        <p:nvSpPr>
          <p:cNvPr id="3" name="Espace réservé du contenu 2"/>
          <p:cNvSpPr>
            <a:spLocks noGrp="1"/>
          </p:cNvSpPr>
          <p:nvPr>
            <p:ph idx="1"/>
          </p:nvPr>
        </p:nvSpPr>
        <p:spPr>
          <a:xfrm>
            <a:off x="940158" y="2034860"/>
            <a:ext cx="11251841" cy="4823139"/>
          </a:xfrm>
        </p:spPr>
        <p:txBody>
          <a:bodyPr>
            <a:normAutofit/>
          </a:bodyPr>
          <a:lstStyle/>
          <a:p>
            <a:pPr algn="just">
              <a:buFont typeface="Wingdings" pitchFamily="2" charset="2"/>
              <a:buChar char="Ø"/>
            </a:pPr>
            <a:r>
              <a:rPr lang="en-US" sz="2800" dirty="0">
                <a:latin typeface="Times New Roman" panose="02020603050405020304" pitchFamily="18" charset="0"/>
                <a:cs typeface="Times New Roman" panose="02020603050405020304" pitchFamily="18" charset="0"/>
              </a:rPr>
              <a:t>Pour </a:t>
            </a:r>
            <a:r>
              <a:rPr lang="en-US" sz="2800" dirty="0" err="1">
                <a:latin typeface="Times New Roman" panose="02020603050405020304" pitchFamily="18" charset="0"/>
                <a:cs typeface="Times New Roman" panose="02020603050405020304" pitchFamily="18" charset="0"/>
              </a:rPr>
              <a:t>afficher</a:t>
            </a:r>
            <a:r>
              <a:rPr lang="en-US" sz="2800" dirty="0">
                <a:latin typeface="Times New Roman" panose="02020603050405020304" pitchFamily="18" charset="0"/>
                <a:cs typeface="Times New Roman" panose="02020603050405020304" pitchFamily="18" charset="0"/>
              </a:rPr>
              <a:t> la </a:t>
            </a:r>
            <a:r>
              <a:rPr lang="en-US" sz="2800" dirty="0" err="1">
                <a:latin typeface="Times New Roman" panose="02020603050405020304" pitchFamily="18" charset="0"/>
                <a:cs typeface="Times New Roman" panose="02020603050405020304" pitchFamily="18" charset="0"/>
              </a:rPr>
              <a:t>liste</a:t>
            </a:r>
            <a:r>
              <a:rPr lang="en-US" sz="2800" dirty="0">
                <a:latin typeface="Times New Roman" panose="02020603050405020304" pitchFamily="18" charset="0"/>
                <a:cs typeface="Times New Roman" panose="02020603050405020304" pitchFamily="18" charset="0"/>
              </a:rPr>
              <a:t> des sessions on lance la </a:t>
            </a:r>
            <a:r>
              <a:rPr lang="en-US" sz="2800" dirty="0" err="1">
                <a:latin typeface="Times New Roman" panose="02020603050405020304" pitchFamily="18" charset="0"/>
                <a:cs typeface="Times New Roman" panose="02020603050405020304" pitchFamily="18" charset="0"/>
              </a:rPr>
              <a:t>requête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suivante</a:t>
            </a:r>
            <a:r>
              <a:rPr lang="en-US" sz="2800" dirty="0">
                <a:latin typeface="Times New Roman" panose="02020603050405020304" pitchFamily="18" charset="0"/>
                <a:cs typeface="Times New Roman" panose="02020603050405020304" pitchFamily="18" charset="0"/>
              </a:rPr>
              <a:t> :</a:t>
            </a:r>
          </a:p>
          <a:p>
            <a:pPr marL="0" indent="0" algn="ctr">
              <a:buNone/>
            </a:pPr>
            <a:r>
              <a:rPr lang="en-US" sz="2800" dirty="0">
                <a:solidFill>
                  <a:schemeClr val="bg1"/>
                </a:solidFill>
                <a:latin typeface="Times New Roman" panose="02020603050405020304" pitchFamily="18" charset="0"/>
                <a:cs typeface="Times New Roman" panose="02020603050405020304" pitchFamily="18" charset="0"/>
              </a:rPr>
              <a:t>Select Username, </a:t>
            </a:r>
            <a:r>
              <a:rPr lang="en-US" sz="2800" dirty="0" err="1">
                <a:solidFill>
                  <a:schemeClr val="bg1"/>
                </a:solidFill>
                <a:latin typeface="Times New Roman" panose="02020603050405020304" pitchFamily="18" charset="0"/>
                <a:cs typeface="Times New Roman" panose="02020603050405020304" pitchFamily="18" charset="0"/>
              </a:rPr>
              <a:t>Osuser</a:t>
            </a:r>
            <a:r>
              <a:rPr lang="en-US" sz="2800" dirty="0">
                <a:solidFill>
                  <a:schemeClr val="bg1"/>
                </a:solidFill>
                <a:latin typeface="Times New Roman" panose="02020603050405020304" pitchFamily="18" charset="0"/>
                <a:cs typeface="Times New Roman" panose="02020603050405020304" pitchFamily="18" charset="0"/>
              </a:rPr>
              <a:t>, Status, Program, </a:t>
            </a:r>
            <a:r>
              <a:rPr lang="en-US" sz="2800" dirty="0" err="1">
                <a:solidFill>
                  <a:schemeClr val="bg1"/>
                </a:solidFill>
                <a:latin typeface="Times New Roman" panose="02020603050405020304" pitchFamily="18" charset="0"/>
                <a:cs typeface="Times New Roman" panose="02020603050405020304" pitchFamily="18" charset="0"/>
              </a:rPr>
              <a:t>To_Char</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Logon_Time</a:t>
            </a:r>
            <a:r>
              <a:rPr lang="en-US" sz="2800" dirty="0">
                <a:solidFill>
                  <a:schemeClr val="bg1"/>
                </a:solidFill>
                <a:latin typeface="Times New Roman" panose="02020603050405020304" pitchFamily="18" charset="0"/>
                <a:cs typeface="Times New Roman" panose="02020603050405020304" pitchFamily="18" charset="0"/>
              </a:rPr>
              <a:t>, 'DD/MM/YYYY HH24:MI') "</a:t>
            </a:r>
            <a:r>
              <a:rPr lang="en-US" sz="2800" dirty="0" err="1">
                <a:solidFill>
                  <a:schemeClr val="bg1"/>
                </a:solidFill>
                <a:latin typeface="Times New Roman" panose="02020603050405020304" pitchFamily="18" charset="0"/>
                <a:cs typeface="Times New Roman" panose="02020603050405020304" pitchFamily="18" charset="0"/>
              </a:rPr>
              <a:t>Date_Heure</a:t>
            </a:r>
            <a:r>
              <a:rPr lang="en-US" sz="2800" dirty="0">
                <a:solidFill>
                  <a:schemeClr val="bg1"/>
                </a:solidFill>
                <a:latin typeface="Times New Roman" panose="02020603050405020304" pitchFamily="18" charset="0"/>
                <a:cs typeface="Times New Roman" panose="02020603050405020304" pitchFamily="18" charset="0"/>
              </a:rPr>
              <a:t>", Sid || ',' || Serial# "</a:t>
            </a:r>
            <a:r>
              <a:rPr lang="en-US" sz="2800" dirty="0" err="1">
                <a:solidFill>
                  <a:schemeClr val="bg1"/>
                </a:solidFill>
                <a:latin typeface="Times New Roman" panose="02020603050405020304" pitchFamily="18" charset="0"/>
                <a:cs typeface="Times New Roman" panose="02020603050405020304" pitchFamily="18" charset="0"/>
              </a:rPr>
              <a:t>Identifiant</a:t>
            </a:r>
            <a:r>
              <a:rPr lang="en-US" sz="2800" dirty="0">
                <a:solidFill>
                  <a:schemeClr val="bg1"/>
                </a:solidFill>
                <a:latin typeface="Times New Roman" panose="02020603050405020304" pitchFamily="18" charset="0"/>
                <a:cs typeface="Times New Roman" panose="02020603050405020304" pitchFamily="18" charset="0"/>
              </a:rPr>
              <a:t>" From V$SESSION ;</a:t>
            </a:r>
            <a:endParaRPr lang="fr-FR" sz="2800"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Pour repérer les sessions inactives, on regarde la/les session(s) dont la valeur de l’attribut </a:t>
            </a:r>
            <a:r>
              <a:rPr lang="fr-FR" sz="2800" b="1" i="1" dirty="0" err="1">
                <a:solidFill>
                  <a:srgbClr val="FF0000"/>
                </a:solidFill>
                <a:latin typeface="Times New Roman" panose="02020603050405020304" pitchFamily="18" charset="0"/>
                <a:cs typeface="Times New Roman" panose="02020603050405020304" pitchFamily="18" charset="0"/>
              </a:rPr>
              <a:t>Status</a:t>
            </a:r>
            <a:r>
              <a:rPr lang="fr-FR" sz="2800" dirty="0">
                <a:latin typeface="Times New Roman" panose="02020603050405020304" pitchFamily="18" charset="0"/>
                <a:cs typeface="Times New Roman" panose="02020603050405020304" pitchFamily="18" charset="0"/>
              </a:rPr>
              <a:t> est </a:t>
            </a:r>
            <a:r>
              <a:rPr lang="fr-FR" sz="2800" dirty="0">
                <a:solidFill>
                  <a:srgbClr val="FF0000"/>
                </a:solidFill>
                <a:latin typeface="Times New Roman" panose="02020603050405020304" pitchFamily="18" charset="0"/>
                <a:cs typeface="Times New Roman" panose="02020603050405020304" pitchFamily="18" charset="0"/>
              </a:rPr>
              <a:t>'Inactive</a:t>
            </a:r>
            <a:r>
              <a:rPr lang="fr-FR" sz="2800" dirty="0">
                <a:latin typeface="Times New Roman" panose="02020603050405020304" pitchFamily="18" charset="0"/>
                <a:cs typeface="Times New Roman" panose="02020603050405020304" pitchFamily="18" charset="0"/>
              </a:rPr>
              <a:t>' ;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8</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II.2. Suppression d’une session Oracle bloquée ?</a:t>
            </a:r>
          </a:p>
        </p:txBody>
      </p:sp>
    </p:spTree>
    <p:extLst>
      <p:ext uri="{BB962C8B-B14F-4D97-AF65-F5344CB8AC3E}">
        <p14:creationId xmlns:p14="http://schemas.microsoft.com/office/powerpoint/2010/main" val="218235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101F-8797-8DBA-EB65-073DF28800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6DE67A4-1CB4-4E75-AFA3-74FF9D82F678}"/>
              </a:ext>
            </a:extLst>
          </p:cNvPr>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 Session oracle</a:t>
            </a:r>
            <a:endParaRPr lang="fr-FR" dirty="0">
              <a:solidFill>
                <a:schemeClr val="bg1"/>
              </a:solidFill>
            </a:endParaRPr>
          </a:p>
        </p:txBody>
      </p:sp>
      <p:sp>
        <p:nvSpPr>
          <p:cNvPr id="3" name="Espace réservé du contenu 2">
            <a:extLst>
              <a:ext uri="{FF2B5EF4-FFF2-40B4-BE49-F238E27FC236}">
                <a16:creationId xmlns:a16="http://schemas.microsoft.com/office/drawing/2014/main" id="{FC17ED7C-5943-E277-DF66-87D358F81C59}"/>
              </a:ext>
            </a:extLst>
          </p:cNvPr>
          <p:cNvSpPr>
            <a:spLocks noGrp="1"/>
          </p:cNvSpPr>
          <p:nvPr>
            <p:ph idx="1"/>
          </p:nvPr>
        </p:nvSpPr>
        <p:spPr>
          <a:xfrm>
            <a:off x="940158" y="2372138"/>
            <a:ext cx="11251841" cy="4485861"/>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Pour arrêter une session inactive :</a:t>
            </a:r>
          </a:p>
          <a:p>
            <a:pPr lvl="1">
              <a:buFont typeface="Wingdings" pitchFamily="2" charset="2"/>
              <a:buChar char="ü"/>
            </a:pPr>
            <a:r>
              <a:rPr lang="fr-FR" sz="2400" dirty="0">
                <a:latin typeface="Times New Roman" panose="02020603050405020304" pitchFamily="18" charset="0"/>
                <a:cs typeface="Times New Roman" panose="02020603050405020304" pitchFamily="18" charset="0"/>
              </a:rPr>
              <a:t>On récupère la valeur de la colonne </a:t>
            </a:r>
            <a:r>
              <a:rPr lang="fr-FR" sz="2400" b="1" i="1" dirty="0">
                <a:solidFill>
                  <a:srgbClr val="FF0000"/>
                </a:solidFill>
                <a:latin typeface="Times New Roman" panose="02020603050405020304" pitchFamily="18" charset="0"/>
                <a:cs typeface="Times New Roman" panose="02020603050405020304" pitchFamily="18" charset="0"/>
              </a:rPr>
              <a:t>Identifiant</a:t>
            </a:r>
            <a:r>
              <a:rPr lang="fr-FR" sz="2400" dirty="0">
                <a:latin typeface="Times New Roman" panose="02020603050405020304" pitchFamily="18" charset="0"/>
                <a:cs typeface="Times New Roman" panose="02020603050405020304" pitchFamily="18" charset="0"/>
              </a:rPr>
              <a:t> ;</a:t>
            </a:r>
          </a:p>
          <a:p>
            <a:pPr lvl="1">
              <a:buFont typeface="Wingdings" pitchFamily="2" charset="2"/>
              <a:buChar char="ü"/>
            </a:pPr>
            <a:r>
              <a:rPr lang="fr-FR" sz="2400" dirty="0">
                <a:latin typeface="Times New Roman" panose="02020603050405020304" pitchFamily="18" charset="0"/>
                <a:cs typeface="Times New Roman" panose="02020603050405020304" pitchFamily="18" charset="0"/>
              </a:rPr>
              <a:t>On lance l’instruction suivante pour supprimer la session :</a:t>
            </a:r>
          </a:p>
          <a:p>
            <a:pPr marL="0" indent="0" algn="ctr">
              <a:buNone/>
            </a:pPr>
            <a:r>
              <a:rPr lang="en-US" sz="2800" dirty="0">
                <a:solidFill>
                  <a:schemeClr val="bg1"/>
                </a:solidFill>
                <a:latin typeface="Times New Roman" panose="02020603050405020304" pitchFamily="18" charset="0"/>
                <a:cs typeface="Times New Roman" panose="02020603050405020304" pitchFamily="18" charset="0"/>
              </a:rPr>
              <a:t>Alter System</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KILL</a:t>
            </a:r>
            <a:r>
              <a:rPr lang="en-US" sz="2800" dirty="0">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Session '</a:t>
            </a:r>
            <a:r>
              <a:rPr lang="en-US" sz="2800" dirty="0" err="1">
                <a:solidFill>
                  <a:schemeClr val="bg1"/>
                </a:solidFill>
                <a:latin typeface="Times New Roman" panose="02020603050405020304" pitchFamily="18" charset="0"/>
                <a:cs typeface="Times New Roman" panose="02020603050405020304" pitchFamily="18" charset="0"/>
              </a:rPr>
              <a:t>identifiant</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a:extLst>
              <a:ext uri="{FF2B5EF4-FFF2-40B4-BE49-F238E27FC236}">
                <a16:creationId xmlns:a16="http://schemas.microsoft.com/office/drawing/2014/main" id="{ED21DE77-CF38-8F5E-F34F-AB02F7B96087}"/>
              </a:ext>
            </a:extLst>
          </p:cNvPr>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9</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a:extLst>
              <a:ext uri="{FF2B5EF4-FFF2-40B4-BE49-F238E27FC236}">
                <a16:creationId xmlns:a16="http://schemas.microsoft.com/office/drawing/2014/main" id="{0E77CEC1-82CC-D41F-E6D7-68485309E8C5}"/>
              </a:ext>
            </a:extLst>
          </p:cNvPr>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II.2. Suppression d’une session Oracle bloquée ?</a:t>
            </a:r>
          </a:p>
        </p:txBody>
      </p:sp>
    </p:spTree>
    <p:extLst>
      <p:ext uri="{BB962C8B-B14F-4D97-AF65-F5344CB8AC3E}">
        <p14:creationId xmlns:p14="http://schemas.microsoft.com/office/powerpoint/2010/main" val="820624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468192"/>
            <a:ext cx="11251841" cy="538980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synonyme est un alias sur un objet de la base de données ou sur un schéma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L’objet peut être une Table, une Vue, une Séquence, une Procédure, une Fonction, un Package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Lors de sa création, un synonyme peut être déclaré </a:t>
            </a:r>
            <a:r>
              <a:rPr lang="fr-FR" sz="2800" b="1" i="1" dirty="0">
                <a:solidFill>
                  <a:srgbClr val="FF0000"/>
                </a:solidFill>
                <a:latin typeface="Times New Roman" panose="02020603050405020304" pitchFamily="18" charset="0"/>
                <a:cs typeface="Times New Roman" panose="02020603050405020304" pitchFamily="18" charset="0"/>
              </a:rPr>
              <a:t>Public</a:t>
            </a:r>
            <a:r>
              <a:rPr lang="fr-FR" sz="2800" dirty="0">
                <a:latin typeface="Times New Roman" panose="02020603050405020304" pitchFamily="18" charset="0"/>
                <a:cs typeface="Times New Roman" panose="02020603050405020304" pitchFamily="18" charset="0"/>
              </a:rPr>
              <a:t> ou </a:t>
            </a:r>
            <a:r>
              <a:rPr lang="fr-FR" sz="2800" b="1" i="1" dirty="0">
                <a:solidFill>
                  <a:srgbClr val="FF0000"/>
                </a:solidFill>
                <a:latin typeface="Times New Roman" panose="02020603050405020304" pitchFamily="18" charset="0"/>
                <a:cs typeface="Times New Roman" panose="02020603050405020304" pitchFamily="18" charset="0"/>
              </a:rPr>
              <a:t>Privé</a:t>
            </a:r>
            <a:r>
              <a:rPr lang="fr-FR" sz="28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S’il est Privé, il ne sera accessible qu’à partir du schéma dans lequel il est créé ;</a:t>
            </a:r>
          </a:p>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S’il est Public, il sera accessible à partir de tous les schémas et par tous les utilisateurs.</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10</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III.1. Synonyme</a:t>
            </a:r>
          </a:p>
        </p:txBody>
      </p:sp>
    </p:spTree>
    <p:extLst>
      <p:ext uri="{BB962C8B-B14F-4D97-AF65-F5344CB8AC3E}">
        <p14:creationId xmlns:p14="http://schemas.microsoft.com/office/powerpoint/2010/main" val="1623919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2511380"/>
            <a:ext cx="11251841" cy="2550017"/>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La création d’un synonyme a pour rôles :</a:t>
            </a:r>
          </a:p>
          <a:p>
            <a:pPr lvl="1">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de simplifier et </a:t>
            </a:r>
            <a:r>
              <a:rPr lang="fr-FR" sz="2800" dirty="0">
                <a:solidFill>
                  <a:srgbClr val="FF0000"/>
                </a:solidFill>
                <a:latin typeface="Times New Roman" panose="02020603050405020304" pitchFamily="18" charset="0"/>
                <a:cs typeface="Times New Roman" panose="02020603050405020304" pitchFamily="18" charset="0"/>
              </a:rPr>
              <a:t>masquer</a:t>
            </a:r>
            <a:r>
              <a:rPr lang="fr-FR" sz="2800" dirty="0">
                <a:latin typeface="Times New Roman" panose="02020603050405020304" pitchFamily="18" charset="0"/>
                <a:cs typeface="Times New Roman" panose="02020603050405020304" pitchFamily="18" charset="0"/>
              </a:rPr>
              <a:t> les </a:t>
            </a:r>
            <a:r>
              <a:rPr lang="fr-FR" sz="2800" dirty="0">
                <a:solidFill>
                  <a:schemeClr val="bg1"/>
                </a:solidFill>
                <a:latin typeface="Times New Roman" panose="02020603050405020304" pitchFamily="18" charset="0"/>
                <a:cs typeface="Times New Roman" panose="02020603050405020304" pitchFamily="18" charset="0"/>
              </a:rPr>
              <a:t>vrais noms</a:t>
            </a:r>
            <a:r>
              <a:rPr lang="fr-FR" sz="2800" dirty="0">
                <a:latin typeface="Times New Roman" panose="02020603050405020304" pitchFamily="18" charset="0"/>
                <a:cs typeface="Times New Roman" panose="02020603050405020304" pitchFamily="18" charset="0"/>
              </a:rPr>
              <a:t> des objets et leur </a:t>
            </a:r>
            <a:r>
              <a:rPr lang="fr-FR" sz="2800" dirty="0">
                <a:solidFill>
                  <a:schemeClr val="bg1"/>
                </a:solidFill>
                <a:latin typeface="Times New Roman" panose="02020603050405020304" pitchFamily="18" charset="0"/>
                <a:cs typeface="Times New Roman" panose="02020603050405020304" pitchFamily="18" charset="0"/>
              </a:rPr>
              <a:t>emplacement</a:t>
            </a:r>
            <a:r>
              <a:rPr lang="fr-FR" sz="28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d’éviter dans des requêtes de préfixer les objets avec les noms de leurs propriétaires.</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11</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III.1. Synonyme</a:t>
            </a:r>
          </a:p>
        </p:txBody>
      </p:sp>
    </p:spTree>
    <p:extLst>
      <p:ext uri="{BB962C8B-B14F-4D97-AF65-F5344CB8AC3E}">
        <p14:creationId xmlns:p14="http://schemas.microsoft.com/office/powerpoint/2010/main" val="128868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687132"/>
            <a:ext cx="11251841" cy="517086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L’utilisateur doit disposer des privilèges :</a:t>
            </a:r>
          </a:p>
          <a:p>
            <a:pPr lvl="1">
              <a:buFont typeface="Wingdings" panose="05000000000000000000" pitchFamily="2" charset="2"/>
              <a:buChar char="ü"/>
            </a:pPr>
            <a:r>
              <a:rPr lang="fr-FR" sz="2400" b="1" dirty="0">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Create</a:t>
            </a:r>
            <a:r>
              <a:rPr lang="fr-FR" sz="2400" b="1" dirty="0">
                <a:solidFill>
                  <a:srgbClr val="FF0000"/>
                </a:solidFill>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Synonym</a:t>
            </a:r>
            <a:r>
              <a:rPr lang="fr-FR" sz="2400" dirty="0">
                <a:latin typeface="Times New Roman" panose="02020603050405020304" pitchFamily="18" charset="0"/>
                <a:cs typeface="Times New Roman" panose="02020603050405020304" pitchFamily="18" charset="0"/>
              </a:rPr>
              <a:t> pour pouvoir créer un synonyme privé dans le schéma ;</a:t>
            </a:r>
          </a:p>
          <a:p>
            <a:pPr lvl="1">
              <a:buFont typeface="Wingdings" panose="05000000000000000000" pitchFamily="2" charset="2"/>
              <a:buChar char="ü"/>
            </a:pPr>
            <a:r>
              <a:rPr lang="fr-FR" sz="2400" b="1" dirty="0">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Create</a:t>
            </a:r>
            <a:r>
              <a:rPr lang="fr-FR" sz="2400" b="1" dirty="0">
                <a:solidFill>
                  <a:srgbClr val="FF0000"/>
                </a:solidFill>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Any</a:t>
            </a:r>
            <a:r>
              <a:rPr lang="fr-FR" sz="2400" b="1" dirty="0">
                <a:solidFill>
                  <a:srgbClr val="FF0000"/>
                </a:solidFill>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Synonym</a:t>
            </a:r>
            <a:r>
              <a:rPr lang="fr-FR" sz="2400" dirty="0">
                <a:latin typeface="Times New Roman" panose="02020603050405020304" pitchFamily="18" charset="0"/>
                <a:cs typeface="Times New Roman" panose="02020603050405020304" pitchFamily="18" charset="0"/>
              </a:rPr>
              <a:t> pour pouvoir créer un synonyme privé dans n’importe quel schéma ;</a:t>
            </a:r>
          </a:p>
          <a:p>
            <a:pPr lvl="1">
              <a:buFont typeface="Wingdings" panose="05000000000000000000" pitchFamily="2" charset="2"/>
              <a:buChar char="ü"/>
            </a:pPr>
            <a:r>
              <a:rPr lang="fr-FR" sz="2400" b="1" dirty="0">
                <a:latin typeface="Times New Roman" panose="02020603050405020304" pitchFamily="18" charset="0"/>
                <a:cs typeface="Times New Roman" panose="02020603050405020304" pitchFamily="18" charset="0"/>
              </a:rPr>
              <a:t> </a:t>
            </a:r>
            <a:r>
              <a:rPr lang="fr-FR" sz="2400" b="1" dirty="0" err="1">
                <a:solidFill>
                  <a:srgbClr val="FF0000"/>
                </a:solidFill>
                <a:latin typeface="Times New Roman" panose="02020603050405020304" pitchFamily="18" charset="0"/>
                <a:cs typeface="Times New Roman" panose="02020603050405020304" pitchFamily="18" charset="0"/>
              </a:rPr>
              <a:t>Create</a:t>
            </a:r>
            <a:r>
              <a:rPr lang="fr-FR" sz="2400" b="1" dirty="0">
                <a:solidFill>
                  <a:srgbClr val="FF0000"/>
                </a:solidFill>
                <a:latin typeface="Times New Roman" panose="02020603050405020304" pitchFamily="18" charset="0"/>
                <a:cs typeface="Times New Roman" panose="02020603050405020304" pitchFamily="18" charset="0"/>
              </a:rPr>
              <a:t> Public </a:t>
            </a:r>
            <a:r>
              <a:rPr lang="fr-FR" sz="2400" b="1" dirty="0" err="1">
                <a:solidFill>
                  <a:srgbClr val="FF0000"/>
                </a:solidFill>
                <a:latin typeface="Times New Roman" panose="02020603050405020304" pitchFamily="18" charset="0"/>
                <a:cs typeface="Times New Roman" panose="02020603050405020304" pitchFamily="18" charset="0"/>
              </a:rPr>
              <a:t>Synonym</a:t>
            </a:r>
            <a:r>
              <a:rPr lang="fr-FR" sz="2400" dirty="0">
                <a:solidFill>
                  <a:srgbClr val="FF0000"/>
                </a:solidFill>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pour créer un synonyme public.</a:t>
            </a:r>
          </a:p>
          <a:p>
            <a:pPr>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Syntaxe</a:t>
            </a:r>
            <a:r>
              <a:rPr lang="en-US" sz="2800" b="1" dirty="0">
                <a:latin typeface="Times New Roman" panose="02020603050405020304" pitchFamily="18" charset="0"/>
                <a:cs typeface="Times New Roman" panose="02020603050405020304" pitchFamily="18" charset="0"/>
              </a:rPr>
              <a:t> :</a:t>
            </a:r>
          </a:p>
          <a:p>
            <a:pPr marL="0" indent="0" algn="ctr">
              <a:buNone/>
            </a:pPr>
            <a:r>
              <a:rPr lang="en-US" sz="2800" b="1" dirty="0">
                <a:solidFill>
                  <a:schemeClr val="bg1"/>
                </a:solidFill>
                <a:latin typeface="Times New Roman" panose="02020603050405020304" pitchFamily="18" charset="0"/>
                <a:cs typeface="Times New Roman" panose="02020603050405020304" pitchFamily="18" charset="0"/>
              </a:rPr>
              <a:t>Create Or Replace</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Public</a:t>
            </a:r>
            <a:r>
              <a:rPr lang="en-US" sz="2800" dirty="0">
                <a:solidFill>
                  <a:schemeClr val="bg1"/>
                </a:solidFill>
                <a:latin typeface="Times New Roman" panose="02020603050405020304" pitchFamily="18" charset="0"/>
                <a:cs typeface="Times New Roman" panose="02020603050405020304" pitchFamily="18" charset="0"/>
              </a:rPr>
              <a:t>] [Schema.]</a:t>
            </a:r>
            <a:r>
              <a:rPr lang="en-US" sz="2800" b="1" dirty="0">
                <a:solidFill>
                  <a:schemeClr val="bg1"/>
                </a:solidFill>
                <a:latin typeface="Times New Roman" panose="02020603050405020304" pitchFamily="18" charset="0"/>
                <a:cs typeface="Times New Roman" panose="02020603050405020304" pitchFamily="18" charset="0"/>
              </a:rPr>
              <a:t>Synonym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Nom_Syn</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For</a:t>
            </a:r>
            <a:r>
              <a:rPr lang="en-US" sz="2800" dirty="0">
                <a:solidFill>
                  <a:schemeClr val="bg1"/>
                </a:solidFill>
                <a:latin typeface="Times New Roman" panose="02020603050405020304" pitchFamily="18" charset="0"/>
                <a:cs typeface="Times New Roman" panose="02020603050405020304" pitchFamily="18" charset="0"/>
              </a:rPr>
              <a:t> [Schema.]</a:t>
            </a:r>
            <a:r>
              <a:rPr lang="en-US" sz="2800" dirty="0" err="1">
                <a:latin typeface="Times New Roman" panose="02020603050405020304" pitchFamily="18" charset="0"/>
                <a:cs typeface="Times New Roman" panose="02020603050405020304" pitchFamily="18" charset="0"/>
              </a:rPr>
              <a:t>Nom_Objet</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12</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III.1. Synonyme</a:t>
            </a:r>
          </a:p>
        </p:txBody>
      </p:sp>
    </p:spTree>
    <p:extLst>
      <p:ext uri="{BB962C8B-B14F-4D97-AF65-F5344CB8AC3E}">
        <p14:creationId xmlns:p14="http://schemas.microsoft.com/office/powerpoint/2010/main" val="271385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1141412" y="2179528"/>
            <a:ext cx="11050588" cy="4678471"/>
          </a:xfrm>
        </p:spPr>
        <p:txBody>
          <a:bodyPr>
            <a:normAutofit/>
          </a:bodyPr>
          <a:lstStyle/>
          <a:p>
            <a:pPr marL="0" indent="0">
              <a:buNone/>
            </a:pPr>
            <a:r>
              <a:rPr lang="en-US" sz="2800" b="1" dirty="0" err="1">
                <a:latin typeface="Times New Roman" panose="02020603050405020304" pitchFamily="18" charset="0"/>
                <a:cs typeface="Times New Roman" panose="02020603050405020304" pitchFamily="18" charset="0"/>
              </a:rPr>
              <a:t>Exemple</a:t>
            </a:r>
            <a:r>
              <a:rPr lang="en-US" sz="2800" b="1" dirty="0">
                <a:latin typeface="Times New Roman" panose="02020603050405020304" pitchFamily="18" charset="0"/>
                <a:cs typeface="Times New Roman" panose="02020603050405020304" pitchFamily="18" charset="0"/>
              </a:rPr>
              <a:t> :</a:t>
            </a:r>
          </a:p>
          <a:p>
            <a:pPr marL="0" indent="0" algn="ctr">
              <a:buNone/>
            </a:pPr>
            <a:r>
              <a:rPr lang="en-US" sz="2800" b="1" dirty="0">
                <a:solidFill>
                  <a:schemeClr val="bg1"/>
                </a:solidFill>
                <a:latin typeface="Times New Roman" panose="02020603050405020304" pitchFamily="18" charset="0"/>
                <a:cs typeface="Times New Roman" panose="02020603050405020304" pitchFamily="18" charset="0"/>
              </a:rPr>
              <a:t>Create Or Replace</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Public</a:t>
            </a:r>
            <a:r>
              <a:rPr lang="en-US" sz="2800" dirty="0">
                <a:solidFill>
                  <a:schemeClr val="bg1"/>
                </a:solidFill>
                <a:latin typeface="Times New Roman" panose="02020603050405020304" pitchFamily="18" charset="0"/>
                <a:cs typeface="Times New Roman" panose="02020603050405020304" pitchFamily="18" charset="0"/>
              </a:rPr>
              <a:t> MonUser1.</a:t>
            </a:r>
            <a:r>
              <a:rPr lang="en-US" sz="2800" b="1" dirty="0">
                <a:solidFill>
                  <a:schemeClr val="bg1"/>
                </a:solidFill>
                <a:latin typeface="Times New Roman" panose="02020603050405020304" pitchFamily="18" charset="0"/>
                <a:cs typeface="Times New Roman" panose="02020603050405020304" pitchFamily="18" charset="0"/>
              </a:rPr>
              <a:t>Synonym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UniteEnseignement</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For</a:t>
            </a:r>
            <a:r>
              <a:rPr lang="en-US" sz="2800" dirty="0">
                <a:solidFill>
                  <a:schemeClr val="bg1"/>
                </a:solidFill>
                <a:latin typeface="Times New Roman" panose="02020603050405020304" pitchFamily="18" charset="0"/>
                <a:cs typeface="Times New Roman" panose="02020603050405020304" pitchFamily="18" charset="0"/>
              </a:rPr>
              <a:t> MonUser1.</a:t>
            </a:r>
            <a:r>
              <a:rPr lang="en-US" sz="2800" dirty="0">
                <a:latin typeface="Times New Roman" panose="02020603050405020304" pitchFamily="18" charset="0"/>
                <a:cs typeface="Times New Roman" panose="02020603050405020304" pitchFamily="18" charset="0"/>
              </a:rPr>
              <a:t>UE</a:t>
            </a:r>
            <a:r>
              <a:rPr lang="en-US" sz="2800" dirty="0">
                <a:solidFill>
                  <a:schemeClr val="bg1"/>
                </a:solidFill>
                <a:latin typeface="Times New Roman" panose="02020603050405020304" pitchFamily="18" charset="0"/>
                <a:cs typeface="Times New Roman" panose="02020603050405020304" pitchFamily="18" charset="0"/>
              </a:rPr>
              <a:t> ;</a:t>
            </a:r>
          </a:p>
          <a:p>
            <a:pPr marL="0" indent="0" algn="ctr">
              <a:buNone/>
            </a:pPr>
            <a:r>
              <a:rPr lang="en-US" sz="2800" b="1" dirty="0">
                <a:solidFill>
                  <a:schemeClr val="bg1"/>
                </a:solidFill>
                <a:latin typeface="Times New Roman" panose="02020603050405020304" pitchFamily="18" charset="0"/>
                <a:cs typeface="Times New Roman" panose="02020603050405020304" pitchFamily="18" charset="0"/>
              </a:rPr>
              <a:t>Create Or Replace</a:t>
            </a:r>
            <a:r>
              <a:rPr lang="en-US" sz="2800" dirty="0">
                <a:solidFill>
                  <a:schemeClr val="bg1"/>
                </a:solidFill>
                <a:latin typeface="Times New Roman" panose="02020603050405020304" pitchFamily="18" charset="0"/>
                <a:cs typeface="Times New Roman" panose="02020603050405020304" pitchFamily="18" charset="0"/>
              </a:rPr>
              <a:t> MonUser1.</a:t>
            </a:r>
            <a:r>
              <a:rPr lang="en-US" sz="2800" b="1" dirty="0">
                <a:solidFill>
                  <a:schemeClr val="bg1"/>
                </a:solidFill>
                <a:latin typeface="Times New Roman" panose="02020603050405020304" pitchFamily="18" charset="0"/>
                <a:cs typeface="Times New Roman" panose="02020603050405020304" pitchFamily="18" charset="0"/>
              </a:rPr>
              <a:t>Synonym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Classement</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For</a:t>
            </a:r>
            <a:r>
              <a:rPr lang="en-US" sz="2800" dirty="0">
                <a:solidFill>
                  <a:schemeClr val="bg1"/>
                </a:solidFill>
                <a:latin typeface="Times New Roman" panose="02020603050405020304" pitchFamily="18" charset="0"/>
                <a:cs typeface="Times New Roman" panose="02020603050405020304" pitchFamily="18" charset="0"/>
              </a:rPr>
              <a:t> MonUser1.</a:t>
            </a:r>
            <a:r>
              <a:rPr lang="en-US" sz="2800" dirty="0">
                <a:latin typeface="Times New Roman" panose="02020603050405020304" pitchFamily="18" charset="0"/>
                <a:cs typeface="Times New Roman" panose="02020603050405020304" pitchFamily="18" charset="0"/>
              </a:rPr>
              <a:t>Resultat</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13</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III.1. Synonyme</a:t>
            </a:r>
          </a:p>
        </p:txBody>
      </p:sp>
    </p:spTree>
    <p:extLst>
      <p:ext uri="{BB962C8B-B14F-4D97-AF65-F5344CB8AC3E}">
        <p14:creationId xmlns:p14="http://schemas.microsoft.com/office/powerpoint/2010/main" val="2210003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2034861"/>
            <a:ext cx="11251841" cy="482313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Une séquence est un objet de base de données nommé et manipulable comme tout autre objet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C’est une suite de nombres entiers dont l’évolution est régie par un certain nombre de paramètres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Elle permet de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générer des clés uniques auto-incrémentées dans des tables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disposer d’un compteur que l’on peut incrémenter au besoin.</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14</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III.2. Séquence</a:t>
            </a:r>
          </a:p>
        </p:txBody>
      </p:sp>
    </p:spTree>
    <p:extLst>
      <p:ext uri="{BB962C8B-B14F-4D97-AF65-F5344CB8AC3E}">
        <p14:creationId xmlns:p14="http://schemas.microsoft.com/office/powerpoint/2010/main" val="2836021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2034861"/>
            <a:ext cx="11251841" cy="4823138"/>
          </a:xfrm>
        </p:spPr>
        <p:txBody>
          <a:bodyPr>
            <a:normAutofit/>
          </a:bodyPr>
          <a:lstStyle/>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Création d’une séquence :</a:t>
            </a:r>
          </a:p>
          <a:p>
            <a:pPr marL="0" indent="0" algn="ctr">
              <a:buNone/>
            </a:pPr>
            <a:r>
              <a:rPr lang="en-US" sz="2800" b="1" dirty="0">
                <a:solidFill>
                  <a:schemeClr val="bg1"/>
                </a:solidFill>
                <a:latin typeface="Times New Roman" panose="02020603050405020304" pitchFamily="18" charset="0"/>
                <a:cs typeface="Times New Roman" panose="02020603050405020304" pitchFamily="18" charset="0"/>
              </a:rPr>
              <a:t>Create</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Sequence</a:t>
            </a:r>
            <a:r>
              <a:rPr lang="en-US" sz="2800" dirty="0">
                <a:solidFill>
                  <a:schemeClr val="bg1"/>
                </a:solidFill>
                <a:latin typeface="Times New Roman" panose="02020603050405020304" pitchFamily="18" charset="0"/>
                <a:cs typeface="Times New Roman" panose="02020603050405020304" pitchFamily="18" charset="0"/>
              </a:rPr>
              <a:t> [Schema.]</a:t>
            </a:r>
            <a:r>
              <a:rPr lang="en-US" sz="2800" dirty="0" err="1">
                <a:latin typeface="Times New Roman" panose="02020603050405020304" pitchFamily="18" charset="0"/>
                <a:cs typeface="Times New Roman" panose="02020603050405020304" pitchFamily="18" charset="0"/>
              </a:rPr>
              <a:t>Nom_Sequence</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Start</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With</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n</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Increment</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By</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MaxValue|MinValue</a:t>
            </a:r>
            <a:r>
              <a:rPr lang="en-US" sz="2800" dirty="0">
                <a:solidFill>
                  <a:schemeClr val="bg1"/>
                </a:solidFill>
                <a:latin typeface="Times New Roman" panose="02020603050405020304" pitchFamily="18" charset="0"/>
                <a:cs typeface="Times New Roman" panose="02020603050405020304" pitchFamily="18" charset="0"/>
              </a:rPr>
              <a:t> Val] </a:t>
            </a:r>
            <a:r>
              <a:rPr lang="en-US" sz="2800" b="1" dirty="0" err="1">
                <a:latin typeface="Times New Roman" panose="02020603050405020304" pitchFamily="18" charset="0"/>
                <a:cs typeface="Times New Roman" panose="02020603050405020304" pitchFamily="18" charset="0"/>
              </a:rPr>
              <a:t>Cycle|Nocycle</a:t>
            </a:r>
            <a:r>
              <a:rPr lang="en-US" sz="2800" b="1" dirty="0">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a:t>
            </a:r>
            <a:endParaRPr lang="fr-FR" sz="2800" dirty="0">
              <a:solidFill>
                <a:schemeClr val="bg1"/>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Récupération de la valeur actuelle d’une séquence :</a:t>
            </a:r>
          </a:p>
          <a:p>
            <a:pPr marL="0" indent="0" algn="ctr">
              <a:buNone/>
            </a:pPr>
            <a:r>
              <a:rPr lang="en-US" sz="2800" b="1" dirty="0">
                <a:solidFill>
                  <a:schemeClr val="bg1"/>
                </a:solidFill>
                <a:latin typeface="Times New Roman" panose="02020603050405020304" pitchFamily="18" charset="0"/>
                <a:cs typeface="Times New Roman" panose="02020603050405020304" pitchFamily="18" charset="0"/>
              </a:rPr>
              <a:t>Select</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Nom_Sequence.</a:t>
            </a:r>
            <a:r>
              <a:rPr lang="en-US" sz="2800" b="1" dirty="0" err="1">
                <a:latin typeface="Times New Roman" panose="02020603050405020304" pitchFamily="18" charset="0"/>
                <a:cs typeface="Times New Roman" panose="02020603050405020304" pitchFamily="18" charset="0"/>
              </a:rPr>
              <a:t>CurrVal</a:t>
            </a:r>
            <a:r>
              <a:rPr lang="en-US" sz="2800" dirty="0">
                <a:solidFill>
                  <a:schemeClr val="bg1"/>
                </a:solidFill>
                <a:latin typeface="Times New Roman" panose="02020603050405020304" pitchFamily="18" charset="0"/>
                <a:cs typeface="Times New Roman" panose="02020603050405020304" pitchFamily="18" charset="0"/>
              </a:rPr>
              <a:t> From </a:t>
            </a:r>
            <a:r>
              <a:rPr lang="en-US" sz="2800" b="1" dirty="0">
                <a:solidFill>
                  <a:schemeClr val="bg1"/>
                </a:solidFill>
                <a:latin typeface="Times New Roman" panose="02020603050405020304" pitchFamily="18" charset="0"/>
                <a:cs typeface="Times New Roman" panose="02020603050405020304" pitchFamily="18" charset="0"/>
              </a:rPr>
              <a:t>Dual</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15</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III.2. Séquence</a:t>
            </a:r>
          </a:p>
        </p:txBody>
      </p:sp>
    </p:spTree>
    <p:extLst>
      <p:ext uri="{BB962C8B-B14F-4D97-AF65-F5344CB8AC3E}">
        <p14:creationId xmlns:p14="http://schemas.microsoft.com/office/powerpoint/2010/main" val="2108483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2382591"/>
            <a:ext cx="11251841" cy="4475407"/>
          </a:xfrm>
        </p:spPr>
        <p:txBody>
          <a:bodyPr>
            <a:normAutofit/>
          </a:bodyPr>
          <a:lstStyle/>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Initialisation et incrémentation d’une séquence :</a:t>
            </a:r>
          </a:p>
          <a:p>
            <a:pPr marL="0" indent="0" algn="ctr">
              <a:buNone/>
            </a:pPr>
            <a:r>
              <a:rPr lang="fr-FR" sz="2800" b="1" dirty="0">
                <a:solidFill>
                  <a:schemeClr val="bg1"/>
                </a:solidFill>
                <a:latin typeface="Times New Roman" panose="02020603050405020304" pitchFamily="18" charset="0"/>
                <a:cs typeface="Times New Roman" panose="02020603050405020304" pitchFamily="18" charset="0"/>
              </a:rPr>
              <a:t>Select</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Nom_Sequence.</a:t>
            </a:r>
            <a:r>
              <a:rPr lang="fr-FR" sz="2800" b="1" dirty="0" err="1">
                <a:latin typeface="Times New Roman" panose="02020603050405020304" pitchFamily="18" charset="0"/>
                <a:cs typeface="Times New Roman" panose="02020603050405020304" pitchFamily="18" charset="0"/>
              </a:rPr>
              <a:t>NextVal</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From</a:t>
            </a:r>
            <a:r>
              <a:rPr lang="fr-FR" sz="2800" dirty="0">
                <a:solidFill>
                  <a:schemeClr val="bg1"/>
                </a:solidFill>
                <a:latin typeface="Times New Roman" panose="02020603050405020304" pitchFamily="18" charset="0"/>
                <a:cs typeface="Times New Roman" panose="02020603050405020304" pitchFamily="18" charset="0"/>
              </a:rPr>
              <a:t> </a:t>
            </a:r>
            <a:r>
              <a:rPr lang="fr-FR" sz="2800" b="1" dirty="0">
                <a:solidFill>
                  <a:schemeClr val="bg1"/>
                </a:solidFill>
                <a:latin typeface="Times New Roman" panose="02020603050405020304" pitchFamily="18" charset="0"/>
                <a:cs typeface="Times New Roman" panose="02020603050405020304" pitchFamily="18" charset="0"/>
              </a:rPr>
              <a:t>Dual</a:t>
            </a:r>
            <a:r>
              <a:rPr lang="fr-FR" sz="2800" dirty="0">
                <a:solidFill>
                  <a:schemeClr val="bg1"/>
                </a:solidFill>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Modification d’une séquence :</a:t>
            </a:r>
          </a:p>
          <a:p>
            <a:pPr marL="0" indent="0" algn="ctr">
              <a:buNone/>
            </a:pPr>
            <a:r>
              <a:rPr lang="fr-FR" sz="2800" b="1" dirty="0">
                <a:solidFill>
                  <a:schemeClr val="bg1"/>
                </a:solidFill>
                <a:latin typeface="Times New Roman" panose="02020603050405020304" pitchFamily="18" charset="0"/>
                <a:cs typeface="Times New Roman" panose="02020603050405020304" pitchFamily="18" charset="0"/>
              </a:rPr>
              <a:t>Alter</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Sequence</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Nom_Sequence</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Increment</a:t>
            </a:r>
            <a:r>
              <a:rPr lang="fr-FR" sz="2800" dirty="0">
                <a:solidFill>
                  <a:schemeClr val="bg1"/>
                </a:solidFill>
                <a:latin typeface="Times New Roman" panose="02020603050405020304" pitchFamily="18" charset="0"/>
                <a:cs typeface="Times New Roman" panose="02020603050405020304" pitchFamily="18" charset="0"/>
              </a:rPr>
              <a:t> By </a:t>
            </a:r>
            <a:r>
              <a:rPr lang="fr-FR" sz="2800" dirty="0" err="1">
                <a:solidFill>
                  <a:schemeClr val="bg1"/>
                </a:solidFill>
                <a:latin typeface="Times New Roman" panose="02020603050405020304" pitchFamily="18" charset="0"/>
                <a:cs typeface="Times New Roman" panose="02020603050405020304" pitchFamily="18" charset="0"/>
              </a:rPr>
              <a:t>ValInc</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MaxValue|MinValue</a:t>
            </a:r>
            <a:r>
              <a:rPr lang="fr-FR" sz="2800" dirty="0">
                <a:solidFill>
                  <a:schemeClr val="bg1"/>
                </a:solidFill>
                <a:latin typeface="Times New Roman" panose="02020603050405020304" pitchFamily="18" charset="0"/>
                <a:cs typeface="Times New Roman" panose="02020603050405020304" pitchFamily="18" charset="0"/>
              </a:rPr>
              <a:t> Val] </a:t>
            </a:r>
            <a:r>
              <a:rPr lang="fr-FR" sz="2800" dirty="0" err="1">
                <a:solidFill>
                  <a:schemeClr val="bg1"/>
                </a:solidFill>
                <a:latin typeface="Times New Roman" panose="02020603050405020304" pitchFamily="18" charset="0"/>
                <a:cs typeface="Times New Roman" panose="02020603050405020304" pitchFamily="18" charset="0"/>
              </a:rPr>
              <a:t>Cycle|Nocycle</a:t>
            </a:r>
            <a:r>
              <a:rPr lang="fr-FR" sz="2800" dirty="0">
                <a:solidFill>
                  <a:schemeClr val="bg1"/>
                </a:solidFill>
                <a:latin typeface="Times New Roman" panose="02020603050405020304" pitchFamily="18" charset="0"/>
                <a:cs typeface="Times New Roman" panose="02020603050405020304" pitchFamily="18" charset="0"/>
              </a:rPr>
              <a:t>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16</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III.2. Séquence</a:t>
            </a:r>
          </a:p>
        </p:txBody>
      </p:sp>
    </p:spTree>
    <p:extLst>
      <p:ext uri="{BB962C8B-B14F-4D97-AF65-F5344CB8AC3E}">
        <p14:creationId xmlns:p14="http://schemas.microsoft.com/office/powerpoint/2010/main" val="1173765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365161"/>
            <a:ext cx="11251841" cy="5492838"/>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package est un objet de base de données qui encapsule des procédures, des fonctions, des clusters et variables associées dans une même objet dans la base de données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package est composé le plus souvent de deux parties : une spécification (Entête) et un corps. L’utilisation d’un package permet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de faciliter l’encapsulation des procédures et variables associées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de faciliter la séparation des procédures, variables, constantes et curseurs publics et privés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d’avoir de meilleures performances puisque le package est entièrement chargé en mémoire lorsqu’un de ses objets est appelé pour la première fois.</a:t>
            </a:r>
            <a:endParaRPr lang="fr-FR" sz="24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17</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III.3. Package</a:t>
            </a:r>
          </a:p>
        </p:txBody>
      </p:sp>
    </p:spTree>
    <p:extLst>
      <p:ext uri="{BB962C8B-B14F-4D97-AF65-F5344CB8AC3E}">
        <p14:creationId xmlns:p14="http://schemas.microsoft.com/office/powerpoint/2010/main" val="2521717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1481070" y="1365161"/>
            <a:ext cx="10710929" cy="5492838"/>
          </a:xfrm>
        </p:spPr>
        <p:txBody>
          <a:bodyPr>
            <a:normAutofit fontScale="92500" lnSpcReduction="20000"/>
          </a:bodyPr>
          <a:lstStyle/>
          <a:p>
            <a:pPr marL="0" indent="0">
              <a:buNone/>
            </a:pPr>
            <a:r>
              <a:rPr lang="en-US" sz="2800" dirty="0" err="1">
                <a:latin typeface="Times New Roman" panose="02020603050405020304" pitchFamily="18" charset="0"/>
                <a:cs typeface="Times New Roman" panose="02020603050405020304" pitchFamily="18" charset="0"/>
              </a:rPr>
              <a:t>Syntaxe</a:t>
            </a:r>
            <a:r>
              <a:rPr lang="en-US" sz="2800" dirty="0">
                <a:latin typeface="Times New Roman" panose="02020603050405020304" pitchFamily="18" charset="0"/>
                <a:cs typeface="Times New Roman" panose="02020603050405020304" pitchFamily="18" charset="0"/>
              </a:rPr>
              <a:t> :</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Create Or Replace</a:t>
            </a:r>
            <a:r>
              <a:rPr lang="en-US"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Package</a:t>
            </a:r>
            <a:r>
              <a:rPr lang="en-US" sz="2800" dirty="0">
                <a:solidFill>
                  <a:schemeClr val="bg1"/>
                </a:solidFill>
                <a:latin typeface="Times New Roman" panose="02020603050405020304" pitchFamily="18" charset="0"/>
                <a:cs typeface="Times New Roman" panose="02020603050405020304" pitchFamily="18" charset="0"/>
              </a:rPr>
              <a:t> [schema.]</a:t>
            </a:r>
            <a:r>
              <a:rPr lang="en-US" sz="2800" dirty="0" err="1">
                <a:solidFill>
                  <a:schemeClr val="bg1"/>
                </a:solidFill>
                <a:latin typeface="Times New Roman" panose="02020603050405020304" pitchFamily="18" charset="0"/>
                <a:cs typeface="Times New Roman" panose="02020603050405020304" pitchFamily="18" charset="0"/>
              </a:rPr>
              <a:t>Nom_Package</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AS</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err="1">
                <a:solidFill>
                  <a:schemeClr val="bg1"/>
                </a:solidFill>
                <a:latin typeface="Times New Roman" panose="02020603050405020304" pitchFamily="18" charset="0"/>
                <a:cs typeface="Times New Roman" panose="02020603050405020304" pitchFamily="18" charset="0"/>
              </a:rPr>
              <a:t>Entête</a:t>
            </a:r>
            <a:r>
              <a:rPr lang="en-US" sz="2800" dirty="0">
                <a:solidFill>
                  <a:schemeClr val="bg1"/>
                </a:solidFill>
                <a:latin typeface="Times New Roman" panose="02020603050405020304" pitchFamily="18" charset="0"/>
                <a:cs typeface="Times New Roman" panose="02020603050405020304" pitchFamily="18" charset="0"/>
              </a:rPr>
              <a:t> objet(s)</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End</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Create Or Replace Package Body</a:t>
            </a:r>
            <a:r>
              <a:rPr lang="en-US" sz="2800" dirty="0">
                <a:solidFill>
                  <a:schemeClr val="bg1"/>
                </a:solidFill>
                <a:latin typeface="Times New Roman" panose="02020603050405020304" pitchFamily="18" charset="0"/>
                <a:cs typeface="Times New Roman" panose="02020603050405020304" pitchFamily="18" charset="0"/>
              </a:rPr>
              <a:t> [Schema.]</a:t>
            </a:r>
            <a:r>
              <a:rPr lang="en-US" sz="2800" dirty="0" err="1">
                <a:solidFill>
                  <a:schemeClr val="bg1"/>
                </a:solidFill>
                <a:latin typeface="Times New Roman" panose="02020603050405020304" pitchFamily="18" charset="0"/>
                <a:cs typeface="Times New Roman" panose="02020603050405020304" pitchFamily="18" charset="0"/>
              </a:rPr>
              <a:t>Nom_Package</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AS</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Corps objet(s)</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End</a:t>
            </a:r>
            <a:r>
              <a:rPr lang="en-US" sz="2800" dirty="0">
                <a:solidFill>
                  <a:schemeClr val="bg1"/>
                </a:solidFill>
                <a:latin typeface="Times New Roman" panose="02020603050405020304" pitchFamily="18" charset="0"/>
                <a:cs typeface="Times New Roman" panose="02020603050405020304" pitchFamily="18" charset="0"/>
              </a:rPr>
              <a:t>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18</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III.3. Package</a:t>
            </a:r>
          </a:p>
        </p:txBody>
      </p:sp>
    </p:spTree>
    <p:extLst>
      <p:ext uri="{BB962C8B-B14F-4D97-AF65-F5344CB8AC3E}">
        <p14:creationId xmlns:p14="http://schemas.microsoft.com/office/powerpoint/2010/main" val="696455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2305317"/>
            <a:ext cx="11251841" cy="4552681"/>
          </a:xfrm>
        </p:spPr>
        <p:txBody>
          <a:bodyPr>
            <a:normAutofit/>
          </a:bodyPr>
          <a:lstStyle/>
          <a:p>
            <a:pPr marL="0" indent="0">
              <a:buNone/>
            </a:pPr>
            <a:r>
              <a:rPr lang="en-US" sz="2800" dirty="0">
                <a:solidFill>
                  <a:schemeClr val="bg1"/>
                </a:solidFill>
                <a:latin typeface="Times New Roman" panose="02020603050405020304" pitchFamily="18" charset="0"/>
                <a:cs typeface="Times New Roman" panose="02020603050405020304" pitchFamily="18" charset="0"/>
              </a:rPr>
              <a:t>Remarque :</a:t>
            </a:r>
          </a:p>
          <a:p>
            <a:r>
              <a:rPr lang="fr-FR" sz="2800" dirty="0">
                <a:latin typeface="Times New Roman" panose="02020603050405020304" pitchFamily="18" charset="0"/>
                <a:cs typeface="Times New Roman" panose="02020603050405020304" pitchFamily="18" charset="0"/>
              </a:rPr>
              <a:t>L’entête et le corps du package sont créés séparément ;</a:t>
            </a:r>
          </a:p>
          <a:p>
            <a:r>
              <a:rPr lang="fr-FR" sz="2800" dirty="0">
                <a:latin typeface="Times New Roman" panose="02020603050405020304" pitchFamily="18" charset="0"/>
                <a:cs typeface="Times New Roman" panose="02020603050405020304" pitchFamily="18" charset="0"/>
              </a:rPr>
              <a:t>Dans l’entête, on met les entêtes des objets contenus dans le package ;</a:t>
            </a:r>
          </a:p>
          <a:p>
            <a:r>
              <a:rPr lang="fr-FR" sz="2800" dirty="0">
                <a:latin typeface="Times New Roman" panose="02020603050405020304" pitchFamily="18" charset="0"/>
                <a:cs typeface="Times New Roman" panose="02020603050405020304" pitchFamily="18" charset="0"/>
              </a:rPr>
              <a:t>Dans le corps, on met les corps des objets.</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19</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III.3. Package</a:t>
            </a:r>
          </a:p>
        </p:txBody>
      </p:sp>
    </p:spTree>
    <p:extLst>
      <p:ext uri="{BB962C8B-B14F-4D97-AF65-F5344CB8AC3E}">
        <p14:creationId xmlns:p14="http://schemas.microsoft.com/office/powerpoint/2010/main" val="526669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687133"/>
            <a:ext cx="11251841" cy="5170866"/>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Le </a:t>
            </a:r>
            <a:r>
              <a:rPr lang="fr-FR" sz="2800" dirty="0" err="1">
                <a:latin typeface="Times New Roman" panose="02020603050405020304" pitchFamily="18" charset="0"/>
                <a:cs typeface="Times New Roman" panose="02020603050405020304" pitchFamily="18" charset="0"/>
              </a:rPr>
              <a:t>clusturing</a:t>
            </a:r>
            <a:r>
              <a:rPr lang="fr-FR" sz="2800" dirty="0">
                <a:latin typeface="Times New Roman" panose="02020603050405020304" pitchFamily="18" charset="0"/>
                <a:cs typeface="Times New Roman" panose="02020603050405020304" pitchFamily="18" charset="0"/>
              </a:rPr>
              <a:t> est la définition d’un espace spécifique à une tranche de données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Cela permet à Oracle de travailler sur de plus petits volumes contenant des parties de tables ;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Un cluster est une organisation physique des données ;</a:t>
            </a:r>
          </a:p>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Il consiste à regrouper physiquement (dans un même block) les lignes d’une ou de plusieurs tables ayant une caractéristique commune constituant la clé du cluster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20</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III.4. Cluster de table ou d’index</a:t>
            </a:r>
          </a:p>
        </p:txBody>
      </p:sp>
    </p:spTree>
    <p:extLst>
      <p:ext uri="{BB962C8B-B14F-4D97-AF65-F5344CB8AC3E}">
        <p14:creationId xmlns:p14="http://schemas.microsoft.com/office/powerpoint/2010/main" val="2778517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790163"/>
            <a:ext cx="11251841" cy="5067836"/>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Les objectifs du </a:t>
            </a:r>
            <a:r>
              <a:rPr lang="fr-FR" sz="2800" dirty="0" err="1">
                <a:latin typeface="Times New Roman" panose="02020603050405020304" pitchFamily="18" charset="0"/>
                <a:cs typeface="Times New Roman" panose="02020603050405020304" pitchFamily="18" charset="0"/>
              </a:rPr>
              <a:t>clustering</a:t>
            </a:r>
            <a:r>
              <a:rPr lang="fr-FR" sz="2800" dirty="0">
                <a:latin typeface="Times New Roman" panose="02020603050405020304" pitchFamily="18" charset="0"/>
                <a:cs typeface="Times New Roman" panose="02020603050405020304" pitchFamily="18" charset="0"/>
              </a:rPr>
              <a:t> sont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Accélérer les jointures selon la clé de cluster des tables mises en cluster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Accélérer la sélection des lignes d’une table ayant même valeur de clé ;</a:t>
            </a:r>
          </a:p>
          <a:p>
            <a:pPr lvl="1">
              <a:buFont typeface="Wingdings" panose="05000000000000000000" pitchFamily="2" charset="2"/>
              <a:buChar char="ü"/>
            </a:pPr>
            <a:r>
              <a:rPr lang="fr-FR" sz="2400" dirty="0">
                <a:latin typeface="Times New Roman" panose="02020603050405020304" pitchFamily="18" charset="0"/>
                <a:cs typeface="Times New Roman" panose="02020603050405020304" pitchFamily="18" charset="0"/>
              </a:rPr>
              <a:t>Economiser de l’espace car chaque valeur de la clé du cluster est stockée une seule fois.</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Remarque</a:t>
            </a:r>
            <a:r>
              <a:rPr lang="fr-FR" sz="3200" dirty="0">
                <a:solidFill>
                  <a:schemeClr val="bg1"/>
                </a:solidFill>
                <a:latin typeface="Times New Roman" panose="02020603050405020304" pitchFamily="18" charset="0"/>
                <a:cs typeface="Times New Roman" panose="02020603050405020304" pitchFamily="18" charset="0"/>
              </a:rPr>
              <a:t> :</a:t>
            </a:r>
          </a:p>
          <a:p>
            <a:pPr marL="0" indent="0">
              <a:buNone/>
            </a:pPr>
            <a:r>
              <a:rPr lang="fr-FR" sz="2800" dirty="0">
                <a:latin typeface="Times New Roman" panose="02020603050405020304" pitchFamily="18" charset="0"/>
                <a:cs typeface="Times New Roman" panose="02020603050405020304" pitchFamily="18" charset="0"/>
              </a:rPr>
              <a:t>Pour pouvoir mettre une table en cluster, il faut que l’un au moins des attributs </a:t>
            </a:r>
            <a:r>
              <a:rPr lang="fr-FR" sz="2800">
                <a:latin typeface="Times New Roman" panose="02020603050405020304" pitchFamily="18" charset="0"/>
                <a:cs typeface="Times New Roman" panose="02020603050405020304" pitchFamily="18" charset="0"/>
              </a:rPr>
              <a:t>faisant partie </a:t>
            </a:r>
            <a:r>
              <a:rPr lang="fr-FR" sz="2800" dirty="0">
                <a:latin typeface="Times New Roman" panose="02020603050405020304" pitchFamily="18" charset="0"/>
                <a:cs typeface="Times New Roman" panose="02020603050405020304" pitchFamily="18" charset="0"/>
              </a:rPr>
              <a:t>de la clé du cluster soit défini comme obligatoire</a:t>
            </a:r>
            <a:r>
              <a:rPr lang="fr-FR" sz="32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endParaRPr lang="fr-FR" sz="2800" dirty="0">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21</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III.4. Cluster de table ou d’index</a:t>
            </a:r>
          </a:p>
        </p:txBody>
      </p:sp>
    </p:spTree>
    <p:extLst>
      <p:ext uri="{BB962C8B-B14F-4D97-AF65-F5344CB8AC3E}">
        <p14:creationId xmlns:p14="http://schemas.microsoft.com/office/powerpoint/2010/main" val="2345558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365160"/>
            <a:ext cx="11251841" cy="5492839"/>
          </a:xfrm>
        </p:spPr>
        <p:txBody>
          <a:bodyPr>
            <a:normAutofit lnSpcReduction="10000"/>
          </a:bodyPr>
          <a:lstStyle/>
          <a:p>
            <a:pPr marL="0" indent="0">
              <a:buNone/>
            </a:pPr>
            <a:r>
              <a:rPr lang="en-US" sz="2800" dirty="0" err="1">
                <a:latin typeface="Times New Roman" panose="02020603050405020304" pitchFamily="18" charset="0"/>
                <a:cs typeface="Times New Roman" panose="02020603050405020304" pitchFamily="18" charset="0"/>
              </a:rPr>
              <a:t>Syntaxe</a:t>
            </a:r>
            <a:r>
              <a:rPr lang="en-US" sz="2800" dirty="0">
                <a:latin typeface="Times New Roman" panose="02020603050405020304" pitchFamily="18" charset="0"/>
                <a:cs typeface="Times New Roman" panose="02020603050405020304" pitchFamily="18" charset="0"/>
              </a:rPr>
              <a:t> :</a:t>
            </a:r>
          </a:p>
          <a:p>
            <a:pPr marL="0" indent="0">
              <a:buNone/>
            </a:pPr>
            <a:r>
              <a:rPr lang="en-US" sz="2800" b="1" dirty="0">
                <a:solidFill>
                  <a:schemeClr val="bg1"/>
                </a:solidFill>
                <a:latin typeface="Times New Roman" panose="02020603050405020304" pitchFamily="18" charset="0"/>
                <a:cs typeface="Times New Roman" panose="02020603050405020304" pitchFamily="18" charset="0"/>
              </a:rPr>
              <a:t>Create Cluster </a:t>
            </a:r>
            <a:r>
              <a:rPr lang="en-US" sz="2800" dirty="0" err="1">
                <a:solidFill>
                  <a:schemeClr val="bg1"/>
                </a:solidFill>
                <a:latin typeface="Times New Roman" panose="02020603050405020304" pitchFamily="18" charset="0"/>
                <a:cs typeface="Times New Roman" panose="02020603050405020304" pitchFamily="18" charset="0"/>
              </a:rPr>
              <a:t>Nom_Cluster</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	Cle1	Type1,</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	</a:t>
            </a:r>
            <a:r>
              <a:rPr lang="fr-FR" sz="2800" dirty="0">
                <a:solidFill>
                  <a:schemeClr val="bg1"/>
                </a:solidFill>
                <a:latin typeface="Times New Roman" panose="02020603050405020304" pitchFamily="18" charset="0"/>
                <a:cs typeface="Times New Roman" panose="02020603050405020304" pitchFamily="18" charset="0"/>
              </a:rPr>
              <a:t>Cle2	Type2,</a:t>
            </a:r>
          </a:p>
          <a:p>
            <a:pPr marL="0" lvl="0" indent="0">
              <a:buNone/>
            </a:pPr>
            <a:r>
              <a:rPr lang="fr-FR" sz="2800" dirty="0">
                <a:solidFill>
                  <a:schemeClr val="bg1"/>
                </a:solidFill>
                <a:latin typeface="Times New Roman" panose="02020603050405020304" pitchFamily="18" charset="0"/>
                <a:cs typeface="Times New Roman" panose="02020603050405020304" pitchFamily="18" charset="0"/>
              </a:rPr>
              <a:t>	 -      -</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 [Size	Taille]</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Compress</a:t>
            </a:r>
            <a:r>
              <a:rPr lang="fr-FR" sz="2800" dirty="0">
                <a:solidFill>
                  <a:schemeClr val="bg1"/>
                </a:solidFill>
                <a:latin typeface="Times New Roman" panose="02020603050405020304" pitchFamily="18" charset="0"/>
                <a:cs typeface="Times New Roman" panose="02020603050405020304" pitchFamily="18" charset="0"/>
              </a:rPr>
              <a:t> | </a:t>
            </a:r>
            <a:r>
              <a:rPr lang="fr-FR" sz="2800" dirty="0" err="1">
                <a:solidFill>
                  <a:schemeClr val="bg1"/>
                </a:solidFill>
                <a:latin typeface="Times New Roman" panose="02020603050405020304" pitchFamily="18" charset="0"/>
                <a:cs typeface="Times New Roman" panose="02020603050405020304" pitchFamily="18" charset="0"/>
              </a:rPr>
              <a:t>Nocompress</a:t>
            </a:r>
            <a:r>
              <a:rPr lang="fr-FR" sz="2800" dirty="0">
                <a:solidFill>
                  <a:schemeClr val="bg1"/>
                </a:solidFill>
                <a:latin typeface="Times New Roman" panose="02020603050405020304" pitchFamily="18" charset="0"/>
                <a:cs typeface="Times New Roman" panose="02020603050405020304" pitchFamily="18" charset="0"/>
              </a:rPr>
              <a:t>]</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Space</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Nom_Space_Definition</a:t>
            </a:r>
            <a:r>
              <a:rPr lang="fr-FR" sz="2800" dirty="0">
                <a:solidFill>
                  <a:schemeClr val="bg1"/>
                </a:solidFill>
                <a:latin typeface="Times New Roman" panose="02020603050405020304" pitchFamily="18" charset="0"/>
                <a:cs typeface="Times New Roman" panose="02020603050405020304" pitchFamily="18" charset="0"/>
              </a:rPr>
              <a:t>]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22</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III.4. Cluster de table ou d’index</a:t>
            </a:r>
          </a:p>
        </p:txBody>
      </p:sp>
    </p:spTree>
    <p:extLst>
      <p:ext uri="{BB962C8B-B14F-4D97-AF65-F5344CB8AC3E}">
        <p14:creationId xmlns:p14="http://schemas.microsoft.com/office/powerpoint/2010/main" val="1256854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365160"/>
            <a:ext cx="11251841" cy="5492839"/>
          </a:xfrm>
        </p:spPr>
        <p:txBody>
          <a:bodyPr>
            <a:normAutofit/>
          </a:bodyPr>
          <a:lstStyle/>
          <a:p>
            <a:pPr>
              <a:buFont typeface="Wingdings" panose="05000000000000000000" pitchFamily="2" charset="2"/>
              <a:buChar char="Ø"/>
            </a:pPr>
            <a:r>
              <a:rPr lang="fr-FR" sz="2800" dirty="0">
                <a:latin typeface="Times New Roman" panose="02020603050405020304" pitchFamily="18" charset="0"/>
                <a:cs typeface="Times New Roman" panose="02020603050405020304" pitchFamily="18" charset="0"/>
              </a:rPr>
              <a:t>Mise en cluster d’une table : Pour mettre une table en cluster, il faut le faire durant sa création avec la syntaxe suivante :</a:t>
            </a:r>
          </a:p>
          <a:p>
            <a:pPr marL="0" indent="0">
              <a:buNone/>
            </a:pPr>
            <a:r>
              <a:rPr lang="fr-FR" sz="2800" b="1" dirty="0" err="1">
                <a:solidFill>
                  <a:schemeClr val="bg1"/>
                </a:solidFill>
                <a:latin typeface="Times New Roman" panose="02020603050405020304" pitchFamily="18" charset="0"/>
                <a:cs typeface="Times New Roman" panose="02020603050405020304" pitchFamily="18" charset="0"/>
              </a:rPr>
              <a:t>Create</a:t>
            </a:r>
            <a:r>
              <a:rPr lang="fr-FR" sz="2800" b="1" dirty="0">
                <a:solidFill>
                  <a:schemeClr val="bg1"/>
                </a:solidFill>
                <a:latin typeface="Times New Roman" panose="02020603050405020304" pitchFamily="18" charset="0"/>
                <a:cs typeface="Times New Roman" panose="02020603050405020304" pitchFamily="18" charset="0"/>
              </a:rPr>
              <a:t> Table</a:t>
            </a:r>
            <a:r>
              <a:rPr lang="fr-FR" sz="2800" dirty="0">
                <a:solidFill>
                  <a:schemeClr val="bg1"/>
                </a:solidFill>
                <a:latin typeface="Times New Roman" panose="02020603050405020304" pitchFamily="18" charset="0"/>
                <a:cs typeface="Times New Roman" panose="02020603050405020304" pitchFamily="18" charset="0"/>
              </a:rPr>
              <a:t> </a:t>
            </a:r>
            <a:r>
              <a:rPr lang="fr-FR" sz="2800" dirty="0" err="1">
                <a:solidFill>
                  <a:schemeClr val="bg1"/>
                </a:solidFill>
                <a:latin typeface="Times New Roman" panose="02020603050405020304" pitchFamily="18" charset="0"/>
                <a:cs typeface="Times New Roman" panose="02020603050405020304" pitchFamily="18" charset="0"/>
              </a:rPr>
              <a:t>Nom_Table</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fr-FR" sz="2800" dirty="0">
                <a:solidFill>
                  <a:schemeClr val="bg1"/>
                </a:solidFill>
                <a:latin typeface="Times New Roman" panose="02020603050405020304" pitchFamily="18" charset="0"/>
                <a:cs typeface="Times New Roman" panose="02020603050405020304" pitchFamily="18" charset="0"/>
              </a:rPr>
              <a:t>(</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	Att1		Type1,</a:t>
            </a:r>
          </a:p>
          <a:p>
            <a:pPr marL="0" indent="0">
              <a:buNone/>
            </a:pPr>
            <a:r>
              <a:rPr lang="fr-FR" sz="2800" dirty="0">
                <a:solidFill>
                  <a:schemeClr val="bg1"/>
                </a:solidFill>
                <a:latin typeface="Times New Roman" panose="02020603050405020304" pitchFamily="18" charset="0"/>
                <a:cs typeface="Times New Roman" panose="02020603050405020304" pitchFamily="18" charset="0"/>
              </a:rPr>
              <a:t>	</a:t>
            </a:r>
            <a:r>
              <a:rPr lang="en-US" sz="2800" dirty="0">
                <a:solidFill>
                  <a:schemeClr val="bg1"/>
                </a:solidFill>
                <a:latin typeface="Times New Roman" panose="02020603050405020304" pitchFamily="18" charset="0"/>
                <a:cs typeface="Times New Roman" panose="02020603050405020304" pitchFamily="18" charset="0"/>
              </a:rPr>
              <a:t>Att2		Type3,</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	Att3		Type2</a:t>
            </a:r>
            <a:endParaRPr lang="fr-FR" sz="2800" dirty="0">
              <a:solidFill>
                <a:schemeClr val="bg1"/>
              </a:solidFill>
              <a:latin typeface="Times New Roman" panose="02020603050405020304" pitchFamily="18" charset="0"/>
              <a:cs typeface="Times New Roman" panose="02020603050405020304" pitchFamily="18" charset="0"/>
            </a:endParaRPr>
          </a:p>
          <a:p>
            <a:pPr marL="0" indent="0">
              <a:buNone/>
            </a:pPr>
            <a:r>
              <a:rPr lang="en-US" sz="2800" dirty="0">
                <a:solidFill>
                  <a:schemeClr val="bg1"/>
                </a:solidFill>
                <a:latin typeface="Times New Roman" panose="02020603050405020304" pitchFamily="18" charset="0"/>
                <a:cs typeface="Times New Roman" panose="02020603050405020304" pitchFamily="18" charset="0"/>
              </a:rPr>
              <a:t>)</a:t>
            </a:r>
            <a:r>
              <a:rPr lang="fr-FR" sz="2800" dirty="0">
                <a:solidFill>
                  <a:schemeClr val="bg1"/>
                </a:solidFill>
                <a:latin typeface="Times New Roman" panose="02020603050405020304" pitchFamily="18" charset="0"/>
                <a:cs typeface="Times New Roman" panose="02020603050405020304" pitchFamily="18" charset="0"/>
              </a:rPr>
              <a:t> </a:t>
            </a:r>
            <a:r>
              <a:rPr lang="en-US" sz="2800" b="1" dirty="0">
                <a:solidFill>
                  <a:schemeClr val="bg1"/>
                </a:solidFill>
                <a:latin typeface="Times New Roman" panose="02020603050405020304" pitchFamily="18" charset="0"/>
                <a:cs typeface="Times New Roman" panose="02020603050405020304" pitchFamily="18" charset="0"/>
              </a:rPr>
              <a:t>Cluster</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Nom_Cluster</a:t>
            </a:r>
            <a:r>
              <a:rPr lang="en-US" sz="2800" dirty="0">
                <a:solidFill>
                  <a:schemeClr val="bg1"/>
                </a:solidFill>
                <a:latin typeface="Times New Roman" panose="02020603050405020304" pitchFamily="18" charset="0"/>
                <a:cs typeface="Times New Roman" panose="02020603050405020304" pitchFamily="18" charset="0"/>
              </a:rPr>
              <a:t> (Att1, Att2, …) ;</a:t>
            </a:r>
            <a:endParaRPr lang="fr-FR" sz="2800" dirty="0">
              <a:solidFill>
                <a:schemeClr val="bg1"/>
              </a:solidFill>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23</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III.4. Cluster de table ou d’index</a:t>
            </a:r>
          </a:p>
        </p:txBody>
      </p:sp>
    </p:spTree>
    <p:extLst>
      <p:ext uri="{BB962C8B-B14F-4D97-AF65-F5344CB8AC3E}">
        <p14:creationId xmlns:p14="http://schemas.microsoft.com/office/powerpoint/2010/main" val="1141706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III. Quelques objets de </a:t>
            </a:r>
            <a:r>
              <a:rPr lang="fr-FR" dirty="0" err="1">
                <a:solidFill>
                  <a:schemeClr val="bg1"/>
                </a:solidFill>
                <a:latin typeface="Times New Roman" panose="02020603050405020304" pitchFamily="18" charset="0"/>
                <a:cs typeface="Times New Roman" panose="02020603050405020304" pitchFamily="18" charset="0"/>
              </a:rPr>
              <a:t>bD</a:t>
            </a:r>
            <a:r>
              <a:rPr lang="fr-FR" dirty="0">
                <a:solidFill>
                  <a:schemeClr val="bg1"/>
                </a:solidFill>
                <a:latin typeface="Times New Roman" panose="02020603050405020304" pitchFamily="18" charset="0"/>
                <a:cs typeface="Times New Roman" panose="02020603050405020304" pitchFamily="18" charset="0"/>
              </a:rPr>
              <a:t> sous oracle</a:t>
            </a:r>
            <a:endParaRPr lang="fr-FR" dirty="0">
              <a:solidFill>
                <a:schemeClr val="bg1"/>
              </a:solidFill>
            </a:endParaRPr>
          </a:p>
        </p:txBody>
      </p:sp>
      <p:sp>
        <p:nvSpPr>
          <p:cNvPr id="3" name="Espace réservé du contenu 2"/>
          <p:cNvSpPr>
            <a:spLocks noGrp="1"/>
          </p:cNvSpPr>
          <p:nvPr>
            <p:ph idx="1"/>
          </p:nvPr>
        </p:nvSpPr>
        <p:spPr>
          <a:xfrm>
            <a:off x="940158" y="1674253"/>
            <a:ext cx="11251841" cy="5170867"/>
          </a:xfrm>
        </p:spPr>
        <p:txBody>
          <a:bodyPr>
            <a:normAutofit/>
          </a:bodyPr>
          <a:lstStyle/>
          <a:p>
            <a:pPr marL="0" indent="0">
              <a:buNone/>
            </a:pPr>
            <a:r>
              <a:rPr lang="fr-FR" sz="2800" dirty="0">
                <a:solidFill>
                  <a:schemeClr val="bg1"/>
                </a:solidFill>
                <a:latin typeface="Times New Roman" panose="02020603050405020304" pitchFamily="18" charset="0"/>
                <a:cs typeface="Times New Roman" panose="02020603050405020304" pitchFamily="18" charset="0"/>
              </a:rPr>
              <a:t>Remarque :</a:t>
            </a:r>
          </a:p>
          <a:p>
            <a:r>
              <a:rPr lang="fr-FR" sz="2800" dirty="0">
                <a:latin typeface="Times New Roman" panose="02020603050405020304" pitchFamily="18" charset="0"/>
                <a:cs typeface="Times New Roman" panose="02020603050405020304" pitchFamily="18" charset="0"/>
              </a:rPr>
              <a:t>La table est mise en cluster pendant sa création ;</a:t>
            </a:r>
          </a:p>
          <a:p>
            <a:r>
              <a:rPr lang="fr-FR" sz="2800" dirty="0">
                <a:latin typeface="Times New Roman" panose="02020603050405020304" pitchFamily="18" charset="0"/>
                <a:cs typeface="Times New Roman" panose="02020603050405020304" pitchFamily="18" charset="0"/>
              </a:rPr>
              <a:t>Le cluster doit déjà être créé ;</a:t>
            </a:r>
          </a:p>
          <a:p>
            <a:r>
              <a:rPr lang="fr-FR" sz="2800" dirty="0">
                <a:latin typeface="Times New Roman" panose="02020603050405020304" pitchFamily="18" charset="0"/>
                <a:cs typeface="Times New Roman" panose="02020603050405020304" pitchFamily="18" charset="0"/>
              </a:rPr>
              <a:t>Si la table existe déjà, on peut procéder comme suit :</a:t>
            </a:r>
          </a:p>
          <a:p>
            <a:pPr lvl="1">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Créer une nouvelle table avec l’option Cluster et y copier le contenu de la table initiale ;</a:t>
            </a:r>
          </a:p>
          <a:p>
            <a:pPr lvl="1">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Supprimer l’ancienne table ;</a:t>
            </a:r>
          </a:p>
          <a:p>
            <a:pPr lvl="1">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Renommer la nouvelle table.</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24</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III.4. Cluster de table ou d’index</a:t>
            </a:r>
          </a:p>
        </p:txBody>
      </p:sp>
    </p:spTree>
    <p:extLst>
      <p:ext uri="{BB962C8B-B14F-4D97-AF65-F5344CB8AC3E}">
        <p14:creationId xmlns:p14="http://schemas.microsoft.com/office/powerpoint/2010/main" val="612789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1442434" y="2575775"/>
            <a:ext cx="10749565" cy="4269346"/>
          </a:xfrm>
        </p:spPr>
        <p:txBody>
          <a:bodyPr>
            <a:noAutofit/>
          </a:bodyPr>
          <a:lstStyle/>
          <a:p>
            <a:pPr>
              <a:lnSpc>
                <a:spcPct val="10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Un Job </a:t>
            </a:r>
            <a:r>
              <a:rPr lang="en-US" sz="2800" dirty="0" err="1">
                <a:latin typeface="Times New Roman" panose="02020603050405020304" pitchFamily="18" charset="0"/>
                <a:cs typeface="Times New Roman" panose="02020603050405020304" pitchFamily="18" charset="0"/>
              </a:rPr>
              <a:t>est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une</a:t>
            </a:r>
            <a:r>
              <a:rPr lang="en-US" sz="2800" dirty="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tâche </a:t>
            </a:r>
            <a:r>
              <a:rPr lang="en-US" sz="2800" dirty="0" err="1">
                <a:latin typeface="Times New Roman" panose="02020603050405020304" pitchFamily="18" charset="0"/>
                <a:cs typeface="Times New Roman" panose="02020603050405020304" pitchFamily="18" charset="0"/>
              </a:rPr>
              <a:t>d’administration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planifiée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dans</a:t>
            </a:r>
            <a:r>
              <a:rPr lang="en-US" sz="2800" dirty="0">
                <a:latin typeface="Times New Roman" panose="02020603050405020304" pitchFamily="18" charset="0"/>
                <a:cs typeface="Times New Roman" panose="02020603050405020304" pitchFamily="18" charset="0"/>
              </a:rPr>
              <a:t> le temps ;</a:t>
            </a:r>
          </a:p>
          <a:p>
            <a:pPr>
              <a:lnSpc>
                <a:spcPct val="10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C’est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généralement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une</a:t>
            </a:r>
            <a:r>
              <a:rPr lang="en-US" sz="2800" dirty="0">
                <a:latin typeface="Times New Roman" panose="02020603050405020304" pitchFamily="18" charset="0"/>
                <a:cs typeface="Times New Roman" panose="02020603050405020304" pitchFamily="18" charset="0"/>
              </a:rPr>
              <a:t> </a:t>
            </a:r>
            <a:r>
              <a:rPr lang="fr-FR" sz="2800" dirty="0">
                <a:latin typeface="Times New Roman" panose="02020603050405020304" pitchFamily="18" charset="0"/>
                <a:cs typeface="Times New Roman" panose="02020603050405020304" pitchFamily="18" charset="0"/>
              </a:rPr>
              <a:t>tâche </a:t>
            </a:r>
            <a:r>
              <a:rPr lang="en-US" sz="2800" dirty="0">
                <a:latin typeface="Times New Roman" panose="02020603050405020304" pitchFamily="18" charset="0"/>
                <a:cs typeface="Times New Roman" panose="02020603050405020304" pitchFamily="18" charset="0"/>
              </a:rPr>
              <a:t>repetitive ;</a:t>
            </a:r>
          </a:p>
          <a:p>
            <a:pPr>
              <a:lnSpc>
                <a:spcPct val="10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Il </a:t>
            </a:r>
            <a:r>
              <a:rPr lang="en-US" sz="2800" dirty="0" err="1">
                <a:latin typeface="Times New Roman" panose="02020603050405020304" pitchFamily="18" charset="0"/>
                <a:cs typeface="Times New Roman" panose="02020603050405020304" pitchFamily="18" charset="0"/>
              </a:rPr>
              <a:t>s’execute</a:t>
            </a:r>
            <a:r>
              <a:rPr lang="en-US" sz="2800" dirty="0">
                <a:latin typeface="Times New Roman" panose="02020603050405020304" pitchFamily="18" charset="0"/>
                <a:cs typeface="Times New Roman" panose="02020603050405020304" pitchFamily="18" charset="0"/>
              </a:rPr>
              <a:t> au moment (Date et </a:t>
            </a:r>
            <a:r>
              <a:rPr lang="en-US" sz="2800" dirty="0" err="1">
                <a:latin typeface="Times New Roman" panose="02020603050405020304" pitchFamily="18" charset="0"/>
                <a:cs typeface="Times New Roman" panose="02020603050405020304" pitchFamily="18" charset="0"/>
              </a:rPr>
              <a:t>heure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indiqué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dans</a:t>
            </a:r>
            <a:r>
              <a:rPr lang="en-US" sz="2800" dirty="0">
                <a:latin typeface="Times New Roman" panose="02020603050405020304" pitchFamily="18" charset="0"/>
                <a:cs typeface="Times New Roman" panose="02020603050405020304" pitchFamily="18" charset="0"/>
              </a:rPr>
              <a:t> le corps du Job ;</a:t>
            </a:r>
          </a:p>
          <a:p>
            <a:pPr>
              <a:lnSpc>
                <a:spcPct val="10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Quand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il</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est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appelé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il</a:t>
            </a:r>
            <a:r>
              <a:rPr lang="en-US" sz="2800" dirty="0">
                <a:latin typeface="Times New Roman" panose="02020603050405020304" pitchFamily="18" charset="0"/>
                <a:cs typeface="Times New Roman" panose="02020603050405020304" pitchFamily="18" charset="0"/>
              </a:rPr>
              <a:t> execute l’ action </a:t>
            </a:r>
            <a:r>
              <a:rPr lang="en-US" sz="2800" dirty="0" err="1">
                <a:latin typeface="Times New Roman" panose="02020603050405020304" pitchFamily="18" charset="0"/>
                <a:cs typeface="Times New Roman" panose="02020603050405020304" pitchFamily="18" charset="0"/>
              </a:rPr>
              <a:t>indiqué</a:t>
            </a:r>
            <a:r>
              <a:rPr lang="en-US" sz="2800" dirty="0">
                <a:latin typeface="Times New Roman" panose="02020603050405020304" pitchFamily="18" charset="0"/>
                <a:cs typeface="Times New Roman" panose="02020603050405020304" pitchFamily="18" charset="0"/>
              </a:rPr>
              <a:t> en son </a:t>
            </a:r>
            <a:r>
              <a:rPr lang="en-US" sz="2800" dirty="0" err="1">
                <a:latin typeface="Times New Roman" panose="02020603050405020304" pitchFamily="18" charset="0"/>
                <a:cs typeface="Times New Roman" panose="02020603050405020304" pitchFamily="18" charset="0"/>
              </a:rPr>
              <a:t>sein</a:t>
            </a:r>
            <a:r>
              <a:rPr lang="en-US" sz="2800" dirty="0">
                <a:latin typeface="Times New Roman" panose="02020603050405020304" pitchFamily="18" charset="0"/>
                <a:cs typeface="Times New Roman" panose="02020603050405020304" pitchFamily="18" charset="0"/>
              </a:rPr>
              <a:t>.</a:t>
            </a:r>
          </a:p>
          <a:p>
            <a:pPr marL="0" indent="0">
              <a:lnSpc>
                <a:spcPct val="100000"/>
              </a:lnSpc>
              <a:buNone/>
            </a:pPr>
            <a:endParaRPr lang="fr-FR" sz="2800" dirty="0">
              <a:latin typeface="Times New Roman" panose="02020603050405020304" pitchFamily="18" charset="0"/>
              <a:cs typeface="Times New Roman" panose="02020603050405020304" pitchFamily="18" charset="0"/>
            </a:endParaRP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25</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IV.1. Créer un Job</a:t>
            </a:r>
          </a:p>
        </p:txBody>
      </p:sp>
    </p:spTree>
    <p:extLst>
      <p:ext uri="{BB962C8B-B14F-4D97-AF65-F5344CB8AC3E}">
        <p14:creationId xmlns:p14="http://schemas.microsoft.com/office/powerpoint/2010/main" val="3820329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940158" y="1171977"/>
            <a:ext cx="11251841" cy="5673144"/>
          </a:xfrm>
        </p:spPr>
        <p:txBody>
          <a:bodyPr>
            <a:noAutofit/>
          </a:bodyPr>
          <a:lstStyle/>
          <a:p>
            <a:pPr marL="0" indent="0">
              <a:lnSpc>
                <a:spcPct val="100000"/>
              </a:lnSpc>
              <a:buNone/>
            </a:pPr>
            <a:r>
              <a:rPr lang="en-US" sz="1800" b="1" dirty="0">
                <a:latin typeface="Times New Roman" panose="02020603050405020304" pitchFamily="18" charset="0"/>
                <a:cs typeface="Times New Roman" panose="02020603050405020304" pitchFamily="18" charset="0"/>
              </a:rPr>
              <a:t>Begin</a:t>
            </a:r>
            <a:endParaRPr lang="fr-FR" sz="1800" dirty="0">
              <a:latin typeface="Times New Roman" panose="02020603050405020304" pitchFamily="18" charset="0"/>
              <a:cs typeface="Times New Roman" panose="02020603050405020304" pitchFamily="18" charset="0"/>
            </a:endParaRPr>
          </a:p>
          <a:p>
            <a:pPr marL="0" indent="0">
              <a:lnSpc>
                <a:spcPct val="100000"/>
              </a:lnSpc>
              <a:buNone/>
            </a:pP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DBMS_Scheduler.</a:t>
            </a:r>
            <a:r>
              <a:rPr lang="en-US" sz="1800" b="1" dirty="0" err="1">
                <a:solidFill>
                  <a:srgbClr val="FF0000"/>
                </a:solidFill>
                <a:latin typeface="Times New Roman" panose="02020603050405020304" pitchFamily="18" charset="0"/>
                <a:cs typeface="Times New Roman" panose="02020603050405020304" pitchFamily="18" charset="0"/>
              </a:rPr>
              <a:t>CREATE_JOB</a:t>
            </a:r>
            <a:r>
              <a:rPr lang="en-US" sz="1800" b="1" dirty="0">
                <a:latin typeface="Times New Roman" panose="02020603050405020304" pitchFamily="18" charset="0"/>
                <a:cs typeface="Times New Roman" panose="02020603050405020304" pitchFamily="18" charset="0"/>
              </a:rPr>
              <a:t> </a:t>
            </a:r>
            <a:endParaRPr lang="fr-FR" sz="1800" dirty="0">
              <a:latin typeface="Times New Roman" panose="02020603050405020304" pitchFamily="18" charset="0"/>
              <a:cs typeface="Times New Roman" panose="02020603050405020304" pitchFamily="18" charset="0"/>
            </a:endParaRPr>
          </a:p>
          <a:p>
            <a:pPr marL="0" indent="0">
              <a:lnSpc>
                <a:spcPct val="100000"/>
              </a:lnSpc>
              <a:buNone/>
            </a:pPr>
            <a:r>
              <a:rPr lang="fr-FR" sz="1800" dirty="0">
                <a:latin typeface="Times New Roman" panose="02020603050405020304" pitchFamily="18" charset="0"/>
                <a:cs typeface="Times New Roman" panose="02020603050405020304" pitchFamily="18" charset="0"/>
              </a:rPr>
              <a:t>	(</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job_name</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NomDuJob</a:t>
            </a:r>
            <a:r>
              <a:rPr lang="fr-FR" sz="1800" dirty="0">
                <a:latin typeface="Times New Roman" panose="02020603050405020304" pitchFamily="18" charset="0"/>
                <a:cs typeface="Times New Roman" panose="02020603050405020304" pitchFamily="18" charset="0"/>
              </a:rPr>
              <a:t>',</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job_type</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TypeDuJob</a:t>
            </a:r>
            <a:r>
              <a:rPr lang="fr-FR" sz="1800" dirty="0">
                <a:latin typeface="Times New Roman" panose="02020603050405020304" pitchFamily="18" charset="0"/>
                <a:cs typeface="Times New Roman" panose="02020603050405020304" pitchFamily="18" charset="0"/>
              </a:rPr>
              <a:t>',</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job_action</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ActionDuJob</a:t>
            </a:r>
            <a:r>
              <a:rPr lang="fr-FR" sz="1800" dirty="0">
                <a:latin typeface="Times New Roman" panose="02020603050405020304" pitchFamily="18" charset="0"/>
                <a:cs typeface="Times New Roman" panose="02020603050405020304" pitchFamily="18" charset="0"/>
              </a:rPr>
              <a:t>',</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start_date</a:t>
            </a:r>
            <a:r>
              <a:rPr lang="fr-FR" sz="1800" dirty="0">
                <a:latin typeface="Times New Roman" panose="02020603050405020304" pitchFamily="18" charset="0"/>
                <a:cs typeface="Times New Roman" panose="02020603050405020304" pitchFamily="18" charset="0"/>
              </a:rPr>
              <a:t>		=&gt;  'Date Heure',</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repeat_interval</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Freq</a:t>
            </a:r>
            <a:r>
              <a:rPr lang="fr-FR" sz="1800" dirty="0">
                <a:latin typeface="Times New Roman" panose="02020603050405020304" pitchFamily="18" charset="0"/>
                <a:cs typeface="Times New Roman" panose="02020603050405020304" pitchFamily="18" charset="0"/>
              </a:rPr>
              <a:t> = </a:t>
            </a:r>
            <a:r>
              <a:rPr lang="fr-FR" sz="1800" dirty="0" err="1">
                <a:latin typeface="Times New Roman" panose="02020603050405020304" pitchFamily="18" charset="0"/>
                <a:cs typeface="Times New Roman" panose="02020603050405020304" pitchFamily="18" charset="0"/>
              </a:rPr>
              <a:t>FrequenceJob</a:t>
            </a:r>
            <a:r>
              <a:rPr lang="fr-FR" sz="1800" dirty="0">
                <a:latin typeface="Times New Roman" panose="02020603050405020304" pitchFamily="18" charset="0"/>
                <a:cs typeface="Times New Roman" panose="02020603050405020304" pitchFamily="18" charset="0"/>
              </a:rPr>
              <a:t> ; </a:t>
            </a:r>
            <a:r>
              <a:rPr lang="fr-FR" sz="1800" dirty="0" err="1">
                <a:latin typeface="Times New Roman" panose="02020603050405020304" pitchFamily="18" charset="0"/>
                <a:cs typeface="Times New Roman" panose="02020603050405020304" pitchFamily="18" charset="0"/>
              </a:rPr>
              <a:t>Interval</a:t>
            </a:r>
            <a:r>
              <a:rPr lang="fr-FR" sz="1800" dirty="0">
                <a:latin typeface="Times New Roman" panose="02020603050405020304" pitchFamily="18" charset="0"/>
                <a:cs typeface="Times New Roman" panose="02020603050405020304" pitchFamily="18" charset="0"/>
              </a:rPr>
              <a:t> = </a:t>
            </a:r>
            <a:r>
              <a:rPr lang="fr-FR" sz="1800" dirty="0" err="1">
                <a:latin typeface="Times New Roman" panose="02020603050405020304" pitchFamily="18" charset="0"/>
                <a:cs typeface="Times New Roman" panose="02020603050405020304" pitchFamily="18" charset="0"/>
              </a:rPr>
              <a:t>IntervalleJob</a:t>
            </a:r>
            <a:r>
              <a:rPr lang="fr-FR" sz="1800" dirty="0">
                <a:latin typeface="Times New Roman" panose="02020603050405020304" pitchFamily="18" charset="0"/>
                <a:cs typeface="Times New Roman" panose="02020603050405020304" pitchFamily="18" charset="0"/>
              </a:rPr>
              <a:t> ; ',</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end_date</a:t>
            </a:r>
            <a:r>
              <a:rPr lang="fr-FR" sz="1800" dirty="0">
                <a:latin typeface="Times New Roman" panose="02020603050405020304" pitchFamily="18" charset="0"/>
                <a:cs typeface="Times New Roman" panose="02020603050405020304" pitchFamily="18" charset="0"/>
              </a:rPr>
              <a:t>		=&gt;  'Date Heure',</a:t>
            </a:r>
          </a:p>
          <a:p>
            <a:pPr marL="0" indent="0">
              <a:lnSpc>
                <a:spcPct val="100000"/>
              </a:lnSpc>
              <a:buNone/>
            </a:pPr>
            <a:r>
              <a:rPr lang="fr-FR"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auto_drop</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False|True</a:t>
            </a:r>
            <a:r>
              <a:rPr lang="fr-FR" sz="1800" dirty="0">
                <a:latin typeface="Times New Roman" panose="02020603050405020304" pitchFamily="18" charset="0"/>
                <a:cs typeface="Times New Roman" panose="02020603050405020304" pitchFamily="18" charset="0"/>
              </a:rPr>
              <a:t>,</a:t>
            </a:r>
          </a:p>
          <a:p>
            <a:pPr marL="0" indent="0">
              <a:lnSpc>
                <a:spcPct val="100000"/>
              </a:lnSpc>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job_class</a:t>
            </a:r>
            <a:r>
              <a:rPr lang="en-US" sz="1800" dirty="0">
                <a:latin typeface="Times New Roman" panose="02020603050405020304" pitchFamily="18" charset="0"/>
                <a:cs typeface="Times New Roman" panose="02020603050405020304" pitchFamily="18" charset="0"/>
              </a:rPr>
              <a:t>		=&gt;  </a:t>
            </a:r>
            <a:r>
              <a:rPr lang="fr-FR"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ClassDuJob</a:t>
            </a:r>
            <a:r>
              <a:rPr lang="en-US" sz="1800" dirty="0">
                <a:latin typeface="Times New Roman" panose="02020603050405020304" pitchFamily="18" charset="0"/>
                <a:cs typeface="Times New Roman" panose="02020603050405020304" pitchFamily="18" charset="0"/>
              </a:rPr>
              <a:t>',</a:t>
            </a:r>
            <a:endParaRPr lang="fr-FR" sz="1800" dirty="0">
              <a:latin typeface="Times New Roman" panose="02020603050405020304" pitchFamily="18" charset="0"/>
              <a:cs typeface="Times New Roman" panose="02020603050405020304" pitchFamily="18" charset="0"/>
            </a:endParaRPr>
          </a:p>
          <a:p>
            <a:pPr marL="0" indent="0">
              <a:lnSpc>
                <a:spcPct val="100000"/>
              </a:lnSpc>
              <a:buNone/>
            </a:pPr>
            <a:r>
              <a:rPr lang="en-US" sz="1800" dirty="0">
                <a:latin typeface="Times New Roman" panose="02020603050405020304" pitchFamily="18" charset="0"/>
                <a:cs typeface="Times New Roman" panose="02020603050405020304" pitchFamily="18" charset="0"/>
              </a:rPr>
              <a:t>		</a:t>
            </a:r>
            <a:r>
              <a:rPr lang="fr-FR" sz="1800" dirty="0" err="1">
                <a:latin typeface="Times New Roman" panose="02020603050405020304" pitchFamily="18" charset="0"/>
                <a:cs typeface="Times New Roman" panose="02020603050405020304" pitchFamily="18" charset="0"/>
              </a:rPr>
              <a:t>comments</a:t>
            </a:r>
            <a:r>
              <a:rPr lang="fr-FR" sz="1800" dirty="0">
                <a:latin typeface="Times New Roman" panose="02020603050405020304" pitchFamily="18" charset="0"/>
                <a:cs typeface="Times New Roman" panose="02020603050405020304" pitchFamily="18" charset="0"/>
              </a:rPr>
              <a:t>	=&gt;  '</a:t>
            </a:r>
            <a:r>
              <a:rPr lang="fr-FR" sz="1800" dirty="0" err="1">
                <a:latin typeface="Times New Roman" panose="02020603050405020304" pitchFamily="18" charset="0"/>
                <a:cs typeface="Times New Roman" panose="02020603050405020304" pitchFamily="18" charset="0"/>
              </a:rPr>
              <a:t>CommentaireSurLeJob</a:t>
            </a:r>
            <a:r>
              <a:rPr lang="fr-FR" sz="1800" dirty="0">
                <a:latin typeface="Times New Roman" panose="02020603050405020304" pitchFamily="18" charset="0"/>
                <a:cs typeface="Times New Roman" panose="02020603050405020304" pitchFamily="18" charset="0"/>
              </a:rPr>
              <a:t>'</a:t>
            </a:r>
          </a:p>
          <a:p>
            <a:pPr marL="0" indent="0">
              <a:lnSpc>
                <a:spcPct val="100000"/>
              </a:lnSpc>
              <a:buNone/>
            </a:pPr>
            <a:r>
              <a:rPr lang="fr-FR" sz="1800" dirty="0">
                <a:latin typeface="Times New Roman" panose="02020603050405020304" pitchFamily="18" charset="0"/>
                <a:cs typeface="Times New Roman" panose="02020603050405020304" pitchFamily="18" charset="0"/>
              </a:rPr>
              <a:t>	) ;</a:t>
            </a:r>
          </a:p>
          <a:p>
            <a:pPr marL="0" indent="0">
              <a:lnSpc>
                <a:spcPct val="100000"/>
              </a:lnSpc>
              <a:buNone/>
            </a:pPr>
            <a:r>
              <a:rPr lang="fr-FR" sz="1800" b="1" dirty="0">
                <a:latin typeface="Times New Roman" panose="02020603050405020304" pitchFamily="18" charset="0"/>
                <a:cs typeface="Times New Roman" panose="02020603050405020304" pitchFamily="18" charset="0"/>
              </a:rPr>
              <a:t>End </a:t>
            </a:r>
            <a:r>
              <a:rPr lang="fr-FR" sz="1800" dirty="0">
                <a:latin typeface="Times New Roman" panose="02020603050405020304" pitchFamily="18" charset="0"/>
                <a:cs typeface="Times New Roman" panose="02020603050405020304" pitchFamily="18" charset="0"/>
              </a:rPr>
              <a:t>;</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26</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IV.1. Créer un Job</a:t>
            </a:r>
          </a:p>
        </p:txBody>
      </p:sp>
    </p:spTree>
    <p:extLst>
      <p:ext uri="{BB962C8B-B14F-4D97-AF65-F5344CB8AC3E}">
        <p14:creationId xmlns:p14="http://schemas.microsoft.com/office/powerpoint/2010/main" val="3215852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940158" y="1197735"/>
            <a:ext cx="11251841" cy="5647385"/>
          </a:xfrm>
        </p:spPr>
        <p:txBody>
          <a:bodyPr>
            <a:noAutofit/>
          </a:bodyPr>
          <a:lstStyle/>
          <a:p>
            <a:pPr marL="0" indent="0">
              <a:lnSpc>
                <a:spcPct val="100000"/>
              </a:lnSpc>
              <a:buNone/>
            </a:pPr>
            <a:r>
              <a:rPr lang="fr-FR" dirty="0">
                <a:solidFill>
                  <a:schemeClr val="bg1"/>
                </a:solidFill>
                <a:latin typeface="Times New Roman" panose="02020603050405020304" pitchFamily="18" charset="0"/>
                <a:cs typeface="Times New Roman" panose="02020603050405020304" pitchFamily="18" charset="0"/>
              </a:rPr>
              <a:t>Exemple :</a:t>
            </a:r>
          </a:p>
          <a:p>
            <a:pPr marL="0" indent="0">
              <a:lnSpc>
                <a:spcPct val="100000"/>
              </a:lnSpc>
              <a:buNone/>
            </a:pPr>
            <a:r>
              <a:rPr lang="fr-FR" sz="2000" b="1" dirty="0">
                <a:latin typeface="Times New Roman" panose="02020603050405020304" pitchFamily="18" charset="0"/>
                <a:cs typeface="Times New Roman" panose="02020603050405020304" pitchFamily="18" charset="0"/>
              </a:rPr>
              <a:t>Begin</a:t>
            </a:r>
            <a:endParaRPr lang="fr-FR" sz="2000" dirty="0">
              <a:latin typeface="Times New Roman" panose="02020603050405020304" pitchFamily="18" charset="0"/>
              <a:cs typeface="Times New Roman" panose="02020603050405020304" pitchFamily="18" charset="0"/>
            </a:endParaRP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DBMS_Scheduler.</a:t>
            </a:r>
            <a:r>
              <a:rPr lang="fr-FR" sz="2000" b="1" dirty="0" err="1">
                <a:solidFill>
                  <a:srgbClr val="FF0000"/>
                </a:solidFill>
                <a:latin typeface="Times New Roman" panose="02020603050405020304" pitchFamily="18" charset="0"/>
                <a:cs typeface="Times New Roman" panose="02020603050405020304" pitchFamily="18" charset="0"/>
              </a:rPr>
              <a:t>CREATE_JOB</a:t>
            </a:r>
            <a:endParaRPr lang="fr-FR" sz="2000"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r>
              <a:rPr lang="fr-FR" sz="2000" dirty="0">
                <a:latin typeface="Times New Roman" panose="02020603050405020304" pitchFamily="18" charset="0"/>
                <a:cs typeface="Times New Roman" panose="02020603050405020304" pitchFamily="18" charset="0"/>
              </a:rPr>
              <a:t>	(</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job_name</a:t>
            </a:r>
            <a:r>
              <a:rPr lang="fr-FR" sz="2000" dirty="0">
                <a:latin typeface="Times New Roman" panose="02020603050405020304" pitchFamily="18" charset="0"/>
                <a:cs typeface="Times New Roman" panose="02020603050405020304" pitchFamily="18" charset="0"/>
              </a:rPr>
              <a:t>	=&gt; '</a:t>
            </a:r>
            <a:r>
              <a:rPr lang="fr-FR" sz="2000" dirty="0" err="1">
                <a:latin typeface="Times New Roman" panose="02020603050405020304" pitchFamily="18" charset="0"/>
                <a:cs typeface="Times New Roman" panose="02020603050405020304" pitchFamily="18" charset="0"/>
              </a:rPr>
              <a:t>Ma_Class_Java</a:t>
            </a:r>
            <a:r>
              <a:rPr lang="fr-FR" sz="2000" dirty="0">
                <a:latin typeface="Times New Roman" panose="02020603050405020304" pitchFamily="18" charset="0"/>
                <a:cs typeface="Times New Roman" panose="02020603050405020304" pitchFamily="18" charset="0"/>
              </a:rPr>
              <a:t>',</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job_type</a:t>
            </a:r>
            <a:r>
              <a:rPr lang="fr-FR" sz="2000" dirty="0">
                <a:latin typeface="Times New Roman" panose="02020603050405020304" pitchFamily="18" charset="0"/>
                <a:cs typeface="Times New Roman" panose="02020603050405020304" pitchFamily="18" charset="0"/>
              </a:rPr>
              <a:t>		=&gt; '</a:t>
            </a:r>
            <a:r>
              <a:rPr lang="fr-FR" sz="2000" dirty="0" err="1">
                <a:latin typeface="Times New Roman" panose="02020603050405020304" pitchFamily="18" charset="0"/>
                <a:cs typeface="Times New Roman" panose="02020603050405020304" pitchFamily="18" charset="0"/>
              </a:rPr>
              <a:t>Executable</a:t>
            </a:r>
            <a:r>
              <a:rPr lang="fr-FR" sz="2000" dirty="0">
                <a:latin typeface="Times New Roman" panose="02020603050405020304" pitchFamily="18" charset="0"/>
                <a:cs typeface="Times New Roman" panose="02020603050405020304" pitchFamily="18" charset="0"/>
              </a:rPr>
              <a:t>',</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job_action</a:t>
            </a:r>
            <a:r>
              <a:rPr lang="fr-FR" sz="2000" dirty="0">
                <a:latin typeface="Times New Roman" panose="02020603050405020304" pitchFamily="18" charset="0"/>
                <a:cs typeface="Times New Roman" panose="02020603050405020304" pitchFamily="18" charset="0"/>
              </a:rPr>
              <a:t>	=&gt; 'C:/Chemin </a:t>
            </a:r>
            <a:r>
              <a:rPr lang="fr-FR" sz="2000" dirty="0" err="1">
                <a:latin typeface="Times New Roman" panose="02020603050405020304" pitchFamily="18" charset="0"/>
                <a:cs typeface="Times New Roman" panose="02020603050405020304" pitchFamily="18" charset="0"/>
              </a:rPr>
              <a:t>myClass</a:t>
            </a:r>
            <a:r>
              <a:rPr lang="fr-FR" sz="2000" dirty="0">
                <a:latin typeface="Times New Roman" panose="02020603050405020304" pitchFamily="18" charset="0"/>
                <a:cs typeface="Times New Roman" panose="02020603050405020304" pitchFamily="18" charset="0"/>
              </a:rPr>
              <a:t>',</a:t>
            </a:r>
          </a:p>
          <a:p>
            <a:pPr marL="0" indent="0">
              <a:lnSpc>
                <a:spcPct val="100000"/>
              </a:lnSpc>
              <a:buNone/>
            </a:pPr>
            <a:r>
              <a:rPr lang="fr-FR" sz="2000" dirty="0"/>
              <a:t>		</a:t>
            </a:r>
            <a:r>
              <a:rPr lang="fr-FR" sz="2000" dirty="0" err="1">
                <a:latin typeface="Times New Roman" panose="02020603050405020304" pitchFamily="18" charset="0"/>
                <a:cs typeface="Times New Roman" panose="02020603050405020304" pitchFamily="18" charset="0"/>
              </a:rPr>
              <a:t>start_date</a:t>
            </a:r>
            <a:r>
              <a:rPr lang="fr-FR" sz="2000" dirty="0">
                <a:latin typeface="Times New Roman" panose="02020603050405020304" pitchFamily="18" charset="0"/>
                <a:cs typeface="Times New Roman" panose="02020603050405020304" pitchFamily="18" charset="0"/>
              </a:rPr>
              <a:t>	=&gt; '20-OCT-23 23.00.00 PM </a:t>
            </a:r>
            <a:r>
              <a:rPr lang="fr-FR" sz="2000" dirty="0" err="1">
                <a:latin typeface="Times New Roman" panose="02020603050405020304" pitchFamily="18" charset="0"/>
                <a:cs typeface="Times New Roman" panose="02020603050405020304" pitchFamily="18" charset="0"/>
              </a:rPr>
              <a:t>Senegal</a:t>
            </a:r>
            <a:r>
              <a:rPr lang="fr-FR" sz="2000" dirty="0">
                <a:latin typeface="Times New Roman" panose="02020603050405020304" pitchFamily="18" charset="0"/>
                <a:cs typeface="Times New Roman" panose="02020603050405020304" pitchFamily="18" charset="0"/>
              </a:rPr>
              <a:t>/Dakar',</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repeat_interval</a:t>
            </a:r>
            <a:r>
              <a:rPr lang="fr-FR" sz="2000" dirty="0">
                <a:latin typeface="Times New Roman" panose="02020603050405020304" pitchFamily="18" charset="0"/>
                <a:cs typeface="Times New Roman" panose="02020603050405020304" pitchFamily="18" charset="0"/>
              </a:rPr>
              <a:t> 	=&gt; '</a:t>
            </a:r>
            <a:r>
              <a:rPr lang="fr-FR" sz="2000" dirty="0" err="1">
                <a:latin typeface="Times New Roman" panose="02020603050405020304" pitchFamily="18" charset="0"/>
                <a:cs typeface="Times New Roman" panose="02020603050405020304" pitchFamily="18" charset="0"/>
              </a:rPr>
              <a:t>Freq</a:t>
            </a:r>
            <a:r>
              <a:rPr lang="fr-FR" sz="2000" dirty="0">
                <a:latin typeface="Times New Roman" panose="02020603050405020304" pitchFamily="18" charset="0"/>
                <a:cs typeface="Times New Roman" panose="02020603050405020304" pitchFamily="18" charset="0"/>
              </a:rPr>
              <a:t> = Daily ; </a:t>
            </a:r>
            <a:r>
              <a:rPr lang="fr-FR" sz="2000" dirty="0" err="1">
                <a:latin typeface="Times New Roman" panose="02020603050405020304" pitchFamily="18" charset="0"/>
                <a:cs typeface="Times New Roman" panose="02020603050405020304" pitchFamily="18" charset="0"/>
              </a:rPr>
              <a:t>Interval</a:t>
            </a:r>
            <a:r>
              <a:rPr lang="fr-FR" sz="2000" dirty="0">
                <a:latin typeface="Times New Roman" panose="02020603050405020304" pitchFamily="18" charset="0"/>
                <a:cs typeface="Times New Roman" panose="02020603050405020304" pitchFamily="18" charset="0"/>
              </a:rPr>
              <a:t> = 2',</a:t>
            </a:r>
          </a:p>
          <a:p>
            <a:pPr marL="0" indent="0">
              <a:lnSpc>
                <a:spcPct val="100000"/>
              </a:lnSpc>
              <a:buNone/>
            </a:pPr>
            <a:r>
              <a:rPr lang="fr-FR" sz="2000" dirty="0"/>
              <a:t>		</a:t>
            </a:r>
            <a:r>
              <a:rPr lang="fr-FR" sz="2000" dirty="0" err="1">
                <a:latin typeface="Times New Roman" panose="02020603050405020304" pitchFamily="18" charset="0"/>
                <a:cs typeface="Times New Roman" panose="02020603050405020304" pitchFamily="18" charset="0"/>
              </a:rPr>
              <a:t>end_date</a:t>
            </a:r>
            <a:r>
              <a:rPr lang="fr-FR" sz="2000" dirty="0">
                <a:latin typeface="Times New Roman" panose="02020603050405020304" pitchFamily="18" charset="0"/>
                <a:cs typeface="Times New Roman" panose="02020603050405020304" pitchFamily="18" charset="0"/>
              </a:rPr>
              <a:t>	=&gt; '20-OCT-30 06.00.00 PM </a:t>
            </a:r>
            <a:r>
              <a:rPr lang="fr-FR" sz="2000" dirty="0" err="1">
                <a:latin typeface="Times New Roman" panose="02020603050405020304" pitchFamily="18" charset="0"/>
                <a:cs typeface="Times New Roman" panose="02020603050405020304" pitchFamily="18" charset="0"/>
              </a:rPr>
              <a:t>Senegal</a:t>
            </a:r>
            <a:r>
              <a:rPr lang="fr-FR" sz="2000" dirty="0">
                <a:latin typeface="Times New Roman" panose="02020603050405020304" pitchFamily="18" charset="0"/>
                <a:cs typeface="Times New Roman" panose="02020603050405020304" pitchFamily="18" charset="0"/>
              </a:rPr>
              <a:t>/Dakar',</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auto_drop</a:t>
            </a:r>
            <a:r>
              <a:rPr lang="fr-FR" sz="2000" dirty="0">
                <a:latin typeface="Times New Roman" panose="02020603050405020304" pitchFamily="18" charset="0"/>
                <a:cs typeface="Times New Roman" panose="02020603050405020304" pitchFamily="18" charset="0"/>
              </a:rPr>
              <a:t>	</a:t>
            </a:r>
            <a:r>
              <a:rPr lang="fr-FR" sz="2000">
                <a:latin typeface="Times New Roman" panose="02020603050405020304" pitchFamily="18" charset="0"/>
                <a:cs typeface="Times New Roman" panose="02020603050405020304" pitchFamily="18" charset="0"/>
              </a:rPr>
              <a:t>=&gt; False</a:t>
            </a:r>
            <a:endParaRPr lang="fr-FR" sz="2000" dirty="0">
              <a:latin typeface="Times New Roman" panose="02020603050405020304" pitchFamily="18" charset="0"/>
              <a:cs typeface="Times New Roman" panose="02020603050405020304" pitchFamily="18" charset="0"/>
            </a:endParaRPr>
          </a:p>
          <a:p>
            <a:pPr marL="0" indent="0">
              <a:lnSpc>
                <a:spcPct val="100000"/>
              </a:lnSpc>
              <a:buNone/>
            </a:pPr>
            <a:r>
              <a:rPr lang="fr-FR" sz="2000" dirty="0">
                <a:latin typeface="Times New Roman" panose="02020603050405020304" pitchFamily="18" charset="0"/>
                <a:cs typeface="Times New Roman" panose="02020603050405020304" pitchFamily="18" charset="0"/>
              </a:rPr>
              <a:t>	) ;</a:t>
            </a:r>
          </a:p>
          <a:p>
            <a:pPr marL="0" indent="0">
              <a:lnSpc>
                <a:spcPct val="100000"/>
              </a:lnSpc>
              <a:buNone/>
            </a:pPr>
            <a:r>
              <a:rPr lang="fr-FR" sz="2000" b="1" dirty="0">
                <a:latin typeface="Times New Roman" panose="02020603050405020304" pitchFamily="18" charset="0"/>
                <a:cs typeface="Times New Roman" panose="02020603050405020304" pitchFamily="18" charset="0"/>
              </a:rPr>
              <a:t>End</a:t>
            </a:r>
            <a:r>
              <a:rPr lang="fr-FR" sz="2000" dirty="0">
                <a:latin typeface="Times New Roman" panose="02020603050405020304" pitchFamily="18" charset="0"/>
                <a:cs typeface="Times New Roman" panose="02020603050405020304" pitchFamily="18" charset="0"/>
              </a:rPr>
              <a:t>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27</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IV.1. Créer un Job</a:t>
            </a:r>
          </a:p>
        </p:txBody>
      </p:sp>
    </p:spTree>
    <p:extLst>
      <p:ext uri="{BB962C8B-B14F-4D97-AF65-F5344CB8AC3E}">
        <p14:creationId xmlns:p14="http://schemas.microsoft.com/office/powerpoint/2010/main" val="1774039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940158" y="1687132"/>
            <a:ext cx="11251841" cy="5157989"/>
          </a:xfrm>
        </p:spPr>
        <p:txBody>
          <a:bodyPr>
            <a:noAutofit/>
          </a:bodyPr>
          <a:lstStyle/>
          <a:p>
            <a:pPr marL="0" indent="0">
              <a:buNone/>
            </a:pPr>
            <a:r>
              <a:rPr lang="fr-FR" b="1" dirty="0">
                <a:latin typeface="Times New Roman" panose="02020603050405020304" pitchFamily="18" charset="0"/>
                <a:cs typeface="Times New Roman" panose="02020603050405020304" pitchFamily="18" charset="0"/>
              </a:rPr>
              <a:t>Begin</a:t>
            </a:r>
            <a:endParaRPr lang="fr-FR" dirty="0">
              <a:latin typeface="Times New Roman" panose="02020603050405020304" pitchFamily="18" charset="0"/>
              <a:cs typeface="Times New Roman" panose="02020603050405020304" pitchFamily="18" charset="0"/>
            </a:endParaRPr>
          </a:p>
          <a:p>
            <a:pPr marL="0" indent="0">
              <a:buNone/>
            </a:pP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DBMS_Scheduler.</a:t>
            </a:r>
            <a:r>
              <a:rPr lang="fr-FR" b="1" dirty="0" err="1">
                <a:solidFill>
                  <a:srgbClr val="FF0000"/>
                </a:solidFill>
                <a:latin typeface="Times New Roman" panose="02020603050405020304" pitchFamily="18" charset="0"/>
                <a:cs typeface="Times New Roman" panose="02020603050405020304" pitchFamily="18" charset="0"/>
              </a:rPr>
              <a:t>RUN_JOB</a:t>
            </a:r>
            <a:endParaRPr lang="fr-FR" dirty="0">
              <a:solidFill>
                <a:srgbClr val="FF0000"/>
              </a:solidFill>
              <a:latin typeface="Times New Roman" panose="02020603050405020304" pitchFamily="18" charset="0"/>
              <a:cs typeface="Times New Roman" panose="02020603050405020304" pitchFamily="18" charset="0"/>
            </a:endParaRPr>
          </a:p>
          <a:p>
            <a:pPr marL="0" indent="0">
              <a:buNone/>
            </a:pPr>
            <a:r>
              <a:rPr lang="fr-FR" dirty="0">
                <a:latin typeface="Times New Roman" panose="02020603050405020304" pitchFamily="18" charset="0"/>
                <a:cs typeface="Times New Roman" panose="02020603050405020304" pitchFamily="18" charset="0"/>
              </a:rPr>
              <a:t>	(</a:t>
            </a:r>
          </a:p>
          <a:p>
            <a:pPr marL="0" indent="0">
              <a:buNone/>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Job_Name</a:t>
            </a:r>
            <a:r>
              <a:rPr lang="fr-FR" dirty="0">
                <a:latin typeface="Times New Roman" panose="02020603050405020304" pitchFamily="18" charset="0"/>
                <a:cs typeface="Times New Roman" panose="02020603050405020304" pitchFamily="18" charset="0"/>
              </a:rPr>
              <a:t>		=&gt; '</a:t>
            </a:r>
            <a:r>
              <a:rPr lang="fr-FR" dirty="0" err="1">
                <a:latin typeface="Times New Roman" panose="02020603050405020304" pitchFamily="18" charset="0"/>
                <a:cs typeface="Times New Roman" panose="02020603050405020304" pitchFamily="18" charset="0"/>
              </a:rPr>
              <a:t>Ma_Classe_Java</a:t>
            </a:r>
            <a:r>
              <a:rPr lang="fr-FR" dirty="0">
                <a:latin typeface="Times New Roman" panose="02020603050405020304" pitchFamily="18" charset="0"/>
                <a:cs typeface="Times New Roman" panose="02020603050405020304" pitchFamily="18" charset="0"/>
              </a:rPr>
              <a:t>',</a:t>
            </a:r>
          </a:p>
          <a:p>
            <a:pPr marL="0" indent="0">
              <a:buNone/>
            </a:pPr>
            <a:r>
              <a:rPr lang="fr-FR" dirty="0">
                <a:latin typeface="Times New Roman" panose="02020603050405020304" pitchFamily="18" charset="0"/>
                <a:cs typeface="Times New Roman" panose="02020603050405020304" pitchFamily="18" charset="0"/>
              </a:rPr>
              <a:t>	) ;</a:t>
            </a:r>
          </a:p>
          <a:p>
            <a:pPr marL="0" indent="0">
              <a:buNone/>
            </a:pPr>
            <a:r>
              <a:rPr lang="fr-FR" b="1" dirty="0">
                <a:latin typeface="Times New Roman" panose="02020603050405020304" pitchFamily="18" charset="0"/>
                <a:cs typeface="Times New Roman" panose="02020603050405020304" pitchFamily="18" charset="0"/>
              </a:rPr>
              <a:t>End</a:t>
            </a:r>
            <a:r>
              <a:rPr lang="fr-FR" dirty="0">
                <a:latin typeface="Times New Roman" panose="02020603050405020304" pitchFamily="18" charset="0"/>
                <a:cs typeface="Times New Roman" panose="02020603050405020304" pitchFamily="18" charset="0"/>
              </a:rPr>
              <a:t> ;</a:t>
            </a:r>
          </a:p>
          <a:p>
            <a:pPr marL="0" indent="0">
              <a:buNone/>
            </a:pPr>
            <a:endParaRPr lang="fr-FR" dirty="0">
              <a:latin typeface="Times New Roman" panose="02020603050405020304" pitchFamily="18" charset="0"/>
              <a:cs typeface="Times New Roman" panose="02020603050405020304" pitchFamily="18" charset="0"/>
            </a:endParaRPr>
          </a:p>
          <a:p>
            <a:pPr marL="0" indent="0">
              <a:buNone/>
            </a:pPr>
            <a:r>
              <a:rPr lang="fr-FR" b="1" dirty="0" err="1">
                <a:latin typeface="Times New Roman" panose="02020603050405020304" pitchFamily="18" charset="0"/>
                <a:cs typeface="Times New Roman" panose="02020603050405020304" pitchFamily="18" charset="0"/>
              </a:rPr>
              <a:t>Exec</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DBMS_Scheduler.RUN_JOB</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my_java_job</a:t>
            </a:r>
            <a:r>
              <a:rPr lang="fr-FR" dirty="0">
                <a:latin typeface="Times New Roman" panose="02020603050405020304" pitchFamily="18" charset="0"/>
                <a:cs typeface="Times New Roman" panose="02020603050405020304" pitchFamily="18" charset="0"/>
              </a:rPr>
              <a:t> ')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28</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IV.2. Exécuter un Job</a:t>
            </a:r>
          </a:p>
        </p:txBody>
      </p:sp>
    </p:spTree>
    <p:extLst>
      <p:ext uri="{BB962C8B-B14F-4D97-AF65-F5344CB8AC3E}">
        <p14:creationId xmlns:p14="http://schemas.microsoft.com/office/powerpoint/2010/main" val="339217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1906073" y="2034861"/>
            <a:ext cx="10285926" cy="4810260"/>
          </a:xfrm>
        </p:spPr>
        <p:txBody>
          <a:bodyPr>
            <a:noAutofit/>
          </a:bodyPr>
          <a:lstStyle/>
          <a:p>
            <a:pPr marL="0" indent="0">
              <a:buNone/>
            </a:pPr>
            <a:r>
              <a:rPr lang="fr-FR" b="1" dirty="0">
                <a:latin typeface="Times New Roman" panose="02020603050405020304" pitchFamily="18" charset="0"/>
                <a:cs typeface="Times New Roman" panose="02020603050405020304" pitchFamily="18" charset="0"/>
              </a:rPr>
              <a:t>Begin</a:t>
            </a:r>
            <a:endParaRPr lang="fr-FR" dirty="0">
              <a:latin typeface="Times New Roman" panose="02020603050405020304" pitchFamily="18" charset="0"/>
              <a:cs typeface="Times New Roman" panose="02020603050405020304" pitchFamily="18" charset="0"/>
            </a:endParaRPr>
          </a:p>
          <a:p>
            <a:pPr marL="0" indent="0">
              <a:buNone/>
            </a:pP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DBMS_Scheduler.</a:t>
            </a:r>
            <a:r>
              <a:rPr lang="fr-FR" b="1" dirty="0" err="1">
                <a:solidFill>
                  <a:srgbClr val="FF0000"/>
                </a:solidFill>
                <a:latin typeface="Times New Roman" panose="02020603050405020304" pitchFamily="18" charset="0"/>
                <a:cs typeface="Times New Roman" panose="02020603050405020304" pitchFamily="18" charset="0"/>
              </a:rPr>
              <a:t>STOP_JOB</a:t>
            </a:r>
            <a:endParaRPr lang="fr-FR" dirty="0">
              <a:solidFill>
                <a:srgbClr val="FF0000"/>
              </a:solidFill>
              <a:latin typeface="Times New Roman" panose="02020603050405020304" pitchFamily="18" charset="0"/>
              <a:cs typeface="Times New Roman" panose="02020603050405020304" pitchFamily="18" charset="0"/>
            </a:endParaRPr>
          </a:p>
          <a:p>
            <a:pPr marL="0" indent="0">
              <a:buNone/>
            </a:pPr>
            <a:r>
              <a:rPr lang="fr-FR" dirty="0">
                <a:latin typeface="Times New Roman" panose="02020603050405020304" pitchFamily="18" charset="0"/>
                <a:cs typeface="Times New Roman" panose="02020603050405020304" pitchFamily="18" charset="0"/>
              </a:rPr>
              <a:t>	(</a:t>
            </a:r>
          </a:p>
          <a:p>
            <a:pPr marL="0" indent="0">
              <a:buNone/>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Ma_Classe_Java</a:t>
            </a:r>
            <a:r>
              <a:rPr lang="fr-FR" dirty="0">
                <a:latin typeface="Times New Roman" panose="02020603050405020304" pitchFamily="18" charset="0"/>
                <a:cs typeface="Times New Roman" panose="02020603050405020304" pitchFamily="18" charset="0"/>
              </a:rPr>
              <a:t>'</a:t>
            </a:r>
          </a:p>
          <a:p>
            <a:pPr marL="0" indent="0">
              <a:buNone/>
            </a:pPr>
            <a:r>
              <a:rPr lang="fr-FR" dirty="0">
                <a:latin typeface="Times New Roman" panose="02020603050405020304" pitchFamily="18" charset="0"/>
                <a:cs typeface="Times New Roman" panose="02020603050405020304" pitchFamily="18" charset="0"/>
              </a:rPr>
              <a:t>	) ;</a:t>
            </a:r>
          </a:p>
          <a:p>
            <a:pPr marL="0" indent="0">
              <a:buNone/>
            </a:pPr>
            <a:r>
              <a:rPr lang="fr-FR" b="1" dirty="0">
                <a:latin typeface="Times New Roman" panose="02020603050405020304" pitchFamily="18" charset="0"/>
                <a:cs typeface="Times New Roman" panose="02020603050405020304" pitchFamily="18" charset="0"/>
              </a:rPr>
              <a:t>End </a:t>
            </a:r>
            <a:r>
              <a:rPr lang="fr-FR" dirty="0">
                <a:latin typeface="Times New Roman" panose="02020603050405020304" pitchFamily="18" charset="0"/>
                <a:cs typeface="Times New Roman" panose="02020603050405020304" pitchFamily="18" charset="0"/>
              </a:rPr>
              <a:t>;</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29</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IV.3. Arrêter un Job</a:t>
            </a:r>
          </a:p>
        </p:txBody>
      </p:sp>
    </p:spTree>
    <p:extLst>
      <p:ext uri="{BB962C8B-B14F-4D97-AF65-F5344CB8AC3E}">
        <p14:creationId xmlns:p14="http://schemas.microsoft.com/office/powerpoint/2010/main" val="666759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940158" y="1519707"/>
            <a:ext cx="11251841" cy="5325414"/>
          </a:xfrm>
        </p:spPr>
        <p:txBody>
          <a:bodyPr>
            <a:noAutofit/>
          </a:bodyPr>
          <a:lstStyle/>
          <a:p>
            <a:pPr marL="0" indent="0">
              <a:lnSpc>
                <a:spcPct val="100000"/>
              </a:lnSpc>
              <a:buNone/>
            </a:pPr>
            <a:r>
              <a:rPr lang="fr-FR" sz="2000" b="1" dirty="0">
                <a:latin typeface="Times New Roman" panose="02020603050405020304" pitchFamily="18" charset="0"/>
                <a:cs typeface="Times New Roman" panose="02020603050405020304" pitchFamily="18" charset="0"/>
              </a:rPr>
              <a:t>Begin</a:t>
            </a:r>
            <a:endParaRPr lang="fr-FR" sz="2000" dirty="0">
              <a:latin typeface="Times New Roman" panose="02020603050405020304" pitchFamily="18" charset="0"/>
              <a:cs typeface="Times New Roman" panose="02020603050405020304" pitchFamily="18" charset="0"/>
            </a:endParaRPr>
          </a:p>
          <a:p>
            <a:pPr marL="0" indent="0">
              <a:lnSpc>
                <a:spcPct val="100000"/>
              </a:lnSpc>
              <a:buNone/>
            </a:pP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DBMS_Scheduler.</a:t>
            </a:r>
            <a:r>
              <a:rPr lang="fr-FR" sz="2000" b="1" dirty="0" err="1">
                <a:solidFill>
                  <a:srgbClr val="FF0000"/>
                </a:solidFill>
                <a:latin typeface="Times New Roman" panose="02020603050405020304" pitchFamily="18" charset="0"/>
                <a:cs typeface="Times New Roman" panose="02020603050405020304" pitchFamily="18" charset="0"/>
              </a:rPr>
              <a:t>DISABLE</a:t>
            </a:r>
            <a:endParaRPr lang="fr-FR" sz="2000"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r>
              <a:rPr lang="fr-FR" sz="2000" dirty="0">
                <a:latin typeface="Times New Roman" panose="02020603050405020304" pitchFamily="18" charset="0"/>
                <a:cs typeface="Times New Roman" panose="02020603050405020304" pitchFamily="18" charset="0"/>
              </a:rPr>
              <a:t>	(</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Ma_Classe_Java</a:t>
            </a:r>
            <a:r>
              <a:rPr lang="fr-FR" sz="2000" dirty="0">
                <a:latin typeface="Times New Roman" panose="02020603050405020304" pitchFamily="18" charset="0"/>
                <a:cs typeface="Times New Roman" panose="02020603050405020304" pitchFamily="18" charset="0"/>
              </a:rPr>
              <a:t>'</a:t>
            </a:r>
          </a:p>
          <a:p>
            <a:pPr marL="0" indent="0">
              <a:lnSpc>
                <a:spcPct val="100000"/>
              </a:lnSpc>
              <a:buNone/>
            </a:pPr>
            <a:r>
              <a:rPr lang="fr-FR" sz="2000" dirty="0">
                <a:latin typeface="Times New Roman" panose="02020603050405020304" pitchFamily="18" charset="0"/>
                <a:cs typeface="Times New Roman" panose="02020603050405020304" pitchFamily="18" charset="0"/>
              </a:rPr>
              <a:t>	) ;</a:t>
            </a:r>
          </a:p>
          <a:p>
            <a:pPr marL="0" indent="0">
              <a:lnSpc>
                <a:spcPct val="100000"/>
              </a:lnSpc>
              <a:buNone/>
            </a:pPr>
            <a:r>
              <a:rPr lang="fr-FR" sz="2000" b="1" dirty="0">
                <a:latin typeface="Times New Roman" panose="02020603050405020304" pitchFamily="18" charset="0"/>
                <a:cs typeface="Times New Roman" panose="02020603050405020304" pitchFamily="18" charset="0"/>
              </a:rPr>
              <a:t>End</a:t>
            </a:r>
            <a:r>
              <a:rPr lang="fr-FR" sz="2000" dirty="0">
                <a:latin typeface="Times New Roman" panose="02020603050405020304" pitchFamily="18" charset="0"/>
                <a:cs typeface="Times New Roman" panose="02020603050405020304" pitchFamily="18" charset="0"/>
              </a:rPr>
              <a:t> ;</a:t>
            </a:r>
          </a:p>
          <a:p>
            <a:pPr marL="0" indent="0">
              <a:lnSpc>
                <a:spcPct val="100000"/>
              </a:lnSpc>
              <a:buNone/>
            </a:pPr>
            <a:r>
              <a:rPr lang="fr-FR" sz="2000" b="1" dirty="0">
                <a:latin typeface="Times New Roman" panose="02020603050405020304" pitchFamily="18" charset="0"/>
                <a:cs typeface="Times New Roman" panose="02020603050405020304" pitchFamily="18" charset="0"/>
              </a:rPr>
              <a:t>Begin</a:t>
            </a:r>
            <a:endParaRPr lang="fr-FR" sz="2000" dirty="0">
              <a:latin typeface="Times New Roman" panose="02020603050405020304" pitchFamily="18" charset="0"/>
              <a:cs typeface="Times New Roman" panose="02020603050405020304" pitchFamily="18" charset="0"/>
            </a:endParaRPr>
          </a:p>
          <a:p>
            <a:pPr marL="0" indent="0">
              <a:lnSpc>
                <a:spcPct val="100000"/>
              </a:lnSpc>
              <a:buNone/>
            </a:pP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DBMS_Scheduler.</a:t>
            </a:r>
            <a:r>
              <a:rPr lang="fr-FR" sz="2000" b="1" dirty="0" err="1">
                <a:solidFill>
                  <a:srgbClr val="FF0000"/>
                </a:solidFill>
                <a:latin typeface="Times New Roman" panose="02020603050405020304" pitchFamily="18" charset="0"/>
                <a:cs typeface="Times New Roman" panose="02020603050405020304" pitchFamily="18" charset="0"/>
              </a:rPr>
              <a:t>ENABLE</a:t>
            </a:r>
            <a:endParaRPr lang="fr-FR" sz="2000" dirty="0">
              <a:solidFill>
                <a:srgbClr val="FF0000"/>
              </a:solidFill>
              <a:latin typeface="Times New Roman" panose="02020603050405020304" pitchFamily="18" charset="0"/>
              <a:cs typeface="Times New Roman" panose="02020603050405020304" pitchFamily="18" charset="0"/>
            </a:endParaRPr>
          </a:p>
          <a:p>
            <a:pPr marL="0" indent="0">
              <a:lnSpc>
                <a:spcPct val="100000"/>
              </a:lnSpc>
              <a:buNone/>
            </a:pPr>
            <a:r>
              <a:rPr lang="fr-FR" sz="2000" dirty="0">
                <a:latin typeface="Times New Roman" panose="02020603050405020304" pitchFamily="18" charset="0"/>
                <a:cs typeface="Times New Roman" panose="02020603050405020304" pitchFamily="18" charset="0"/>
              </a:rPr>
              <a:t>	(</a:t>
            </a:r>
          </a:p>
          <a:p>
            <a:pPr marL="0" indent="0">
              <a:lnSpc>
                <a:spcPct val="100000"/>
              </a:lnSpc>
              <a:buNone/>
            </a:pP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Ma_Classe_Java</a:t>
            </a:r>
            <a:r>
              <a:rPr lang="fr-FR" sz="2000" dirty="0">
                <a:latin typeface="Times New Roman" panose="02020603050405020304" pitchFamily="18" charset="0"/>
                <a:cs typeface="Times New Roman" panose="02020603050405020304" pitchFamily="18" charset="0"/>
              </a:rPr>
              <a:t>'</a:t>
            </a:r>
          </a:p>
          <a:p>
            <a:pPr marL="0" indent="0">
              <a:lnSpc>
                <a:spcPct val="100000"/>
              </a:lnSpc>
              <a:buNone/>
            </a:pPr>
            <a:r>
              <a:rPr lang="fr-FR" sz="2000" dirty="0">
                <a:latin typeface="Times New Roman" panose="02020603050405020304" pitchFamily="18" charset="0"/>
                <a:cs typeface="Times New Roman" panose="02020603050405020304" pitchFamily="18" charset="0"/>
              </a:rPr>
              <a:t>	) ;</a:t>
            </a:r>
          </a:p>
          <a:p>
            <a:pPr marL="0" indent="0">
              <a:lnSpc>
                <a:spcPct val="100000"/>
              </a:lnSpc>
              <a:buNone/>
            </a:pPr>
            <a:r>
              <a:rPr lang="fr-FR" sz="2000" b="1" dirty="0">
                <a:latin typeface="Times New Roman" panose="02020603050405020304" pitchFamily="18" charset="0"/>
                <a:cs typeface="Times New Roman" panose="02020603050405020304" pitchFamily="18" charset="0"/>
              </a:rPr>
              <a:t>End</a:t>
            </a:r>
            <a:r>
              <a:rPr lang="fr-FR" sz="2000" dirty="0">
                <a:latin typeface="Times New Roman" panose="02020603050405020304" pitchFamily="18" charset="0"/>
                <a:cs typeface="Times New Roman" panose="02020603050405020304" pitchFamily="18" charset="0"/>
              </a:rPr>
              <a:t> ;</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30</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IV.4. Activer et désactiver un Job</a:t>
            </a:r>
          </a:p>
        </p:txBody>
      </p:sp>
    </p:spTree>
    <p:extLst>
      <p:ext uri="{BB962C8B-B14F-4D97-AF65-F5344CB8AC3E}">
        <p14:creationId xmlns:p14="http://schemas.microsoft.com/office/powerpoint/2010/main" val="1440427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41413" y="0"/>
            <a:ext cx="9905998" cy="1017431"/>
          </a:xfrm>
        </p:spPr>
        <p:txBody>
          <a:bodyPr>
            <a:normAutofit/>
          </a:bodyPr>
          <a:lstStyle/>
          <a:p>
            <a:pPr algn="ctr"/>
            <a:r>
              <a:rPr lang="fr-FR" dirty="0">
                <a:solidFill>
                  <a:schemeClr val="bg1"/>
                </a:solidFill>
                <a:latin typeface="Times New Roman" panose="02020603050405020304" pitchFamily="18" charset="0"/>
                <a:cs typeface="Times New Roman" panose="02020603050405020304" pitchFamily="18" charset="0"/>
              </a:rPr>
              <a:t>IV. Planification de Jobs</a:t>
            </a:r>
            <a:endParaRPr lang="fr-FR" dirty="0">
              <a:solidFill>
                <a:schemeClr val="bg1"/>
              </a:solidFill>
            </a:endParaRPr>
          </a:p>
        </p:txBody>
      </p:sp>
      <p:sp>
        <p:nvSpPr>
          <p:cNvPr id="3" name="Espace réservé du contenu 2"/>
          <p:cNvSpPr>
            <a:spLocks noGrp="1"/>
          </p:cNvSpPr>
          <p:nvPr>
            <p:ph idx="1"/>
          </p:nvPr>
        </p:nvSpPr>
        <p:spPr>
          <a:xfrm>
            <a:off x="1815921" y="2034861"/>
            <a:ext cx="10376078" cy="4810260"/>
          </a:xfrm>
        </p:spPr>
        <p:txBody>
          <a:bodyPr>
            <a:noAutofit/>
          </a:bodyPr>
          <a:lstStyle/>
          <a:p>
            <a:pPr marL="0" indent="0">
              <a:buNone/>
            </a:pPr>
            <a:r>
              <a:rPr lang="fr-FR" b="1" dirty="0">
                <a:latin typeface="Times New Roman" panose="02020603050405020304" pitchFamily="18" charset="0"/>
                <a:cs typeface="Times New Roman" panose="02020603050405020304" pitchFamily="18" charset="0"/>
              </a:rPr>
              <a:t>Begin</a:t>
            </a:r>
            <a:endParaRPr lang="fr-FR" dirty="0">
              <a:latin typeface="Times New Roman" panose="02020603050405020304" pitchFamily="18" charset="0"/>
              <a:cs typeface="Times New Roman" panose="02020603050405020304" pitchFamily="18" charset="0"/>
            </a:endParaRPr>
          </a:p>
          <a:p>
            <a:pPr marL="0" indent="0">
              <a:buNone/>
            </a:pPr>
            <a:r>
              <a:rPr lang="fr-FR" b="1"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DBMS_Scheduler.</a:t>
            </a:r>
            <a:r>
              <a:rPr lang="fr-FR" b="1" dirty="0" err="1">
                <a:solidFill>
                  <a:srgbClr val="FF0000"/>
                </a:solidFill>
                <a:latin typeface="Times New Roman" panose="02020603050405020304" pitchFamily="18" charset="0"/>
                <a:cs typeface="Times New Roman" panose="02020603050405020304" pitchFamily="18" charset="0"/>
              </a:rPr>
              <a:t>DROP_JOB</a:t>
            </a:r>
            <a:endParaRPr lang="fr-FR" dirty="0">
              <a:solidFill>
                <a:srgbClr val="FF0000"/>
              </a:solidFill>
              <a:latin typeface="Times New Roman" panose="02020603050405020304" pitchFamily="18" charset="0"/>
              <a:cs typeface="Times New Roman" panose="02020603050405020304" pitchFamily="18" charset="0"/>
            </a:endParaRPr>
          </a:p>
          <a:p>
            <a:pPr marL="0" indent="0">
              <a:buNone/>
            </a:pPr>
            <a:r>
              <a:rPr lang="fr-FR" dirty="0">
                <a:latin typeface="Times New Roman" panose="02020603050405020304" pitchFamily="18" charset="0"/>
                <a:cs typeface="Times New Roman" panose="02020603050405020304" pitchFamily="18" charset="0"/>
              </a:rPr>
              <a:t>	(</a:t>
            </a:r>
          </a:p>
          <a:p>
            <a:pPr marL="0" indent="0">
              <a:buNone/>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Ma_Classe_Java</a:t>
            </a:r>
            <a:r>
              <a:rPr lang="fr-FR" dirty="0">
                <a:latin typeface="Times New Roman" panose="02020603050405020304" pitchFamily="18" charset="0"/>
                <a:cs typeface="Times New Roman" panose="02020603050405020304" pitchFamily="18" charset="0"/>
              </a:rPr>
              <a:t>'</a:t>
            </a:r>
          </a:p>
          <a:p>
            <a:pPr marL="0" indent="0">
              <a:buNone/>
            </a:pPr>
            <a:r>
              <a:rPr lang="fr-FR" dirty="0">
                <a:latin typeface="Times New Roman" panose="02020603050405020304" pitchFamily="18" charset="0"/>
                <a:cs typeface="Times New Roman" panose="02020603050405020304" pitchFamily="18" charset="0"/>
              </a:rPr>
              <a:t>	) ;</a:t>
            </a:r>
          </a:p>
          <a:p>
            <a:pPr marL="0" indent="0">
              <a:buNone/>
            </a:pPr>
            <a:r>
              <a:rPr lang="fr-FR" b="1" dirty="0">
                <a:latin typeface="Times New Roman" panose="02020603050405020304" pitchFamily="18" charset="0"/>
                <a:cs typeface="Times New Roman" panose="02020603050405020304" pitchFamily="18" charset="0"/>
              </a:rPr>
              <a:t>End </a:t>
            </a:r>
            <a:r>
              <a:rPr lang="fr-FR" dirty="0">
                <a:latin typeface="Times New Roman" panose="02020603050405020304" pitchFamily="18" charset="0"/>
                <a:cs typeface="Times New Roman" panose="02020603050405020304" pitchFamily="18" charset="0"/>
              </a:rPr>
              <a:t>;</a:t>
            </a:r>
          </a:p>
        </p:txBody>
      </p:sp>
      <p:sp>
        <p:nvSpPr>
          <p:cNvPr id="5" name="Espace réservé du numéro de diapositive 4"/>
          <p:cNvSpPr>
            <a:spLocks noGrp="1"/>
          </p:cNvSpPr>
          <p:nvPr>
            <p:ph type="sldNum" sz="quarter" idx="12"/>
          </p:nvPr>
        </p:nvSpPr>
        <p:spPr>
          <a:xfrm>
            <a:off x="0" y="2818103"/>
            <a:ext cx="771089" cy="365125"/>
          </a:xfrm>
        </p:spPr>
        <p:txBody>
          <a:bodyPr/>
          <a:lstStyle/>
          <a:p>
            <a:pPr algn="ctr"/>
            <a:fld id="{6D22F896-40B5-4ADD-8801-0D06FADFA095}" type="slidenum">
              <a:rPr lang="en-US" sz="2400" smtClean="0">
                <a:solidFill>
                  <a:schemeClr val="tx2">
                    <a:lumMod val="75000"/>
                  </a:schemeClr>
                </a:solidFill>
                <a:latin typeface="Times New Roman" panose="02020603050405020304" pitchFamily="18" charset="0"/>
                <a:cs typeface="Times New Roman" panose="02020603050405020304" pitchFamily="18" charset="0"/>
              </a:rPr>
              <a:pPr algn="ctr"/>
              <a:t>31</a:t>
            </a:fld>
            <a:endParaRPr lang="en-US" sz="24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6" name="Espace réservé du contenu 2"/>
          <p:cNvSpPr txBox="1">
            <a:spLocks/>
          </p:cNvSpPr>
          <p:nvPr/>
        </p:nvSpPr>
        <p:spPr>
          <a:xfrm>
            <a:off x="1141412" y="669701"/>
            <a:ext cx="9905999" cy="69545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fr-FR" sz="3200" dirty="0">
                <a:solidFill>
                  <a:schemeClr val="bg1"/>
                </a:solidFill>
                <a:latin typeface="Times New Roman" panose="02020603050405020304" pitchFamily="18" charset="0"/>
                <a:cs typeface="Times New Roman" panose="02020603050405020304" pitchFamily="18" charset="0"/>
              </a:rPr>
              <a:t>IV.5. Supprimer un Job</a:t>
            </a:r>
          </a:p>
        </p:txBody>
      </p:sp>
    </p:spTree>
    <p:extLst>
      <p:ext uri="{BB962C8B-B14F-4D97-AF65-F5344CB8AC3E}">
        <p14:creationId xmlns:p14="http://schemas.microsoft.com/office/powerpoint/2010/main" val="11013396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1938</TotalTime>
  <Words>2197</Words>
  <Application>Microsoft Macintosh PowerPoint</Application>
  <PresentationFormat>Grand écran</PresentationFormat>
  <Paragraphs>280</Paragraphs>
  <Slides>31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Arial</vt:lpstr>
      <vt:lpstr>Calibri</vt:lpstr>
      <vt:lpstr>Times New Roman</vt:lpstr>
      <vt:lpstr>Tw Cen MT</vt:lpstr>
      <vt:lpstr>Wingdings</vt:lpstr>
      <vt:lpstr>Circuit</vt:lpstr>
      <vt:lpstr>Chapitre II Schéma - session et Objet oracle</vt:lpstr>
      <vt:lpstr>Plan du cours</vt:lpstr>
      <vt:lpstr>Introduction</vt:lpstr>
      <vt:lpstr>I. Schéma oracle</vt:lpstr>
      <vt:lpstr>I. Schéma oracle</vt:lpstr>
      <vt:lpstr>II. Session oracle</vt:lpstr>
      <vt:lpstr>II. Session oracle</vt:lpstr>
      <vt:lpstr>II. Session oracle</vt:lpstr>
      <vt:lpstr>II. Session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III. Quelques objets de bD sous oracle</vt:lpstr>
      <vt:lpstr>IV. Planification de Jobs</vt:lpstr>
      <vt:lpstr>IV. Planification de Jobs</vt:lpstr>
      <vt:lpstr>IV. Planification de Jobs</vt:lpstr>
      <vt:lpstr>IV. Planification de Jobs</vt:lpstr>
      <vt:lpstr>IV. Planification de Jobs</vt:lpstr>
      <vt:lpstr>IV. Planification de Jobs</vt:lpstr>
      <vt:lpstr>IV. Planification de Jobs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II  Optimisation de schémas relationnels</dc:title>
  <dc:creator>HP PC</dc:creator>
  <cp:lastModifiedBy>Khalifa</cp:lastModifiedBy>
  <cp:revision>410</cp:revision>
  <dcterms:created xsi:type="dcterms:W3CDTF">2021-12-17T14:41:09Z</dcterms:created>
  <dcterms:modified xsi:type="dcterms:W3CDTF">2025-07-08T13:03:14Z</dcterms:modified>
</cp:coreProperties>
</file>