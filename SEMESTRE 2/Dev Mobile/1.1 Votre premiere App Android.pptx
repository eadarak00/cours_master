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3"/>
    <p:sldMasterId id="2147483674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4" r:id="rId31"/>
  </p:sldIdLst>
  <p:sldSz cx="9144000" cy="5143500"/>
  <p:notesSz cx="6858000" cy="9144000"/>
  <p:embeddedFontLst>
    <p:embeddedFont>
      <p:font typeface="Open Sans" panose="020B0606030504020204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5" Type="http://schemas.openxmlformats.org/officeDocument/2006/relationships/font" Target="fonts/font1.fntdata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16d7d9d49_3_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16d7d9d49_3_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804c611ed_0_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804c611ed_0_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623af889d_0_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623af889d_0_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8fbd4b120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8fbd4b120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5a3800b80_1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5a3800b80_1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7f5765591_0_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7f5765591_0_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7f5765591_0_7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7f5765591_0_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5a3800b80_1_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5a3800b80_1_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6c8640d04_0_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6c8640d04_0_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6c8640d04_0_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6c8640d04_0_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6c8640d04_0_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6c8640d04_0_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7f5765591_0_1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7f5765591_0_1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7f5765591_0_1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7f5765591_0_1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5a3800b80_1_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5a3800b80_1_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6c8640d04_0_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6c8640d04_0_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5a3800b80_1_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5a3800b80_1_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7f5765591_0_1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7f5765591_0_1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7f5765591_0_15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7f5765591_0_1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5a3800b80_2_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15a3800b80_2_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94f2827d0_2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94f2827d0_2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a3f6e2c19_0_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a3f6e2c19_0_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a3f6e2c19_0_5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a3f6e2c19_0_5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5a3800b80_1_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5a3800b80_1_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7f5765591_0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7f5765591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hyperlink" Target="http://creativecommons.org/licenses/by-nc/4.0/" TargetMode="External"/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5" Type="http://schemas.openxmlformats.org/officeDocument/2006/relationships/hyperlink" Target="http://creativecommons.org/licenses/by-nc/4.0/" TargetMode="External"/><Relationship Id="rId4" Type="http://schemas.openxmlformats.org/officeDocument/2006/relationships/image" Target="../media/image5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rgbClr val="4CAF50"/>
        </a:solidFill>
        <a:effectLst/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rgbClr val="4CAF50"/>
        </a:solidFill>
        <a:effectLst/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bg>
      <p:bgPr>
        <a:solidFill>
          <a:srgbClr val="FFFFFF"/>
        </a:solidFill>
        <a:effectLst/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2" descr="Android-Developer-Cover.jp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2" descr="footer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/>
          <p:nvPr/>
        </p:nvSpPr>
        <p:spPr>
          <a:xfrm>
            <a:off x="2346775" y="4761375"/>
            <a:ext cx="23652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2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62" name="Google Shape;62;p12"/>
          <p:cNvSpPr txBox="1"/>
          <p:nvPr>
            <p:ph type="sldNum" idx="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63" name="Google Shape;63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4" name="Google Shape;64;p12"/>
          <p:cNvSpPr txBox="1"/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5" name="Google Shape;65;p12"/>
          <p:cNvSpPr txBox="1"/>
          <p:nvPr>
            <p:ph type="sldNum" idx="3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66" name="Google Shape;66;p12"/>
          <p:cNvSpPr txBox="1"/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900" i="1">
                <a:solidFill>
                  <a:srgbClr val="666666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This work is licensed under a </a:t>
            </a:r>
            <a:r>
              <a:rPr lang="en-GB" sz="900" i="1" u="sng">
                <a:solidFill>
                  <a:srgbClr val="666666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  <a:hlinkClick r:id="rId4"/>
              </a:rPr>
              <a:t>Creative Commons Attribution 4.0 International License</a:t>
            </a:r>
            <a:r>
              <a:rPr lang="en-GB" sz="900" i="1">
                <a:solidFill>
                  <a:srgbClr val="666666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4483425" y="4663950"/>
            <a:ext cx="1095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7822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rgbClr val="4CAF50"/>
        </a:solidFill>
        <a:effectLst/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" name="Google Shape;83;p15"/>
          <p:cNvSpPr txBox="1"/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4" name="Google Shape;84;p15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rgbClr val="4CAF50"/>
        </a:solidFill>
        <a:effectLst/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7" name="Google Shape;87;p16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bg>
      <p:bgPr>
        <a:solidFill>
          <a:srgbClr val="FFFFFF"/>
        </a:solidFill>
        <a:effectLst/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8"/>
          <p:cNvSpPr txBox="1"/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97" name="Google Shape;97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01" name="Google Shape;101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20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9" name="Google Shape;109;p21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22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22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8" name="Google Shape;118;p23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" name="Google Shape;121;p24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5" descr="Android-Developer-Cover.jp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5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26" name="Google Shape;126;p25"/>
          <p:cNvSpPr txBox="1"/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27" name="Google Shape;127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8" name="Google Shape;128;p25"/>
          <p:cNvSpPr txBox="1"/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25"/>
          <p:cNvSpPr txBox="1"/>
          <p:nvPr>
            <p:ph type="subTitle" idx="3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30" name="Google Shape;130;p25" descr="footer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5"/>
          <p:cNvSpPr txBox="1"/>
          <p:nvPr>
            <p:ph type="sldNum" idx="4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32" name="Google Shape;132;p25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i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lang="en-GB" sz="900" i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Creative Commons Attribution-NonCommercial 4.0 International License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4421125" y="47592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Storing Data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rgbClr val="4CAF50"/>
        </a:solidFill>
        <a:effectLst/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0" name="Google Shape;150;p28"/>
          <p:cNvSpPr txBox="1"/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1" name="Google Shape;151;p28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rgbClr val="4CAF50"/>
        </a:solidFill>
        <a:effectLst/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4" name="Google Shape;154;p29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bg>
      <p:bgPr>
        <a:solidFill>
          <a:srgbClr val="FFFFFF"/>
        </a:solidFill>
        <a:effectLst/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7" name="Google Shape;157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000">
                <a:solidFill>
                  <a:srgbClr val="000000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2" name="Google Shape;162;p31"/>
          <p:cNvSpPr txBox="1"/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3" name="Google Shape;163;p31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64" name="Google Shape;164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68" name="Google Shape;168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9" name="Google Shape;169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2" name="Google Shape;172;p33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3" name="Google Shape;173;p33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6" name="Google Shape;176;p34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5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" name="Google Shape;179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0" name="Google Shape;180;p35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1" name="Google Shape;181;p35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2" name="Google Shape;182;p35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 txBox="1"/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85" name="Google Shape;185;p36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7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8" name="Google Shape;188;p37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9" name="Google Shape;189;p37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8" descr="Android-Developer-Cover.jp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8" descr="footer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8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38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95" name="Google Shape;195;p38"/>
          <p:cNvSpPr txBox="1"/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96" name="Google Shape;196;p38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7" name="Google Shape;197;p38"/>
          <p:cNvSpPr txBox="1"/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8" name="Google Shape;198;p38"/>
          <p:cNvSpPr txBox="1"/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99" name="Google Shape;199;p38"/>
          <p:cNvSpPr txBox="1"/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00" name="Google Shape;200;p3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8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i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lang="en-GB" sz="900" i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Creative Commons Attribution-NonCommercial 4.0 International License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38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9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hyperlink" Target="https://creativecommons.org/licenses/by/4.0/" TargetMode="Externa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5" Type="http://schemas.openxmlformats.org/officeDocument/2006/relationships/image" Target="../media/image5.png"/><Relationship Id="rId14" Type="http://schemas.openxmlformats.org/officeDocument/2006/relationships/hyperlink" Target="http://creativecommons.org/licenses/by-nc/4.0/" TargetMode="External"/><Relationship Id="rId13" Type="http://schemas.openxmlformats.org/officeDocument/2006/relationships/image" Target="../media/image4.pn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6" Type="http://schemas.openxmlformats.org/officeDocument/2006/relationships/theme" Target="../theme/theme3.xml"/><Relationship Id="rId15" Type="http://schemas.openxmlformats.org/officeDocument/2006/relationships/image" Target="../media/image3.png"/><Relationship Id="rId14" Type="http://schemas.openxmlformats.org/officeDocument/2006/relationships/hyperlink" Target="https://creativecommons.org/licenses/by/4.0/" TargetMode="Externa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footer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1"/>
          <p:cNvSpPr txBox="1"/>
          <p:nvPr/>
        </p:nvSpPr>
        <p:spPr>
          <a:xfrm>
            <a:off x="2280725" y="4761375"/>
            <a:ext cx="2312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45596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900" i="1">
                <a:solidFill>
                  <a:srgbClr val="666666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This work is licensed under a </a:t>
            </a:r>
            <a:r>
              <a:rPr lang="en-GB" sz="900" i="1" u="sng">
                <a:solidFill>
                  <a:srgbClr val="666666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  <a:hlinkClick r:id="rId14"/>
              </a:rPr>
              <a:t>Creative Commons Attribution 4.0 International License</a:t>
            </a:r>
            <a:r>
              <a:rPr lang="en-GB" sz="900" i="1">
                <a:solidFill>
                  <a:srgbClr val="666666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4" descr="footer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77" name="Google Shape;77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8" name="Google Shape;78;p14"/>
          <p:cNvSpPr txBox="1"/>
          <p:nvPr/>
        </p:nvSpPr>
        <p:spPr>
          <a:xfrm>
            <a:off x="2293925" y="4761375"/>
            <a:ext cx="23256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i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lang="en-GB" sz="900" i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14"/>
              </a:rPr>
              <a:t>Creative Commons Attribution-NonCommercial 4.0 International License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7" descr="footer.png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" name="Google Shape;141;p27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43" name="Google Shape;143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4" name="Google Shape;144;p27"/>
          <p:cNvSpPr txBox="1"/>
          <p:nvPr/>
        </p:nvSpPr>
        <p:spPr>
          <a:xfrm>
            <a:off x="2279675" y="4783500"/>
            <a:ext cx="2382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900" i="1">
                <a:solidFill>
                  <a:srgbClr val="666666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This work is licensed under a </a:t>
            </a:r>
            <a:r>
              <a:rPr lang="en-GB" sz="900" i="1" u="sng">
                <a:solidFill>
                  <a:srgbClr val="666666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  <a:hlinkClick r:id="rId14"/>
              </a:rPr>
              <a:t>Creative Commons Attribution 4.0 International License</a:t>
            </a:r>
            <a:r>
              <a:rPr lang="en-GB" sz="900" i="1">
                <a:solidFill>
                  <a:srgbClr val="666666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developer.android.com/studio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10" name="Google Shape;210;p40"/>
          <p:cNvSpPr txBox="1"/>
          <p:nvPr>
            <p:ph type="sldNum" idx="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11" name="Google Shape;211;p40"/>
          <p:cNvSpPr txBox="1"/>
          <p:nvPr>
            <p:ph type="title"/>
          </p:nvPr>
        </p:nvSpPr>
        <p:spPr>
          <a:xfrm>
            <a:off x="195700" y="985671"/>
            <a:ext cx="4045200" cy="203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US" altLang="en-US"/>
              <a:t>Créez votre premi</a:t>
            </a:r>
            <a:r>
              <a:rPr lang="en-US" altLang="en-US"/>
              <a:t>è</a:t>
            </a:r>
            <a:r>
              <a:rPr lang="en-US" altLang="en-US"/>
              <a:t>re application</a:t>
            </a:r>
            <a:endParaRPr lang="en-US" altLang="en-US"/>
          </a:p>
        </p:txBody>
      </p:sp>
      <p:sp>
        <p:nvSpPr>
          <p:cNvPr id="212" name="Google Shape;212;p40"/>
          <p:cNvSpPr txBox="1"/>
          <p:nvPr>
            <p:ph type="subTitle" idx="1"/>
          </p:nvPr>
        </p:nvSpPr>
        <p:spPr>
          <a:xfrm>
            <a:off x="265500" y="3497900"/>
            <a:ext cx="42366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Lecon</a:t>
            </a:r>
            <a:r>
              <a:rPr lang="en-GB"/>
              <a:t>1</a:t>
            </a:r>
            <a:endParaRPr sz="1800"/>
          </a:p>
        </p:txBody>
      </p:sp>
      <p:sp>
        <p:nvSpPr>
          <p:cNvPr id="213" name="Google Shape;213;p40"/>
          <p:cNvSpPr txBox="1"/>
          <p:nvPr>
            <p:ph type="sldNum" idx="3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14" name="Google Shape;214;p40"/>
          <p:cNvSpPr txBox="1"/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Android Developer Fundamentals V2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1.1 </a:t>
            </a:r>
            <a:r>
              <a:rPr lang="en-US" altLang="en-GB"/>
              <a:t>Votre premiere App</a:t>
            </a:r>
            <a:r>
              <a:rPr lang="en-GB"/>
              <a:t> Android</a:t>
            </a:r>
            <a:endParaRPr lang="en-GB"/>
          </a:p>
        </p:txBody>
      </p:sp>
      <p:sp>
        <p:nvSpPr>
          <p:cNvPr id="220" name="Google Shape;220;p41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US" altLang="en-US">
                <a:solidFill>
                  <a:srgbClr val="FFFFFF"/>
                </a:solidFill>
              </a:rPr>
              <a:t>Sommaire</a:t>
            </a: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26" name="Google Shape;226;p42"/>
          <p:cNvSpPr txBox="1"/>
          <p:nvPr>
            <p:ph type="body" idx="1"/>
          </p:nvPr>
        </p:nvSpPr>
        <p:spPr>
          <a:xfrm>
            <a:off x="311785" y="554990"/>
            <a:ext cx="8398510" cy="40811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/>
              <a:t>Android Studio </a:t>
            </a:r>
            <a:endParaRPr lang="en-US" altLang="en-US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/>
              <a:t>Création d'une application "Hello World" dans Android Studio</a:t>
            </a:r>
            <a:endParaRPr lang="en-US" altLang="en-US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/>
              <a:t>Workflow de développement d'applications de base avec Android Studio</a:t>
            </a:r>
            <a:endParaRPr lang="en-US" altLang="en-US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/>
              <a:t>Exécution d'applications sur Périphériques virtuels et Appareils physiques</a:t>
            </a:r>
            <a:endParaRPr lang="en-US" altLang="en-US"/>
          </a:p>
        </p:txBody>
      </p:sp>
      <p:sp>
        <p:nvSpPr>
          <p:cNvPr id="227" name="Google Shape;227;p42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rgbClr val="FFFFFF"/>
                </a:solidFill>
              </a:rPr>
              <a:t>Prerequisites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33" name="Google Shape;233;p43"/>
          <p:cNvSpPr txBox="1"/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/>
              <a:t>Langage de programmation Java</a:t>
            </a:r>
            <a:endParaRPr lang="en-US" altLang="en-US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/>
              <a:t>Programmation orientée objet (POO)</a:t>
            </a:r>
            <a:endParaRPr lang="en-US" altLang="en-US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/>
              <a:t>XML - propriétés/attributs</a:t>
            </a:r>
            <a:endParaRPr lang="en-US" altLang="en-US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/>
              <a:t>Utilisation d'un IDE pour le développement et le débogage</a:t>
            </a:r>
            <a:endParaRPr lang="en-US" altLang="en-US"/>
          </a:p>
        </p:txBody>
      </p:sp>
      <p:sp>
        <p:nvSpPr>
          <p:cNvPr id="234" name="Google Shape;234;p43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4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Android Studio</a:t>
            </a:r>
            <a:endParaRPr lang="en-GB"/>
          </a:p>
        </p:txBody>
      </p:sp>
      <p:sp>
        <p:nvSpPr>
          <p:cNvPr id="240" name="Google Shape;240;p44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US" altLang="en-GB"/>
              <a:t>C’est quoi</a:t>
            </a:r>
            <a:r>
              <a:rPr lang="en-GB"/>
              <a:t> Android Studio?</a:t>
            </a:r>
            <a:endParaRPr lang="en-GB"/>
          </a:p>
        </p:txBody>
      </p:sp>
      <p:sp>
        <p:nvSpPr>
          <p:cNvPr id="246" name="Google Shape;246;p45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47" name="Google Shape;247;p45"/>
          <p:cNvSpPr txBox="1"/>
          <p:nvPr/>
        </p:nvSpPr>
        <p:spPr>
          <a:xfrm>
            <a:off x="311785" y="987425"/>
            <a:ext cx="8583930" cy="350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400"/>
              <a:t>Environnement de développement intégré (IDE) Android</a:t>
            </a:r>
            <a:endParaRPr lang="en-US" altLang="en-US"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400"/>
              <a:t>Mod</a:t>
            </a:r>
            <a:r>
              <a:rPr lang="en-US" altLang="en-US" sz="2400"/>
              <a:t>è</a:t>
            </a:r>
            <a:r>
              <a:rPr lang="en-US" altLang="en-US" sz="2400"/>
              <a:t>les de projet et d'Activite</a:t>
            </a:r>
            <a:endParaRPr lang="en-US" altLang="en-US"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endParaRPr lang="en-US" altLang="en-US"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400"/>
              <a:t>É</a:t>
            </a:r>
            <a:r>
              <a:rPr lang="en-US" altLang="en-US" sz="2400"/>
              <a:t>diteur de mise en page (Layout Editor)</a:t>
            </a:r>
            <a:endParaRPr lang="en-US" altLang="en-US"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endParaRPr lang="en-US" altLang="en-US"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400"/>
              <a:t>Outils de test intégrés</a:t>
            </a:r>
            <a:endParaRPr lang="en-US" altLang="en-US"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400"/>
              <a:t>Syst</a:t>
            </a:r>
            <a:r>
              <a:rPr lang="en-US" altLang="en-US" sz="2400"/>
              <a:t>è</a:t>
            </a:r>
            <a:r>
              <a:rPr lang="en-US" altLang="en-US" sz="2400"/>
              <a:t>me de build basé sur Gradle</a:t>
            </a:r>
            <a:endParaRPr lang="en-US" altLang="en-US"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400"/>
              <a:t>Console Logcat et débogueur</a:t>
            </a:r>
            <a:endParaRPr lang="en-US" altLang="en-US"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400"/>
              <a:t>É</a:t>
            </a:r>
            <a:r>
              <a:rPr lang="en-US" altLang="en-US" sz="2400"/>
              <a:t>mulateurs Android</a:t>
            </a:r>
            <a:endParaRPr lang="en-US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/>
              <a:t>Android Studio interface</a:t>
            </a:r>
            <a:endParaRPr lang="en-GB"/>
          </a:p>
        </p:txBody>
      </p:sp>
      <p:sp>
        <p:nvSpPr>
          <p:cNvPr id="253" name="Google Shape;253;p46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54" name="Google Shape;254;p46"/>
          <p:cNvSpPr txBox="1"/>
          <p:nvPr/>
        </p:nvSpPr>
        <p:spPr>
          <a:xfrm>
            <a:off x="6089650" y="1570225"/>
            <a:ext cx="2856600" cy="25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 sz="2400"/>
              <a:t>Toolbar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 sz="2400"/>
              <a:t>Navigation bar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 sz="2400"/>
              <a:t>Project pane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 sz="2400"/>
              <a:t>Editor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 sz="2400"/>
              <a:t>Tabs for other panes</a:t>
            </a:r>
            <a:endParaRPr sz="2400"/>
          </a:p>
        </p:txBody>
      </p:sp>
      <p:pic>
        <p:nvPicPr>
          <p:cNvPr id="255" name="Google Shape;255;p4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32275" y="1006651"/>
            <a:ext cx="5850576" cy="342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rgbClr val="FFFFFF"/>
                </a:solidFill>
              </a:rPr>
              <a:t>Installation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61" name="Google Shape;261;p47"/>
          <p:cNvSpPr txBox="1"/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>
                <a:solidFill>
                  <a:schemeClr val="dk1"/>
                </a:solidFill>
              </a:rPr>
              <a:t>Mac, Windows, or Linux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altLang="en-US">
                <a:solidFill>
                  <a:schemeClr val="dk1"/>
                </a:solidFill>
              </a:rPr>
              <a:t>Télécharger et installer Android Studio depuis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lang="en-GB" u="sng">
                <a:solidFill>
                  <a:schemeClr val="hlink"/>
                </a:solidFill>
                <a:hlinkClick r:id="rId1"/>
              </a:rPr>
              <a:t>https://developer.android.com/studio/</a:t>
            </a:r>
            <a:endParaRPr>
              <a:solidFill>
                <a:schemeClr val="dk1"/>
              </a:solidFill>
            </a:endParaRPr>
          </a:p>
          <a:p>
            <a:pPr marL="76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62" name="Google Shape;262;p47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8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your </a:t>
            </a:r>
            <a:br>
              <a:rPr lang="en-GB"/>
            </a:br>
            <a:r>
              <a:rPr lang="en-GB"/>
              <a:t>first Android app</a:t>
            </a:r>
            <a:endParaRPr lang="en-GB"/>
          </a:p>
        </p:txBody>
      </p:sp>
      <p:sp>
        <p:nvSpPr>
          <p:cNvPr id="268" name="Google Shape;268;p48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9"/>
          <p:cNvSpPr txBox="1"/>
          <p:nvPr>
            <p:ph type="title"/>
          </p:nvPr>
        </p:nvSpPr>
        <p:spPr>
          <a:xfrm>
            <a:off x="311700" y="170846"/>
            <a:ext cx="85206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altLang="en-GB"/>
              <a:t>Demarrer </a:t>
            </a:r>
            <a:r>
              <a:rPr lang="en-GB"/>
              <a:t>Android Studio</a:t>
            </a:r>
            <a:endParaRPr lang="en-GB"/>
          </a:p>
        </p:txBody>
      </p:sp>
      <p:sp>
        <p:nvSpPr>
          <p:cNvPr id="274" name="Google Shape;274;p49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275" name="Google Shape;275;p4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60288" y="1649475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9"/>
          <p:cNvSpPr/>
          <p:nvPr/>
        </p:nvSpPr>
        <p:spPr>
          <a:xfrm>
            <a:off x="1257513" y="871800"/>
            <a:ext cx="548700" cy="7035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7" name="Google Shape;277;p49"/>
          <p:cNvSpPr/>
          <p:nvPr/>
        </p:nvSpPr>
        <p:spPr>
          <a:xfrm rot="5400000">
            <a:off x="1731125" y="3355725"/>
            <a:ext cx="768000" cy="1317600"/>
          </a:xfrm>
          <a:prstGeom prst="bentUpArrow">
            <a:avLst>
              <a:gd name="adj1" fmla="val 33707"/>
              <a:gd name="adj2" fmla="val 25000"/>
              <a:gd name="adj3" fmla="val 19102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78" name="Google Shape;278;p4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457025" y="1062100"/>
            <a:ext cx="3535776" cy="342062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79" name="Google Shape;279;p49"/>
          <p:cNvSpPr/>
          <p:nvPr/>
        </p:nvSpPr>
        <p:spPr>
          <a:xfrm>
            <a:off x="3928950" y="2652969"/>
            <a:ext cx="2385300" cy="1986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0"/>
          <p:cNvSpPr txBox="1"/>
          <p:nvPr>
            <p:ph type="title"/>
          </p:nvPr>
        </p:nvSpPr>
        <p:spPr>
          <a:xfrm>
            <a:off x="311700" y="170846"/>
            <a:ext cx="85206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altLang="en-US"/>
              <a:t>Créer un projet dans Android Studio</a:t>
            </a:r>
            <a:endParaRPr lang="en-US" altLang="en-US"/>
          </a:p>
        </p:txBody>
      </p:sp>
      <p:sp>
        <p:nvSpPr>
          <p:cNvPr id="285" name="Google Shape;285;p50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286" name="Google Shape;286;p50"/>
          <p:cNvPicPr preferRelativeResize="0"/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266208" y="1031789"/>
            <a:ext cx="5662943" cy="3457463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87" name="Google Shape;287;p50"/>
          <p:cNvSpPr/>
          <p:nvPr/>
        </p:nvSpPr>
        <p:spPr>
          <a:xfrm>
            <a:off x="4293800" y="1292425"/>
            <a:ext cx="1023600" cy="1986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5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245900" y="1092321"/>
            <a:ext cx="4652192" cy="346913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51"/>
          <p:cNvSpPr txBox="1"/>
          <p:nvPr>
            <p:ph type="title"/>
          </p:nvPr>
        </p:nvSpPr>
        <p:spPr>
          <a:xfrm>
            <a:off x="311700" y="170846"/>
            <a:ext cx="85206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altLang="en-GB"/>
              <a:t>Nommer votre</a:t>
            </a:r>
            <a:r>
              <a:rPr lang="en-GB"/>
              <a:t> app</a:t>
            </a:r>
            <a:endParaRPr lang="en-GB"/>
          </a:p>
        </p:txBody>
      </p:sp>
      <p:sp>
        <p:nvSpPr>
          <p:cNvPr id="294" name="Google Shape;294;p51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95" name="Google Shape;295;p51"/>
          <p:cNvSpPr/>
          <p:nvPr/>
        </p:nvSpPr>
        <p:spPr>
          <a:xfrm>
            <a:off x="2732375" y="1839278"/>
            <a:ext cx="3679200" cy="393600"/>
          </a:xfrm>
          <a:prstGeom prst="rect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6" name="Google Shape;296;p51"/>
          <p:cNvSpPr/>
          <p:nvPr/>
        </p:nvSpPr>
        <p:spPr>
          <a:xfrm>
            <a:off x="2732375" y="2630090"/>
            <a:ext cx="3679200" cy="393600"/>
          </a:xfrm>
          <a:prstGeom prst="rect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2"/>
          <p:cNvSpPr txBox="1"/>
          <p:nvPr>
            <p:ph type="title"/>
          </p:nvPr>
        </p:nvSpPr>
        <p:spPr>
          <a:xfrm>
            <a:off x="311700" y="170846"/>
            <a:ext cx="85206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altLang="en-US"/>
              <a:t>Choisir un mod</a:t>
            </a:r>
            <a:r>
              <a:rPr lang="en-US" altLang="en-US"/>
              <a:t>è</a:t>
            </a:r>
            <a:r>
              <a:rPr lang="en-US" altLang="en-US"/>
              <a:t>le d'activité </a:t>
            </a:r>
            <a:endParaRPr lang="en-US" altLang="en-US"/>
          </a:p>
        </p:txBody>
      </p:sp>
      <p:sp>
        <p:nvSpPr>
          <p:cNvPr id="302" name="Google Shape;302;p52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03" name="Google Shape;303;p52"/>
          <p:cNvSpPr txBox="1"/>
          <p:nvPr/>
        </p:nvSpPr>
        <p:spPr>
          <a:xfrm>
            <a:off x="237775" y="1200675"/>
            <a:ext cx="3090900" cy="3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/>
              <a:t>Choisissez des mod</a:t>
            </a:r>
            <a:r>
              <a:rPr lang="en-US" altLang="en-US" sz="2000"/>
              <a:t>è</a:t>
            </a:r>
            <a:r>
              <a:rPr lang="en-US" altLang="en-US" sz="2000"/>
              <a:t>les pour des activités courantes, comme des cartes ou des tiroirs de navigation.</a:t>
            </a:r>
            <a:endParaRPr lang="en-US" altLang="en-US"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/>
              <a:t>Sélectionnez Activité vide ou Activité de base pour des activités simples ou personnalisées.</a:t>
            </a:r>
            <a:endParaRPr lang="en-US" altLang="en-US" sz="2000"/>
          </a:p>
        </p:txBody>
      </p:sp>
      <p:pic>
        <p:nvPicPr>
          <p:cNvPr id="304" name="Google Shape;304;p5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760675" y="1082246"/>
            <a:ext cx="4711771" cy="3504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3"/>
          <p:cNvSpPr txBox="1"/>
          <p:nvPr>
            <p:ph type="title"/>
          </p:nvPr>
        </p:nvSpPr>
        <p:spPr>
          <a:xfrm>
            <a:off x="311700" y="170846"/>
            <a:ext cx="85206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altLang="en-US"/>
              <a:t>Nommez votre activité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r>
              <a:rPr lang="en-US" altLang="en-US"/>
              <a:t>Ask ChatGPT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10" name="Google Shape;310;p53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11" name="Google Shape;311;p53"/>
          <p:cNvSpPr txBox="1"/>
          <p:nvPr/>
        </p:nvSpPr>
        <p:spPr>
          <a:xfrm>
            <a:off x="35560" y="771525"/>
            <a:ext cx="4700905" cy="441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000"/>
              <a:t>Bonne pratique :</a:t>
            </a:r>
            <a:endParaRPr lang="en-US" altLang="en-US" sz="20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endParaRPr lang="en-US" altLang="en-US" sz="20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000"/>
              <a:t>Nommez l'activité principale MainActivity</a:t>
            </a:r>
            <a:endParaRPr lang="en-US" altLang="en-US" sz="20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endParaRPr lang="en-US" altLang="en-US" sz="20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000"/>
              <a:t>Nommez la mise en page activity_main</a:t>
            </a:r>
            <a:endParaRPr lang="en-US" altLang="en-US" sz="20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endParaRPr lang="en-US" altLang="en-US" sz="20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000"/>
              <a:t>Utilisez AppCompat</a:t>
            </a:r>
            <a:endParaRPr lang="en-US" altLang="en-US" sz="20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endParaRPr lang="en-US" altLang="en-US" sz="20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000"/>
              <a:t>Générer automatiquement le fichier de mise en page est pratique</a:t>
            </a:r>
            <a:endParaRPr lang="en-US" altLang="en-US" sz="2000"/>
          </a:p>
        </p:txBody>
      </p:sp>
      <p:pic>
        <p:nvPicPr>
          <p:cNvPr id="312" name="Google Shape;312;p5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883785" y="1059815"/>
            <a:ext cx="4330700" cy="3504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US" altLang="en-US"/>
              <a:t>Dossiers du projet</a:t>
            </a:r>
            <a:endParaRPr lang="en-US" altLang="en-US"/>
          </a:p>
        </p:txBody>
      </p:sp>
      <p:sp>
        <p:nvSpPr>
          <p:cNvPr id="318" name="Google Shape;318;p54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19" name="Google Shape;319;p54"/>
          <p:cNvSpPr txBox="1"/>
          <p:nvPr/>
        </p:nvSpPr>
        <p:spPr>
          <a:xfrm>
            <a:off x="104200" y="1066875"/>
            <a:ext cx="54951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 sz="2000" b="1"/>
              <a:t>manifests</a:t>
            </a:r>
            <a:r>
              <a:rPr lang="en-GB" sz="2000"/>
              <a:t>—</a:t>
            </a:r>
            <a:r>
              <a:rPr lang="en-US" altLang="en-US" sz="2000"/>
              <a:t>Fichier AndroidManifest.xml : description de l'application lue par le runtime Android</a:t>
            </a:r>
            <a:r>
              <a:rPr lang="en-GB" sz="2000"/>
              <a:t> </a:t>
            </a:r>
            <a:endParaRPr sz="20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GB" sz="2000" b="1">
                <a:solidFill>
                  <a:schemeClr val="dk1"/>
                </a:solidFill>
              </a:rPr>
              <a:t>java</a:t>
            </a:r>
            <a:r>
              <a:rPr lang="en-GB" sz="2000">
                <a:solidFill>
                  <a:schemeClr val="dk1"/>
                </a:solidFill>
              </a:rPr>
              <a:t>—Java source code packages</a:t>
            </a:r>
            <a:endParaRPr sz="20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GB" sz="2000" b="1">
                <a:solidFill>
                  <a:schemeClr val="dk1"/>
                </a:solidFill>
              </a:rPr>
              <a:t>res</a:t>
            </a:r>
            <a:r>
              <a:rPr lang="en-GB" sz="2000">
                <a:solidFill>
                  <a:schemeClr val="dk1"/>
                </a:solidFill>
              </a:rPr>
              <a:t>—</a:t>
            </a:r>
            <a:r>
              <a:rPr lang="en-US" altLang="en-US" sz="2000">
                <a:solidFill>
                  <a:schemeClr val="dk1"/>
                </a:solidFill>
              </a:rPr>
              <a:t>Ressources (XML) : mises en page (layouts), chaînes de caract</a:t>
            </a:r>
            <a:r>
              <a:rPr lang="en-US" altLang="en-US" sz="2000">
                <a:solidFill>
                  <a:schemeClr val="dk1"/>
                </a:solidFill>
              </a:rPr>
              <a:t>è</a:t>
            </a:r>
            <a:r>
              <a:rPr lang="en-US" altLang="en-US" sz="2000">
                <a:solidFill>
                  <a:schemeClr val="dk1"/>
                </a:solidFill>
              </a:rPr>
              <a:t>res, images, dimensions, couleurs, etc</a:t>
            </a:r>
            <a:endParaRPr lang="en-US" altLang="en-US" sz="2000" b="1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GB" sz="2000" b="1">
                <a:solidFill>
                  <a:schemeClr val="dk1"/>
                </a:solidFill>
              </a:rPr>
              <a:t>build.gradle</a:t>
            </a:r>
            <a:r>
              <a:rPr lang="en-GB" sz="2000">
                <a:solidFill>
                  <a:schemeClr val="dk1"/>
                </a:solidFill>
              </a:rPr>
              <a:t>—</a:t>
            </a:r>
            <a:r>
              <a:rPr lang="en-US" altLang="en-US" sz="2000">
                <a:solidFill>
                  <a:schemeClr val="dk1"/>
                </a:solidFill>
              </a:rPr>
              <a:t>Fichiers de construction Gradle : définissent les dépendances et les param</a:t>
            </a:r>
            <a:r>
              <a:rPr lang="en-US" altLang="en-US" sz="2000">
                <a:solidFill>
                  <a:schemeClr val="dk1"/>
                </a:solidFill>
              </a:rPr>
              <a:t>è</a:t>
            </a:r>
            <a:r>
              <a:rPr lang="en-US" altLang="en-US" sz="2000">
                <a:solidFill>
                  <a:schemeClr val="dk1"/>
                </a:solidFill>
              </a:rPr>
              <a:t>tres de compilation du projet</a:t>
            </a:r>
            <a:endParaRPr lang="en-US" altLang="en-US" sz="2000">
              <a:solidFill>
                <a:schemeClr val="dk1"/>
              </a:solidFill>
            </a:endParaRPr>
          </a:p>
        </p:txBody>
      </p:sp>
      <p:pic>
        <p:nvPicPr>
          <p:cNvPr id="320" name="Google Shape;320;p54"/>
          <p:cNvPicPr preferRelativeResize="0"/>
          <p:nvPr/>
        </p:nvPicPr>
        <p:blipFill rotWithShape="1">
          <a:blip r:embed="rId1"/>
          <a:srcRect b="17450"/>
          <a:stretch>
            <a:fillRect/>
          </a:stretch>
        </p:blipFill>
        <p:spPr>
          <a:xfrm>
            <a:off x="5446850" y="209850"/>
            <a:ext cx="3544750" cy="422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US" altLang="en-US"/>
              <a:t>Syst</a:t>
            </a:r>
            <a:r>
              <a:rPr lang="en-US" altLang="en-US"/>
              <a:t>è</a:t>
            </a:r>
            <a:r>
              <a:rPr lang="en-US" altLang="en-US"/>
              <a:t>me de build Gradle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26" name="Google Shape;326;p55"/>
          <p:cNvSpPr txBox="1"/>
          <p:nvPr>
            <p:ph type="body" idx="1"/>
          </p:nvPr>
        </p:nvSpPr>
        <p:spPr>
          <a:xfrm>
            <a:off x="311700" y="105976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-US" altLang="en-US"/>
              <a:t>Syst</a:t>
            </a:r>
            <a:r>
              <a:rPr lang="en-US" altLang="en-US"/>
              <a:t>è</a:t>
            </a:r>
            <a:r>
              <a:rPr lang="en-US" altLang="en-US"/>
              <a:t>me de build moderne dans Android Studio</a:t>
            </a:r>
            <a:endParaRPr lang="en-US" altLang="en-US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</a:t>
            </a:r>
            <a:r>
              <a:rPr lang="en-US" altLang="en-US"/>
              <a:t> Les trois build.gradle dans un projet Android</a:t>
            </a:r>
            <a:r>
              <a:rPr lang="en-GB"/>
              <a:t>:</a:t>
            </a:r>
            <a:endParaRPr lang="en-GB"/>
          </a:p>
          <a:p>
            <a:pPr marL="914400" lvl="1" indent="-355600" algn="l" rtl="0">
              <a:spcBef>
                <a:spcPts val="500"/>
              </a:spcBef>
              <a:spcAft>
                <a:spcPts val="0"/>
              </a:spcAft>
              <a:buSzPts val="2000"/>
              <a:buChar char="○"/>
            </a:pPr>
            <a:r>
              <a:rPr lang="en-GB"/>
              <a:t>project</a:t>
            </a:r>
            <a:endParaRPr lang="en-GB"/>
          </a:p>
          <a:p>
            <a:pPr marL="914400" lvl="1" indent="-355600" algn="l" rtl="0">
              <a:spcBef>
                <a:spcPts val="500"/>
              </a:spcBef>
              <a:spcAft>
                <a:spcPts val="0"/>
              </a:spcAft>
              <a:buSzPts val="2000"/>
              <a:buChar char="○"/>
            </a:pPr>
            <a:r>
              <a:rPr lang="en-GB"/>
              <a:t>module</a:t>
            </a:r>
            <a:endParaRPr lang="en-GB"/>
          </a:p>
          <a:p>
            <a:pPr marL="914400" lvl="1" indent="-355600" algn="l" rtl="0">
              <a:spcBef>
                <a:spcPts val="500"/>
              </a:spcBef>
              <a:spcAft>
                <a:spcPts val="0"/>
              </a:spcAft>
              <a:buSzPts val="2000"/>
              <a:buChar char="○"/>
            </a:pPr>
            <a:r>
              <a:rPr lang="en-GB"/>
              <a:t>settings</a:t>
            </a:r>
            <a:endParaRPr lang="en-GB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>
                <a:solidFill>
                  <a:srgbClr val="000000"/>
                </a:solidFill>
              </a:rPr>
              <a:t>Il n'est généralement pas nécessaire de connaître les détails bas niveau de Gradle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27" name="Google Shape;327;p55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US" altLang="en-GB"/>
              <a:t>Executez votre app</a:t>
            </a:r>
            <a:endParaRPr lang="en-US" altLang="en-GB"/>
          </a:p>
        </p:txBody>
      </p:sp>
      <p:sp>
        <p:nvSpPr>
          <p:cNvPr id="333" name="Google Shape;333;p56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334" name="Google Shape;334;p5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50225" y="1063025"/>
            <a:ext cx="5847049" cy="341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56"/>
          <p:cNvSpPr txBox="1"/>
          <p:nvPr>
            <p:ph type="sldNum" idx="12"/>
          </p:nvPr>
        </p:nvSpPr>
        <p:spPr>
          <a:xfrm>
            <a:off x="7489732" y="4741500"/>
            <a:ext cx="519600" cy="3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36" name="Google Shape;336;p56"/>
          <p:cNvSpPr/>
          <p:nvPr/>
        </p:nvSpPr>
        <p:spPr>
          <a:xfrm>
            <a:off x="3229185" y="1133667"/>
            <a:ext cx="519600" cy="331500"/>
          </a:xfrm>
          <a:prstGeom prst="rect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7" name="Google Shape;337;p56"/>
          <p:cNvSpPr txBox="1"/>
          <p:nvPr/>
        </p:nvSpPr>
        <p:spPr>
          <a:xfrm>
            <a:off x="6416575" y="1143625"/>
            <a:ext cx="1441800" cy="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 sz="3000"/>
              <a:t>Run</a:t>
            </a:r>
            <a:endParaRPr sz="3000"/>
          </a:p>
        </p:txBody>
      </p:sp>
      <p:cxnSp>
        <p:nvCxnSpPr>
          <p:cNvPr id="338" name="Google Shape;338;p56"/>
          <p:cNvCxnSpPr>
            <a:endCxn id="336" idx="3"/>
          </p:cNvCxnSpPr>
          <p:nvPr/>
        </p:nvCxnSpPr>
        <p:spPr>
          <a:xfrm rot="10800000">
            <a:off x="3748785" y="1299417"/>
            <a:ext cx="2591700" cy="1371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9" name="Google Shape;339;p56"/>
          <p:cNvSpPr txBox="1"/>
          <p:nvPr/>
        </p:nvSpPr>
        <p:spPr>
          <a:xfrm>
            <a:off x="6483885" y="1924235"/>
            <a:ext cx="2803500" cy="167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2. </a:t>
            </a:r>
            <a:r>
              <a:rPr lang="en-US" altLang="en-US" sz="3000"/>
              <a:t>Sélectionnez un appareil virtuel ou physique</a:t>
            </a:r>
            <a:endParaRPr lang="en-US" altLang="en-US"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000"/>
              <a:t>Ask ChatGPT</a:t>
            </a:r>
            <a:endParaRPr lang="en-US" altLang="en-US"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3000"/>
          </a:p>
        </p:txBody>
      </p:sp>
      <p:cxnSp>
        <p:nvCxnSpPr>
          <p:cNvPr id="340" name="Google Shape;340;p56"/>
          <p:cNvCxnSpPr/>
          <p:nvPr/>
        </p:nvCxnSpPr>
        <p:spPr>
          <a:xfrm rot="10800000">
            <a:off x="4489375" y="2254775"/>
            <a:ext cx="1870800" cy="3309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1" name="Google Shape;341;p56"/>
          <p:cNvSpPr/>
          <p:nvPr/>
        </p:nvSpPr>
        <p:spPr>
          <a:xfrm>
            <a:off x="5362676" y="4092257"/>
            <a:ext cx="810900" cy="446700"/>
          </a:xfrm>
          <a:prstGeom prst="rect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2" name="Google Shape;342;p56"/>
          <p:cNvSpPr txBox="1"/>
          <p:nvPr/>
        </p:nvSpPr>
        <p:spPr>
          <a:xfrm>
            <a:off x="6340375" y="3844750"/>
            <a:ext cx="1441800" cy="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3. OK</a:t>
            </a:r>
            <a:endParaRPr sz="3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5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2145675"/>
            <a:ext cx="5094300" cy="234499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48" name="Google Shape;348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US" altLang="en-US"/>
              <a:t>Créer un appareil virtuel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r>
              <a:rPr lang="en-US" altLang="en-US"/>
              <a:t>Ask ChatGPT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49" name="Google Shape;349;p57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50" name="Google Shape;350;p57"/>
          <p:cNvSpPr txBox="1"/>
          <p:nvPr/>
        </p:nvSpPr>
        <p:spPr>
          <a:xfrm>
            <a:off x="148600" y="996800"/>
            <a:ext cx="87477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/>
              <a:t>Utilisez des émulateurs pour tester l’application sur différentes versions d’Android et sur divers formats d’appareils.</a:t>
            </a:r>
            <a:endParaRPr lang="en-US" altLang="en-US" sz="1800"/>
          </a:p>
        </p:txBody>
      </p:sp>
      <p:sp>
        <p:nvSpPr>
          <p:cNvPr id="351" name="Google Shape;351;p57"/>
          <p:cNvSpPr/>
          <p:nvPr/>
        </p:nvSpPr>
        <p:spPr>
          <a:xfrm>
            <a:off x="351960" y="4221981"/>
            <a:ext cx="1114800" cy="273300"/>
          </a:xfrm>
          <a:prstGeom prst="rect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52" name="Google Shape;352;p57"/>
          <p:cNvPicPr preferRelativeResize="0"/>
          <p:nvPr/>
        </p:nvPicPr>
        <p:blipFill rotWithShape="1">
          <a:blip r:embed="rId2"/>
          <a:srcRect l="35666" t="20785"/>
          <a:stretch>
            <a:fillRect/>
          </a:stretch>
        </p:blipFill>
        <p:spPr>
          <a:xfrm>
            <a:off x="5329875" y="1486775"/>
            <a:ext cx="3750825" cy="263447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53" name="Google Shape;353;p57"/>
          <p:cNvSpPr/>
          <p:nvPr/>
        </p:nvSpPr>
        <p:spPr>
          <a:xfrm>
            <a:off x="5485599" y="3735016"/>
            <a:ext cx="1545000" cy="171900"/>
          </a:xfrm>
          <a:prstGeom prst="rect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4" name="Google Shape;354;p57"/>
          <p:cNvSpPr txBox="1"/>
          <p:nvPr/>
        </p:nvSpPr>
        <p:spPr>
          <a:xfrm>
            <a:off x="159300" y="1543575"/>
            <a:ext cx="50943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</a:rPr>
              <a:t>Tools &gt; Android &gt; AVD Manager                  </a:t>
            </a:r>
            <a:r>
              <a:rPr lang="en-GB" sz="1800"/>
              <a:t>or:</a:t>
            </a:r>
            <a:endParaRPr sz="1800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US" altLang="en-US"/>
              <a:t>Configurer un appareil virtuel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r>
              <a:rPr lang="en-US" altLang="en-US"/>
              <a:t>Ask ChatGPT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60" name="Google Shape;360;p58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61" name="Google Shape;361;p58"/>
          <p:cNvSpPr txBox="1"/>
          <p:nvPr/>
        </p:nvSpPr>
        <p:spPr>
          <a:xfrm>
            <a:off x="9300" y="1248125"/>
            <a:ext cx="4510200" cy="22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altLang="en-US" sz="2400"/>
              <a:t>Choisissez le matériel</a:t>
            </a:r>
            <a:endParaRPr lang="en-US" altLang="en-US"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endParaRPr lang="en-US" altLang="en-US"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altLang="en-US" sz="2400"/>
              <a:t>Sélectionnez la version d’Android</a:t>
            </a:r>
            <a:endParaRPr lang="en-US" altLang="en-US"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endParaRPr lang="en-US" altLang="en-US"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altLang="en-US" sz="2400"/>
              <a:t>Finalisez</a:t>
            </a:r>
            <a:endParaRPr lang="en-US" altLang="en-US" sz="2400"/>
          </a:p>
        </p:txBody>
      </p:sp>
      <p:pic>
        <p:nvPicPr>
          <p:cNvPr id="362" name="Google Shape;362;p5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886800" y="1107201"/>
            <a:ext cx="4995825" cy="3357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US" altLang="en-US"/>
              <a:t>Lancer sur un appareil virtuel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r>
              <a:rPr lang="en-US" altLang="en-US"/>
              <a:t>Ask ChatGPT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68" name="Google Shape;368;p59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369" name="Google Shape;369;p5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197150" y="969150"/>
            <a:ext cx="2163315" cy="364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463819" y="969150"/>
            <a:ext cx="433931" cy="31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9"/>
          <p:cNvSpPr/>
          <p:nvPr/>
        </p:nvSpPr>
        <p:spPr>
          <a:xfrm rot="-5400000">
            <a:off x="2342713" y="3378225"/>
            <a:ext cx="548700" cy="7035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altLang="en-US"/>
              <a:t>Lancer sur un appareil physique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r>
              <a:rPr lang="en-US" altLang="en-US"/>
              <a:t>Ask ChatGPT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77" name="Google Shape;377;p60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378" name="Google Shape;378;p6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355900" y="987873"/>
            <a:ext cx="2732176" cy="364290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60"/>
          <p:cNvSpPr txBox="1"/>
          <p:nvPr/>
        </p:nvSpPr>
        <p:spPr>
          <a:xfrm>
            <a:off x="52600" y="987875"/>
            <a:ext cx="6303300" cy="3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en-US" sz="2000">
                <a:sym typeface="+mn-ea"/>
              </a:rPr>
              <a:t>Activer les options pour développeurs</a:t>
            </a:r>
            <a:endParaRPr lang="en-US" altLang="en-US" sz="20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GB" sz="2000" b="1">
                <a:solidFill>
                  <a:schemeClr val="dk1"/>
                </a:solidFill>
                <a:sym typeface="+mn-ea"/>
              </a:rPr>
              <a:t>Settings &gt; About</a:t>
            </a:r>
            <a:r>
              <a:rPr lang="en-GB" sz="2000">
                <a:solidFill>
                  <a:schemeClr val="dk1"/>
                </a:solidFill>
                <a:sym typeface="+mn-ea"/>
              </a:rPr>
              <a:t> </a:t>
            </a:r>
            <a:r>
              <a:rPr lang="en-GB" sz="2000" b="1">
                <a:solidFill>
                  <a:schemeClr val="dk1"/>
                </a:solidFill>
                <a:sym typeface="+mn-ea"/>
              </a:rPr>
              <a:t>phone</a:t>
            </a:r>
            <a:endParaRPr sz="20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GB" sz="2000">
                <a:solidFill>
                  <a:schemeClr val="dk1"/>
                </a:solidFill>
                <a:sym typeface="+mn-ea"/>
              </a:rPr>
              <a:t>Tap </a:t>
            </a:r>
            <a:r>
              <a:rPr lang="en-GB" sz="2000" b="1">
                <a:solidFill>
                  <a:schemeClr val="dk1"/>
                </a:solidFill>
                <a:sym typeface="+mn-ea"/>
              </a:rPr>
              <a:t>Build number</a:t>
            </a:r>
            <a:r>
              <a:rPr lang="en-GB" sz="2000">
                <a:solidFill>
                  <a:schemeClr val="dk1"/>
                </a:solidFill>
                <a:sym typeface="+mn-ea"/>
              </a:rPr>
              <a:t> seven times</a:t>
            </a:r>
            <a:r>
              <a:rPr lang="en-GB" sz="2000">
                <a:sym typeface="+mn-ea"/>
              </a:rPr>
              <a:t> </a:t>
            </a:r>
            <a:endParaRPr sz="20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en-US" sz="2000">
                <a:sym typeface="+mn-ea"/>
              </a:rPr>
              <a:t>Tapez sept fois sur le numéro de build</a:t>
            </a:r>
            <a:endParaRPr lang="en-US" altLang="en-US" sz="20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GB" sz="2000" b="1">
                <a:sym typeface="+mn-ea"/>
              </a:rPr>
              <a:t>Settings &gt; Developer Options &gt; USB Debugging</a:t>
            </a:r>
            <a:endParaRPr sz="2000" b="1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en-US" sz="2000">
                <a:sym typeface="+mn-ea"/>
              </a:rPr>
              <a:t>Connectez le téléphone à l’ordinateur avec un câble</a:t>
            </a:r>
            <a:endParaRPr lang="en-US" altLang="en-US"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ym typeface="+mn-ea"/>
              </a:rPr>
              <a:t>Windows/Linux additional setup: </a:t>
            </a:r>
            <a:endParaRPr sz="200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1"/>
          <p:cNvSpPr txBox="1"/>
          <p:nvPr>
            <p:ph type="title"/>
          </p:nvPr>
        </p:nvSpPr>
        <p:spPr>
          <a:xfrm>
            <a:off x="73025" y="-101600"/>
            <a:ext cx="9066530" cy="9886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/>
              <a:t>Recevez des retours pendant que votre application s’exécute</a:t>
            </a:r>
            <a:br>
              <a:rPr lang="en-US" altLang="en-US" sz="3200"/>
            </a:br>
            <a:br>
              <a:rPr lang="en-US" altLang="en-US" sz="3200"/>
            </a:br>
            <a:br>
              <a:rPr lang="en-US" altLang="en-US" sz="3200"/>
            </a:br>
            <a:endParaRPr lang="en-US" altLang="en-US" sz="3200"/>
          </a:p>
        </p:txBody>
      </p:sp>
      <p:sp>
        <p:nvSpPr>
          <p:cNvPr id="385" name="Google Shape;385;p61"/>
          <p:cNvSpPr txBox="1"/>
          <p:nvPr>
            <p:ph type="body" idx="1"/>
          </p:nvPr>
        </p:nvSpPr>
        <p:spPr>
          <a:xfrm>
            <a:off x="-36195" y="843915"/>
            <a:ext cx="3776980" cy="37077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US" altLang="en-US"/>
              <a:t>É</a:t>
            </a:r>
            <a:r>
              <a:rPr lang="en-US" altLang="en-US"/>
              <a:t>mulateur exécutant l’application</a:t>
            </a:r>
            <a:endParaRPr lang="en-US" altLang="en-US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US" altLang="en-US"/>
              <a:t>Panneau d’exécution</a:t>
            </a:r>
            <a:endParaRPr lang="en-US" altLang="en-US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US" altLang="en-US"/>
              <a:t>Onglet Exécuter pour ouvrir ou fermer le panneau d’exécution</a:t>
            </a:r>
            <a:endParaRPr lang="en-US" altLang="en-US"/>
          </a:p>
        </p:txBody>
      </p:sp>
      <p:sp>
        <p:nvSpPr>
          <p:cNvPr id="386" name="Google Shape;386;p61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387" name="Google Shape;387;p6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816350" y="1195070"/>
            <a:ext cx="525907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2"/>
          <p:cNvSpPr txBox="1"/>
          <p:nvPr>
            <p:ph type="title"/>
          </p:nvPr>
        </p:nvSpPr>
        <p:spPr>
          <a:xfrm>
            <a:off x="78105" y="170815"/>
            <a:ext cx="9251950" cy="793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/>
              <a:t>Ajouter des journaux (logging) à votre application</a:t>
            </a:r>
            <a:endParaRPr lang="en-US" altLang="en-US" sz="2800"/>
          </a:p>
        </p:txBody>
      </p:sp>
      <p:sp>
        <p:nvSpPr>
          <p:cNvPr id="393" name="Google Shape;393;p62"/>
          <p:cNvSpPr txBox="1"/>
          <p:nvPr>
            <p:ph type="body" idx="1"/>
          </p:nvPr>
        </p:nvSpPr>
        <p:spPr>
          <a:xfrm>
            <a:off x="311700" y="1076275"/>
            <a:ext cx="8709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000"/>
              <a:t>Pendant l’exécution de l’application, le panneau Logcat affiche des informations</a:t>
            </a:r>
            <a:endParaRPr lang="en-US" altLang="en-US" sz="20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000"/>
              <a:t>Ajoutez des instructions de logging dans votre application qui apparaîtront dans le panneau Logcat</a:t>
            </a:r>
            <a:endParaRPr lang="en-US" altLang="en-US" sz="20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000"/>
              <a:t>Configurez des filtres dans le panneau Logcat pour voir ce qui est important pour vous</a:t>
            </a:r>
            <a:endParaRPr lang="en-US" altLang="en-US" sz="20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altLang="en-US" sz="2000"/>
              <a:t>Effectuez des recherches par tags</a:t>
            </a:r>
            <a:endParaRPr lang="en-US" altLang="en-US" sz="2000"/>
          </a:p>
        </p:txBody>
      </p:sp>
      <p:sp>
        <p:nvSpPr>
          <p:cNvPr id="394" name="Google Shape;394;p62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Le panneau Logcat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400" name="Google Shape;400;p63"/>
          <p:cNvSpPr txBox="1"/>
          <p:nvPr>
            <p:ph type="body" idx="1"/>
          </p:nvPr>
        </p:nvSpPr>
        <p:spPr>
          <a:xfrm>
            <a:off x="311785" y="1076325"/>
            <a:ext cx="3928745" cy="34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US" altLang="en-US"/>
              <a:t>Onglet Logcat pour afficher le panneau Logcat</a:t>
            </a:r>
            <a:endParaRPr lang="en-US" altLang="en-US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US" altLang="en-US"/>
              <a:t>Menu de niveau de journalisation (log level)</a:t>
            </a:r>
            <a:endParaRPr lang="en-US" altLang="en-US"/>
          </a:p>
        </p:txBody>
      </p:sp>
      <p:sp>
        <p:nvSpPr>
          <p:cNvPr id="401" name="Google Shape;401;p63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402" name="Google Shape;402;p6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402455" y="909955"/>
            <a:ext cx="4686300" cy="3662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None/>
            </a:pPr>
            <a:r>
              <a:rPr lang="en-US" altLang="en-US"/>
              <a:t>Instruction de journalisation</a:t>
            </a:r>
            <a:endParaRPr lang="en-US" altLang="en-US"/>
          </a:p>
        </p:txBody>
      </p:sp>
      <p:sp>
        <p:nvSpPr>
          <p:cNvPr id="408" name="Google Shape;408;p64"/>
          <p:cNvSpPr txBox="1"/>
          <p:nvPr>
            <p:ph type="body" idx="1"/>
          </p:nvPr>
        </p:nvSpPr>
        <p:spPr>
          <a:xfrm>
            <a:off x="311700" y="923875"/>
            <a:ext cx="8520600" cy="36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import android.util.Log;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Use class name as tag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private static final String TAG =   </a:t>
            </a:r>
            <a:br>
              <a:rPr lang="en-GB"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MainActivity.class.getSimpleName();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// Show message in Android Monitor, logcat pane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// Log.&lt;log-level&gt;(TAG, "Message");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Log.d(TAG, “Creating the URI…”);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9" name="Google Shape;409;p64"/>
          <p:cNvSpPr txBox="1"/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FIN</a:t>
            </a:r>
            <a:endParaRPr lang="en-US" altLang="en-GB"/>
          </a:p>
        </p:txBody>
      </p:sp>
      <p:sp>
        <p:nvSpPr>
          <p:cNvPr id="436" name="Google Shape;436;p68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7" name="Google Shape;437;p68"/>
          <p:cNvSpPr txBox="1"/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38" name="Google Shape;438;p68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3748</Words>
  <Application>WPS Presentation</Application>
  <PresentationFormat/>
  <Paragraphs>222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26</vt:i4>
      </vt:variant>
    </vt:vector>
  </HeadingPairs>
  <TitlesOfParts>
    <vt:vector size="41" baseType="lpstr">
      <vt:lpstr>Arial</vt:lpstr>
      <vt:lpstr>SimSun</vt:lpstr>
      <vt:lpstr>Wingdings</vt:lpstr>
      <vt:lpstr>Arial</vt:lpstr>
      <vt:lpstr>Roboto</vt:lpstr>
      <vt:lpstr>Thonburi</vt:lpstr>
      <vt:lpstr>Open Sans</vt:lpstr>
      <vt:lpstr>Microsoft YaHei</vt:lpstr>
      <vt:lpstr>汉仪旗黑</vt:lpstr>
      <vt:lpstr>Arial Unicode MS</vt:lpstr>
      <vt:lpstr>Consolas</vt:lpstr>
      <vt:lpstr>宋体-简</vt:lpstr>
      <vt:lpstr>GDT master</vt:lpstr>
      <vt:lpstr>GDT master</vt:lpstr>
      <vt:lpstr>GDT master</vt:lpstr>
      <vt:lpstr>Créez votre première application</vt:lpstr>
      <vt:lpstr>1.1 Votre premiere App Android</vt:lpstr>
      <vt:lpstr>Sommaire</vt:lpstr>
      <vt:lpstr>Prerequisites</vt:lpstr>
      <vt:lpstr>Android Studio</vt:lpstr>
      <vt:lpstr>C’est quoi Android Studio?</vt:lpstr>
      <vt:lpstr>Android Studio interface</vt:lpstr>
      <vt:lpstr>Installation </vt:lpstr>
      <vt:lpstr>Creating your  first Android app</vt:lpstr>
      <vt:lpstr>Demarrer Android Studio</vt:lpstr>
      <vt:lpstr>Créer un projet dans Android Studio</vt:lpstr>
      <vt:lpstr>Nommer votre app</vt:lpstr>
      <vt:lpstr>Choisir un modèle d'activité </vt:lpstr>
      <vt:lpstr>Nommez votre activité    Ask ChatGPT </vt:lpstr>
      <vt:lpstr>Dossiers du projet</vt:lpstr>
      <vt:lpstr>Système de build Gradle </vt:lpstr>
      <vt:lpstr>Executez votre app</vt:lpstr>
      <vt:lpstr>Créer un appareil virtuel    Ask ChatGPT </vt:lpstr>
      <vt:lpstr>Configurer un appareil virtuel    Ask ChatGPT </vt:lpstr>
      <vt:lpstr>Lancer sur un appareil virtuel    Ask ChatGPT </vt:lpstr>
      <vt:lpstr>Lancer sur un appareil physique    Ask ChatGPT </vt:lpstr>
      <vt:lpstr>Recevez des retours pendant que votre application s’exécute   </vt:lpstr>
      <vt:lpstr>Ajouter des journaux (logging) à votre application</vt:lpstr>
      <vt:lpstr>Le panneau Logcat </vt:lpstr>
      <vt:lpstr>Instruction de journalisation</vt:lpstr>
      <vt:lpstr>FIN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Créez votre première application</dc:title>
  <dc:creator/>
  <cp:lastModifiedBy>Assane GUEYE</cp:lastModifiedBy>
  <cp:revision>4</cp:revision>
  <dcterms:created xsi:type="dcterms:W3CDTF">2025-07-24T08:18:12Z</dcterms:created>
  <dcterms:modified xsi:type="dcterms:W3CDTF">2025-07-24T08:18:12Z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BE200C038CE6A29EA0DB7C68A523B5F3_42</vt:lpwstr>
  </property>
  <property fmtid="{D5CDD505-2E9C-101B-9397-08002B2CF9AE}" pid="3" name="KSOProductBuildVer">
    <vt:lpwstr>1033-6.14.0.8718</vt:lpwstr>
  </property>
</Properties>
</file>