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1" r:id="rId3"/>
    <p:sldMasterId id="2147483674" r:id="rId4"/>
  </p:sldMasterIdLst>
  <p:notesMasterIdLst>
    <p:notesMasterId r:id="rId6"/>
  </p:notesMasterIdLst>
  <p:sldIdLst>
    <p:sldId id="256" r:id="rId5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4" r:id="rId22"/>
  </p:sldIdLst>
  <p:sldSz cx="9144000" cy="5143500"/>
  <p:notesSz cx="6858000" cy="9144000"/>
  <p:embeddedFontLst>
    <p:embeddedFont>
      <p:font typeface="Open Sans" panose="020B0606030504020204"/>
      <p:regular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6" Type="http://schemas.openxmlformats.org/officeDocument/2006/relationships/font" Target="fonts/font1.fntdata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116d7d9d49_3_1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116d7d9d49_3_1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:notes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p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18062fba92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18062fba92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116fd4fb26_0_3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116fd4fb26_0_3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1623af889d_0_2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1623af889d_0_2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166ef061eb_0_2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166ef061eb_0_2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168a6dff84_0_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168a6dff84_0_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18009241be_0_20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18009241be_0_20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166ef061eb_0_3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166ef061eb_0_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18009241be_0_15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18009241be_0_15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18009241be_0_14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18009241be_0_14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117b5a90d3_0_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117b5a90d3_0_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1666e8c383_1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1666e8c383_1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116fd4fb26_0_1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116fd4fb26_0_1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166ef061eb_0_1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166ef061eb_0_1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116fd4fb26_0_2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116fd4fb26_0_2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18009241be_0_1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18009241be_0_1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5" Type="http://schemas.openxmlformats.org/officeDocument/2006/relationships/image" Target="../media/image3.png"/><Relationship Id="rId4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5" Type="http://schemas.openxmlformats.org/officeDocument/2006/relationships/hyperlink" Target="http://creativecommons.org/licenses/by-nc/4.0/" TargetMode="External"/><Relationship Id="rId4" Type="http://schemas.openxmlformats.org/officeDocument/2006/relationships/image" Target="../media/image5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bg>
      <p:bgPr>
        <a:solidFill>
          <a:srgbClr val="4CAF50"/>
        </a:solidFill>
        <a:effectLst/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sz="5200" b="1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7" name="Google Shape;17;p2"/>
          <p:cNvSpPr txBox="1"/>
          <p:nvPr>
            <p:ph type="subTitle" idx="1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8" name="Google Shape;18;p2"/>
          <p:cNvSpPr txBox="1"/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bg>
      <p:bgPr>
        <a:solidFill>
          <a:srgbClr val="4CAF50"/>
        </a:solidFill>
        <a:effectLst/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3"/>
          <p:cNvSpPr txBox="1"/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bg>
      <p:bgPr>
        <a:solidFill>
          <a:srgbClr val="FFFFFF"/>
        </a:solidFill>
        <a:effectLst/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" name="Google Shape;24;p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marL="914400" lvl="1" indent="-355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body" idx="1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type="body" idx="2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31" name="Google Shape;31;p5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" name="Google Shape;32;p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35" name="Google Shape;35;p6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" name="Google Shape;39;p7"/>
          <p:cNvSpPr txBox="1"/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" name="Google Shape;40;p7"/>
          <p:cNvSpPr txBox="1"/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3" name="Google Shape;43;p8"/>
          <p:cNvSpPr txBox="1"/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7" name="Google Shape;47;p9"/>
          <p:cNvSpPr txBox="1"/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8" name="Google Shape;48;p9"/>
          <p:cNvSpPr txBox="1"/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/>
          <p:nvPr>
            <p:ph type="body" idx="1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52" name="Google Shape;52;p10"/>
          <p:cNvSpPr txBox="1"/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/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12" descr="Android-Developer-Cover.jpg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2" descr="footer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2"/>
          <p:cNvSpPr txBox="1"/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61" name="Google Shape;61;p12"/>
          <p:cNvSpPr txBox="1"/>
          <p:nvPr>
            <p:ph type="sldNum" idx="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62" name="Google Shape;62;p12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12"/>
          <p:cNvSpPr txBox="1"/>
          <p:nvPr>
            <p:ph type="subTitle" idx="1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12"/>
          <p:cNvSpPr txBox="1"/>
          <p:nvPr>
            <p:ph type="sldNum" idx="3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65" name="Google Shape;65;p12"/>
          <p:cNvSpPr txBox="1"/>
          <p:nvPr>
            <p:ph type="subTitle" idx="4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66" name="Google Shape;66;p12"/>
          <p:cNvSpPr txBox="1"/>
          <p:nvPr/>
        </p:nvSpPr>
        <p:spPr>
          <a:xfrm>
            <a:off x="57709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 sz="900" i="1">
                <a:solidFill>
                  <a:srgbClr val="666666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This work is licensed under a </a:t>
            </a:r>
            <a:r>
              <a:rPr lang="en-GB" sz="900" i="1" u="sng">
                <a:solidFill>
                  <a:srgbClr val="666666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  <a:hlinkClick r:id="rId4"/>
              </a:rPr>
              <a:t>Creative Commons Attribution 4.0 International License</a:t>
            </a:r>
            <a:r>
              <a:rPr lang="en-GB" sz="900" i="1">
                <a:solidFill>
                  <a:srgbClr val="666666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.</a:t>
            </a:r>
            <a:endParaRPr sz="900" i="1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" name="Google Shape;67;p12"/>
          <p:cNvSpPr txBox="1"/>
          <p:nvPr/>
        </p:nvSpPr>
        <p:spPr>
          <a:xfrm>
            <a:off x="2290524" y="4761375"/>
            <a:ext cx="24021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None/>
            </a:pPr>
            <a:r>
              <a:rPr lang="en-GB" sz="1000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4481227" y="4668925"/>
            <a:ext cx="13383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None/>
            </a:pPr>
            <a:r>
              <a:rPr lang="en-GB" sz="1000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Text and  </a:t>
            </a:r>
            <a:endParaRPr sz="1000" b="1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None/>
            </a:pPr>
            <a:r>
              <a:rPr lang="en-GB" sz="1000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Scrolling Views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9" name="Google Shape;69;p12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79294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 txBox="1"/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bg>
      <p:bgPr>
        <a:solidFill>
          <a:srgbClr val="4CAF50"/>
        </a:solidFill>
        <a:effectLst/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8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sz="5200" b="1">
                <a:solidFill>
                  <a:srgbClr val="FAFAF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8" name="Google Shape;148;p28"/>
          <p:cNvSpPr txBox="1"/>
          <p:nvPr>
            <p:ph type="subTitle" idx="1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9" name="Google Shape;149;p28"/>
          <p:cNvSpPr txBox="1"/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bg>
      <p:bgPr>
        <a:solidFill>
          <a:srgbClr val="4CAF50"/>
        </a:solidFill>
        <a:effectLst/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9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2" name="Google Shape;152;p29"/>
          <p:cNvSpPr txBox="1"/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bg>
      <p:bgPr>
        <a:solidFill>
          <a:srgbClr val="FFFFFF"/>
        </a:solidFill>
        <a:effectLst/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0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5" name="Google Shape;155;p3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6" name="Google Shape;156;p30"/>
          <p:cNvSpPr txBox="1"/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marL="914400" lvl="1" indent="-3556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157" name="Google Shape;157;p30"/>
          <p:cNvSpPr txBox="1"/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1"/>
          <p:cNvSpPr txBox="1"/>
          <p:nvPr>
            <p:ph type="body" idx="1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60" name="Google Shape;160;p31"/>
          <p:cNvSpPr txBox="1"/>
          <p:nvPr>
            <p:ph type="body" idx="2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61" name="Google Shape;161;p31"/>
          <p:cNvSpPr txBox="1"/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162" name="Google Shape;162;p31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3" name="Google Shape;163;p3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2"/>
          <p:cNvSpPr txBox="1"/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166" name="Google Shape;166;p32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7" name="Google Shape;167;p3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70" name="Google Shape;170;p33"/>
          <p:cNvSpPr txBox="1"/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71" name="Google Shape;171;p33"/>
          <p:cNvSpPr txBox="1"/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74" name="Google Shape;174;p34"/>
          <p:cNvSpPr txBox="1"/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7" name="Google Shape;177;p3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8" name="Google Shape;178;p35"/>
          <p:cNvSpPr txBox="1"/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79" name="Google Shape;179;p35"/>
          <p:cNvSpPr txBox="1"/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0" name="Google Shape;180;p35"/>
          <p:cNvSpPr txBox="1"/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6"/>
          <p:cNvSpPr txBox="1"/>
          <p:nvPr>
            <p:ph type="body" idx="1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183" name="Google Shape;183;p36"/>
          <p:cNvSpPr txBox="1"/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7"/>
          <p:cNvSpPr txBox="1"/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86" name="Google Shape;186;p37"/>
          <p:cNvSpPr txBox="1"/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algn="ctr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7" name="Google Shape;187;p37"/>
          <p:cNvSpPr txBox="1"/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38" descr="Android-Developer-Cover.jpg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38"/>
          <p:cNvSpPr txBox="1"/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191" name="Google Shape;191;p38"/>
          <p:cNvSpPr txBox="1"/>
          <p:nvPr>
            <p:ph type="sldNum" idx="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192" name="Google Shape;192;p38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93" name="Google Shape;193;p38"/>
          <p:cNvSpPr txBox="1"/>
          <p:nvPr>
            <p:ph type="subTitle" idx="1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94" name="Google Shape;194;p38"/>
          <p:cNvSpPr txBox="1"/>
          <p:nvPr>
            <p:ph type="subTitle" idx="3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id="195" name="Google Shape;195;p38" descr="footer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38"/>
          <p:cNvSpPr txBox="1"/>
          <p:nvPr>
            <p:ph type="sldNum" idx="4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197" name="Google Shape;197;p38"/>
          <p:cNvSpPr txBox="1"/>
          <p:nvPr/>
        </p:nvSpPr>
        <p:spPr>
          <a:xfrm>
            <a:off x="2381687" y="4761375"/>
            <a:ext cx="52968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None/>
            </a:pPr>
            <a:r>
              <a:rPr lang="en-GB" sz="1000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_1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9"/>
          <p:cNvSpPr txBox="1"/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bg>
      <p:bgPr>
        <a:solidFill>
          <a:srgbClr val="4CAF50"/>
        </a:solidFill>
        <a:effectLst/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41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sz="5200" b="1">
                <a:solidFill>
                  <a:srgbClr val="FAFAF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12" name="Google Shape;212;p41"/>
          <p:cNvSpPr txBox="1"/>
          <p:nvPr>
            <p:ph type="subTitle" idx="1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13" name="Google Shape;213;p41"/>
          <p:cNvSpPr txBox="1"/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bg>
      <p:bgPr>
        <a:solidFill>
          <a:srgbClr val="4CAF50"/>
        </a:solidFill>
        <a:effectLst/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42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6" name="Google Shape;216;p42"/>
          <p:cNvSpPr txBox="1"/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bg>
      <p:bgPr>
        <a:solidFill>
          <a:srgbClr val="FFFFFF"/>
        </a:solidFill>
        <a:effectLst/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3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9" name="Google Shape;219;p4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0" name="Google Shape;220;p43"/>
          <p:cNvSpPr txBox="1"/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marL="914400" lvl="1" indent="-3556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221" name="Google Shape;221;p43"/>
          <p:cNvSpPr txBox="1"/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4"/>
          <p:cNvSpPr txBox="1"/>
          <p:nvPr>
            <p:ph type="body" idx="1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4" name="Google Shape;224;p44"/>
          <p:cNvSpPr txBox="1"/>
          <p:nvPr>
            <p:ph type="body" idx="2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5" name="Google Shape;225;p44"/>
          <p:cNvSpPr txBox="1"/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226" name="Google Shape;226;p44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7" name="Google Shape;227;p4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5"/>
          <p:cNvSpPr txBox="1"/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230" name="Google Shape;230;p45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1" name="Google Shape;231;p4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34" name="Google Shape;234;p46"/>
          <p:cNvSpPr txBox="1"/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5" name="Google Shape;235;p46"/>
          <p:cNvSpPr txBox="1"/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38" name="Google Shape;238;p47"/>
          <p:cNvSpPr txBox="1"/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8"/>
          <p:cNvSpPr/>
          <p:nvPr/>
        </p:nvSpPr>
        <p:spPr>
          <a:xfrm>
            <a:off x="4572000" y="-125"/>
            <a:ext cx="4572000" cy="4660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1" name="Google Shape;241;p4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42" name="Google Shape;242;p48"/>
          <p:cNvSpPr txBox="1"/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43" name="Google Shape;243;p48"/>
          <p:cNvSpPr txBox="1"/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4" name="Google Shape;244;p48"/>
          <p:cNvSpPr txBox="1"/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9"/>
          <p:cNvSpPr txBox="1"/>
          <p:nvPr>
            <p:ph type="body" idx="1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247" name="Google Shape;247;p49"/>
          <p:cNvSpPr txBox="1"/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50"/>
          <p:cNvSpPr txBox="1"/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50" name="Google Shape;250;p50"/>
          <p:cNvSpPr txBox="1"/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algn="ctr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1" name="Google Shape;251;p50"/>
          <p:cNvSpPr txBox="1"/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51" descr="Android-Developer-Cover.jpg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51" descr="footer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51"/>
          <p:cNvSpPr txBox="1"/>
          <p:nvPr/>
        </p:nvSpPr>
        <p:spPr>
          <a:xfrm>
            <a:off x="2381682" y="4761375"/>
            <a:ext cx="22191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None/>
            </a:pPr>
            <a:r>
              <a:rPr lang="en-GB" sz="1000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6" name="Google Shape;256;p51"/>
          <p:cNvSpPr txBox="1"/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257" name="Google Shape;257;p51"/>
          <p:cNvSpPr txBox="1"/>
          <p:nvPr>
            <p:ph type="sldNum" idx="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258" name="Google Shape;258;p51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59" name="Google Shape;259;p51"/>
          <p:cNvSpPr txBox="1"/>
          <p:nvPr>
            <p:ph type="subTitle" idx="1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60" name="Google Shape;260;p51"/>
          <p:cNvSpPr txBox="1"/>
          <p:nvPr>
            <p:ph type="sldNum" idx="3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261" name="Google Shape;261;p51"/>
          <p:cNvSpPr txBox="1"/>
          <p:nvPr>
            <p:ph type="subTitle" idx="4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id="262" name="Google Shape;262;p51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7833525" y="4777350"/>
            <a:ext cx="908100" cy="3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51"/>
          <p:cNvSpPr txBox="1"/>
          <p:nvPr/>
        </p:nvSpPr>
        <p:spPr>
          <a:xfrm>
            <a:off x="5610875" y="461872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i="1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This work is licensed under a </a:t>
            </a:r>
            <a:r>
              <a:rPr lang="en-GB" sz="900" i="1" u="sng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5"/>
              </a:rPr>
              <a:t>Creative Commons Attribution-NonCommercial 4.0 International License</a:t>
            </a:r>
            <a:endParaRPr sz="900" i="1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4" name="Google Shape;264;p51"/>
          <p:cNvSpPr txBox="1"/>
          <p:nvPr/>
        </p:nvSpPr>
        <p:spPr>
          <a:xfrm>
            <a:off x="4407225" y="4663950"/>
            <a:ext cx="11508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None/>
            </a:pPr>
            <a:r>
              <a:rPr lang="en-GB" sz="1000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Introduction to Android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_1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52"/>
          <p:cNvSpPr txBox="1"/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image" Target="../media/image3.png"/><Relationship Id="rId14" Type="http://schemas.openxmlformats.org/officeDocument/2006/relationships/hyperlink" Target="https://creativecommons.org/licenses/by/4.0/" TargetMode="External"/><Relationship Id="rId13" Type="http://schemas.openxmlformats.org/officeDocument/2006/relationships/image" Target="../media/image2.pn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4" Type="http://schemas.openxmlformats.org/officeDocument/2006/relationships/theme" Target="../theme/theme2.xml"/><Relationship Id="rId13" Type="http://schemas.openxmlformats.org/officeDocument/2006/relationships/image" Target="../media/image4.png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3.xml"/><Relationship Id="rId8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6.xml"/><Relationship Id="rId16" Type="http://schemas.openxmlformats.org/officeDocument/2006/relationships/theme" Target="../theme/theme3.xml"/><Relationship Id="rId15" Type="http://schemas.openxmlformats.org/officeDocument/2006/relationships/image" Target="../media/image3.png"/><Relationship Id="rId14" Type="http://schemas.openxmlformats.org/officeDocument/2006/relationships/hyperlink" Target="https://creativecommons.org/licenses/by/4.0/" TargetMode="External"/><Relationship Id="rId13" Type="http://schemas.openxmlformats.org/officeDocument/2006/relationships/image" Target="../media/image2.png"/><Relationship Id="rId12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4.xml"/><Relationship Id="rId1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 descr="footer.png"/>
          <p:cNvPicPr preferRelativeResize="0"/>
          <p:nvPr/>
        </p:nvPicPr>
        <p:blipFill rotWithShape="1">
          <a:blip r:embed="rId13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sz="3600" b="1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10" name="Google Shape;10;p1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" name="Google Shape;11;p1"/>
          <p:cNvSpPr txBox="1"/>
          <p:nvPr/>
        </p:nvSpPr>
        <p:spPr>
          <a:xfrm>
            <a:off x="57709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 sz="900" i="1">
                <a:solidFill>
                  <a:srgbClr val="666666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This work is licensed under a </a:t>
            </a:r>
            <a:r>
              <a:rPr lang="en-GB" sz="900" i="1" u="sng">
                <a:solidFill>
                  <a:srgbClr val="666666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  <a:hlinkClick r:id="rId14"/>
              </a:rPr>
              <a:t>Creative Commons Attribution 4.0 International License</a:t>
            </a:r>
            <a:r>
              <a:rPr lang="en-GB" sz="900" i="1">
                <a:solidFill>
                  <a:srgbClr val="666666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.</a:t>
            </a:r>
            <a:endParaRPr sz="900" i="1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Google Shape;12;p1"/>
          <p:cNvSpPr txBox="1"/>
          <p:nvPr/>
        </p:nvSpPr>
        <p:spPr>
          <a:xfrm>
            <a:off x="2273824" y="4761375"/>
            <a:ext cx="23424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None/>
            </a:pPr>
            <a:r>
              <a:rPr lang="en-GB" sz="1000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4481227" y="4668925"/>
            <a:ext cx="13383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None/>
            </a:pPr>
            <a:r>
              <a:rPr lang="en-GB" sz="1000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Text and  </a:t>
            </a:r>
            <a:endParaRPr sz="1000" b="1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None/>
            </a:pPr>
            <a:r>
              <a:rPr lang="en-GB" sz="1000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Scrolling Views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" name="Google Shape;14;p1"/>
          <p:cNvPicPr preferRelativeResize="0"/>
          <p:nvPr/>
        </p:nvPicPr>
        <p:blipFill>
          <a:blip r:embed="rId15"/>
          <a:stretch>
            <a:fillRect/>
          </a:stretch>
        </p:blipFill>
        <p:spPr>
          <a:xfrm>
            <a:off x="79294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7" descr="footer.png"/>
          <p:cNvPicPr preferRelativeResize="0"/>
          <p:nvPr/>
        </p:nvPicPr>
        <p:blipFill rotWithShape="1">
          <a:blip r:embed="rId13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sz="3600" b="1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2" name="Google Shape;142;p27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  <a:defRPr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Roboto"/>
              <a:buChar char="○"/>
              <a:defRPr sz="1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43" name="Google Shape;143;p27"/>
          <p:cNvSpPr txBox="1"/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144" name="Google Shape;144;p27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5" name="Google Shape;145;p27"/>
          <p:cNvSpPr txBox="1"/>
          <p:nvPr/>
        </p:nvSpPr>
        <p:spPr>
          <a:xfrm>
            <a:off x="2229287" y="4761375"/>
            <a:ext cx="52968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None/>
            </a:pPr>
            <a:r>
              <a:rPr lang="en-GB" sz="1000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40" descr="footer.png"/>
          <p:cNvPicPr preferRelativeResize="0"/>
          <p:nvPr/>
        </p:nvPicPr>
        <p:blipFill rotWithShape="1">
          <a:blip r:embed="rId13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sz="3600" b="1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3" name="Google Shape;203;p40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  <a:defRPr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Roboto"/>
              <a:buChar char="○"/>
              <a:defRPr sz="1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04" name="Google Shape;204;p40"/>
          <p:cNvSpPr txBox="1"/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205" name="Google Shape;205;p40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6" name="Google Shape;206;p40"/>
          <p:cNvSpPr txBox="1"/>
          <p:nvPr/>
        </p:nvSpPr>
        <p:spPr>
          <a:xfrm>
            <a:off x="2291100" y="4761375"/>
            <a:ext cx="23286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None/>
            </a:pPr>
            <a:r>
              <a:rPr lang="en-GB" sz="1000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 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7" name="Google Shape;207;p40"/>
          <p:cNvSpPr txBox="1"/>
          <p:nvPr/>
        </p:nvSpPr>
        <p:spPr>
          <a:xfrm>
            <a:off x="5610875" y="461872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 sz="900" i="1">
                <a:solidFill>
                  <a:srgbClr val="666666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This work is licensed under a </a:t>
            </a:r>
            <a:r>
              <a:rPr lang="en-GB" sz="900" i="1" u="sng">
                <a:solidFill>
                  <a:srgbClr val="666666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  <a:hlinkClick r:id="rId14"/>
              </a:rPr>
              <a:t>Creative Commons Attribution 4.0 International License</a:t>
            </a:r>
            <a:r>
              <a:rPr lang="en-GB" sz="900" i="1">
                <a:solidFill>
                  <a:srgbClr val="666666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.</a:t>
            </a:r>
            <a:endParaRPr sz="900" i="1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8" name="Google Shape;208;p40"/>
          <p:cNvSpPr txBox="1"/>
          <p:nvPr/>
        </p:nvSpPr>
        <p:spPr>
          <a:xfrm>
            <a:off x="4410402" y="4685175"/>
            <a:ext cx="13383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None/>
            </a:pPr>
            <a:r>
              <a:rPr lang="en-GB" sz="1000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Text and  </a:t>
            </a:r>
            <a:endParaRPr sz="1000" b="1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None/>
            </a:pPr>
            <a:r>
              <a:rPr lang="en-GB" sz="1000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Scrolling Views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09" name="Google Shape;209;p40"/>
          <p:cNvPicPr preferRelativeResize="0"/>
          <p:nvPr/>
        </p:nvPicPr>
        <p:blipFill>
          <a:blip r:embed="rId15"/>
          <a:stretch>
            <a:fillRect/>
          </a:stretch>
        </p:blipFill>
        <p:spPr>
          <a:xfrm>
            <a:off x="7938200" y="4788575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8.xml"/><Relationship Id="rId8" Type="http://schemas.openxmlformats.org/officeDocument/2006/relationships/slideLayout" Target="../slideLayouts/slideLayout3.xml"/><Relationship Id="rId7" Type="http://schemas.openxmlformats.org/officeDocument/2006/relationships/hyperlink" Target="https://developer.android.com/reference/android/widget/TextView.html#attr_android:lineSpacingExtra" TargetMode="External"/><Relationship Id="rId6" Type="http://schemas.openxmlformats.org/officeDocument/2006/relationships/hyperlink" Target="https://developer.android.com/reference/android/widget/TextView.html#attr_android:typeface" TargetMode="External"/><Relationship Id="rId5" Type="http://schemas.openxmlformats.org/officeDocument/2006/relationships/hyperlink" Target="https://developer.android.com/reference/android/widget/TextView.html#attr_android:textStyle" TargetMode="External"/><Relationship Id="rId4" Type="http://schemas.openxmlformats.org/officeDocument/2006/relationships/hyperlink" Target="https://developer.android.com/reference/android/widget/TextView.html#attr_android:textSize" TargetMode="External"/><Relationship Id="rId3" Type="http://schemas.openxmlformats.org/officeDocument/2006/relationships/hyperlink" Target="https://developer.android.com/reference/android/widget/TextView.html#attr_android:textAppearance" TargetMode="External"/><Relationship Id="rId2" Type="http://schemas.openxmlformats.org/officeDocument/2006/relationships/hyperlink" Target="https://developer.android.com/reference/android/widget/TextView.html#attr_android:textColor" TargetMode="External"/><Relationship Id="rId1" Type="http://schemas.openxmlformats.org/officeDocument/2006/relationships/hyperlink" Target="https://developer.android.com/reference/android/widget/TextView.html#attr_android:text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3.xml"/><Relationship Id="rId1" Type="http://schemas.openxmlformats.org/officeDocument/2006/relationships/hyperlink" Target="https://developer.android.com/reference/android/widget/TextView.html#attr_android:autoLink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53"/>
          <p:cNvSpPr txBox="1"/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272" name="Google Shape;272;p53"/>
          <p:cNvSpPr txBox="1"/>
          <p:nvPr>
            <p:ph type="sldNum" idx="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273" name="Google Shape;273;p53"/>
          <p:cNvSpPr txBox="1"/>
          <p:nvPr>
            <p:ph type="title"/>
          </p:nvPr>
        </p:nvSpPr>
        <p:spPr>
          <a:xfrm>
            <a:off x="195700" y="2277262"/>
            <a:ext cx="4045200" cy="188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US" altLang="en-US"/>
              <a:t>Créer votre premi</a:t>
            </a:r>
            <a:r>
              <a:rPr lang="en-US" altLang="en-US"/>
              <a:t>è</a:t>
            </a:r>
            <a:r>
              <a:rPr lang="en-US" altLang="en-US"/>
              <a:t>re application </a:t>
            </a:r>
            <a:br>
              <a:rPr lang="en-US" altLang="en-US"/>
            </a:br>
            <a:endParaRPr lang="en-US" altLang="en-US"/>
          </a:p>
        </p:txBody>
      </p:sp>
      <p:sp>
        <p:nvSpPr>
          <p:cNvPr id="274" name="Google Shape;274;p53"/>
          <p:cNvSpPr txBox="1"/>
          <p:nvPr>
            <p:ph type="sldNum" idx="3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275" name="Google Shape;275;p53"/>
          <p:cNvSpPr txBox="1"/>
          <p:nvPr>
            <p:ph type="subTitle" idx="4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Android Developer Fundamentals V2</a:t>
            </a:r>
            <a:endParaRPr lang="en-GB"/>
          </a:p>
        </p:txBody>
      </p:sp>
      <p:sp>
        <p:nvSpPr>
          <p:cNvPr id="276" name="Google Shape;276;p53"/>
          <p:cNvSpPr txBox="1"/>
          <p:nvPr/>
        </p:nvSpPr>
        <p:spPr>
          <a:xfrm>
            <a:off x="265500" y="3497911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FAFAFA"/>
                </a:solidFill>
                <a:latin typeface="Roboto"/>
                <a:ea typeface="Roboto"/>
                <a:cs typeface="Roboto"/>
                <a:sym typeface="Roboto"/>
              </a:rPr>
              <a:t>Lesson 1</a:t>
            </a:r>
            <a:endParaRPr sz="2100">
              <a:solidFill>
                <a:srgbClr val="FAFAF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54"/>
          <p:cNvSpPr txBox="1"/>
          <p:nvPr>
            <p:ph type="ctrTitle"/>
          </p:nvPr>
        </p:nvSpPr>
        <p:spPr>
          <a:xfrm>
            <a:off x="311700" y="1912795"/>
            <a:ext cx="7693800" cy="202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/>
              <a:t>1.3 Textes et vues avec défilement (Text and Scrolling Views)</a:t>
            </a:r>
            <a:br>
              <a:rPr lang="en-US" altLang="en-US"/>
            </a:br>
            <a:endParaRPr lang="en-US" altLang="en-US"/>
          </a:p>
        </p:txBody>
      </p:sp>
      <p:sp>
        <p:nvSpPr>
          <p:cNvPr id="282" name="Google Shape;282;p54"/>
          <p:cNvSpPr txBox="1"/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55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None/>
            </a:pPr>
            <a:r>
              <a:rPr lang="en-US" altLang="en-GB">
                <a:solidFill>
                  <a:srgbClr val="FFFFFF"/>
                </a:solidFill>
              </a:rPr>
              <a:t>Sommaire</a:t>
            </a:r>
            <a:endParaRPr lang="en-US" altLang="en-GB">
              <a:solidFill>
                <a:srgbClr val="FFFFFF"/>
              </a:solidFill>
            </a:endParaRPr>
          </a:p>
        </p:txBody>
      </p:sp>
      <p:sp>
        <p:nvSpPr>
          <p:cNvPr id="288" name="Google Shape;288;p55"/>
          <p:cNvSpPr txBox="1"/>
          <p:nvPr>
            <p:ph type="body" idx="1"/>
          </p:nvPr>
        </p:nvSpPr>
        <p:spPr>
          <a:xfrm>
            <a:off x="311700" y="1000075"/>
            <a:ext cx="83988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Font typeface="Consolas"/>
              <a:buChar char="●"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TextView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Font typeface="Consolas"/>
              <a:buChar char="●"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ScrollView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</a:p>
        </p:txBody>
      </p:sp>
      <p:sp>
        <p:nvSpPr>
          <p:cNvPr id="289" name="Google Shape;289;p55"/>
          <p:cNvSpPr txBox="1"/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5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TextView</a:t>
            </a:r>
            <a:endParaRPr lang="en-GB"/>
          </a:p>
        </p:txBody>
      </p:sp>
      <p:sp>
        <p:nvSpPr>
          <p:cNvPr id="295" name="Google Shape;295;p56"/>
          <p:cNvSpPr txBox="1"/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57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None/>
            </a:pPr>
            <a:r>
              <a:rPr lang="en-GB">
                <a:solidFill>
                  <a:srgbClr val="FFFFFF"/>
                </a:solidFill>
              </a:rPr>
              <a:t>TextView </a:t>
            </a:r>
            <a:r>
              <a:rPr lang="en-US" altLang="en-GB">
                <a:solidFill>
                  <a:srgbClr val="FFFFFF"/>
                </a:solidFill>
              </a:rPr>
              <a:t>pour</a:t>
            </a:r>
            <a:r>
              <a:rPr lang="en-GB">
                <a:solidFill>
                  <a:srgbClr val="FFFFFF"/>
                </a:solidFill>
              </a:rPr>
              <a:t> text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01" name="Google Shape;301;p57"/>
          <p:cNvSpPr txBox="1"/>
          <p:nvPr>
            <p:ph type="body" idx="1"/>
          </p:nvPr>
        </p:nvSpPr>
        <p:spPr>
          <a:xfrm>
            <a:off x="74930" y="1076325"/>
            <a:ext cx="9076055" cy="39649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-US" altLang="en-US" sz="2000"/>
              <a:t>TextView est une sous-classe de View pour afficher du texte (sur une ou plusieurs lignes).</a:t>
            </a:r>
            <a:endParaRPr lang="en-US" altLang="en-US" sz="200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-US" altLang="en-US" sz="2000"/>
              <a:t>EditText est une sous-classe de TextView avec du texte modifiable.</a:t>
            </a:r>
            <a:endParaRPr lang="en-US" altLang="en-US" sz="200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-US" altLang="en-US" sz="2000"/>
              <a:t>Contrôlé par les attributs de layout (XML)</a:t>
            </a:r>
            <a:endParaRPr lang="en-US" altLang="en-US" sz="200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-US" altLang="en-US" sz="2000"/>
              <a:t>Définition du texte</a:t>
            </a:r>
            <a:r>
              <a:rPr lang="en-GB" sz="2000"/>
              <a:t>:</a:t>
            </a:r>
            <a:endParaRPr lang="en-GB" sz="2000"/>
          </a:p>
          <a:p>
            <a:pPr marL="914400" lvl="1" indent="-355600" algn="l" rtl="0"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-US" altLang="en-US" sz="2000"/>
              <a:t>Statique : Depuis une ressource string dans le XML</a:t>
            </a:r>
            <a:endParaRPr lang="en-US" altLang="en-US" sz="2000"/>
          </a:p>
          <a:p>
            <a:pPr marL="914400" lvl="1" indent="-355600" algn="l" rtl="0"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-US" altLang="en-US" sz="2000">
                <a:solidFill>
                  <a:schemeClr val="dk1"/>
                </a:solidFill>
              </a:rPr>
              <a:t>Dynamique : Depuis le code Java/Kotlin ou toute autre source</a:t>
            </a:r>
            <a:endParaRPr lang="en-US" altLang="en-US" sz="2000">
              <a:solidFill>
                <a:schemeClr val="dk1"/>
              </a:solidFill>
            </a:endParaRPr>
          </a:p>
        </p:txBody>
      </p:sp>
      <p:sp>
        <p:nvSpPr>
          <p:cNvPr id="302" name="Google Shape;302;p57"/>
          <p:cNvSpPr txBox="1"/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58"/>
          <p:cNvSpPr txBox="1"/>
          <p:nvPr>
            <p:ph type="title"/>
          </p:nvPr>
        </p:nvSpPr>
        <p:spPr>
          <a:xfrm>
            <a:off x="311700" y="-187950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None/>
            </a:pPr>
            <a:r>
              <a:rPr lang="en-US" altLang="en-US">
                <a:solidFill>
                  <a:srgbClr val="FFFFFF"/>
                </a:solidFill>
              </a:rPr>
              <a:t>Mise en forme de texte dans les ressources </a:t>
            </a:r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308" name="Google Shape;308;p58"/>
          <p:cNvSpPr txBox="1"/>
          <p:nvPr>
            <p:ph type="body" idx="1"/>
          </p:nvPr>
        </p:nvSpPr>
        <p:spPr>
          <a:xfrm>
            <a:off x="311700" y="1076275"/>
            <a:ext cx="85014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-US" altLang="en-US" sz="2000"/>
              <a:t>Balises HTML supportées &lt;b&gt; Texte en gras&lt;i&gt;, Texte en italique, \n : Nouvelle ligne ou paragraphe</a:t>
            </a:r>
            <a:endParaRPr lang="en-US" altLang="en-US" sz="200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-US" altLang="en-US" sz="2000"/>
              <a:t>Toutes les autres balises HTML sont ignorées</a:t>
            </a:r>
            <a:endParaRPr lang="en-US" altLang="en-US" sz="200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-US" altLang="en-US" sz="2000">
                <a:solidFill>
                  <a:schemeClr val="dk1"/>
                </a:solidFill>
              </a:rPr>
              <a:t>Les ressources string : une ligne continue = un paragraphe</a:t>
            </a:r>
            <a:endParaRPr lang="en-US" altLang="en-US" sz="20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-US" altLang="en-US" sz="2000">
                <a:solidFill>
                  <a:schemeClr val="dk1"/>
                </a:solidFill>
              </a:rPr>
              <a:t>\n crée une nouvelle ligne ou paragraphe</a:t>
            </a:r>
            <a:endParaRPr lang="en-US" altLang="en-US" sz="20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-US" altLang="en-US" sz="2000">
                <a:solidFill>
                  <a:schemeClr val="dk1"/>
                </a:solidFill>
              </a:rPr>
              <a:t>É</a:t>
            </a:r>
            <a:r>
              <a:rPr lang="en-US" altLang="en-US" sz="2000">
                <a:solidFill>
                  <a:schemeClr val="dk1"/>
                </a:solidFill>
              </a:rPr>
              <a:t>chappez les apostrophes et guillemets avec \" et \'</a:t>
            </a:r>
            <a:endParaRPr lang="en-US" altLang="en-US" sz="20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-US" altLang="en-US" sz="2000">
                <a:solidFill>
                  <a:schemeClr val="dk1"/>
                </a:solidFill>
              </a:rPr>
              <a:t>É</a:t>
            </a:r>
            <a:r>
              <a:rPr lang="en-US" altLang="en-US" sz="2000">
                <a:solidFill>
                  <a:schemeClr val="dk1"/>
                </a:solidFill>
              </a:rPr>
              <a:t>chappez tout caract</a:t>
            </a:r>
            <a:r>
              <a:rPr lang="en-US" altLang="en-US" sz="2000">
                <a:solidFill>
                  <a:schemeClr val="dk1"/>
                </a:solidFill>
              </a:rPr>
              <a:t>è</a:t>
            </a:r>
            <a:r>
              <a:rPr lang="en-US" altLang="en-US" sz="2000">
                <a:solidFill>
                  <a:schemeClr val="dk1"/>
                </a:solidFill>
              </a:rPr>
              <a:t>re non-ASCII avec \</a:t>
            </a:r>
            <a:endParaRPr lang="en-US" altLang="en-US" sz="2000">
              <a:solidFill>
                <a:schemeClr val="dk1"/>
              </a:solidFill>
            </a:endParaRPr>
          </a:p>
        </p:txBody>
      </p:sp>
      <p:sp>
        <p:nvSpPr>
          <p:cNvPr id="309" name="Google Shape;309;p58"/>
          <p:cNvSpPr txBox="1"/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5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Cre</a:t>
            </a:r>
            <a:r>
              <a:rPr lang="en-US" altLang="en-GB"/>
              <a:t>er</a:t>
            </a:r>
            <a:r>
              <a:rPr lang="en-GB"/>
              <a:t> TextView </a:t>
            </a:r>
            <a:r>
              <a:rPr lang="en-US" altLang="en-GB"/>
              <a:t>dans</a:t>
            </a:r>
            <a:r>
              <a:rPr lang="en-GB"/>
              <a:t> XML</a:t>
            </a:r>
            <a:endParaRPr lang="en-GB"/>
          </a:p>
        </p:txBody>
      </p:sp>
      <p:sp>
        <p:nvSpPr>
          <p:cNvPr id="315" name="Google Shape;315;p59"/>
          <p:cNvSpPr txBox="1"/>
          <p:nvPr>
            <p:ph type="body" idx="1"/>
          </p:nvPr>
        </p:nvSpPr>
        <p:spPr>
          <a:xfrm>
            <a:off x="392825" y="1228675"/>
            <a:ext cx="81348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&lt;TextView android:id="@+id/textview"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android:layout_width="match_parent"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android:layout_height="wrap_content"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android:text="@string/my_story"/&gt;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6" name="Google Shape;316;p59"/>
          <p:cNvSpPr txBox="1"/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6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/>
              <a:t>Attributs courants de TextView</a:t>
            </a:r>
            <a:br>
              <a:rPr lang="en-US" altLang="en-US"/>
            </a:br>
            <a:endParaRPr lang="en-US" altLang="en-US"/>
          </a:p>
        </p:txBody>
      </p:sp>
      <p:sp>
        <p:nvSpPr>
          <p:cNvPr id="322" name="Google Shape;322;p60"/>
          <p:cNvSpPr txBox="1"/>
          <p:nvPr>
            <p:ph type="body" idx="1"/>
          </p:nvPr>
        </p:nvSpPr>
        <p:spPr>
          <a:xfrm>
            <a:off x="178435" y="899795"/>
            <a:ext cx="8888730" cy="35147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200" u="sng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  <a:hlinkClick r:id="rId1"/>
              </a:rPr>
              <a:t>android:</a:t>
            </a:r>
            <a:r>
              <a:rPr lang="en-GB" sz="2200" b="1" u="sng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  <a:hlinkClick r:id="rId1"/>
              </a:rPr>
              <a:t>text</a:t>
            </a:r>
            <a:r>
              <a:rPr lang="en-GB" sz="2200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—text</a:t>
            </a:r>
            <a:r>
              <a:rPr lang="en-US" altLang="en-GB" sz="2200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e</a:t>
            </a:r>
            <a:r>
              <a:rPr lang="en-GB" sz="2200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r>
              <a:rPr lang="en-US" sz="2200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a afficher</a:t>
            </a:r>
            <a:endParaRPr lang="en-US" sz="2200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200" u="sng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  <a:hlinkClick r:id="rId2"/>
              </a:rPr>
              <a:t>android:</a:t>
            </a:r>
            <a:r>
              <a:rPr lang="en-GB" sz="2200" b="1" u="sng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  <a:hlinkClick r:id="rId2"/>
              </a:rPr>
              <a:t>textColor</a:t>
            </a:r>
            <a:r>
              <a:rPr lang="en-GB" sz="2200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—col</a:t>
            </a:r>
            <a:r>
              <a:rPr lang="en-US" altLang="en-GB" sz="2200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eur de </a:t>
            </a:r>
            <a:r>
              <a:rPr lang="en-GB" sz="2200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text</a:t>
            </a:r>
            <a:r>
              <a:rPr lang="en-US" altLang="en-GB" sz="2200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e</a:t>
            </a:r>
            <a:endParaRPr sz="2200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200" u="sng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android:</a:t>
            </a:r>
            <a:r>
              <a:rPr lang="en-GB" sz="2200" b="1" u="sng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textAppearance</a:t>
            </a:r>
            <a:r>
              <a:rPr lang="en-GB" sz="2200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—</a:t>
            </a:r>
            <a:r>
              <a:rPr lang="en-US" altLang="en-US" sz="2200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Style ou th</a:t>
            </a:r>
            <a:r>
              <a:rPr lang="en-US" altLang="en-US" sz="2200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è</a:t>
            </a:r>
            <a:r>
              <a:rPr lang="en-US" altLang="en-US" sz="2200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me prédéfini</a:t>
            </a:r>
            <a:endParaRPr sz="2200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200" u="sng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  <a:hlinkClick r:id="rId4"/>
              </a:rPr>
              <a:t>android:</a:t>
            </a:r>
            <a:r>
              <a:rPr lang="en-GB" sz="2200" b="1" u="sng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  <a:hlinkClick r:id="rId4"/>
              </a:rPr>
              <a:t>textSize</a:t>
            </a:r>
            <a:r>
              <a:rPr lang="en-GB" sz="2200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—</a:t>
            </a:r>
            <a:r>
              <a:rPr lang="en-US" alt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Taille du texte (toujours en sp)</a:t>
            </a:r>
            <a:endParaRPr sz="2200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200" u="sng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  <a:hlinkClick r:id="rId5"/>
              </a:rPr>
              <a:t>android:</a:t>
            </a:r>
            <a:r>
              <a:rPr lang="en-GB" sz="2200" b="1" u="sng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  <a:hlinkClick r:id="rId5"/>
              </a:rPr>
              <a:t>textStyle</a:t>
            </a:r>
            <a:r>
              <a:rPr lang="en-GB" sz="2200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—</a:t>
            </a:r>
            <a:r>
              <a:rPr lang="en-GB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normal</a:t>
            </a:r>
            <a:r>
              <a:rPr lang="en-GB" sz="2200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, </a:t>
            </a:r>
            <a:r>
              <a:rPr lang="en-GB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bold</a:t>
            </a:r>
            <a:r>
              <a:rPr lang="en-GB" sz="2200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, </a:t>
            </a:r>
            <a:r>
              <a:rPr lang="en-GB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italic</a:t>
            </a:r>
            <a:r>
              <a:rPr lang="en-GB" sz="2200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, or </a:t>
            </a:r>
            <a:r>
              <a:rPr lang="en-GB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bold</a:t>
            </a:r>
            <a:r>
              <a:rPr lang="en-GB" sz="2200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|</a:t>
            </a:r>
            <a:r>
              <a:rPr lang="en-GB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italic</a:t>
            </a:r>
            <a:endParaRPr sz="2200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200" u="sng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  <a:hlinkClick r:id="rId6"/>
              </a:rPr>
              <a:t>android:</a:t>
            </a:r>
            <a:r>
              <a:rPr lang="en-GB" sz="2200" b="1" u="sng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  <a:hlinkClick r:id="rId6"/>
              </a:rPr>
              <a:t>typeface</a:t>
            </a:r>
            <a:r>
              <a:rPr lang="en-GB" sz="2200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—</a:t>
            </a:r>
            <a:r>
              <a:rPr lang="en-GB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normal</a:t>
            </a:r>
            <a:r>
              <a:rPr lang="en-GB" sz="2200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, </a:t>
            </a:r>
            <a:r>
              <a:rPr lang="en-GB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sans</a:t>
            </a:r>
            <a:r>
              <a:rPr lang="en-GB" sz="2200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, </a:t>
            </a:r>
            <a:r>
              <a:rPr lang="en-GB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serif</a:t>
            </a:r>
            <a:r>
              <a:rPr lang="en-GB" sz="2200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, or </a:t>
            </a:r>
            <a:r>
              <a:rPr lang="en-GB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monospace</a:t>
            </a:r>
            <a:endParaRPr sz="2200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200" u="sng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  <a:hlinkClick r:id="rId7"/>
              </a:rPr>
              <a:t>android:</a:t>
            </a:r>
            <a:r>
              <a:rPr lang="en-GB" sz="2200" b="1" u="sng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  <a:hlinkClick r:id="rId7"/>
              </a:rPr>
              <a:t>lineSpacingExtra</a:t>
            </a:r>
            <a:r>
              <a:rPr lang="en-GB" sz="2200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—</a:t>
            </a:r>
            <a:r>
              <a:rPr lang="en-US" alt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Espacement supplémentaire entre les lignes (en sp)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3" name="Google Shape;323;p60"/>
          <p:cNvSpPr txBox="1"/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61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None/>
            </a:pPr>
            <a:r>
              <a:rPr lang="en-US" altLang="en-US">
                <a:solidFill>
                  <a:srgbClr val="FFFFFF"/>
                </a:solidFill>
              </a:rPr>
              <a:t>Formatage des liens web actifs</a:t>
            </a:r>
            <a:br>
              <a:rPr lang="en-US" altLang="en-US">
                <a:solidFill>
                  <a:srgbClr val="FFFFFF"/>
                </a:solidFill>
              </a:rPr>
            </a:br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329" name="Google Shape;329;p61"/>
          <p:cNvSpPr txBox="1"/>
          <p:nvPr>
            <p:ph type="body" idx="1"/>
          </p:nvPr>
        </p:nvSpPr>
        <p:spPr>
          <a:xfrm>
            <a:off x="311700" y="1076275"/>
            <a:ext cx="83748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&lt;string name="article_text"&gt;... </a:t>
            </a:r>
            <a:r>
              <a:rPr lang="en-GB" sz="18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www.rockument.com </a:t>
            </a: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...&lt;/string&gt;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&lt;TextView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android:id="@+id/article"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android:layout_width="wrap_content"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android:layout_height="wrap_content"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GB" sz="18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android:autoLink="web"</a:t>
            </a:r>
            <a:endParaRPr sz="1800"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android:text="@string/article_text"/&gt;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0" name="Google Shape;330;p61"/>
          <p:cNvSpPr txBox="1"/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331" name="Google Shape;331;p61"/>
          <p:cNvSpPr/>
          <p:nvPr/>
        </p:nvSpPr>
        <p:spPr>
          <a:xfrm>
            <a:off x="4282425" y="1158300"/>
            <a:ext cx="2382000" cy="285600"/>
          </a:xfrm>
          <a:prstGeom prst="rect">
            <a:avLst/>
          </a:prstGeom>
          <a:noFill/>
          <a:ln w="28575" cap="flat" cmpd="sng">
            <a:solidFill>
              <a:srgbClr val="99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32" name="Google Shape;332;p61"/>
          <p:cNvSpPr/>
          <p:nvPr/>
        </p:nvSpPr>
        <p:spPr>
          <a:xfrm>
            <a:off x="707075" y="3061475"/>
            <a:ext cx="2947200" cy="285600"/>
          </a:xfrm>
          <a:prstGeom prst="rect">
            <a:avLst/>
          </a:prstGeom>
          <a:noFill/>
          <a:ln w="28575" cap="flat" cmpd="sng">
            <a:solidFill>
              <a:srgbClr val="99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33" name="Google Shape;333;p61"/>
          <p:cNvSpPr txBox="1"/>
          <p:nvPr/>
        </p:nvSpPr>
        <p:spPr>
          <a:xfrm>
            <a:off x="7088425" y="3091320"/>
            <a:ext cx="1881000" cy="1329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US" altLang="en-US" sz="1800"/>
              <a:t>N'utilisez pas de HTML pour les liens web dans du texte libre</a:t>
            </a:r>
            <a:endParaRPr lang="en-US" altLang="en-US" sz="1800"/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endParaRPr lang="en-US" altLang="en-US" sz="1800"/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endParaRPr lang="en-US" altLang="en-US" sz="1800"/>
          </a:p>
        </p:txBody>
      </p:sp>
      <p:sp>
        <p:nvSpPr>
          <p:cNvPr id="334" name="Google Shape;334;p61"/>
          <p:cNvSpPr txBox="1"/>
          <p:nvPr/>
        </p:nvSpPr>
        <p:spPr>
          <a:xfrm>
            <a:off x="311700" y="4108350"/>
            <a:ext cx="62973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u="sng">
                <a:solidFill>
                  <a:schemeClr val="hlink"/>
                </a:solidFill>
                <a:hlinkClick r:id="rId1"/>
              </a:rPr>
              <a:t>autoLink</a:t>
            </a: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values:</a:t>
            </a: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"web"</a:t>
            </a:r>
            <a:r>
              <a:rPr lang="en-GB" sz="1800">
                <a:solidFill>
                  <a:schemeClr val="dk1"/>
                </a:solidFill>
              </a:rPr>
              <a:t>, </a:t>
            </a: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"email"</a:t>
            </a:r>
            <a:r>
              <a:rPr lang="en-GB" sz="1800"/>
              <a:t>, </a:t>
            </a: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"phone"</a:t>
            </a:r>
            <a:r>
              <a:rPr lang="en-GB" sz="1800"/>
              <a:t>, </a:t>
            </a: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"map"</a:t>
            </a:r>
            <a:r>
              <a:rPr lang="en-GB" sz="1800"/>
              <a:t>, </a:t>
            </a: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"all"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6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Creating TextView in Java code</a:t>
            </a:r>
            <a:endParaRPr lang="en-GB"/>
          </a:p>
        </p:txBody>
      </p:sp>
      <p:sp>
        <p:nvSpPr>
          <p:cNvPr id="340" name="Google Shape;340;p62"/>
          <p:cNvSpPr txBox="1"/>
          <p:nvPr>
            <p:ph type="body" idx="1"/>
          </p:nvPr>
        </p:nvSpPr>
        <p:spPr>
          <a:xfrm>
            <a:off x="2355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TextView myTextview = new TextView(this);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myTextView.setWidth(LayoutParams.MATCH_PARENT);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myTextView.setHeight(LayoutParams.WRAP_CONTENT);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myTextView.setMinLines(3);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myTextView.setText(R.string.my_story);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myTextView.append(userComment);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1" name="Google Shape;341;p62"/>
          <p:cNvSpPr txBox="1"/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6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ScrollView</a:t>
            </a:r>
            <a:endParaRPr lang="en-GB"/>
          </a:p>
        </p:txBody>
      </p:sp>
      <p:sp>
        <p:nvSpPr>
          <p:cNvPr id="347" name="Google Shape;347;p63"/>
          <p:cNvSpPr txBox="1"/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64"/>
          <p:cNvSpPr txBox="1"/>
          <p:nvPr>
            <p:ph type="title"/>
          </p:nvPr>
        </p:nvSpPr>
        <p:spPr>
          <a:xfrm>
            <a:off x="311700" y="-11619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None/>
            </a:pPr>
            <a:r>
              <a:rPr lang="en-US" altLang="en-US" sz="3200">
                <a:solidFill>
                  <a:srgbClr val="FFFFFF"/>
                </a:solidFill>
              </a:rPr>
              <a:t>Gestion des grands volumes de texte dans Android</a:t>
            </a:r>
            <a:endParaRPr lang="en-US" altLang="en-US" sz="3200">
              <a:solidFill>
                <a:srgbClr val="FFFFFF"/>
              </a:solidFill>
            </a:endParaRPr>
          </a:p>
        </p:txBody>
      </p:sp>
      <p:sp>
        <p:nvSpPr>
          <p:cNvPr id="353" name="Google Shape;353;p64"/>
          <p:cNvSpPr txBox="1"/>
          <p:nvPr>
            <p:ph type="body" idx="1"/>
          </p:nvPr>
        </p:nvSpPr>
        <p:spPr>
          <a:xfrm>
            <a:off x="171850" y="1228675"/>
            <a:ext cx="84702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altLang="en-US" sz="2400">
                <a:solidFill>
                  <a:schemeClr val="dk1"/>
                </a:solidFill>
              </a:rPr>
              <a:t>Articles, actualités, etc...</a:t>
            </a:r>
            <a:endParaRPr lang="en-US" altLang="en-US"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altLang="en-US" sz="2400">
                <a:solidFill>
                  <a:schemeClr val="dk1"/>
                </a:solidFill>
              </a:rPr>
              <a:t>Pour faire défiler un TextView, intégrez-le dans un ScrollView :</a:t>
            </a:r>
            <a:endParaRPr lang="en-US" altLang="en-US"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altLang="en-US" sz="2400">
                <a:solidFill>
                  <a:schemeClr val="dk1"/>
                </a:solidFill>
              </a:rPr>
              <a:t>Un seul élément View (généralement TextView) autorisé directement dans le ScrollView</a:t>
            </a:r>
            <a:endParaRPr lang="en-US" altLang="en-US"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altLang="en-US" sz="2400">
                <a:solidFill>
                  <a:schemeClr val="dk1"/>
                </a:solidFill>
              </a:rPr>
              <a:t>Pour plusieurs éléments, utilisez un ViewGroup (comme LinearLayout) dans le ScrollView</a:t>
            </a:r>
            <a:endParaRPr lang="en-US" altLang="en-US" sz="2400">
              <a:solidFill>
                <a:schemeClr val="dk1"/>
              </a:solidFill>
            </a:endParaRPr>
          </a:p>
        </p:txBody>
      </p:sp>
      <p:sp>
        <p:nvSpPr>
          <p:cNvPr id="354" name="Google Shape;354;p64"/>
          <p:cNvSpPr txBox="1"/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65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None/>
            </a:pPr>
            <a:r>
              <a:rPr lang="en-US" altLang="en-US">
                <a:solidFill>
                  <a:srgbClr val="FFFFFF"/>
                </a:solidFill>
              </a:rPr>
              <a:t>ScrollView : Pour faire défiler du contenu</a:t>
            </a:r>
            <a:br>
              <a:rPr lang="en-US" altLang="en-US">
                <a:solidFill>
                  <a:srgbClr val="FFFFFF"/>
                </a:solidFill>
              </a:rPr>
            </a:br>
            <a:br>
              <a:rPr lang="en-US" altLang="en-US">
                <a:solidFill>
                  <a:srgbClr val="FFFFFF"/>
                </a:solidFill>
              </a:rPr>
            </a:br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360" name="Google Shape;360;p65"/>
          <p:cNvSpPr txBox="1"/>
          <p:nvPr>
            <p:ph type="body" idx="1"/>
          </p:nvPr>
        </p:nvSpPr>
        <p:spPr>
          <a:xfrm>
            <a:off x="67000" y="986550"/>
            <a:ext cx="8520600" cy="358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0" indent="-381000" algn="l" rtl="0">
              <a:spcBef>
                <a:spcPts val="500"/>
              </a:spcBef>
              <a:spcAft>
                <a:spcPts val="0"/>
              </a:spcAft>
              <a:buSzPts val="2400"/>
              <a:buChar char="●"/>
            </a:pPr>
            <a:r>
              <a:rPr lang="en-US" altLang="en-US">
                <a:solidFill>
                  <a:schemeClr val="dk1"/>
                </a:solidFill>
              </a:rPr>
              <a:t>ScrollView est une sous-classe de FrameLayout</a:t>
            </a:r>
            <a:endParaRPr lang="en-US" altLang="en-US">
              <a:solidFill>
                <a:schemeClr val="dk1"/>
              </a:solidFill>
            </a:endParaRPr>
          </a:p>
          <a:p>
            <a:pPr marL="914400" lvl="0" indent="-381000" algn="l" rtl="0">
              <a:spcBef>
                <a:spcPts val="500"/>
              </a:spcBef>
              <a:spcAft>
                <a:spcPts val="0"/>
              </a:spcAft>
              <a:buSzPts val="2400"/>
              <a:buChar char="●"/>
            </a:pPr>
            <a:r>
              <a:rPr lang="en-US" altLang="en-US">
                <a:solidFill>
                  <a:schemeClr val="dk1"/>
                </a:solidFill>
              </a:rPr>
              <a:t>Contient tout le contenu en mémoire</a:t>
            </a:r>
            <a:endParaRPr lang="en-US" altLang="en-US">
              <a:solidFill>
                <a:schemeClr val="dk1"/>
              </a:solidFill>
            </a:endParaRPr>
          </a:p>
          <a:p>
            <a:pPr marL="914400" lvl="0" indent="-381000" algn="l" rtl="0">
              <a:spcBef>
                <a:spcPts val="500"/>
              </a:spcBef>
              <a:spcAft>
                <a:spcPts val="0"/>
              </a:spcAft>
              <a:buSzPts val="2400"/>
              <a:buChar char="●"/>
            </a:pPr>
            <a:r>
              <a:rPr lang="en-US" altLang="en-US">
                <a:solidFill>
                  <a:schemeClr val="dk1"/>
                </a:solidFill>
              </a:rPr>
              <a:t>Non adapté aux textes tr</a:t>
            </a:r>
            <a:r>
              <a:rPr lang="en-US" altLang="en-US">
                <a:solidFill>
                  <a:schemeClr val="dk1"/>
                </a:solidFill>
              </a:rPr>
              <a:t>è</a:t>
            </a:r>
            <a:r>
              <a:rPr lang="en-US" altLang="en-US">
                <a:solidFill>
                  <a:schemeClr val="dk1"/>
                </a:solidFill>
              </a:rPr>
              <a:t>s longs ou layouts complexes</a:t>
            </a:r>
            <a:endParaRPr lang="en-US" altLang="en-US">
              <a:solidFill>
                <a:schemeClr val="dk1"/>
              </a:solidFill>
            </a:endParaRPr>
          </a:p>
          <a:p>
            <a:pPr marL="914400" lvl="0" indent="-381000" algn="l" rtl="0">
              <a:spcBef>
                <a:spcPts val="500"/>
              </a:spcBef>
              <a:spcAft>
                <a:spcPts val="0"/>
              </a:spcAft>
              <a:buSzPts val="2400"/>
              <a:buChar char="●"/>
            </a:pPr>
            <a:r>
              <a:rPr lang="en-US" altLang="en-US">
                <a:solidFill>
                  <a:schemeClr val="dk1"/>
                </a:solidFill>
              </a:rPr>
              <a:t>À</a:t>
            </a:r>
            <a:r>
              <a:rPr lang="en-US" altLang="en-US">
                <a:solidFill>
                  <a:schemeClr val="dk1"/>
                </a:solidFill>
              </a:rPr>
              <a:t> éviter : l'imbrication de plusieurs vues défilantes</a:t>
            </a:r>
            <a:endParaRPr lang="en-US" altLang="en-US">
              <a:solidFill>
                <a:schemeClr val="dk1"/>
              </a:solidFill>
            </a:endParaRPr>
          </a:p>
          <a:p>
            <a:pPr marL="914400" lvl="0" indent="-381000" algn="l" rtl="0">
              <a:spcBef>
                <a:spcPts val="500"/>
              </a:spcBef>
              <a:spcAft>
                <a:spcPts val="0"/>
              </a:spcAft>
              <a:buSzPts val="2400"/>
              <a:buChar char="●"/>
            </a:pPr>
            <a:r>
              <a:rPr lang="en-US" altLang="en-US">
                <a:solidFill>
                  <a:schemeClr val="dk1"/>
                </a:solidFill>
              </a:rPr>
              <a:t>Alternative horizontale : HorizontalScrollView</a:t>
            </a:r>
            <a:endParaRPr lang="en-US" altLang="en-US">
              <a:solidFill>
                <a:schemeClr val="dk1"/>
              </a:solidFill>
            </a:endParaRPr>
          </a:p>
          <a:p>
            <a:pPr marL="914400" lvl="0" indent="-381000" algn="l" rtl="0">
              <a:spcBef>
                <a:spcPts val="500"/>
              </a:spcBef>
              <a:spcAft>
                <a:spcPts val="0"/>
              </a:spcAft>
              <a:buSzPts val="2400"/>
              <a:buChar char="●"/>
            </a:pPr>
            <a:r>
              <a:rPr lang="en-US" altLang="en-US">
                <a:solidFill>
                  <a:schemeClr val="dk1"/>
                </a:solidFill>
              </a:rPr>
              <a:t>Pour les listes : Utilisez RecyclerView</a:t>
            </a:r>
            <a:endParaRPr lang="en-US" altLang="en-US">
              <a:solidFill>
                <a:schemeClr val="dk1"/>
              </a:solidFill>
            </a:endParaRPr>
          </a:p>
        </p:txBody>
      </p:sp>
      <p:sp>
        <p:nvSpPr>
          <p:cNvPr id="361" name="Google Shape;361;p65"/>
          <p:cNvSpPr txBox="1"/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66"/>
          <p:cNvSpPr txBox="1"/>
          <p:nvPr>
            <p:ph type="body" idx="1"/>
          </p:nvPr>
        </p:nvSpPr>
        <p:spPr>
          <a:xfrm>
            <a:off x="20850" y="1076275"/>
            <a:ext cx="7094700" cy="3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&lt;ScrollView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android:layout_width="wrap_content"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android:layout_height="wrap_content"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android:layout_below="@id/article_subheading"&gt;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GB" sz="18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&lt;TextView</a:t>
            </a:r>
            <a:endParaRPr sz="1800"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android:layout_width="wrap_content"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android:layout_height="wrap_content"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...</a:t>
            </a:r>
            <a:r>
              <a:rPr lang="en-GB" sz="18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/&gt;</a:t>
            </a:r>
            <a:endParaRPr sz="1800"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&lt;/ScrollView&gt;</a:t>
            </a:r>
            <a:endParaRPr sz="1800">
              <a:solidFill>
                <a:srgbClr val="000000"/>
              </a:solidFill>
            </a:endParaRPr>
          </a:p>
        </p:txBody>
      </p:sp>
      <p:pic>
        <p:nvPicPr>
          <p:cNvPr id="367" name="Google Shape;367;p66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5299900" y="1653325"/>
            <a:ext cx="3836225" cy="283935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66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None/>
            </a:pPr>
            <a:r>
              <a:rPr lang="en-US" altLang="en-US">
                <a:solidFill>
                  <a:srgbClr val="FFFFFF"/>
                </a:solidFill>
              </a:rPr>
              <a:t>ScrollView avec un seul TextView</a:t>
            </a:r>
            <a:br>
              <a:rPr lang="en-US" altLang="en-US">
                <a:solidFill>
                  <a:srgbClr val="FFFFFF"/>
                </a:solidFill>
              </a:rPr>
            </a:br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369" name="Google Shape;369;p66"/>
          <p:cNvSpPr txBox="1"/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370" name="Google Shape;370;p66"/>
          <p:cNvSpPr/>
          <p:nvPr/>
        </p:nvSpPr>
        <p:spPr>
          <a:xfrm>
            <a:off x="5440725" y="2504200"/>
            <a:ext cx="1974000" cy="1892400"/>
          </a:xfrm>
          <a:prstGeom prst="rect">
            <a:avLst/>
          </a:prstGeom>
          <a:noFill/>
          <a:ln w="19050" cap="flat" cmpd="sng">
            <a:solidFill>
              <a:srgbClr val="99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67"/>
          <p:cNvSpPr txBox="1"/>
          <p:nvPr>
            <p:ph type="body" idx="1"/>
          </p:nvPr>
        </p:nvSpPr>
        <p:spPr>
          <a:xfrm>
            <a:off x="97050" y="1000075"/>
            <a:ext cx="5011800" cy="373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&lt;ScrollView ...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GB" sz="14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&lt;LinearLayout</a:t>
            </a:r>
            <a:endParaRPr sz="1400"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android:layout_width="match_parent"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android:layout_height="wrap_content"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android:orientation="vertical"&gt;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&lt;TextView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android:id="@+id/article_subheading" </a:t>
            </a:r>
            <a:br>
              <a:rPr lang="en-GB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.../&gt;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&lt;TextView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android:id="@+id/article" ... /&gt;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GB" sz="14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&lt;/LinearLayout&gt;</a:t>
            </a:r>
            <a:endParaRPr sz="1400"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&lt;/ScrollView&gt;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76" name="Google Shape;376;p67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5185039" y="1656250"/>
            <a:ext cx="3712310" cy="2743881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67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None/>
            </a:pPr>
            <a:r>
              <a:rPr lang="en-US" altLang="en-US">
                <a:solidFill>
                  <a:srgbClr val="FFFFFF"/>
                </a:solidFill>
              </a:rPr>
              <a:t>ScrollView avec un ViewGroup</a:t>
            </a:r>
            <a:br>
              <a:rPr lang="en-US" altLang="en-US">
                <a:solidFill>
                  <a:srgbClr val="FFFFFF"/>
                </a:solidFill>
              </a:rPr>
            </a:br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378" name="Google Shape;378;p67"/>
          <p:cNvSpPr txBox="1"/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379" name="Google Shape;379;p67"/>
          <p:cNvSpPr/>
          <p:nvPr/>
        </p:nvSpPr>
        <p:spPr>
          <a:xfrm>
            <a:off x="5312800" y="2504200"/>
            <a:ext cx="1974000" cy="1827300"/>
          </a:xfrm>
          <a:prstGeom prst="rect">
            <a:avLst/>
          </a:prstGeom>
          <a:noFill/>
          <a:ln w="19050" cap="flat" cmpd="sng">
            <a:solidFill>
              <a:srgbClr val="99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68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None/>
            </a:pPr>
            <a:r>
              <a:rPr lang="en-US" altLang="en-US">
                <a:solidFill>
                  <a:srgbClr val="FFFFFF"/>
                </a:solidFill>
              </a:rPr>
              <a:t>ScrollView avec image et bouton</a:t>
            </a:r>
            <a:br>
              <a:rPr lang="en-US" altLang="en-US">
                <a:solidFill>
                  <a:srgbClr val="FFFFFF"/>
                </a:solidFill>
              </a:rPr>
            </a:br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385" name="Google Shape;385;p68"/>
          <p:cNvSpPr txBox="1"/>
          <p:nvPr>
            <p:ph type="body" idx="1"/>
          </p:nvPr>
        </p:nvSpPr>
        <p:spPr>
          <a:xfrm>
            <a:off x="1002825" y="1076275"/>
            <a:ext cx="5865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1300"/>
              </a:spcAft>
              <a:buNone/>
            </a:pPr>
            <a:r>
              <a:rPr lang="en-GB" sz="2200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&lt;ScrollView...</a:t>
            </a:r>
            <a:r>
              <a:rPr lang="en-GB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br>
              <a:rPr lang="en-GB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GB" sz="2200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&lt;LinearLayout...&gt;</a:t>
            </a:r>
            <a:br>
              <a:rPr lang="en-GB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GB" sz="2200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&lt;ImageView.../&gt;</a:t>
            </a:r>
            <a:br>
              <a:rPr lang="en-GB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GB" sz="2200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&lt;Button</a:t>
            </a:r>
            <a:r>
              <a:rPr lang="en-GB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r>
              <a:rPr lang="en-GB" sz="2200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/&gt;</a:t>
            </a:r>
            <a:br>
              <a:rPr lang="en-GB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GB" sz="2200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&lt;TextView</a:t>
            </a:r>
            <a:r>
              <a:rPr lang="en-GB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.../&gt;</a:t>
            </a:r>
            <a:br>
              <a:rPr lang="en-GB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GB" sz="2200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&lt;/LinearLayout&gt;</a:t>
            </a:r>
            <a:br>
              <a:rPr lang="en-GB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2200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&lt;/ScrollView&gt;</a:t>
            </a:r>
            <a:endParaRPr sz="22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6" name="Google Shape;386;p68"/>
          <p:cNvSpPr txBox="1"/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387" name="Google Shape;387;p68"/>
          <p:cNvSpPr txBox="1"/>
          <p:nvPr/>
        </p:nvSpPr>
        <p:spPr>
          <a:xfrm>
            <a:off x="5682525" y="2671525"/>
            <a:ext cx="2835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Roboto"/>
                <a:ea typeface="Roboto"/>
                <a:cs typeface="Roboto"/>
                <a:sym typeface="Roboto"/>
              </a:rPr>
              <a:t>Children of the layout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8" name="Google Shape;388;p68"/>
          <p:cNvSpPr txBox="1"/>
          <p:nvPr/>
        </p:nvSpPr>
        <p:spPr>
          <a:xfrm>
            <a:off x="5100350" y="1622500"/>
            <a:ext cx="3630300" cy="6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Roboto"/>
                <a:ea typeface="Roboto"/>
                <a:cs typeface="Roboto"/>
                <a:sym typeface="Roboto"/>
              </a:rPr>
              <a:t>One child of ScrollView</a:t>
            </a:r>
            <a:br>
              <a:rPr lang="en-GB" sz="1800">
                <a:latin typeface="Roboto"/>
                <a:ea typeface="Roboto"/>
                <a:cs typeface="Roboto"/>
                <a:sym typeface="Roboto"/>
              </a:rPr>
            </a:br>
            <a:r>
              <a:rPr lang="en-GB" sz="1800">
                <a:latin typeface="Roboto"/>
                <a:ea typeface="Roboto"/>
                <a:cs typeface="Roboto"/>
                <a:sym typeface="Roboto"/>
              </a:rPr>
              <a:t>which can be a layout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9" name="Google Shape;389;p68"/>
          <p:cNvSpPr/>
          <p:nvPr/>
        </p:nvSpPr>
        <p:spPr>
          <a:xfrm>
            <a:off x="4625925" y="2275225"/>
            <a:ext cx="345000" cy="1186200"/>
          </a:xfrm>
          <a:prstGeom prst="rightBracket">
            <a:avLst>
              <a:gd name="adj" fmla="val 8333"/>
            </a:avLst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cxnSp>
        <p:nvCxnSpPr>
          <p:cNvPr id="390" name="Google Shape;390;p68"/>
          <p:cNvCxnSpPr>
            <a:stCxn id="389" idx="2"/>
            <a:endCxn id="387" idx="1"/>
          </p:cNvCxnSpPr>
          <p:nvPr/>
        </p:nvCxnSpPr>
        <p:spPr>
          <a:xfrm>
            <a:off x="4970925" y="2868325"/>
            <a:ext cx="7116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391" name="Google Shape;391;p68"/>
          <p:cNvCxnSpPr/>
          <p:nvPr/>
        </p:nvCxnSpPr>
        <p:spPr>
          <a:xfrm>
            <a:off x="4549725" y="1895500"/>
            <a:ext cx="7116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7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FIN</a:t>
            </a:r>
            <a:endParaRPr lang="en-US" altLang="en-GB"/>
          </a:p>
        </p:txBody>
      </p:sp>
      <p:sp>
        <p:nvSpPr>
          <p:cNvPr id="411" name="Google Shape;411;p71"/>
          <p:cNvSpPr txBox="1"/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12" name="Google Shape;412;p71"/>
          <p:cNvSpPr txBox="1"/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413" name="Google Shape;413;p71"/>
          <p:cNvSpPr txBox="1"/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3612</Words>
  <Application>WPS Presentation</Application>
  <PresentationFormat/>
  <Paragraphs>178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17</vt:i4>
      </vt:variant>
    </vt:vector>
  </HeadingPairs>
  <TitlesOfParts>
    <vt:vector size="32" baseType="lpstr">
      <vt:lpstr>Arial</vt:lpstr>
      <vt:lpstr>SimSun</vt:lpstr>
      <vt:lpstr>Wingdings</vt:lpstr>
      <vt:lpstr>Arial</vt:lpstr>
      <vt:lpstr>Roboto</vt:lpstr>
      <vt:lpstr>Thonburi</vt:lpstr>
      <vt:lpstr>Open Sans</vt:lpstr>
      <vt:lpstr>Consolas</vt:lpstr>
      <vt:lpstr>Microsoft YaHei</vt:lpstr>
      <vt:lpstr>汉仪旗黑</vt:lpstr>
      <vt:lpstr>Arial Unicode MS</vt:lpstr>
      <vt:lpstr>宋体-简</vt:lpstr>
      <vt:lpstr>GDT master</vt:lpstr>
      <vt:lpstr>GDT master</vt:lpstr>
      <vt:lpstr>GDT master</vt:lpstr>
      <vt:lpstr>Créer votre première application  </vt:lpstr>
      <vt:lpstr>1.3 Textes et vues avec défilement (Text and Scrolling Views) </vt:lpstr>
      <vt:lpstr>Sommaire</vt:lpstr>
      <vt:lpstr>TextView</vt:lpstr>
      <vt:lpstr>TextView pour text</vt:lpstr>
      <vt:lpstr>Mise en forme de texte dans les ressources </vt:lpstr>
      <vt:lpstr>Creer TextView dans XML</vt:lpstr>
      <vt:lpstr>Attributs courants de TextView </vt:lpstr>
      <vt:lpstr>Formatage des liens web actifs </vt:lpstr>
      <vt:lpstr>Creating TextView in Java code</vt:lpstr>
      <vt:lpstr>ScrollView</vt:lpstr>
      <vt:lpstr>Gestion des grands volumes de texte dans Android</vt:lpstr>
      <vt:lpstr>ScrollView : Pour faire défiler du contenu  </vt:lpstr>
      <vt:lpstr>ScrollView avec un seul TextView </vt:lpstr>
      <vt:lpstr>ScrollView avec un ViewGroup </vt:lpstr>
      <vt:lpstr>ScrollView avec image et bouton </vt:lpstr>
      <vt:lpstr>FIN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Créer votre première application Android </dc:title>
  <dc:creator/>
  <cp:lastModifiedBy>Assane GUEYE</cp:lastModifiedBy>
  <cp:revision>5</cp:revision>
  <dcterms:created xsi:type="dcterms:W3CDTF">2025-07-23T18:31:22Z</dcterms:created>
  <dcterms:modified xsi:type="dcterms:W3CDTF">2025-07-23T18:31:22Z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0E17D03064B9588295847D685B3597BE_42</vt:lpwstr>
  </property>
  <property fmtid="{D5CDD505-2E9C-101B-9397-08002B2CF9AE}" pid="3" name="KSOProductBuildVer">
    <vt:lpwstr>1033-6.14.0.8718</vt:lpwstr>
  </property>
</Properties>
</file>