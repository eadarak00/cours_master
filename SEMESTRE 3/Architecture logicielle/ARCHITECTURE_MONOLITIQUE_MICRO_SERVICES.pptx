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2.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93" r:id="rId3"/>
    <p:sldId id="257" r:id="rId4"/>
    <p:sldId id="258" r:id="rId5"/>
    <p:sldId id="259" r:id="rId6"/>
    <p:sldId id="272" r:id="rId7"/>
    <p:sldId id="275"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290" r:id="rId26"/>
    <p:sldId id="311" r:id="rId27"/>
    <p:sldId id="312" r:id="rId28"/>
    <p:sldId id="291" r:id="rId29"/>
  </p:sldIdLst>
  <p:sldSz cx="18288000" cy="10287000"/>
  <p:notesSz cx="6858000" cy="9144000"/>
  <p:embeddedFontLst>
    <p:embeddedFont>
      <p:font typeface="Akzidenz-Grotesk" panose="02000503030000020003" pitchFamily="2" charset="77"/>
      <p:regular r:id="rId31"/>
    </p:embeddedFont>
    <p:embeddedFont>
      <p:font typeface="Bookman Old Style" panose="02050604050505020204" pitchFamily="18" charset="0"/>
      <p:regular r:id="rId32"/>
      <p:bold r:id="rId33"/>
      <p:italic r:id="rId34"/>
      <p:boldItalic r:id="rId35"/>
    </p:embeddedFont>
    <p:embeddedFont>
      <p:font typeface="Neue Machina Ultra-Bold" pitchFamily="2" charset="77"/>
      <p:regular r:id="rId36"/>
      <p:bold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4181" autoAdjust="0"/>
  </p:normalViewPr>
  <p:slideViewPr>
    <p:cSldViewPr>
      <p:cViewPr varScale="1">
        <p:scale>
          <a:sx n="42" d="100"/>
          <a:sy n="42" d="100"/>
        </p:scale>
        <p:origin x="184" y="3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1T17:37:10.237"/>
    </inkml:context>
    <inkml:brush xml:id="br0">
      <inkml:brushProperty name="width" value="0.05292" units="cm"/>
      <inkml:brushProperty name="height" value="0.05292" units="cm"/>
      <inkml:brushProperty name="color" value="#FF0000"/>
    </inkml:brush>
  </inkml:definitions>
  <inkml:trace contextRef="#ctx0" brushRef="#br0">32834 9304 24575,'-8'-19'0,"-9"-14"0,-13-16 0,-26-20 0,-16 0 0,25 29 0,-5 1 0,-17-5 0,-4 0 0,0-2 0,-2 0 0,-13-4 0,-2-1 0,0 1 0,-1 2 0,0 4 0,-2 4 0,-9 5 0,-3 7 0,-5 6 0,-2 7 0,-1 6 0,-2 3 0,29 2 0,-2 2 0,1 0 0,-36-4 0,0 0 0,6-1 0,-4-2 0,23 1 0,-5-2 0,-3 1 0,-16 2 0,-3 1 0,-3-1-911,28 1 0,-1-1 1,-3 0-1,-1 2 911,-14 1 0,-3 2 0,-1 0 0,5 0 0,14-1 0,3 1 0,1-1 0,1 1-136,3 0 0,1-1 0,0 1 0,-1-1 136,-10-1 0,-2 0 0,1 0 0,3-1 0,-15-1 0,4 0 0,-5-1 0,14 0 0,-3 0 0,-2-1 0,-4-1 0,13 0 0,-3-1 0,-2-1 0,-1 0 0,-2 0-925,-7-2 1,-2-1 0,-2 1 0,-2-1 0,-1 0 924,10 1 0,-2 1 0,-3-1 0,1 0 0,2 1 0,3 0 0,-8-1 0,2 0 0,1 1 0,4 0 0,2 1-99,-10 0 1,4 1-1,2 0 1,3 0 98,10 0 0,3 0 0,2 1 0,4 0 0,-11 1 0,5 1 0,0 0 0,-6-1 0,-1 1 0,2 2 0,7 3 0,2 4 0,2 1 0,-28 3 0,3 4 0,3 2 0,4 5 0,9 5 0,6 4 1220,22-2 0,3 2-1220,6-3 0,2 1 229,4-2 0,1 0-229,-42 13 0,28-14 0,-1 2 0,10 1 0,1 0 2805,-3 0 1,3 0-2806,-28 22 693,24-10-693,1 3 0,7-6 0,3 4 0,5-2 0,-4 11 0,0 5 0,-15 19 0,-18 13 0,25-24 0,-17 7 0,13-19 0,-15 5 0,17-8 0,-4 3 0,0 1 0,0 2 0,2 4 0,2 2 0,7-2 0,6-3 0,-8 16 0,18-11 0,15-22 0,7-3 0,-3 3 0,-13 34 0,-1 5 0,10-10 0,-2 1 0,-20 37 0,5-4 0,6-25 0,14-22 0,4 6 0,0 5 0,4 2 0,-5 17 0,-2 1 0,6-12 0,-4 4 0,6-23 0,2 7 0,-1 7 0,5 9 0,-2 7 0,-2 22 0,-3-2 0,3 10 0,-5 7 0,1-14 0,0 1 0,-4 3 0,3-13 0,5-28 0,0 2 0,-5 46 0,6-46 0,1 0 0,5-5 0,0-1 0,-9 46 0,3-12 0,-1-23 0,0-15 0,3-1 0,3-4 0,3-6 0,-1 0 0,3-11 0,-5 10 0,-1 9 0,-1 16 0,1-2 0,2 9 0,4-21 0,-2 7 0,3-3 0,-1-3 0,1-5 0,1-10 0,0-10 0,0 2 0,2-1 0,-1-1 0,3 2 0,-1 3 0,0 4 0,-1 20 0,1-6 0,1 10 0,0-5 0,2 1 0,-1-4 0,3 6 0,1-16 0,5 14 0,4-11 0,1-1 0,8 7 0,-3-12 0,11 13 0,0 4 0,14 16 0,-9-4 0,20 13 0,-24-31 0,14 11 0,-26-26 0,20 27 0,14 11 0,12 14 0,-29-43 0,-3-1 0,12 14 0,1 2 0,11-12 0,33 18 0,-26-28 0,5 2 0,10 5 0,2 1 0,0 0 0,1 0 0,-1-1 0,5-1 0,-13-13 0,4-1 0,7 1-1233,-3-3 0,4 0 1,6 1-1,5 0 1233,3 0 0,5-1 0,6 1 0,8 2 0,8 2 0,-33-10 0,7 2 0,4 1 0,5 1 0,3 0 0,2 1 0,2 0 0,0 0 0,0-1 0,-2 0-452,-4-1 1,0-1-1,1 0 1,1 0-1,0 0 1,1 0-1,1 0 1,2 1-1,1 0 1,1 0-1,2 0 452,-12-3 0,0 1 0,2 1 0,2-1 0,0 1 0,2 0 0,0 0 0,1 0 0,0 0 0,1 0 0,0-1 0,0 0 0,0-1 0,0-1-234,-5-1 0,1-1 1,0 0-1,2 0 0,0-1 1,0 1-1,0-1 0,1-1 1,-2 1-1,1-1 0,-1-1 1,-2 1-1,0-1 0,-1-1 1,-2 1 233,5 0 0,-3 0 0,-1-1 0,-1 1 0,-1-1 0,0-1 0,-1 0 0,1 0 0,0-1 0,0 0 0,2-1 0,2 0 0,1-1-147,1-1 0,4 0 0,1-1 1,1 0-1,1-1 0,1 0 0,0-1 1,0 0-1,-1 0 0,-2-1 0,-1 0 1,-2-1-1,-3 0 0,-3 0 147,17 2 0,-2-1 0,-3 0 0,-2-1 0,-2 0 0,-1-1 0,-1 0 0,-1-1 0,0-1 0,0-1 0,3-1 0,1 0 0,-1-1 0,-1-1 0,-1-1 0,-2-1 0,-1 0 0,-3-1 0,-2-2 0,12 0 0,-3-1 0,-2-2 0,-2 0 0,-3-2 0,-3-1 0,-3-2 0,15-3 0,-7-2 0,-2-3 0,-1-1 0,3-1 0,-12 0 0,0-2 0,0-1 0,2-1 0,0-2 0,2-1 0,9-3 0,3-2 0,1-2 0,0 0 0,-2-1 0,-2 0 0,-11 3 0,-1 0 0,-1-1 0,-1 0 0,-1 0 0,-1-1 40,18-5 0,-1 0 1,-1-1-1,-2 2 1,-2 1-41,-9 4 0,0 1 0,-2 1 0,-4 2 0,-5 3 528,22-5 1,-7 4-1,0 0-528,8-2 0,1-1 0,-2-2 0,-7-1 0,-3-2 0,-2-4 0,-10-3 0,-3-4 0,-1-5 0,5-8 0,0-5 0,-7-4 0,-12 0 0,-5-3 0,-6 0 1505,12-22 1,-12-1-1506,-17 2 0,-11 0 1901,-16 18 1,-7 0-1902,-5-7 0,-5-3 0,-2-6 0,-3-2 0,-2-3 0,-1-1 0,0-6 0,-4-1 0,-3 4 0,-4 2 0,-5 4 0,-6 1 0,-11-13 0,-11-2 0,4 26 0,-6-2 0,0 3 0,4 7 0,0 1 0,-4 1 0,-12-12 0,-5 0 0,1 7 0,-14-6 0,-2 7 0,19 19 0,-4 2 0,-4 0 0,-20-8 0,-6 0 0,-4 2 0,19 11 0,-3 0 0,-2 1 0,-1 1 676,-4 0 0,-1 0 0,-2 0 1,-3 0-677,6 4 0,-4-1 0,-2 0 0,2 0 0,4 2-106,-6-5 1,3 1-1,2 0 1,0 1 105,5 3 0,0 1 0,2-1 0,4-1 0,-11-10 0,5-2 0,4 1 179,-16-16 0,-2-2-179,8 9 0,-7-4 0,-2 1 0,25 15 0,-1 0 0,-1 0 0,1 1 0,-22-14 0,0 0 0,1 2 85,6 5 0,1 1 0,4 3-85,14 8 0,4 2 0,1 1 0,-27-19 0,1 1 0,0 0 0,5-2 0,26 10 0,4-3 0,-6-9 0,3-4 0,4 1 0,3-2 0,7 6 0,3-3 0,0-4 0,3 0 0,6 7 0,3 0 0,1-5 0,3-1 466,5 9 1,4 1-467,-8-55 2743,11 32-2743,3-10 285,7 29-285,-8-38 0,-6-14 0,10 50 0,0 0 0,-17-55 0,9 34 0,3 30 0,3 18 0,-3 9 0,7 15 0,2-1 0,5 6 0,-2 4 0,4 0 0,-6-3 0,4 2 0,-2-5 0,4 5 0,0-1 0,-1-1 0,-9-8 0,-21-15 0,14 13 0,-8-3 0,26 19 0,1 1 0,-2 0 0</inkml:trace>
  <inkml:trace contextRef="#ctx0" brushRef="#br0" timeOffset="5246">31926 9122 24575,'3'-2'0,"0"-3"0,-3 2 0,0-5 0,2 7 0,7-5 0,41 1 0,-9 0 0,14 0 0,-32 4 0,-18 1 0,-1 0 0,3-2 0,1-1 0,6-1 0,-2 2 0,44 5 0,2 0 0,14 1 0,24 0 0,17 0 0,9 1-1088,-24 0 1,7-1 0,4 1 0,3 0 0,0 0 1087,-10-1 0,1 0 0,1 0 0,2 0 0,2 1 0,3 0 0,0 1 0,6 1 0,2 1 0,1 0 0,-2 0 0,-3 0 0,-5-2 0,13 2 0,-4-2 0,-3 0 0,-3 1 0,-2 0 0,14 3 0,-1 0 0,-6 0 0,-11-2-11,29 0 0,-26-2 11,-29-3 0,-28-1 0,-23-2 0,-16 0 0,-11-1 0,3-4 5429,0 0-5429,10-6 29,4 6-29,1 0 0,-6 7 0,-9-2 0,1-1 0,3-4 0,-2 1 0,3-4 0,-5 1 0,4-3 0,12-14 0,-7 8 0,10-17 0,-12 12 0,2-8 0,-7 10 0,-1-3 0,-3 10 0,-3 3 0,0-6 0,-1-1 0,0-3 0,2 3 0,-1 1 0,1 3 0,-3-17 0,-1 6 0,0 0 0,0 7 0,0 4 0,1-1 0,-1 1 0,2-9 0,0 8 0,-2-38 0,1 29 0,0-16 0,1 31 0,1 4 0,-1 0 0,0-3 0,0 1 0,0-7 0,-3-3 0,0-3 0,-1-2 0,2 6 0,1-3 0,1 3 0,0-6 0,-2 1 0,-1 1 0,0 7 0,-1 2 0,-8-4 0,-7 1 0,-5-1 0,-13 6 0,4 7 0,-24 2 0,-44-1 0,22-2 0,-7 0 0,-11-2 0,-7-2 0,10 1 0,-5 0 0,1-2 0,10 0 0,1-1 0,-2 0 0,-7 0 0,-2-1 0,-1 1 0,-5 0 0,-1 1 0,4-1 0,-24-3 0,5 0 0,-2 2 0,8 1 0,38 1 0,9-1 0,-29-3 0,16 3 0,25 3 0,-4 0 0,30 4 0,-2 0 0,-15-6 0,-3-2 0,-23-5 0,-5 1 0,-15 4 0,4 2 0,-6 3 0,10 1 0,4 6 0,5-2 0,23 1 0,13-2 0,21-1 0,2 0 0,4 0 0,-4 3 0,2 1 0,-9 7 0,-8 0 0,-12 2 0,-1-5 0,3-1 0,13-4 0,7 1 0,10-2 0,0-1 0,4-1 0,-4 1 0,-5 2 0,2 0 0,-9 0 0,-1 3 0,4-3 0,-6 5 0,5 2 0,-16 4 0,-12 0 0,0 0 0,0-4 0,7 8 0,12-3 0,-21 19 0,25-16 0,-8 7 0,15-13 0,7-4 0,0-1 0,2-3 0,6-3 0,-3 2 0,0-1 0,0 1 0,-1-1 0,1 2 0,-6-1 0,-16-1 0,-13 3 0,-2-5 0,10 3 0,17-2 0,13 2 0,4 4 0,-3 6 0,1 3 0,-2 2 0,-2 4 0,-1 0 0,-2 28 0,3 1 0,2 17 0,1-7 0,0-18 0,-4-6 0,3-20 0,-1 0 0,3-12 0,1 3 0,0 1 0,0 6 0,1-2 0,0 5 0,0-6 0,2 10 0,1 6 0,2-2 0,-2-5 0,0-12 0,-3-5 0,2 0 0,-1-1 0,6 3 0,2 5 0,3 0 0,3 0 0,14-8 0,-12-3 0,6-3 0,-18 2 0</inkml:trace>
  <inkml:trace contextRef="#ctx0" brushRef="#br0" timeOffset="62663">28397 23853 24575,'-3'53'0,"0"19"0,-2 44 0,3-11 0,1-16 0,1-14 0,0-27 0,0 15 0,0-16 0,4 5 0,4 14 0,4 23 0,7 15 0,1 10 0,-2-20 0,2-24 0,-12-32 0,1-14 0,-4-17 0,0 0 0,17 15 0,15 10 0,33 20 0,10-7 0,27 7 0,0-17 0,-33-13 0,5-2 0,3-5 0,5-3 0,17 1 0,10-3 0,-9-8 0,8-2 0,-1-2 0,-4 2 0,0-1 0,-1 0 0,-6-2 0,-2 0 0,-2 1 0,-7 1 0,-3 2 0,-6 0 0,-4 3 0,-2 1 0,21 0 0,4 0 0,-6 2 0,1-1 0,3-3 0,1-3 0,11-5 0,4-4 0,-30 3 0,0-1 0,-1-1 0,30-4 0,3 1 0,-12 6 0,5 1 0,-1 2 0,-12 2 0,-2 3 0,6-1-1075,0 0 1,7 1 0,3 0-1,2-1 1075,-10 0 0,2 0 0,3-1 0,0 0 0,-1 0 0,1-2 0,-1-1 0,1 0 0,0-1 0,3 0 0,8 0 0,4 0 0,0-1 0,-3 0 0,-6-1 0,2-1 0,-5-1 0,-4 0 0,-4 0 0,10-1 0,-5 1 0,-13 0 0,-11 0 0,-17 0 0,-19 1 0,-39 6 0,-8 4 0,-20-38 0,-48-57 0,17 21 0,-9-7 0,4 11 0,-6-2 0,-2 1 0,2 2 0,-2 2 0,0 2 0,-27-23 0,0 2 0,27 25 0,-1 1 0,5 4 0,-3-3 0,4 3 2149,4 2 0,4 4-2149,-24-20 0,29 20 0,-17-23 0,0 2 0,1 1 0,0 13 0,1 18 0,11 7 0,-17-1 0,20 7 0,-9-4 0,18 12 0,6 4 0,4 3 0,8 2 0,4 4 0,3-4 0,-2 2 0,1 0 0,2 0 0,6 3 0,3-2 0,0 1 0,-2-3 0,-3 0 0,-1-4 0,-6-6 0,-5-10 0,-8-20 0,-3-8 0,1-6 0,7 14 0,5 10 0,8 19 0,2 6 0,5 7 0,-25 10 0,-32 4 0,-10 0 0,-11 0 0,-21-3 0,-8 0 0,22-3 0,-3 0 0,-2-1 0,-8-1 0,-2-1 0,-1-3 0,0-3 0,-1-3 0,-1 0 0,-12 0 0,-1-2 0,0 0 0,6-3 0,0-1 0,3 1-560,9 2 1,2 1 0,1 2 559,4 3 0,1 1 0,3 1-371,-19 3 1,4 0 370,5 0 0,-3-2 0,20-3 0,-3-1 0,1-2 0,-31-7 0,-2-1 0,19 5 0,-3 0 0,3 1 0,-26-5 0,7 3-52,22 6 1,8 2 51,21 2 0,6 2 0,-22 2 0,-17-1 1603,16-1-1603,-5 2 803,13 5-803,15 2 116,8 4-116,12-4 0,12-3 0,4-2 0,11-2 0,1 1 0,10-3 0,-2 3 0,-8 7 0,-2 0 0,-7 4 0,6-6 0,2-3 0,4 0 0,-3 12 0,0 0 0,2 5 0,4-9 0,2 4 0,4-9 0,-3 8 0,4-6 0,0 14 0,-1 34 0,-1 2 0,1 17 0,1-27 0,0-17 0,6 1 0,-3-11 0,3 3 0,-3-14 0,0 3 0,-1-8 0,1 3 0,-2 4 0,0 3 0,-1 7 0,0 5 0,0-3 0,0-7 0,0-8 0,2 2 0,1 2 0,-1 8 0,0-6 0,-2-4 0,8-22 0,-6 8 0,6-12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1T17:52:54.258"/>
    </inkml:context>
    <inkml:brush xml:id="br0">
      <inkml:brushProperty name="width" value="0.05292" units="cm"/>
      <inkml:brushProperty name="height" value="0.05292" units="cm"/>
      <inkml:brushProperty name="color" value="#FF0000"/>
    </inkml:brush>
  </inkml:definitions>
  <inkml:trace contextRef="#ctx0" brushRef="#br0">30328 10792 24575,'5'-12'0,"35"-14"0,38-18 0,15 6 0,11-2 0,-9 4 0,0 2 0,-4 2 0,-6 3 0,18-9 0,-85 25 0,-4-2 0,-6-1 0,4 5 0,-1-1 0,10 2 0,-3 1 0,7-1 0,1 1 0,-10 4 0,-2-1 0,-10 3 0,-3 2 0,1-2 0</inkml:trace>
  <inkml:trace contextRef="#ctx0" brushRef="#br0" timeOffset="7486">31628 9595 24575,'0'-5'0,"0"1"0,-6-6 0,2 3 0,-10-21 0,7 14 0,-7-15 0,1 11 0,-22-28 0,-7 0 0,-21-27 0,18 26 0,-5-4 0,-17 5 0,-33-8 0,0 9 0,-13-3 0,31 14 0,-3-1 0,-2 1 0,-7-4 0,-2-1 0,2 3 0,10 5 0,1 2 0,4 2 0,-14-7 0,3 5 0,2 6 0,-1 3 0,-4 0 0,2 1 0,10 2 0,-1 2 0,-15-3 0,3 1 0,30 6 0,-1 1 0,-25-5 0,-4 0 0,4 1 0,-3 2 0,-12 0 0,-5 2 0,-15-3 0,2 2 0,17 5 0,1 0 0,-6-3 0,-1 0 0,5 3 0,1 0 0,-1 0 0,-2 1 0,21 3 0,-1 2 0,3 0 0,-11 0 0,3 1 0,-8 1 0,9 1 0,-7 1 0,19 2 0,21 8 0,15 4 0,-14 7 0,-18 9 0,-10 5 0,23-16 0,-2-1 0,-32 13 0,33-16 0,2-1 0,-21 10 0,22-7 0,18-5 0,41-14 0,0 0 0,-3 0 0,-2 4 0,-4-2 0,-6 4 0,-22 20 0,-8 6 0,-43 30 0,-6-6 0,36-25 0,-1-1 0,-48 19 0,18-11 0,16-2 0,33-14 0,10-5 0,17-5 0,6-6 0,-10 9 0,1-1 0,1 2 0,4 0 0,8-6 0,-2 1 0,3 1 0,-4 1 0,-2 8 0,-1-4 0,0 3 0,4-7 0,-2 2 0,-3 0 0,-1 5 0,-8 2 0,-16 19 0,-3-13 0,-13 13 0,14-21 0,1 6 0,3 0 0,-1 7 0,7-5 0,-1-1 0,-3-5 0,-13 7 0,-15 4 0,-10 10 0,-5 3 0,-20 12 0,-9 2 0,13-10 0,-3-2 0,37-19 0,11-3 0,4 13 0,13-4 0,-13 29 0,9-20 0,-20 21 0,14-26 0,-1 5 0,6 6 0,13-1 0,-4 13 0,6 3 0,5-15 0,3 19 0,9-12 0,-1 29 0,2 5 0,0 3 0,0 18 0,-1-9 0,4 10 0,1-49 0,1-1 0,5 49 0,-3-28 0,1 2 0,0-13 0,3 0 0,1 17 0,4 3 0,8-3 0,4-2 0,-1-11 0,4 0 0,8 12 0,1 1 0,-1-5 0,0-1 0,-2 1 0,1 1 0,3 2 0,0-3 0,-8-19 0,0-3 0,7 1 0,2-4 0,21 29 0,-5-22 0,-4-17 0,-19-26 0,17 15 0,2 0 0,13 10 0,15-2 0,-11-12 0,33-2 0,-42-18 0,3-1 0,11-1 0,4 0 0,27 5 0,3-2 0,-15-7 0,0-1 0,6 1 0,-2-1 0,-16-5 0,-3-1 0,-11 1 0,-1-1 0,9 0 0,-1-1 0,-10 0 0,1 0 0,17-2 0,2 0 0,0 1 0,1-2 0,4-3 0,1-1 0,7 0 0,0-1 0,-1-4 0,-1 0 0,-7 4 0,1 1 0,13 1 0,-1 2 0,-21 2 0,0 1 0,19 2 0,0 1 0,-13-4 0,0 1 0,22 0 0,1-1 0,-20-2 0,-1-2 0,6 1 0,-1-1 0,-8-3 0,-2-1 0,4 0 0,1 0 0,5-2 0,2 0 0,5 0 0,-1 0 0,-10 0 0,-3 0 0,-13 0 0,-3 1 0,46-8 0,-58 5 0,-16 0 0,-23 5 0,-4 1 0,0-2 0,7 4 0,10-9 0,7 0 0,23-16 0,17-10 0,17-10 0,-37 16 0,0-1 0,37-27 0,-31 14 0,-1-2 0,-12 7 0,-2 1 0,2 0 0,0 1 0,39-32 0,-25 16 0,2-23 0,-25 24 0,0-3 0,-4-4 0,1-2 0,8-9 0,0-1 0,-8 8 0,-1 1 0,-1 2 0,0 1 0,-4 4 0,-1 0 0,3-3 0,-1-2 0,3-10 0,-1-3 0,-2 0 0,-3 0 0,-3 0 0,-4 0 0,-6-2 0,-3 3 0,2-35 0,-2-12 0,-6 37 0,-3-4 0,-2 4 0,-5-10 0,-18-20 0,-10 8 0,4 40 0,-2 1 0,-23-45 0,-2 3 0,-1 10 0,1 16 0,-5 8 0,5 3 0,12 15 0,12 9 0,2 2 0,10 15 0,-5-5 0,6 13 0,-1-5 0,0 4 0,5 3 0,-1 2 0,9 7 0,-1 4 0,2 2 0,1 5 0,25 8 0,-8-3 0,11 3 0,-18-6 0</inkml:trace>
  <inkml:trace contextRef="#ctx0" brushRef="#br0" timeOffset="15817">13656 16200 24575,'-50'-18'0,"8"2"0,2-3 0,13 8 0,13 6 0,-1 3 0,6 2 0,-18 0 0,13 0 0,-12 0 0,13 0 0,-28 0 0,-23-1 0,-30-1 0,21 1 0,10 2 0,26 9 0,7 0 0,-7 6 0,5-1 0,-9 2 0,0 7 0,2-6 0,12 2 0,3-3 0,3 3 0,-12 5 0,9-3 0,-2-2 0,13-7 0,-2 1 0,4 5 0,-17 17 0,-20 19 0,-4 3 0,-10 11 0,16-10 0,7 1 0,-12 23 0,21-30 0,-7 19 0,22-35 0,1 10 0,-3 2 0,0 0 0,1-8 0,6-9 0,0-5 0,0 4 0,2-4 0,-2 8 0,1 3 0,-5 12 0,-3 8 0,-1 4 0,2-11 0,-1 8 0,4-7 0,-4 38 0,10-1 0,1 20 0,8 12 0,0-18 0,-2-34 0,0 2 0,-1-2 0,1-2 0,0 54 0,2-52 0,0-1 0,3 29 0,7 27 0,-4-59 0,1 1 0,8 52 0,-7-46 0,-1-2 0,1 27 0,-5-27 0,2 3 0,3-10 0,2 0 0,6 13 0,4 2 0,7 6 0,2-2 0,0-13 0,0-3 0,3 6 0,-2-4 0,15 22 0,-3-10 0,4-3 0,21-5 0,-18-29 0,6-2 0,12-1 0,6-3 0,8-1 0,3-2 0,9 3 0,4 0 0,6 3 0,3 0 0,-30-12 0,1-1 0,2 0 0,12 2 0,3-1 0,-1-4 0,-6-6 0,-1-3 0,3-3 0,12-5 0,3-3 0,-6-4 0,15-6 0,-6-4 0,-3-5 0,-4 0 0,-18 4 0,-5 2 0,-17 4 0,1-1 0,39-9 0,-1-2 0,18-5 0,-20-15 0,17-14 0,-3-3 0,-18 3 0,-3-3 0,5-3-868,1 1 0,5-3 0,1-2 0,-2-1 868,-7 3 0,-1-1 0,-3-1 0,-4 2 0,5-8 0,-4 1 0,-4-1-482,-7 2 1,-2-2 0,-6-3 481,-12 2 0,-5-2 0,-3 0-328,17-27 0,-4 0 328,-7 2 0,-5 3 0,-12 22 0,-5 6 0,14-30 3044,-13 8-3044,-13 5 833,-9 18 0,-3-4-833,2-55 431,-6 59 0,-3 1-431,-5-40 0,-4 27 0,-2-9 0,-5 14 0,5 10 0,-1 16 0,3 16 0,-3 6 0,-3-4 0,-5 1 0,-12-10 0,-3 1 0,-2 2 0,-4-2 0,10 11 0,-27-16 0,6 8 0,-55-25 0,49 28 0,-2 0 0,-8-1 0,-2 0 0,-5-4 0,0 0 0,11 6 0,-2 0 0,-14-6 0,-2-1 0,5 0 0,-1-1 0,-13-1 0,0-1 0,2-1 0,2 1 0,12 6 0,1 1 0,1 2 0,3 0 0,-33-14 0,-2 1 0,43 17 0,-2-1 0,-3 0 0,-1 0 0,-3-2 0,0 0 0,3 1 0,2 1 0,-36-16 0,-5-5 0,14 10 0,-14-13 0,3 8 0,5-1 0,14 11 0,21 12 0,24 10 0,17 5 0,11 2 0,5 2 0,3 0 0,-3 0 0,2 3 0,-4-2 0,-3 4 0,2-1 0,0-1 0,6-4 0,1 0 0,1-3 0,15 3 0,7 0 0,-3 1 0,-1 0 0</inkml:trace>
  <inkml:trace contextRef="#ctx0" brushRef="#br0" timeOffset="18577">13423 19542 24575,'-15'26'0,"-5"11"0,-37 47 0,27-30 0,0 6 0,-9 17 0,0 7 0,0 18 0,2 7 0,11-18 0,2 4 0,-2 1 0,-2-3 0,-2 0 0,0 4 0,-6 17 0,-1 3 0,0-6 0,7-26 0,0-5 0,1-1 0,-14 32 0,0-2 0,0-5 0,1-3 0,6-10 0,0 1 0,-8 16 0,0 5 0,13-28 0,2 3 0,0-4 0,-5 18 0,1-2 0,-6 10 0,2-8 0,12-39 0,1-9 0,-11 22 0,21-51 0,9-28 0,5-16 0,0 1 0,0 4 0</inkml:trace>
  <inkml:trace contextRef="#ctx0" brushRef="#br0" timeOffset="24391">10986 23055 24575,'13'-15'0,"9"3"0,17-12 0,13 3 0,15-3 0,15 7 0,-16 9 0,10 3 0,43 4 0,9 4 0,-39-3 0,1 0 0,4-1 0,17 2 0,5 0 0,-8-1 0,10-1 0,-10-2 0,-20-1 0,-10 1 0,17-1 0,-40 3 0,-5 5 0,-18-2 0,-6 4 0,-15-2 0,-2 1 0,-2 1 0,-2 2 0,-5-3 0,3 4 0,-3 7 0,-3 5 0,-2 16 0,-5 7 0,-5 10 0,-15 29 0,-2 5 0,-8 25 0,9-20 0,6-5 0,6 0 0,6-25 0,-1 21 0,6-30 0,-11 16 0,-13 20 0,-23 22 0,25-47 0,-1 1 0,2-2 0,2-2 0,-13 40 0,14-17 0,10-26 0,6 1 0,3-14 0,3-1 0,-3 4 0,3-13 0,0-5 0,1-8 0,1-8 0,-3 14 0,3 13 0,-5 20 0,3-1 0,0-15 0,3-7 0,1-23 0,0 9 0,0-8 0,0-6 0,-2-1 0,1-6 0,-1 1 0,2-1 0,-2-3 0,-4 3 0,-11-2 0,-3 3 0,1-2 0,4 2 0,9-4 0,-3 1 0,-6-2 0,-6-2 0,-3-1 0,3-1 0,-3 0 0,-4 1 0,-23-3 0,-61-12 0,47 7 0,-3-2 0,-11-3 0,2 0 0,-35-7 0,30 7 0,31 9 0,5 4 0,-5-6 0,-5 3 0,4-3 0,-20 3 0,16 1 0,-18 1 0,17 0 0,-16-2 0,9-2 0,5 1 0,7-2 0,18 5 0,2-1 0,-3 3 0,8-1 0,-10 3 0,-1-1 0,-22 3 0,-12 2 0,9 0 0,9 2 0,26-2 0,9-2 0,8 0 0,9-5 0,0-3 0,5-20 0,3-40 0,-2 3 0,1-6 0,-1 5 0,2-2 0,1-14 0,1 2 0,14-45 0,-9 48 0,-1-3 0,0-11 0,-2-2 0,-2 2 0,-1 0 0,-4 3 0,0 6 0,0-20 0,0 24 0,-2 37 0,-1 14 0,0 7 0,0 10 0,1-3 0,0 4 0,0 0 0,5-11 0,-3-6 0,6-21 0,-6 17 0,0 1 0,-2 21 0,2 4 0,-1 1 0,6-2 0,4-9 0,-1-1 0,4-5 0,-8 8 0,-3 5 0,0-1 0,-3 3 0,4-2 0,-5 3 0,15-11 0,-5 0 0,11-8 0,-11 11 0,-1 3 0,-7 3 0,0 1 0,1-3 0,-1 2 0,1 4 0,-1 2 0,-1 2 0,3-3 0,0-5 0,6-2 0,-1-6 0,0 6 0,-3-1 0,-5 4 0,0 2 0,-1-4 0,0 4 0,0-2 0,0 0 0,0 0 0,2 0 0,0 1 0,6 1 0,6-1 0,11 1 0,-7-1 0,1 2 0,-12 4 0,8 2 0,3 4 0,3 1 0,2 5 0,5 1 0,14 0 0,-4-3 0,-2-6 0,-19-6 0,-7-2 0,-6 0 0,3 0 0,1 1 0,8 3 0,1 2 0,4-1 0,-5 1 0,-5-7 0,2 0 0,5-5 0,6 2 0,2-2 0,-8 4 0,-9-1 0,-7 1 0,1 3 0,-1-2 0,8 3 0,0-5 0,4-8 0,3-6 0,2-4 0,1 2 0,2 3 0,-11 5 0,0 4 0,-10 6 0,2 3 0,-4 2 0,-1-1 0,0-1 0,1-1 0</inkml:trace>
  <inkml:trace contextRef="#ctx0" brushRef="#br0" timeOffset="25445">10330 23745 24575,'10'-5'0,"10"-1"0,23 2 0,74 3 0,-19 10 0,21 6 0,-26-1 0,14 3 0,8 2 0,4 1 0,0 0-1418,-7 0 1,3-1 0,3 2 0,2 0 0,1 2 0,3 1 1417,-18-3 0,5 3 0,2 0 0,1 1 0,-1 0 0,-2 0 0,-3-2 0,-6-1 0,26 4 0,-4-1 0,-5-2 0,-5 0 0,-6 1 429,-3 1 1,-2 0 0,-12-1 0,-23-6-430,-6-1 0,-58-13 0,-4-2 0,0 1 0,-3-2 0,-3-7 1696,-1 0 0,2-2 0,2 3 0</inkml:trace>
  <inkml:trace contextRef="#ctx0" brushRef="#br0" timeOffset="27491">10214 24331 24575,'2'5'0,"2"0"0,-1-3 0,0 0 0,1-2 0,1 0 0,8 1 0,2 2 0,12 1 0,0 3 0,8 0 0,17 7 0,9 0 0,33 5 0,-7-6 0,6-1 0,-19-2 0,-6-1 0,-8 4 0,0-4 0,5-2 0,-15-2 0,-12-4 0,-19 1 0,-9 5 0,2 3 0,10 10 0,13 9 0,21 8 0,37 7 0,18 3 0,-1-12 0,-19-6 0,-38-13 0,-6-9 0,8-2 0,-2-5 0,21 0 0,-16-2 0,6 3 0,13 14 0,-14-2 0,-11 4 0,-24-9 0,-22-8 0,-4 3 0,-1 0 0,-1 2 0,0-2 0,0-1 0,0-2 0</inkml:trace>
  <inkml:trace contextRef="#ctx0" brushRef="#br0" timeOffset="95871">14686 17981 24575,'0'0'0</inkml:trace>
  <inkml:trace contextRef="#ctx0" brushRef="#br0" timeOffset="96136">14686 17981 24575,'0'0'0</inkml:trace>
  <inkml:trace contextRef="#ctx0" brushRef="#br0" timeOffset="101186">15139 17539 24575,'-3'-1'0,"0"-5"0,4 1 0,2-1 0,5 2 0,7 2 0,6 3 0,2 4 0,-6 0 0,-2 2 0,-4 0 0,12 4 0,11 3 0,4 1 0,20-4 0,14 7 0,10-5 0,33 16 0,-21-2 0,12 0 0,-26 0 0,-14-6 0,3 12 0,-6 1 0,25 17 0,9 0 0,-38-19 0,6 1 0,21 7 0,4 0 0,-2-2 0,6 0 0,-4-5 0,7 1 0,-4-3 0,18 4 0,1-1 0,-24-9 0,3 0 0,-2-1 0,34 7 0,-4 0 0,-10-3 0,-3 2 0,4 1 0,-6 1 0,-28-8 0,-6 0 0,31 16 0,-22 0 0,-25-6 0,17 13 0,-12-4 0,10 6 0,15 2 0,9 4 0,17 2 0,-42-24 0,1-1 0,-8-5 0,1 0 0,24 9 0,1 0 0,-14-8 0,-1 0 0,13 6 0,-1-2 0,-20-7 0,-4-3 0,45 14 0,-19-9 0,-14-7 0,10 3 0,-1 1 0,-8-3 0,17 10 0,-6-5 0,21 10 0,10 2 0,3 1 0,-53-17 0,2-1 0,5 0 0,-1-3 0,-5-3 0,0 0 0,12 1 0,-3-2 0,25 1 0,5 3 0,-32-6 0,4 4 0,-14-2 0,-6 2 0,2 3 0,-3 5 0,6 0 0,1 1 0,-18-9 0,7 2 0,-10-2 0,1 0 0,3 3 0,-3-2 0,9 0 0,-4-6 0,-11-3 0,-13-4 0,-11-2 0,-8-1 0,3-1 0,-4 0 0,8 4 0,0-2 0,8 2 0,-5-6 0,-4 1 0,-6-2 0,-5-1 0,0-8 0,0-22 0,-5 1 0,-4-15 0,-1 24 0,0 6 0,4 13 0,-12 3 0,-2 2 0,-13 3 0,-7 3 0,-27 9 0,-25 9 0,-18 16 0,50-9 0,4 3 0,-20 19 0,24-1 0,36-28 0,17-17 0,12-1 0,11-6 0,19-13 0,9-19 0,1-12 0,-3-20 0,-20 26 0,-9 1 0,-17 28 0,-3 5 0,-13 17 0,-6 4 0,-17 20 0,-7 9 0,0 8 0,-8 30 0,21-17 0,4 1 0,21-30 0,11-20 0,19-8 0,24-10 0,36-22 0,15-16 0,5-28 0,-33 10 0,-26 6 0,-30 23 0,-12 17 0,-5 5 0,-5 16 0,-20 15 0,5 2 0,-13 8 0,19-12 0,4-3 0,7-7 0,1-6 0,2-5 0,0-3 0</inkml:trace>
  <inkml:trace contextRef="#ctx0" brushRef="#br0" timeOffset="107871">40935 18339 24575,'-8'-2'0,"-15"15"0,-44 22 0,7-7 0,-8 2 0,-9-2 0,-9 0 0,-9 2 0,-9 1 0,-1-3-142,5-9 1,0-3-1,-3 1 142,-20 6 0,-4 1 0,9-3 0,-7-3 0,11-3 0,20-3 0,16 2 0,20 11 0,7 2 0,16 0 0,9-3 0,1-3 0,-4 3 425,-22 22-425,-25 19 0,-6 9 0,21-21 0,0 1 0,-21 21 0,30-27 0,3-2 0,-7 8 0,4 0 0,2-4 0,0 8 0,-23 13 0,4 5 0,-6-6 0,31-25 0,0 0 0,-23 19 0,-29 14 0,33-28 0,7-12 0,10-2 0,27-18 0,-6 7 0,14-10 0,13-12 0,6-3 0,3-7 0,0 3 0</inkml:trace>
  <inkml:trace contextRef="#ctx0" brushRef="#br0" timeOffset="113124">37481 19962 24575,'-3'9'0,"0"-1"0,1 0 0,-2 4 0,-9 24 0,-8 16 0,-5 16 0,-3 4 0,13-25 0,3-14 0,9-22 0,4-15 0,12-26 0,11-25 0,36-52 0,-2 13 0,14-7 0,-28 56 0,-8 18 0,-20 21 0,11-11 0,28-21 0,8-10 0,23-1 0,-30 17 0,-21 20 0,-18 7 0,-13 4 0,-1-3 0,1 0 0,0 15 0,-1 19 0,1-7 0,-6 11 0,-4-14 0,-1 0 0,-2 10 0,4-13 0,0 0 0,2-5 0,-2 16 0,4-10 0,-2 4 0,4-20 0,3-15 0,22-40 0,-4 10 0,29-31 0,31 0 0,-12 21 0,10-9 0,0-8 0,8-9 0,-3 1 0,-11 12 0,-2 1 0,1-2 0,5-10 0,1-3 0,-7 5 0,4-5 0,-7 9 0,-19 23 0,-2 3 0,4-2 0,-1 2 0,22-18 0,2-13 0,3-8 0,-16 15 0,-6 12 0,-30 35 0,-8 9 0,-16 11 0,1-1 0,-1 1 0,6-7 0,-2 3 0,3-5 0,-2 4 0,-1 1 0,1 2 0,-3 5 0,-1 9 0,-4 20 0,-2 17 0,-7 6 0,-33 39 0,-27-6 0,15-23 0,-4 2 0,1-6 0,-3 0 0,-13 11 0,-3 4 0,19-14 0,-1 2 0,-1 0 0,-6 1 0,-1 0 0,-5 2 0,2-1 0,-4 3 0,-2 0 0,0-4-728,-19 12 0,-2-3 1,3-2 727,8-6 0,1-1 0,0-2 0,-6 2 0,-1-2 0,8-5 0,3 0 0,3-2 0,-24 19 0,4-2 0,30-23 0,8-4 0,-22 20 0,45-35 0,37-35 0,0 2 0,0 0 2183,-8 14-2183,2 0 0,-5 5 0,7-10 0,3-9 0,13-16 0,23-26 0,28-17 0,-7 11 0,7-5 0,17-10 0,6-4 0,-17 13 0,3-2 0,2-2 0,9-8 0,2 0 0,-1 1 0,-8 9 0,-2 1 0,0 1 0,2-1 0,0 1 0,-2 4 0,16-8 0,-5 7 0,-16 11 0,-5 3 0,41-22 0,-66 41 0,-9 5 0,-18 12 0,3-2 0,-4 3 0,2 19 0,-9 20 0,0 42 0,-3-31 0,0 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C5A1AD-6EE0-7B47-843F-7A2A6B89B1E6}" type="datetimeFigureOut">
              <a:rPr lang="fr-FR" smtClean="0"/>
              <a:t>21/10/2025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B5923D-B6A3-304B-9A38-4C678B293161}" type="slidenum">
              <a:rPr lang="fr-FR" smtClean="0"/>
              <a:t>‹N°›</a:t>
            </a:fld>
            <a:endParaRPr lang="fr-FR"/>
          </a:p>
        </p:txBody>
      </p:sp>
    </p:spTree>
    <p:extLst>
      <p:ext uri="{BB962C8B-B14F-4D97-AF65-F5344CB8AC3E}">
        <p14:creationId xmlns:p14="http://schemas.microsoft.com/office/powerpoint/2010/main" val="206811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1</a:t>
            </a:fld>
            <a:endParaRPr lang="fr-FR"/>
          </a:p>
        </p:txBody>
      </p:sp>
    </p:spTree>
    <p:extLst>
      <p:ext uri="{BB962C8B-B14F-4D97-AF65-F5344CB8AC3E}">
        <p14:creationId xmlns:p14="http://schemas.microsoft.com/office/powerpoint/2010/main" val="1600596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C411C-102E-20F8-BFEB-2D8BA47FBC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3109BA-42AE-328E-3DDD-4C667EBB3AC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E60F3D2-9B2E-D0E5-21DC-9667BE6CB8E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131556C-E9B4-3A31-73BA-A9E8D30C9533}"/>
              </a:ext>
            </a:extLst>
          </p:cNvPr>
          <p:cNvSpPr>
            <a:spLocks noGrp="1"/>
          </p:cNvSpPr>
          <p:nvPr>
            <p:ph type="sldNum" sz="quarter" idx="5"/>
          </p:nvPr>
        </p:nvSpPr>
        <p:spPr/>
        <p:txBody>
          <a:bodyPr/>
          <a:lstStyle/>
          <a:p>
            <a:fld id="{98B5923D-B6A3-304B-9A38-4C678B293161}" type="slidenum">
              <a:rPr lang="fr-FR" smtClean="0"/>
              <a:t>2</a:t>
            </a:fld>
            <a:endParaRPr lang="fr-FR"/>
          </a:p>
        </p:txBody>
      </p:sp>
    </p:spTree>
    <p:extLst>
      <p:ext uri="{BB962C8B-B14F-4D97-AF65-F5344CB8AC3E}">
        <p14:creationId xmlns:p14="http://schemas.microsoft.com/office/powerpoint/2010/main" val="900247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3</a:t>
            </a:fld>
            <a:endParaRPr lang="fr-FR"/>
          </a:p>
        </p:txBody>
      </p:sp>
    </p:spTree>
    <p:extLst>
      <p:ext uri="{BB962C8B-B14F-4D97-AF65-F5344CB8AC3E}">
        <p14:creationId xmlns:p14="http://schemas.microsoft.com/office/powerpoint/2010/main" val="794534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4</a:t>
            </a:fld>
            <a:endParaRPr lang="fr-FR"/>
          </a:p>
        </p:txBody>
      </p:sp>
    </p:spTree>
    <p:extLst>
      <p:ext uri="{BB962C8B-B14F-4D97-AF65-F5344CB8AC3E}">
        <p14:creationId xmlns:p14="http://schemas.microsoft.com/office/powerpoint/2010/main" val="633893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5</a:t>
            </a:fld>
            <a:endParaRPr lang="fr-FR"/>
          </a:p>
        </p:txBody>
      </p:sp>
    </p:spTree>
    <p:extLst>
      <p:ext uri="{BB962C8B-B14F-4D97-AF65-F5344CB8AC3E}">
        <p14:creationId xmlns:p14="http://schemas.microsoft.com/office/powerpoint/2010/main" val="450116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2E821-D4E3-B104-3FA1-9CF96E7AAB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028EE0-8195-43BD-E2F5-D02AF07C02B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D1F7505-C643-670B-4947-A4A3E127D85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439DB42-8359-1283-9891-3F6093426CEF}"/>
              </a:ext>
            </a:extLst>
          </p:cNvPr>
          <p:cNvSpPr>
            <a:spLocks noGrp="1"/>
          </p:cNvSpPr>
          <p:nvPr>
            <p:ph type="sldNum" sz="quarter" idx="5"/>
          </p:nvPr>
        </p:nvSpPr>
        <p:spPr/>
        <p:txBody>
          <a:bodyPr/>
          <a:lstStyle/>
          <a:p>
            <a:fld id="{98B5923D-B6A3-304B-9A38-4C678B293161}" type="slidenum">
              <a:rPr lang="fr-FR" smtClean="0"/>
              <a:t>6</a:t>
            </a:fld>
            <a:endParaRPr lang="fr-FR"/>
          </a:p>
        </p:txBody>
      </p:sp>
    </p:spTree>
    <p:extLst>
      <p:ext uri="{BB962C8B-B14F-4D97-AF65-F5344CB8AC3E}">
        <p14:creationId xmlns:p14="http://schemas.microsoft.com/office/powerpoint/2010/main" val="2079096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86EF4-BD5D-43B2-BB4D-218ECC0253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4FC91D-1781-7D61-3F7D-078BA3BB9CD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F90E0F-AB4E-C77A-42AA-67B960CD5E3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2DA9C28-F2CE-F3D7-A6A9-BB73A5A80D09}"/>
              </a:ext>
            </a:extLst>
          </p:cNvPr>
          <p:cNvSpPr>
            <a:spLocks noGrp="1"/>
          </p:cNvSpPr>
          <p:nvPr>
            <p:ph type="sldNum" sz="quarter" idx="5"/>
          </p:nvPr>
        </p:nvSpPr>
        <p:spPr/>
        <p:txBody>
          <a:bodyPr/>
          <a:lstStyle/>
          <a:p>
            <a:fld id="{98B5923D-B6A3-304B-9A38-4C678B293161}" type="slidenum">
              <a:rPr lang="fr-FR" smtClean="0"/>
              <a:t>7</a:t>
            </a:fld>
            <a:endParaRPr lang="fr-FR"/>
          </a:p>
        </p:txBody>
      </p:sp>
    </p:spTree>
    <p:extLst>
      <p:ext uri="{BB962C8B-B14F-4D97-AF65-F5344CB8AC3E}">
        <p14:creationId xmlns:p14="http://schemas.microsoft.com/office/powerpoint/2010/main" val="2319372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D1006-9764-92B7-DB80-FB29900AF3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17DF05-82E5-B81E-038A-B9B1BF9D9C0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759B3D3-3DC5-B2B5-213D-16980DD0A7A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2E441ED-7DBB-306E-1C0D-C8AAC5873A51}"/>
              </a:ext>
            </a:extLst>
          </p:cNvPr>
          <p:cNvSpPr>
            <a:spLocks noGrp="1"/>
          </p:cNvSpPr>
          <p:nvPr>
            <p:ph type="sldNum" sz="quarter" idx="5"/>
          </p:nvPr>
        </p:nvSpPr>
        <p:spPr/>
        <p:txBody>
          <a:bodyPr/>
          <a:lstStyle/>
          <a:p>
            <a:fld id="{98B5923D-B6A3-304B-9A38-4C678B293161}" type="slidenum">
              <a:rPr lang="fr-FR" smtClean="0"/>
              <a:t>8</a:t>
            </a:fld>
            <a:endParaRPr lang="fr-FR"/>
          </a:p>
        </p:txBody>
      </p:sp>
    </p:spTree>
    <p:extLst>
      <p:ext uri="{BB962C8B-B14F-4D97-AF65-F5344CB8AC3E}">
        <p14:creationId xmlns:p14="http://schemas.microsoft.com/office/powerpoint/2010/main" val="48740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9F2BD-BAD9-23C8-E494-7F6EA249326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13C3F9-3E61-76CC-E7B4-C872EB7274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E130713-F795-4F6E-A713-A0DF28EF063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915C643-C86E-FA32-EC76-8742C46989C6}"/>
              </a:ext>
            </a:extLst>
          </p:cNvPr>
          <p:cNvSpPr>
            <a:spLocks noGrp="1"/>
          </p:cNvSpPr>
          <p:nvPr>
            <p:ph type="sldNum" sz="quarter" idx="5"/>
          </p:nvPr>
        </p:nvSpPr>
        <p:spPr/>
        <p:txBody>
          <a:bodyPr/>
          <a:lstStyle/>
          <a:p>
            <a:fld id="{98B5923D-B6A3-304B-9A38-4C678B293161}" type="slidenum">
              <a:rPr lang="fr-FR" smtClean="0"/>
              <a:t>9</a:t>
            </a:fld>
            <a:endParaRPr lang="fr-FR"/>
          </a:p>
        </p:txBody>
      </p:sp>
    </p:spTree>
    <p:extLst>
      <p:ext uri="{BB962C8B-B14F-4D97-AF65-F5344CB8AC3E}">
        <p14:creationId xmlns:p14="http://schemas.microsoft.com/office/powerpoint/2010/main" val="2741998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D261C-7F3A-5B8F-E61B-D150BCD5E2B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D6FD52-A452-AE98-C446-5442044DE17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DB01169-10FE-E37F-E505-79BC55276AC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4B3E7F1-4F71-86DB-555B-1A8EF418EDAD}"/>
              </a:ext>
            </a:extLst>
          </p:cNvPr>
          <p:cNvSpPr>
            <a:spLocks noGrp="1"/>
          </p:cNvSpPr>
          <p:nvPr>
            <p:ph type="sldNum" sz="quarter" idx="5"/>
          </p:nvPr>
        </p:nvSpPr>
        <p:spPr/>
        <p:txBody>
          <a:bodyPr/>
          <a:lstStyle/>
          <a:p>
            <a:fld id="{98B5923D-B6A3-304B-9A38-4C678B293161}" type="slidenum">
              <a:rPr lang="fr-FR" smtClean="0"/>
              <a:t>10</a:t>
            </a:fld>
            <a:endParaRPr lang="fr-FR"/>
          </a:p>
        </p:txBody>
      </p:sp>
    </p:spTree>
    <p:extLst>
      <p:ext uri="{BB962C8B-B14F-4D97-AF65-F5344CB8AC3E}">
        <p14:creationId xmlns:p14="http://schemas.microsoft.com/office/powerpoint/2010/main" val="1923172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4C63C-1218-C1AA-F984-5CCC94D626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8F0B117-E6B2-A640-51D8-4C1C89BC027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DDFF126-8E8C-4655-EBFC-F624B364B33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C303D22-40E3-FCB7-836E-0379B2E800C7}"/>
              </a:ext>
            </a:extLst>
          </p:cNvPr>
          <p:cNvSpPr>
            <a:spLocks noGrp="1"/>
          </p:cNvSpPr>
          <p:nvPr>
            <p:ph type="sldNum" sz="quarter" idx="5"/>
          </p:nvPr>
        </p:nvSpPr>
        <p:spPr/>
        <p:txBody>
          <a:bodyPr/>
          <a:lstStyle/>
          <a:p>
            <a:fld id="{98B5923D-B6A3-304B-9A38-4C678B293161}" type="slidenum">
              <a:rPr lang="fr-FR" smtClean="0"/>
              <a:t>11</a:t>
            </a:fld>
            <a:endParaRPr lang="fr-FR"/>
          </a:p>
        </p:txBody>
      </p:sp>
    </p:spTree>
    <p:extLst>
      <p:ext uri="{BB962C8B-B14F-4D97-AF65-F5344CB8AC3E}">
        <p14:creationId xmlns:p14="http://schemas.microsoft.com/office/powerpoint/2010/main" val="4033726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5DFE3-5187-0B6E-C1A3-6EECDF9BF9F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CBB933-A879-0E59-5236-60EC8DB6450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C0FD6E7-82A6-026F-B5E7-784FBF4806A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4310CB5-5E51-3EA6-86B8-B8CB291BAB37}"/>
              </a:ext>
            </a:extLst>
          </p:cNvPr>
          <p:cNvSpPr>
            <a:spLocks noGrp="1"/>
          </p:cNvSpPr>
          <p:nvPr>
            <p:ph type="sldNum" sz="quarter" idx="5"/>
          </p:nvPr>
        </p:nvSpPr>
        <p:spPr/>
        <p:txBody>
          <a:bodyPr/>
          <a:lstStyle/>
          <a:p>
            <a:fld id="{98B5923D-B6A3-304B-9A38-4C678B293161}" type="slidenum">
              <a:rPr lang="fr-FR" smtClean="0"/>
              <a:t>12</a:t>
            </a:fld>
            <a:endParaRPr lang="fr-FR"/>
          </a:p>
        </p:txBody>
      </p:sp>
    </p:spTree>
    <p:extLst>
      <p:ext uri="{BB962C8B-B14F-4D97-AF65-F5344CB8AC3E}">
        <p14:creationId xmlns:p14="http://schemas.microsoft.com/office/powerpoint/2010/main" val="1660770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78EB3-1BCC-8494-5614-9D872623AF2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7EDDAF-9672-3E27-04D7-2D611131F62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D777484-190E-70E0-92F2-671C7F9E914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4CEE27C-BC0D-74F0-43D1-47772F8502F1}"/>
              </a:ext>
            </a:extLst>
          </p:cNvPr>
          <p:cNvSpPr>
            <a:spLocks noGrp="1"/>
          </p:cNvSpPr>
          <p:nvPr>
            <p:ph type="sldNum" sz="quarter" idx="5"/>
          </p:nvPr>
        </p:nvSpPr>
        <p:spPr/>
        <p:txBody>
          <a:bodyPr/>
          <a:lstStyle/>
          <a:p>
            <a:fld id="{98B5923D-B6A3-304B-9A38-4C678B293161}" type="slidenum">
              <a:rPr lang="fr-FR" smtClean="0"/>
              <a:t>13</a:t>
            </a:fld>
            <a:endParaRPr lang="fr-FR"/>
          </a:p>
        </p:txBody>
      </p:sp>
    </p:spTree>
    <p:extLst>
      <p:ext uri="{BB962C8B-B14F-4D97-AF65-F5344CB8AC3E}">
        <p14:creationId xmlns:p14="http://schemas.microsoft.com/office/powerpoint/2010/main" val="765315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6E8D5-343D-BDC4-9D30-E5558719C4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AA14124-3E82-22B0-BE18-C3987F4C412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7698E40-DEE3-D340-FA36-EF093242428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B2853B6-A5BC-11D3-AC0C-ACF303F67941}"/>
              </a:ext>
            </a:extLst>
          </p:cNvPr>
          <p:cNvSpPr>
            <a:spLocks noGrp="1"/>
          </p:cNvSpPr>
          <p:nvPr>
            <p:ph type="sldNum" sz="quarter" idx="5"/>
          </p:nvPr>
        </p:nvSpPr>
        <p:spPr/>
        <p:txBody>
          <a:bodyPr/>
          <a:lstStyle/>
          <a:p>
            <a:fld id="{98B5923D-B6A3-304B-9A38-4C678B293161}" type="slidenum">
              <a:rPr lang="fr-FR" smtClean="0"/>
              <a:t>14</a:t>
            </a:fld>
            <a:endParaRPr lang="fr-FR"/>
          </a:p>
        </p:txBody>
      </p:sp>
    </p:spTree>
    <p:extLst>
      <p:ext uri="{BB962C8B-B14F-4D97-AF65-F5344CB8AC3E}">
        <p14:creationId xmlns:p14="http://schemas.microsoft.com/office/powerpoint/2010/main" val="2540308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B5745-10CD-DD1A-5C69-0C81CD226B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D3EB4F-26CD-88B5-B287-BA7EBF8CAC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53A5EBD-1793-B280-9A80-D7CD21CE608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87FD7F0-81BD-6C71-7E74-DD010A4DCDEA}"/>
              </a:ext>
            </a:extLst>
          </p:cNvPr>
          <p:cNvSpPr>
            <a:spLocks noGrp="1"/>
          </p:cNvSpPr>
          <p:nvPr>
            <p:ph type="sldNum" sz="quarter" idx="5"/>
          </p:nvPr>
        </p:nvSpPr>
        <p:spPr/>
        <p:txBody>
          <a:bodyPr/>
          <a:lstStyle/>
          <a:p>
            <a:fld id="{98B5923D-B6A3-304B-9A38-4C678B293161}" type="slidenum">
              <a:rPr lang="fr-FR" smtClean="0"/>
              <a:t>15</a:t>
            </a:fld>
            <a:endParaRPr lang="fr-FR"/>
          </a:p>
        </p:txBody>
      </p:sp>
    </p:spTree>
    <p:extLst>
      <p:ext uri="{BB962C8B-B14F-4D97-AF65-F5344CB8AC3E}">
        <p14:creationId xmlns:p14="http://schemas.microsoft.com/office/powerpoint/2010/main" val="2998911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AFD8D-9EAD-7989-0E02-80062875ED1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1CB26D1-BE4A-3AFB-B3E1-952516DDC3E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7827F55-3818-7C82-93E5-390067FBB13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96B7281-1A08-0438-171B-0ED7122C116D}"/>
              </a:ext>
            </a:extLst>
          </p:cNvPr>
          <p:cNvSpPr>
            <a:spLocks noGrp="1"/>
          </p:cNvSpPr>
          <p:nvPr>
            <p:ph type="sldNum" sz="quarter" idx="5"/>
          </p:nvPr>
        </p:nvSpPr>
        <p:spPr/>
        <p:txBody>
          <a:bodyPr/>
          <a:lstStyle/>
          <a:p>
            <a:fld id="{98B5923D-B6A3-304B-9A38-4C678B293161}" type="slidenum">
              <a:rPr lang="fr-FR" smtClean="0"/>
              <a:t>16</a:t>
            </a:fld>
            <a:endParaRPr lang="fr-FR"/>
          </a:p>
        </p:txBody>
      </p:sp>
    </p:spTree>
    <p:extLst>
      <p:ext uri="{BB962C8B-B14F-4D97-AF65-F5344CB8AC3E}">
        <p14:creationId xmlns:p14="http://schemas.microsoft.com/office/powerpoint/2010/main" val="1300420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C2316-0D4D-DDB4-C2E8-1CA8CCEBDBF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4E49EA7-AB3F-17B8-1F28-A9A25A4F7CF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3A42B05-6493-E551-AA9B-ADDCF73961C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50A4564-DC26-DC84-D0B8-A76AA3AA4DF1}"/>
              </a:ext>
            </a:extLst>
          </p:cNvPr>
          <p:cNvSpPr>
            <a:spLocks noGrp="1"/>
          </p:cNvSpPr>
          <p:nvPr>
            <p:ph type="sldNum" sz="quarter" idx="5"/>
          </p:nvPr>
        </p:nvSpPr>
        <p:spPr/>
        <p:txBody>
          <a:bodyPr/>
          <a:lstStyle/>
          <a:p>
            <a:fld id="{98B5923D-B6A3-304B-9A38-4C678B293161}" type="slidenum">
              <a:rPr lang="fr-FR" smtClean="0"/>
              <a:t>17</a:t>
            </a:fld>
            <a:endParaRPr lang="fr-FR"/>
          </a:p>
        </p:txBody>
      </p:sp>
    </p:spTree>
    <p:extLst>
      <p:ext uri="{BB962C8B-B14F-4D97-AF65-F5344CB8AC3E}">
        <p14:creationId xmlns:p14="http://schemas.microsoft.com/office/powerpoint/2010/main" val="1487581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C3CC9-0CDD-9B81-8020-3397F14133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296C80-EEC5-73C0-40D5-CB7BCC71EF2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C7CF604-073D-9F85-E231-53DEBF79F78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87C61BD-68D8-9C6E-ABE4-C09134895D33}"/>
              </a:ext>
            </a:extLst>
          </p:cNvPr>
          <p:cNvSpPr>
            <a:spLocks noGrp="1"/>
          </p:cNvSpPr>
          <p:nvPr>
            <p:ph type="sldNum" sz="quarter" idx="5"/>
          </p:nvPr>
        </p:nvSpPr>
        <p:spPr/>
        <p:txBody>
          <a:bodyPr/>
          <a:lstStyle/>
          <a:p>
            <a:fld id="{98B5923D-B6A3-304B-9A38-4C678B293161}" type="slidenum">
              <a:rPr lang="fr-FR" smtClean="0"/>
              <a:t>18</a:t>
            </a:fld>
            <a:endParaRPr lang="fr-FR"/>
          </a:p>
        </p:txBody>
      </p:sp>
    </p:spTree>
    <p:extLst>
      <p:ext uri="{BB962C8B-B14F-4D97-AF65-F5344CB8AC3E}">
        <p14:creationId xmlns:p14="http://schemas.microsoft.com/office/powerpoint/2010/main" val="983236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EA7FF-F831-97A7-F18F-439141ECEFA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D6C867-76AC-6AB2-FFC7-5F529A3485D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C4A208D-D5C3-D6B5-2DE5-9B9AA17CF1F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E96D975-5305-9177-03C9-E93FAC47FA90}"/>
              </a:ext>
            </a:extLst>
          </p:cNvPr>
          <p:cNvSpPr>
            <a:spLocks noGrp="1"/>
          </p:cNvSpPr>
          <p:nvPr>
            <p:ph type="sldNum" sz="quarter" idx="5"/>
          </p:nvPr>
        </p:nvSpPr>
        <p:spPr/>
        <p:txBody>
          <a:bodyPr/>
          <a:lstStyle/>
          <a:p>
            <a:fld id="{98B5923D-B6A3-304B-9A38-4C678B293161}" type="slidenum">
              <a:rPr lang="fr-FR" smtClean="0"/>
              <a:t>19</a:t>
            </a:fld>
            <a:endParaRPr lang="fr-FR"/>
          </a:p>
        </p:txBody>
      </p:sp>
    </p:spTree>
    <p:extLst>
      <p:ext uri="{BB962C8B-B14F-4D97-AF65-F5344CB8AC3E}">
        <p14:creationId xmlns:p14="http://schemas.microsoft.com/office/powerpoint/2010/main" val="3755962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F830D-B742-B334-3D07-089C36D11D3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20B895-73C8-0F5F-9BC0-BD8079FEBED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7CDD0DC-19A1-82D9-646E-BCCC45E0CE1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70102C5-8157-4BC8-6928-54136E41AD34}"/>
              </a:ext>
            </a:extLst>
          </p:cNvPr>
          <p:cNvSpPr>
            <a:spLocks noGrp="1"/>
          </p:cNvSpPr>
          <p:nvPr>
            <p:ph type="sldNum" sz="quarter" idx="5"/>
          </p:nvPr>
        </p:nvSpPr>
        <p:spPr/>
        <p:txBody>
          <a:bodyPr/>
          <a:lstStyle/>
          <a:p>
            <a:fld id="{98B5923D-B6A3-304B-9A38-4C678B293161}" type="slidenum">
              <a:rPr lang="fr-FR" smtClean="0"/>
              <a:t>20</a:t>
            </a:fld>
            <a:endParaRPr lang="fr-FR"/>
          </a:p>
        </p:txBody>
      </p:sp>
    </p:spTree>
    <p:extLst>
      <p:ext uri="{BB962C8B-B14F-4D97-AF65-F5344CB8AC3E}">
        <p14:creationId xmlns:p14="http://schemas.microsoft.com/office/powerpoint/2010/main" val="9154408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6D37A-1624-E1F7-FB2E-1E84FDB919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DA31812-D492-23A1-2AD7-D0D19A767C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823B7CB-E569-49A0-2377-6D358163759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2C71F31-FD7B-50A0-93AA-3F8DB112BA06}"/>
              </a:ext>
            </a:extLst>
          </p:cNvPr>
          <p:cNvSpPr>
            <a:spLocks noGrp="1"/>
          </p:cNvSpPr>
          <p:nvPr>
            <p:ph type="sldNum" sz="quarter" idx="5"/>
          </p:nvPr>
        </p:nvSpPr>
        <p:spPr/>
        <p:txBody>
          <a:bodyPr/>
          <a:lstStyle/>
          <a:p>
            <a:fld id="{98B5923D-B6A3-304B-9A38-4C678B293161}" type="slidenum">
              <a:rPr lang="fr-FR" smtClean="0"/>
              <a:t>21</a:t>
            </a:fld>
            <a:endParaRPr lang="fr-FR"/>
          </a:p>
        </p:txBody>
      </p:sp>
    </p:spTree>
    <p:extLst>
      <p:ext uri="{BB962C8B-B14F-4D97-AF65-F5344CB8AC3E}">
        <p14:creationId xmlns:p14="http://schemas.microsoft.com/office/powerpoint/2010/main" val="19566117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F09AC-6942-67FC-7112-9AF50E276BB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18891B6-7C27-779D-E49F-4062EF38AF4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B3FCF5C-E31F-683C-E9A4-1C7E39202D2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18D3C24-BF4E-F7CB-7E17-30011269E3E4}"/>
              </a:ext>
            </a:extLst>
          </p:cNvPr>
          <p:cNvSpPr>
            <a:spLocks noGrp="1"/>
          </p:cNvSpPr>
          <p:nvPr>
            <p:ph type="sldNum" sz="quarter" idx="5"/>
          </p:nvPr>
        </p:nvSpPr>
        <p:spPr/>
        <p:txBody>
          <a:bodyPr/>
          <a:lstStyle/>
          <a:p>
            <a:fld id="{98B5923D-B6A3-304B-9A38-4C678B293161}" type="slidenum">
              <a:rPr lang="fr-FR" smtClean="0"/>
              <a:t>22</a:t>
            </a:fld>
            <a:endParaRPr lang="fr-FR"/>
          </a:p>
        </p:txBody>
      </p:sp>
    </p:spTree>
    <p:extLst>
      <p:ext uri="{BB962C8B-B14F-4D97-AF65-F5344CB8AC3E}">
        <p14:creationId xmlns:p14="http://schemas.microsoft.com/office/powerpoint/2010/main" val="32850579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7C509-F5AE-E159-4D8C-DD084E06B16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65E58D-8582-0866-E657-0E3183BDDC9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6BBB254-5536-55D0-B602-4144412CBCF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0074D7F-A9ED-0264-AE98-C17B1D72B310}"/>
              </a:ext>
            </a:extLst>
          </p:cNvPr>
          <p:cNvSpPr>
            <a:spLocks noGrp="1"/>
          </p:cNvSpPr>
          <p:nvPr>
            <p:ph type="sldNum" sz="quarter" idx="5"/>
          </p:nvPr>
        </p:nvSpPr>
        <p:spPr/>
        <p:txBody>
          <a:bodyPr/>
          <a:lstStyle/>
          <a:p>
            <a:fld id="{98B5923D-B6A3-304B-9A38-4C678B293161}" type="slidenum">
              <a:rPr lang="fr-FR" smtClean="0"/>
              <a:t>23</a:t>
            </a:fld>
            <a:endParaRPr lang="fr-FR"/>
          </a:p>
        </p:txBody>
      </p:sp>
    </p:spTree>
    <p:extLst>
      <p:ext uri="{BB962C8B-B14F-4D97-AF65-F5344CB8AC3E}">
        <p14:creationId xmlns:p14="http://schemas.microsoft.com/office/powerpoint/2010/main" val="8333489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C6E18-8DAC-5C26-2D9C-2AEA443BA39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618866-58FF-A6C5-1C45-8B2B5109CCA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81287E4-B31C-1EDF-821C-D015456E399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C1B96F3-BAAC-5737-8D17-315D833AA123}"/>
              </a:ext>
            </a:extLst>
          </p:cNvPr>
          <p:cNvSpPr>
            <a:spLocks noGrp="1"/>
          </p:cNvSpPr>
          <p:nvPr>
            <p:ph type="sldNum" sz="quarter" idx="5"/>
          </p:nvPr>
        </p:nvSpPr>
        <p:spPr/>
        <p:txBody>
          <a:bodyPr/>
          <a:lstStyle/>
          <a:p>
            <a:fld id="{98B5923D-B6A3-304B-9A38-4C678B293161}" type="slidenum">
              <a:rPr lang="fr-FR" smtClean="0"/>
              <a:t>24</a:t>
            </a:fld>
            <a:endParaRPr lang="fr-FR"/>
          </a:p>
        </p:txBody>
      </p:sp>
    </p:spTree>
    <p:extLst>
      <p:ext uri="{BB962C8B-B14F-4D97-AF65-F5344CB8AC3E}">
        <p14:creationId xmlns:p14="http://schemas.microsoft.com/office/powerpoint/2010/main" val="24923525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DC16-666C-D729-B8C5-A24B7908FE2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A8CBEF-7780-8C8D-3BF6-845CF3FFF2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D0C5DFD-DDD0-186B-F624-9E3EE6FDA2F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BB8A964-A81D-661E-185E-FDD830B5D5DB}"/>
              </a:ext>
            </a:extLst>
          </p:cNvPr>
          <p:cNvSpPr>
            <a:spLocks noGrp="1"/>
          </p:cNvSpPr>
          <p:nvPr>
            <p:ph type="sldNum" sz="quarter" idx="5"/>
          </p:nvPr>
        </p:nvSpPr>
        <p:spPr/>
        <p:txBody>
          <a:bodyPr/>
          <a:lstStyle/>
          <a:p>
            <a:fld id="{98B5923D-B6A3-304B-9A38-4C678B293161}" type="slidenum">
              <a:rPr lang="fr-FR" smtClean="0"/>
              <a:t>25</a:t>
            </a:fld>
            <a:endParaRPr lang="fr-FR"/>
          </a:p>
        </p:txBody>
      </p:sp>
    </p:spTree>
    <p:extLst>
      <p:ext uri="{BB962C8B-B14F-4D97-AF65-F5344CB8AC3E}">
        <p14:creationId xmlns:p14="http://schemas.microsoft.com/office/powerpoint/2010/main" val="152655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EB66B-B196-A5A4-AC10-3E380518BE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FC657C4-7C25-8EE4-F694-4D215703AF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40F4E9E-89A6-5D78-DC3F-19E7AA39B68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2969AD9-7A3A-F80D-A4CF-C60173CE01E2}"/>
              </a:ext>
            </a:extLst>
          </p:cNvPr>
          <p:cNvSpPr>
            <a:spLocks noGrp="1"/>
          </p:cNvSpPr>
          <p:nvPr>
            <p:ph type="sldNum" sz="quarter" idx="5"/>
          </p:nvPr>
        </p:nvSpPr>
        <p:spPr/>
        <p:txBody>
          <a:bodyPr/>
          <a:lstStyle/>
          <a:p>
            <a:fld id="{98B5923D-B6A3-304B-9A38-4C678B293161}" type="slidenum">
              <a:rPr lang="fr-FR" smtClean="0"/>
              <a:t>26</a:t>
            </a:fld>
            <a:endParaRPr lang="fr-FR"/>
          </a:p>
        </p:txBody>
      </p:sp>
    </p:spTree>
    <p:extLst>
      <p:ext uri="{BB962C8B-B14F-4D97-AF65-F5344CB8AC3E}">
        <p14:creationId xmlns:p14="http://schemas.microsoft.com/office/powerpoint/2010/main" val="5421263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B1676-23E6-6C0B-444D-3617E7FA9A7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BF20112-A4DC-8779-F422-89D1C4D037A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1158407-E44E-A637-B6F0-8A82C6EDD76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872DFF8-0707-621D-617A-B76BEFD8C0F2}"/>
              </a:ext>
            </a:extLst>
          </p:cNvPr>
          <p:cNvSpPr>
            <a:spLocks noGrp="1"/>
          </p:cNvSpPr>
          <p:nvPr>
            <p:ph type="sldNum" sz="quarter" idx="5"/>
          </p:nvPr>
        </p:nvSpPr>
        <p:spPr/>
        <p:txBody>
          <a:bodyPr/>
          <a:lstStyle/>
          <a:p>
            <a:fld id="{98B5923D-B6A3-304B-9A38-4C678B293161}" type="slidenum">
              <a:rPr lang="fr-FR" smtClean="0"/>
              <a:t>27</a:t>
            </a:fld>
            <a:endParaRPr lang="fr-FR"/>
          </a:p>
        </p:txBody>
      </p:sp>
    </p:spTree>
    <p:extLst>
      <p:ext uri="{BB962C8B-B14F-4D97-AF65-F5344CB8AC3E}">
        <p14:creationId xmlns:p14="http://schemas.microsoft.com/office/powerpoint/2010/main" val="19953480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4981E-4A59-A290-99BF-DE6B79E5A5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079566-AC1A-26CE-E2DC-58267E759B6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72FC41B-952E-4FB7-7A00-E3C4881D1CB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B53A123-B277-E44D-8852-EA24D3391C42}"/>
              </a:ext>
            </a:extLst>
          </p:cNvPr>
          <p:cNvSpPr>
            <a:spLocks noGrp="1"/>
          </p:cNvSpPr>
          <p:nvPr>
            <p:ph type="sldNum" sz="quarter" idx="5"/>
          </p:nvPr>
        </p:nvSpPr>
        <p:spPr/>
        <p:txBody>
          <a:bodyPr/>
          <a:lstStyle/>
          <a:p>
            <a:fld id="{98B5923D-B6A3-304B-9A38-4C678B293161}" type="slidenum">
              <a:rPr lang="fr-FR" smtClean="0"/>
              <a:t>28</a:t>
            </a:fld>
            <a:endParaRPr lang="fr-FR"/>
          </a:p>
        </p:txBody>
      </p:sp>
    </p:spTree>
    <p:extLst>
      <p:ext uri="{BB962C8B-B14F-4D97-AF65-F5344CB8AC3E}">
        <p14:creationId xmlns:p14="http://schemas.microsoft.com/office/powerpoint/2010/main" val="1409780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3.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10" Type="http://schemas.openxmlformats.org/officeDocument/2006/relationships/image" Target="../media/image13.png"/><Relationship Id="rId4" Type="http://schemas.openxmlformats.org/officeDocument/2006/relationships/image" Target="../media/image7.svg"/><Relationship Id="rId9" Type="http://schemas.openxmlformats.org/officeDocument/2006/relationships/customXml" Target="../ink/ink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10" Type="http://schemas.openxmlformats.org/officeDocument/2006/relationships/image" Target="../media/image14.png"/><Relationship Id="rId4" Type="http://schemas.openxmlformats.org/officeDocument/2006/relationships/image" Target="../media/image7.svg"/><Relationship Id="rId9" Type="http://schemas.openxmlformats.org/officeDocument/2006/relationships/customXml" Target="../ink/ink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sv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jpeg"/><Relationship Id="rId4" Type="http://schemas.openxmlformats.org/officeDocument/2006/relationships/image" Target="../media/image7.sv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jpe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3.pn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9" name="Freeform 2">
            <a:extLst>
              <a:ext uri="{FF2B5EF4-FFF2-40B4-BE49-F238E27FC236}">
                <a16:creationId xmlns:a16="http://schemas.microsoft.com/office/drawing/2014/main" id="{3EDC4CD8-A495-A728-63E8-60BA31ED9EE5}"/>
              </a:ext>
            </a:extLst>
          </p:cNvPr>
          <p:cNvSpPr/>
          <p:nvPr/>
        </p:nvSpPr>
        <p:spPr>
          <a:xfrm rot="-7160485">
            <a:off x="13419555" y="4654397"/>
            <a:ext cx="6728545" cy="6403217"/>
          </a:xfrm>
          <a:custGeom>
            <a:avLst/>
            <a:gdLst/>
            <a:ahLst/>
            <a:cxnLst/>
            <a:rect l="l" t="t" r="r" b="b"/>
            <a:pathLst>
              <a:path w="6728545" h="6403217">
                <a:moveTo>
                  <a:pt x="0" y="0"/>
                </a:moveTo>
                <a:lnTo>
                  <a:pt x="6728545" y="0"/>
                </a:lnTo>
                <a:lnTo>
                  <a:pt x="6728545" y="6403217"/>
                </a:lnTo>
                <a:lnTo>
                  <a:pt x="0" y="64032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6">
            <a:extLst>
              <a:ext uri="{FF2B5EF4-FFF2-40B4-BE49-F238E27FC236}">
                <a16:creationId xmlns:a16="http://schemas.microsoft.com/office/drawing/2014/main" id="{436B5AF8-B99A-051F-F288-AE7259328A6A}"/>
              </a:ext>
            </a:extLst>
          </p:cNvPr>
          <p:cNvSpPr/>
          <p:nvPr/>
        </p:nvSpPr>
        <p:spPr>
          <a:xfrm rot="3206933">
            <a:off x="-3150744" y="2201181"/>
            <a:ext cx="6500754" cy="5382013"/>
          </a:xfrm>
          <a:custGeom>
            <a:avLst/>
            <a:gdLst/>
            <a:ahLst/>
            <a:cxnLst/>
            <a:rect l="l" t="t" r="r" b="b"/>
            <a:pathLst>
              <a:path w="11239071" h="9067998">
                <a:moveTo>
                  <a:pt x="0" y="0"/>
                </a:moveTo>
                <a:lnTo>
                  <a:pt x="11239072" y="0"/>
                </a:lnTo>
                <a:lnTo>
                  <a:pt x="11239072" y="9067998"/>
                </a:lnTo>
                <a:lnTo>
                  <a:pt x="0" y="90679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ZoneTexte 10">
            <a:extLst>
              <a:ext uri="{FF2B5EF4-FFF2-40B4-BE49-F238E27FC236}">
                <a16:creationId xmlns:a16="http://schemas.microsoft.com/office/drawing/2014/main" id="{E5EE5997-8ABD-C01B-4458-55298C90C677}"/>
              </a:ext>
            </a:extLst>
          </p:cNvPr>
          <p:cNvSpPr txBox="1"/>
          <p:nvPr/>
        </p:nvSpPr>
        <p:spPr>
          <a:xfrm>
            <a:off x="17961429" y="762000"/>
            <a:ext cx="184731" cy="369332"/>
          </a:xfrm>
          <a:prstGeom prst="rect">
            <a:avLst/>
          </a:prstGeom>
          <a:noFill/>
        </p:spPr>
        <p:txBody>
          <a:bodyPr wrap="none" rtlCol="0">
            <a:spAutoFit/>
          </a:bodyPr>
          <a:lstStyle/>
          <a:p>
            <a:endParaRPr lang="fr-FR" dirty="0"/>
          </a:p>
        </p:txBody>
      </p:sp>
      <p:sp>
        <p:nvSpPr>
          <p:cNvPr id="17" name="ZoneTexte 16">
            <a:extLst>
              <a:ext uri="{FF2B5EF4-FFF2-40B4-BE49-F238E27FC236}">
                <a16:creationId xmlns:a16="http://schemas.microsoft.com/office/drawing/2014/main" id="{419B6CEB-1D03-821A-3921-FF0391DA0646}"/>
              </a:ext>
            </a:extLst>
          </p:cNvPr>
          <p:cNvSpPr txBox="1"/>
          <p:nvPr/>
        </p:nvSpPr>
        <p:spPr>
          <a:xfrm>
            <a:off x="10938933" y="6468533"/>
            <a:ext cx="184731" cy="369332"/>
          </a:xfrm>
          <a:prstGeom prst="rect">
            <a:avLst/>
          </a:prstGeom>
          <a:solidFill>
            <a:schemeClr val="accent3">
              <a:lumMod val="40000"/>
              <a:lumOff val="60000"/>
            </a:schemeClr>
          </a:solidFill>
        </p:spPr>
        <p:txBody>
          <a:bodyPr wrap="none" rtlCol="0">
            <a:spAutoFit/>
          </a:bodyPr>
          <a:lstStyle/>
          <a:p>
            <a:endParaRPr lang="fr-FR" dirty="0"/>
          </a:p>
        </p:txBody>
      </p:sp>
      <p:pic>
        <p:nvPicPr>
          <p:cNvPr id="18" name="Picture 2" descr="universite-assane-seck-zig-5af59 - Wincom">
            <a:extLst>
              <a:ext uri="{FF2B5EF4-FFF2-40B4-BE49-F238E27FC236}">
                <a16:creationId xmlns:a16="http://schemas.microsoft.com/office/drawing/2014/main" id="{5451A5DF-D8C5-768B-BB6F-CFA0894241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20100" y="249824"/>
            <a:ext cx="2857500" cy="2266082"/>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e 18">
            <a:extLst>
              <a:ext uri="{FF2B5EF4-FFF2-40B4-BE49-F238E27FC236}">
                <a16:creationId xmlns:a16="http://schemas.microsoft.com/office/drawing/2014/main" id="{7D6005D5-959C-3519-8D30-A84A747DD7C0}"/>
              </a:ext>
            </a:extLst>
          </p:cNvPr>
          <p:cNvGrpSpPr/>
          <p:nvPr/>
        </p:nvGrpSpPr>
        <p:grpSpPr>
          <a:xfrm>
            <a:off x="1761135" y="2650986"/>
            <a:ext cx="15379236" cy="1520389"/>
            <a:chOff x="2901042" y="6662557"/>
            <a:chExt cx="12230100" cy="2214744"/>
          </a:xfrm>
        </p:grpSpPr>
        <p:grpSp>
          <p:nvGrpSpPr>
            <p:cNvPr id="21" name="Group 3">
              <a:extLst>
                <a:ext uri="{FF2B5EF4-FFF2-40B4-BE49-F238E27FC236}">
                  <a16:creationId xmlns:a16="http://schemas.microsoft.com/office/drawing/2014/main" id="{9B8DC52D-AF36-16E2-3214-A8CF242D8173}"/>
                </a:ext>
              </a:extLst>
            </p:cNvPr>
            <p:cNvGrpSpPr/>
            <p:nvPr/>
          </p:nvGrpSpPr>
          <p:grpSpPr>
            <a:xfrm>
              <a:off x="3048000" y="6662557"/>
              <a:ext cx="12083142" cy="2214744"/>
              <a:chOff x="0" y="-38100"/>
              <a:chExt cx="2842321" cy="787881"/>
            </a:xfrm>
          </p:grpSpPr>
          <p:sp>
            <p:nvSpPr>
              <p:cNvPr id="24" name="Freeform 4">
                <a:extLst>
                  <a:ext uri="{FF2B5EF4-FFF2-40B4-BE49-F238E27FC236}">
                    <a16:creationId xmlns:a16="http://schemas.microsoft.com/office/drawing/2014/main" id="{AB9CA23A-73FD-F528-4ACE-339FF15407DB}"/>
                  </a:ext>
                </a:extLst>
              </p:cNvPr>
              <p:cNvSpPr/>
              <p:nvPr/>
            </p:nvSpPr>
            <p:spPr>
              <a:xfrm>
                <a:off x="0" y="0"/>
                <a:ext cx="2842321" cy="749781"/>
              </a:xfrm>
              <a:custGeom>
                <a:avLst/>
                <a:gdLst/>
                <a:ahLst/>
                <a:cxnLst/>
                <a:rect l="l" t="t" r="r" b="b"/>
                <a:pathLst>
                  <a:path w="2419814" h="749781">
                    <a:moveTo>
                      <a:pt x="0" y="0"/>
                    </a:moveTo>
                    <a:lnTo>
                      <a:pt x="2419814" y="0"/>
                    </a:lnTo>
                    <a:lnTo>
                      <a:pt x="2419814" y="749781"/>
                    </a:lnTo>
                    <a:lnTo>
                      <a:pt x="0" y="749781"/>
                    </a:lnTo>
                    <a:close/>
                  </a:path>
                </a:pathLst>
              </a:custGeom>
              <a:solidFill>
                <a:srgbClr val="FFFFFF"/>
              </a:solidFill>
              <a:ln w="28575" cap="sq">
                <a:solidFill>
                  <a:srgbClr val="000000"/>
                </a:solidFill>
                <a:prstDash val="solid"/>
                <a:miter/>
              </a:ln>
            </p:spPr>
            <p:txBody>
              <a:bodyPr/>
              <a:lstStyle/>
              <a:p>
                <a:endParaRPr lang="fr-FR" dirty="0"/>
              </a:p>
            </p:txBody>
          </p:sp>
          <p:sp>
            <p:nvSpPr>
              <p:cNvPr id="25" name="TextBox 5">
                <a:extLst>
                  <a:ext uri="{FF2B5EF4-FFF2-40B4-BE49-F238E27FC236}">
                    <a16:creationId xmlns:a16="http://schemas.microsoft.com/office/drawing/2014/main" id="{A9C458B3-3787-F9C9-8445-53DDB448FFE2}"/>
                  </a:ext>
                </a:extLst>
              </p:cNvPr>
              <p:cNvSpPr txBox="1"/>
              <p:nvPr/>
            </p:nvSpPr>
            <p:spPr>
              <a:xfrm>
                <a:off x="0" y="-38100"/>
                <a:ext cx="2419814" cy="787881"/>
              </a:xfrm>
              <a:prstGeom prst="rect">
                <a:avLst/>
              </a:prstGeom>
            </p:spPr>
            <p:txBody>
              <a:bodyPr lIns="57533" tIns="57533" rIns="57533" bIns="57533" rtlCol="0" anchor="ctr"/>
              <a:lstStyle/>
              <a:p>
                <a:pPr algn="ctr">
                  <a:lnSpc>
                    <a:spcPts val="2660"/>
                  </a:lnSpc>
                  <a:spcBef>
                    <a:spcPct val="0"/>
                  </a:spcBef>
                </a:pPr>
                <a:endParaRPr/>
              </a:p>
            </p:txBody>
          </p:sp>
        </p:grpSp>
        <p:sp>
          <p:nvSpPr>
            <p:cNvPr id="22" name="TextBox 7">
              <a:extLst>
                <a:ext uri="{FF2B5EF4-FFF2-40B4-BE49-F238E27FC236}">
                  <a16:creationId xmlns:a16="http://schemas.microsoft.com/office/drawing/2014/main" id="{721E866E-A223-A8CE-23C2-B02A39584FBA}"/>
                </a:ext>
              </a:extLst>
            </p:cNvPr>
            <p:cNvSpPr txBox="1"/>
            <p:nvPr/>
          </p:nvSpPr>
          <p:spPr>
            <a:xfrm>
              <a:off x="2901042" y="7011197"/>
              <a:ext cx="11887200" cy="1692771"/>
            </a:xfrm>
            <a:prstGeom prst="rect">
              <a:avLst/>
            </a:prstGeom>
          </p:spPr>
          <p:txBody>
            <a:bodyPr wrap="square" lIns="0" tIns="0" rIns="0" bIns="0" rtlCol="0" anchor="t">
              <a:spAutoFit/>
            </a:bodyPr>
            <a:lstStyle/>
            <a:p>
              <a:pPr algn="ctr">
                <a:lnSpc>
                  <a:spcPts val="6631"/>
                </a:lnSpc>
              </a:pPr>
              <a:r>
                <a:rPr lang="en-US" sz="6438" b="1" dirty="0">
                  <a:solidFill>
                    <a:srgbClr val="000000"/>
                  </a:solidFill>
                  <a:latin typeface="Neue Machina Ultra-Bold"/>
                  <a:ea typeface="Neue Machina Ultra-Bold"/>
                  <a:cs typeface="Neue Machina Ultra-Bold"/>
                  <a:sym typeface="Neue Machina Ultra-Bold"/>
                </a:rPr>
                <a:t>ARCHITECTURE LOGICIELLE</a:t>
              </a:r>
            </a:p>
          </p:txBody>
        </p:sp>
      </p:grpSp>
      <p:sp>
        <p:nvSpPr>
          <p:cNvPr id="28" name="TextBox 5">
            <a:extLst>
              <a:ext uri="{FF2B5EF4-FFF2-40B4-BE49-F238E27FC236}">
                <a16:creationId xmlns:a16="http://schemas.microsoft.com/office/drawing/2014/main" id="{C20DB199-2F93-61CF-91F1-64AF61543621}"/>
              </a:ext>
            </a:extLst>
          </p:cNvPr>
          <p:cNvSpPr txBox="1"/>
          <p:nvPr/>
        </p:nvSpPr>
        <p:spPr>
          <a:xfrm>
            <a:off x="2969804" y="2255956"/>
            <a:ext cx="12954000" cy="3387954"/>
          </a:xfrm>
          <a:prstGeom prst="rect">
            <a:avLst/>
          </a:prstGeom>
        </p:spPr>
        <p:txBody>
          <a:bodyPr lIns="57533" tIns="57533" rIns="57533" bIns="57533" rtlCol="0" anchor="ctr"/>
          <a:lstStyle/>
          <a:p>
            <a:pPr algn="ctr">
              <a:lnSpc>
                <a:spcPts val="2660"/>
              </a:lnSpc>
              <a:spcBef>
                <a:spcPct val="0"/>
              </a:spcBef>
            </a:pPr>
            <a:endParaRPr/>
          </a:p>
        </p:txBody>
      </p:sp>
      <p:sp>
        <p:nvSpPr>
          <p:cNvPr id="29" name="TextBox 5">
            <a:extLst>
              <a:ext uri="{FF2B5EF4-FFF2-40B4-BE49-F238E27FC236}">
                <a16:creationId xmlns:a16="http://schemas.microsoft.com/office/drawing/2014/main" id="{4E0FB133-B114-F489-7656-60490E38FA5C}"/>
              </a:ext>
            </a:extLst>
          </p:cNvPr>
          <p:cNvSpPr txBox="1"/>
          <p:nvPr/>
        </p:nvSpPr>
        <p:spPr>
          <a:xfrm>
            <a:off x="8441374" y="5421271"/>
            <a:ext cx="10506320" cy="1638084"/>
          </a:xfrm>
          <a:prstGeom prst="rect">
            <a:avLst/>
          </a:prstGeom>
        </p:spPr>
        <p:txBody>
          <a:bodyPr lIns="57533" tIns="57533" rIns="57533" bIns="57533" rtlCol="0" anchor="ctr"/>
          <a:lstStyle/>
          <a:p>
            <a:pPr algn="ctr">
              <a:lnSpc>
                <a:spcPts val="2660"/>
              </a:lnSpc>
              <a:spcBef>
                <a:spcPct val="0"/>
              </a:spcBef>
            </a:pPr>
            <a:endParaRPr sz="3200"/>
          </a:p>
        </p:txBody>
      </p:sp>
      <p:sp>
        <p:nvSpPr>
          <p:cNvPr id="30" name="TextBox 7">
            <a:extLst>
              <a:ext uri="{FF2B5EF4-FFF2-40B4-BE49-F238E27FC236}">
                <a16:creationId xmlns:a16="http://schemas.microsoft.com/office/drawing/2014/main" id="{25A22BC9-CE88-DB36-56B9-4FBE6A68C97E}"/>
              </a:ext>
            </a:extLst>
          </p:cNvPr>
          <p:cNvSpPr txBox="1"/>
          <p:nvPr/>
        </p:nvSpPr>
        <p:spPr>
          <a:xfrm>
            <a:off x="152401" y="5506402"/>
            <a:ext cx="10134600" cy="736292"/>
          </a:xfrm>
          <a:prstGeom prst="rect">
            <a:avLst/>
          </a:prstGeom>
        </p:spPr>
        <p:txBody>
          <a:bodyPr wrap="square" lIns="0" tIns="0" rIns="0" bIns="0" rtlCol="0" anchor="t">
            <a:spAutoFit/>
          </a:bodyPr>
          <a:lstStyle/>
          <a:p>
            <a:pPr algn="ctr">
              <a:lnSpc>
                <a:spcPts val="6631"/>
              </a:lnSpc>
            </a:pPr>
            <a:r>
              <a:rPr lang="fr-FR" sz="3200" b="1" dirty="0">
                <a:solidFill>
                  <a:srgbClr val="000000"/>
                </a:solidFill>
                <a:latin typeface="Neue Machina Ultra-Bold"/>
                <a:ea typeface="Neue Machina Ultra-Bold"/>
                <a:cs typeface="Neue Machina Ultra-Bold"/>
                <a:sym typeface="Neue Machina Ultra-Bold"/>
              </a:rPr>
              <a:t>Année académique : 2025-2026</a:t>
            </a:r>
            <a:endParaRPr lang="en-US" sz="3200" b="1" dirty="0">
              <a:solidFill>
                <a:srgbClr val="000000"/>
              </a:solidFill>
              <a:latin typeface="Neue Machina Ultra-Bold"/>
              <a:ea typeface="Neue Machina Ultra-Bold"/>
              <a:cs typeface="Neue Machina Ultra-Bold"/>
              <a:sym typeface="Neue Machina Ultra-Bold"/>
            </a:endParaRPr>
          </a:p>
        </p:txBody>
      </p:sp>
      <p:sp>
        <p:nvSpPr>
          <p:cNvPr id="31" name="TextBox 7">
            <a:extLst>
              <a:ext uri="{FF2B5EF4-FFF2-40B4-BE49-F238E27FC236}">
                <a16:creationId xmlns:a16="http://schemas.microsoft.com/office/drawing/2014/main" id="{B8AEE60E-4F53-C0D7-E7F0-FC2786522B8B}"/>
              </a:ext>
            </a:extLst>
          </p:cNvPr>
          <p:cNvSpPr txBox="1"/>
          <p:nvPr/>
        </p:nvSpPr>
        <p:spPr>
          <a:xfrm>
            <a:off x="1089336" y="6277257"/>
            <a:ext cx="8433613" cy="736292"/>
          </a:xfrm>
          <a:prstGeom prst="rect">
            <a:avLst/>
          </a:prstGeom>
        </p:spPr>
        <p:txBody>
          <a:bodyPr wrap="square" lIns="0" tIns="0" rIns="0" bIns="0" rtlCol="0" anchor="t">
            <a:spAutoFit/>
          </a:bodyPr>
          <a:lstStyle/>
          <a:p>
            <a:pPr algn="ctr">
              <a:lnSpc>
                <a:spcPts val="6631"/>
              </a:lnSpc>
            </a:pPr>
            <a:r>
              <a:rPr lang="fr-FR" sz="3200" b="1" dirty="0">
                <a:solidFill>
                  <a:srgbClr val="000000"/>
                </a:solidFill>
                <a:latin typeface="Neue Machina Ultra-Bold"/>
                <a:ea typeface="Neue Machina Ultra-Bold"/>
                <a:cs typeface="Neue Machina Ultra-Bold"/>
                <a:sym typeface="Neue Machina Ultra-Bold"/>
              </a:rPr>
              <a:t>Enseignent : Alassane DIEDHIOU</a:t>
            </a:r>
            <a:endParaRPr lang="en-US" sz="3200" b="1" dirty="0">
              <a:solidFill>
                <a:srgbClr val="000000"/>
              </a:solidFill>
              <a:latin typeface="Neue Machina Ultra-Bold"/>
              <a:ea typeface="Neue Machina Ultra-Bold"/>
              <a:cs typeface="Neue Machina Ultra-Bold"/>
              <a:sym typeface="Neue Machina Ultra-Bold"/>
            </a:endParaRPr>
          </a:p>
        </p:txBody>
      </p:sp>
      <p:sp>
        <p:nvSpPr>
          <p:cNvPr id="32" name="ZoneTexte 31">
            <a:extLst>
              <a:ext uri="{FF2B5EF4-FFF2-40B4-BE49-F238E27FC236}">
                <a16:creationId xmlns:a16="http://schemas.microsoft.com/office/drawing/2014/main" id="{81D7C4D9-C76A-D0E0-A299-48B43FDA7EAE}"/>
              </a:ext>
            </a:extLst>
          </p:cNvPr>
          <p:cNvSpPr txBox="1"/>
          <p:nvPr/>
        </p:nvSpPr>
        <p:spPr>
          <a:xfrm>
            <a:off x="9550400" y="6629400"/>
            <a:ext cx="184731" cy="369332"/>
          </a:xfrm>
          <a:prstGeom prst="rect">
            <a:avLst/>
          </a:prstGeom>
          <a:noFill/>
        </p:spPr>
        <p:txBody>
          <a:bodyPr wrap="none" rtlCol="0">
            <a:spAutoFit/>
          </a:bodyPr>
          <a:lstStyle/>
          <a:p>
            <a:endParaRPr lang="fr-FR" dirty="0"/>
          </a:p>
        </p:txBody>
      </p:sp>
      <p:sp>
        <p:nvSpPr>
          <p:cNvPr id="34" name="ZoneTexte 33">
            <a:extLst>
              <a:ext uri="{FF2B5EF4-FFF2-40B4-BE49-F238E27FC236}">
                <a16:creationId xmlns:a16="http://schemas.microsoft.com/office/drawing/2014/main" id="{DB88B186-CBAD-BA6C-D7C7-5AE849182787}"/>
              </a:ext>
            </a:extLst>
          </p:cNvPr>
          <p:cNvSpPr txBox="1"/>
          <p:nvPr/>
        </p:nvSpPr>
        <p:spPr>
          <a:xfrm>
            <a:off x="1971775" y="4211490"/>
            <a:ext cx="12992007" cy="1032527"/>
          </a:xfrm>
          <a:prstGeom prst="rect">
            <a:avLst/>
          </a:prstGeom>
          <a:noFill/>
        </p:spPr>
        <p:txBody>
          <a:bodyPr wrap="square">
            <a:spAutoFit/>
          </a:bodyPr>
          <a:lstStyle/>
          <a:p>
            <a:pPr marL="2487295" marR="2028825" indent="-768985">
              <a:lnSpc>
                <a:spcPct val="200000"/>
              </a:lnSpc>
              <a:spcBef>
                <a:spcPts val="450"/>
              </a:spcBef>
              <a:buNone/>
            </a:pPr>
            <a:r>
              <a:rPr lang="fr-FR" sz="3600" b="1" dirty="0">
                <a:effectLst/>
                <a:latin typeface="Bookman Old Style" panose="02050604050505020204" pitchFamily="18" charset="0"/>
                <a:ea typeface="Bookman Old Style" panose="02050604050505020204" pitchFamily="18" charset="0"/>
                <a:cs typeface="Bookman Old Style" panose="02050604050505020204" pitchFamily="18" charset="0"/>
              </a:rPr>
              <a:t>Université Assane Seck de Ziguinchor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a:extLst>
            <a:ext uri="{FF2B5EF4-FFF2-40B4-BE49-F238E27FC236}">
              <a16:creationId xmlns:a16="http://schemas.microsoft.com/office/drawing/2014/main" id="{D7C21CF7-DC55-46E1-5CA5-3179262D7BF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6DB1A8-CFCA-F1C7-2877-A406AEC7BF14}"/>
              </a:ext>
            </a:extLst>
          </p:cNvPr>
          <p:cNvSpPr/>
          <p:nvPr/>
        </p:nvSpPr>
        <p:spPr>
          <a:xfrm rot="-7160485">
            <a:off x="13419555" y="4654397"/>
            <a:ext cx="6728545" cy="6403217"/>
          </a:xfrm>
          <a:custGeom>
            <a:avLst/>
            <a:gdLst/>
            <a:ahLst/>
            <a:cxnLst/>
            <a:rect l="l" t="t" r="r" b="b"/>
            <a:pathLst>
              <a:path w="6728545" h="6403217">
                <a:moveTo>
                  <a:pt x="0" y="0"/>
                </a:moveTo>
                <a:lnTo>
                  <a:pt x="6728545" y="0"/>
                </a:lnTo>
                <a:lnTo>
                  <a:pt x="6728545" y="6403217"/>
                </a:lnTo>
                <a:lnTo>
                  <a:pt x="0" y="64032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a:extLst>
              <a:ext uri="{FF2B5EF4-FFF2-40B4-BE49-F238E27FC236}">
                <a16:creationId xmlns:a16="http://schemas.microsoft.com/office/drawing/2014/main" id="{BB79B9AF-037B-415F-1769-71E9F9C80F58}"/>
              </a:ext>
            </a:extLst>
          </p:cNvPr>
          <p:cNvSpPr/>
          <p:nvPr/>
        </p:nvSpPr>
        <p:spPr>
          <a:xfrm rot="3206933">
            <a:off x="-4984565" y="1515579"/>
            <a:ext cx="11239071" cy="9067998"/>
          </a:xfrm>
          <a:custGeom>
            <a:avLst/>
            <a:gdLst/>
            <a:ahLst/>
            <a:cxnLst/>
            <a:rect l="l" t="t" r="r" b="b"/>
            <a:pathLst>
              <a:path w="11239071" h="9067998">
                <a:moveTo>
                  <a:pt x="0" y="0"/>
                </a:moveTo>
                <a:lnTo>
                  <a:pt x="11239072" y="0"/>
                </a:lnTo>
                <a:lnTo>
                  <a:pt x="11239072" y="9067998"/>
                </a:lnTo>
                <a:lnTo>
                  <a:pt x="0" y="90679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6" name="Groupe 25">
            <a:extLst>
              <a:ext uri="{FF2B5EF4-FFF2-40B4-BE49-F238E27FC236}">
                <a16:creationId xmlns:a16="http://schemas.microsoft.com/office/drawing/2014/main" id="{6D21AA33-2954-82F5-C44D-2E6AEAF72A39}"/>
              </a:ext>
            </a:extLst>
          </p:cNvPr>
          <p:cNvGrpSpPr/>
          <p:nvPr/>
        </p:nvGrpSpPr>
        <p:grpSpPr>
          <a:xfrm>
            <a:off x="1761136" y="2515906"/>
            <a:ext cx="15379234" cy="6165727"/>
            <a:chOff x="2063940" y="2521349"/>
            <a:chExt cx="15379234" cy="3387954"/>
          </a:xfrm>
        </p:grpSpPr>
        <p:grpSp>
          <p:nvGrpSpPr>
            <p:cNvPr id="3" name="Group 3">
              <a:extLst>
                <a:ext uri="{FF2B5EF4-FFF2-40B4-BE49-F238E27FC236}">
                  <a16:creationId xmlns:a16="http://schemas.microsoft.com/office/drawing/2014/main" id="{04FCAD20-29C7-6A91-17C6-F6DCCB37F3A9}"/>
                </a:ext>
              </a:extLst>
            </p:cNvPr>
            <p:cNvGrpSpPr/>
            <p:nvPr/>
          </p:nvGrpSpPr>
          <p:grpSpPr>
            <a:xfrm>
              <a:off x="2063940" y="2521349"/>
              <a:ext cx="15379234" cy="3387954"/>
              <a:chOff x="-112652" y="-38100"/>
              <a:chExt cx="2872849" cy="787881"/>
            </a:xfrm>
          </p:grpSpPr>
          <p:sp>
            <p:nvSpPr>
              <p:cNvPr id="4" name="Freeform 4">
                <a:extLst>
                  <a:ext uri="{FF2B5EF4-FFF2-40B4-BE49-F238E27FC236}">
                    <a16:creationId xmlns:a16="http://schemas.microsoft.com/office/drawing/2014/main" id="{675F9A54-B643-16B2-83C1-E0B071A02EAD}"/>
                  </a:ext>
                </a:extLst>
              </p:cNvPr>
              <p:cNvSpPr/>
              <p:nvPr/>
            </p:nvSpPr>
            <p:spPr>
              <a:xfrm>
                <a:off x="-112652" y="0"/>
                <a:ext cx="2872849" cy="749781"/>
              </a:xfrm>
              <a:custGeom>
                <a:avLst/>
                <a:gdLst/>
                <a:ahLst/>
                <a:cxnLst/>
                <a:rect l="l" t="t" r="r" b="b"/>
                <a:pathLst>
                  <a:path w="2419814" h="749781">
                    <a:moveTo>
                      <a:pt x="0" y="0"/>
                    </a:moveTo>
                    <a:lnTo>
                      <a:pt x="2419814" y="0"/>
                    </a:lnTo>
                    <a:lnTo>
                      <a:pt x="2419814" y="749781"/>
                    </a:lnTo>
                    <a:lnTo>
                      <a:pt x="0" y="749781"/>
                    </a:lnTo>
                    <a:close/>
                  </a:path>
                </a:pathLst>
              </a:custGeom>
              <a:solidFill>
                <a:srgbClr val="FFFFFF"/>
              </a:solidFill>
              <a:ln w="28575" cap="sq">
                <a:solidFill>
                  <a:srgbClr val="000000"/>
                </a:solidFill>
                <a:prstDash val="solid"/>
                <a:miter/>
              </a:ln>
            </p:spPr>
            <p:txBody>
              <a:bodyPr/>
              <a:lstStyle/>
              <a:p>
                <a:endParaRPr lang="fr-FR" dirty="0"/>
              </a:p>
            </p:txBody>
          </p:sp>
          <p:sp>
            <p:nvSpPr>
              <p:cNvPr id="5" name="TextBox 5">
                <a:extLst>
                  <a:ext uri="{FF2B5EF4-FFF2-40B4-BE49-F238E27FC236}">
                    <a16:creationId xmlns:a16="http://schemas.microsoft.com/office/drawing/2014/main" id="{10425028-2987-5467-142D-746E523B0B60}"/>
                  </a:ext>
                </a:extLst>
              </p:cNvPr>
              <p:cNvSpPr txBox="1"/>
              <p:nvPr/>
            </p:nvSpPr>
            <p:spPr>
              <a:xfrm>
                <a:off x="0" y="-38100"/>
                <a:ext cx="2419814" cy="787881"/>
              </a:xfrm>
              <a:prstGeom prst="rect">
                <a:avLst/>
              </a:prstGeom>
            </p:spPr>
            <p:txBody>
              <a:bodyPr lIns="57533" tIns="57533" rIns="57533" bIns="57533" rtlCol="0" anchor="ctr"/>
              <a:lstStyle/>
              <a:p>
                <a:pPr algn="ctr">
                  <a:lnSpc>
                    <a:spcPts val="2660"/>
                  </a:lnSpc>
                  <a:spcBef>
                    <a:spcPct val="0"/>
                  </a:spcBef>
                </a:pPr>
                <a:endParaRPr/>
              </a:p>
            </p:txBody>
          </p:sp>
        </p:grpSp>
        <p:sp>
          <p:nvSpPr>
            <p:cNvPr id="7" name="TextBox 7">
              <a:extLst>
                <a:ext uri="{FF2B5EF4-FFF2-40B4-BE49-F238E27FC236}">
                  <a16:creationId xmlns:a16="http://schemas.microsoft.com/office/drawing/2014/main" id="{018DBED9-4604-298A-136E-36262216571B}"/>
                </a:ext>
              </a:extLst>
            </p:cNvPr>
            <p:cNvSpPr txBox="1"/>
            <p:nvPr/>
          </p:nvSpPr>
          <p:spPr>
            <a:xfrm>
              <a:off x="3200400" y="3578395"/>
              <a:ext cx="12656680" cy="1338319"/>
            </a:xfrm>
            <a:prstGeom prst="rect">
              <a:avLst/>
            </a:prstGeom>
          </p:spPr>
          <p:txBody>
            <a:bodyPr wrap="square" lIns="0" tIns="0" rIns="0" bIns="0" rtlCol="0" anchor="t">
              <a:spAutoFit/>
            </a:bodyPr>
            <a:lstStyle/>
            <a:p>
              <a:pPr>
                <a:lnSpc>
                  <a:spcPts val="4622"/>
                </a:lnSpc>
              </a:pPr>
              <a:r>
                <a:rPr lang="fr-FR" sz="6600" b="1" dirty="0">
                  <a:sym typeface="Akzidenz-Grotesk"/>
                </a:rPr>
                <a:t>ARCHITECTURE MONOLITHIQUE ET </a:t>
              </a:r>
            </a:p>
            <a:p>
              <a:pPr>
                <a:lnSpc>
                  <a:spcPts val="4622"/>
                </a:lnSpc>
              </a:pPr>
              <a:endParaRPr lang="fr-FR" sz="6600" b="1" dirty="0">
                <a:sym typeface="Akzidenz-Grotesk"/>
              </a:endParaRPr>
            </a:p>
            <a:p>
              <a:pPr>
                <a:lnSpc>
                  <a:spcPts val="4622"/>
                </a:lnSpc>
              </a:pPr>
              <a:endParaRPr lang="fr-FR" sz="6600" b="1" dirty="0">
                <a:sym typeface="Akzidenz-Grotesk"/>
              </a:endParaRPr>
            </a:p>
            <a:p>
              <a:pPr algn="ctr">
                <a:lnSpc>
                  <a:spcPts val="4622"/>
                </a:lnSpc>
              </a:pPr>
              <a:r>
                <a:rPr lang="fr-FR" sz="6600" b="1" dirty="0">
                  <a:sym typeface="Akzidenz-Grotesk"/>
                </a:rPr>
                <a:t>MICRO SERVICES</a:t>
              </a:r>
              <a:endParaRPr lang="en-US" sz="6600" b="1" dirty="0">
                <a:sym typeface="Akzidenz-Grotesk"/>
              </a:endParaRPr>
            </a:p>
          </p:txBody>
        </p:sp>
      </p:grpSp>
      <p:sp>
        <p:nvSpPr>
          <p:cNvPr id="12" name="ZoneTexte 11">
            <a:extLst>
              <a:ext uri="{FF2B5EF4-FFF2-40B4-BE49-F238E27FC236}">
                <a16:creationId xmlns:a16="http://schemas.microsoft.com/office/drawing/2014/main" id="{58C51BA5-6400-0B6A-FDC9-BDE1E0F4C5FC}"/>
              </a:ext>
            </a:extLst>
          </p:cNvPr>
          <p:cNvSpPr txBox="1"/>
          <p:nvPr/>
        </p:nvSpPr>
        <p:spPr>
          <a:xfrm>
            <a:off x="17961429" y="762000"/>
            <a:ext cx="184731" cy="369332"/>
          </a:xfrm>
          <a:prstGeom prst="rect">
            <a:avLst/>
          </a:prstGeom>
          <a:noFill/>
        </p:spPr>
        <p:txBody>
          <a:bodyPr wrap="none" rtlCol="0">
            <a:spAutoFit/>
          </a:bodyPr>
          <a:lstStyle/>
          <a:p>
            <a:endParaRPr lang="fr-FR" dirty="0"/>
          </a:p>
        </p:txBody>
      </p:sp>
      <p:sp>
        <p:nvSpPr>
          <p:cNvPr id="13" name="ZoneTexte 12">
            <a:extLst>
              <a:ext uri="{FF2B5EF4-FFF2-40B4-BE49-F238E27FC236}">
                <a16:creationId xmlns:a16="http://schemas.microsoft.com/office/drawing/2014/main" id="{C37722BD-CA21-0C4C-5836-3DE4D872122B}"/>
              </a:ext>
            </a:extLst>
          </p:cNvPr>
          <p:cNvSpPr txBox="1"/>
          <p:nvPr/>
        </p:nvSpPr>
        <p:spPr>
          <a:xfrm>
            <a:off x="10938933" y="6468533"/>
            <a:ext cx="184731" cy="369332"/>
          </a:xfrm>
          <a:prstGeom prst="rect">
            <a:avLst/>
          </a:prstGeom>
          <a:solidFill>
            <a:schemeClr val="accent3">
              <a:lumMod val="40000"/>
              <a:lumOff val="60000"/>
            </a:schemeClr>
          </a:solidFill>
        </p:spPr>
        <p:txBody>
          <a:bodyPr wrap="none" rtlCol="0">
            <a:spAutoFit/>
          </a:bodyPr>
          <a:lstStyle/>
          <a:p>
            <a:endParaRPr lang="fr-FR" dirty="0"/>
          </a:p>
        </p:txBody>
      </p:sp>
      <p:pic>
        <p:nvPicPr>
          <p:cNvPr id="2050" name="Picture 2" descr="universite-assane-seck-zig-5af59 - Wincom">
            <a:extLst>
              <a:ext uri="{FF2B5EF4-FFF2-40B4-BE49-F238E27FC236}">
                <a16:creationId xmlns:a16="http://schemas.microsoft.com/office/drawing/2014/main" id="{98F3102A-6725-2AC8-A19C-5CC4174143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20100" y="249824"/>
            <a:ext cx="2857500" cy="226608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5">
            <a:extLst>
              <a:ext uri="{FF2B5EF4-FFF2-40B4-BE49-F238E27FC236}">
                <a16:creationId xmlns:a16="http://schemas.microsoft.com/office/drawing/2014/main" id="{07F38206-B494-57AA-C683-0A16F0AB44A5}"/>
              </a:ext>
            </a:extLst>
          </p:cNvPr>
          <p:cNvSpPr txBox="1"/>
          <p:nvPr/>
        </p:nvSpPr>
        <p:spPr>
          <a:xfrm>
            <a:off x="2973753" y="1823809"/>
            <a:ext cx="12954000" cy="3387954"/>
          </a:xfrm>
          <a:prstGeom prst="rect">
            <a:avLst/>
          </a:prstGeom>
        </p:spPr>
        <p:txBody>
          <a:bodyPr lIns="57533" tIns="57533" rIns="57533" bIns="57533" rtlCol="0" anchor="ctr"/>
          <a:lstStyle/>
          <a:p>
            <a:pPr algn="ctr">
              <a:lnSpc>
                <a:spcPts val="2660"/>
              </a:lnSpc>
              <a:spcBef>
                <a:spcPct val="0"/>
              </a:spcBef>
            </a:pPr>
            <a:endParaRPr/>
          </a:p>
        </p:txBody>
      </p:sp>
    </p:spTree>
    <p:extLst>
      <p:ext uri="{BB962C8B-B14F-4D97-AF65-F5344CB8AC3E}">
        <p14:creationId xmlns:p14="http://schemas.microsoft.com/office/powerpoint/2010/main" val="1385862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1677453" y="2260420"/>
            <a:ext cx="14922638" cy="8467362"/>
            <a:chOff x="0" y="0"/>
            <a:chExt cx="2375755" cy="2230087"/>
          </a:xfrm>
        </p:grpSpPr>
        <p:sp>
          <p:nvSpPr>
            <p:cNvPr id="3" name="Freeform 3"/>
            <p:cNvSpPr/>
            <p:nvPr/>
          </p:nvSpPr>
          <p:spPr>
            <a:xfrm>
              <a:off x="0" y="0"/>
              <a:ext cx="2375755" cy="2230087"/>
            </a:xfrm>
            <a:custGeom>
              <a:avLst/>
              <a:gdLst/>
              <a:ahLst/>
              <a:cxnLst/>
              <a:rect l="l" t="t" r="r" b="b"/>
              <a:pathLst>
                <a:path w="2375755" h="2230087">
                  <a:moveTo>
                    <a:pt x="0" y="0"/>
                  </a:moveTo>
                  <a:lnTo>
                    <a:pt x="2375755" y="0"/>
                  </a:lnTo>
                  <a:lnTo>
                    <a:pt x="2375755" y="2230087"/>
                  </a:lnTo>
                  <a:lnTo>
                    <a:pt x="0" y="2230087"/>
                  </a:lnTo>
                  <a:close/>
                </a:path>
              </a:pathLst>
            </a:custGeom>
            <a:solidFill>
              <a:srgbClr val="FFFFFF"/>
            </a:solidFill>
            <a:ln w="9525" cap="sq">
              <a:solidFill>
                <a:srgbClr val="000000"/>
              </a:solidFill>
              <a:prstDash val="solid"/>
              <a:miter/>
            </a:ln>
          </p:spPr>
          <p:txBody>
            <a:bodyPr/>
            <a:lstStyle/>
            <a:p>
              <a:endParaRPr lang="fr-FR" dirty="0"/>
            </a:p>
          </p:txBody>
        </p:sp>
        <p:sp>
          <p:nvSpPr>
            <p:cNvPr id="4" name="TextBox 4"/>
            <p:cNvSpPr txBox="1"/>
            <p:nvPr/>
          </p:nvSpPr>
          <p:spPr>
            <a:xfrm>
              <a:off x="0" y="-38100"/>
              <a:ext cx="2375755" cy="2268187"/>
            </a:xfrm>
            <a:prstGeom prst="rect">
              <a:avLst/>
            </a:prstGeom>
          </p:spPr>
          <p:txBody>
            <a:bodyPr lIns="50800" tIns="50800" rIns="50800" bIns="50800" rtlCol="0" anchor="ctr"/>
            <a:lstStyle/>
            <a:p>
              <a:pPr algn="ctr">
                <a:lnSpc>
                  <a:spcPts val="2348"/>
                </a:lnSpc>
              </a:pPr>
              <a:endParaRPr/>
            </a:p>
          </p:txBody>
        </p:sp>
      </p:grpSp>
      <p:sp>
        <p:nvSpPr>
          <p:cNvPr id="5" name="Freeform 5"/>
          <p:cNvSpPr/>
          <p:nvPr/>
        </p:nvSpPr>
        <p:spPr>
          <a:xfrm rot="-1934702">
            <a:off x="-2190131" y="310559"/>
            <a:ext cx="6320501" cy="4391725"/>
          </a:xfrm>
          <a:custGeom>
            <a:avLst/>
            <a:gdLst/>
            <a:ahLst/>
            <a:cxnLst/>
            <a:rect l="l" t="t" r="r" b="b"/>
            <a:pathLst>
              <a:path w="6320501" h="4391725">
                <a:moveTo>
                  <a:pt x="0" y="0"/>
                </a:moveTo>
                <a:lnTo>
                  <a:pt x="6320502" y="0"/>
                </a:lnTo>
                <a:lnTo>
                  <a:pt x="6320502" y="4391725"/>
                </a:lnTo>
                <a:lnTo>
                  <a:pt x="0" y="43917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5257800" y="622019"/>
            <a:ext cx="6819588" cy="954078"/>
          </a:xfrm>
          <a:prstGeom prst="rect">
            <a:avLst/>
          </a:prstGeom>
        </p:spPr>
        <p:txBody>
          <a:bodyPr lIns="0" tIns="0" rIns="0" bIns="0" rtlCol="0" anchor="t">
            <a:spAutoFit/>
          </a:bodyPr>
          <a:lstStyle/>
          <a:p>
            <a:pPr algn="ctr">
              <a:lnSpc>
                <a:spcPts val="7361"/>
              </a:lnSpc>
            </a:pPr>
            <a:r>
              <a:rPr lang="en-US" sz="6457" b="1" dirty="0">
                <a:solidFill>
                  <a:srgbClr val="000000"/>
                </a:solidFill>
                <a:latin typeface="Neue Machina Ultra-Bold"/>
                <a:ea typeface="Neue Machina Ultra-Bold"/>
                <a:cs typeface="Neue Machina Ultra-Bold"/>
                <a:sym typeface="Neue Machina Ultra-Bold"/>
              </a:rPr>
              <a:t>SOMMAIRE</a:t>
            </a:r>
          </a:p>
        </p:txBody>
      </p:sp>
      <p:sp>
        <p:nvSpPr>
          <p:cNvPr id="7" name="TextBox 7"/>
          <p:cNvSpPr txBox="1"/>
          <p:nvPr/>
        </p:nvSpPr>
        <p:spPr>
          <a:xfrm>
            <a:off x="3387412" y="3622584"/>
            <a:ext cx="12107435"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 DEFINITION L’ARCHITECURE LOGICIEL</a:t>
            </a:r>
            <a:endParaRPr lang="en-US" sz="3302" dirty="0">
              <a:solidFill>
                <a:srgbClr val="000000"/>
              </a:solidFill>
              <a:latin typeface="Akzidenz-Grotesk"/>
              <a:sym typeface="Akzidenz-Grotesk"/>
            </a:endParaRPr>
          </a:p>
        </p:txBody>
      </p:sp>
      <p:sp>
        <p:nvSpPr>
          <p:cNvPr id="8" name="TextBox 8"/>
          <p:cNvSpPr txBox="1"/>
          <p:nvPr/>
        </p:nvSpPr>
        <p:spPr>
          <a:xfrm>
            <a:off x="2819400" y="4433640"/>
            <a:ext cx="8981144"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ARCHITECTURE LOGICIEL MONOLITHIQUE</a:t>
            </a:r>
            <a:endParaRPr lang="en-US" sz="3302" dirty="0">
              <a:solidFill>
                <a:srgbClr val="000000"/>
              </a:solidFill>
              <a:latin typeface="Akzidenz-Grotesk"/>
              <a:sym typeface="Akzidenz-Grotesk"/>
            </a:endParaRPr>
          </a:p>
        </p:txBody>
      </p:sp>
      <p:grpSp>
        <p:nvGrpSpPr>
          <p:cNvPr id="11" name="Group 11"/>
          <p:cNvGrpSpPr/>
          <p:nvPr/>
        </p:nvGrpSpPr>
        <p:grpSpPr>
          <a:xfrm>
            <a:off x="2971800" y="3597663"/>
            <a:ext cx="458606" cy="521553"/>
            <a:chOff x="0" y="-79801"/>
            <a:chExt cx="611475" cy="695404"/>
          </a:xfrm>
        </p:grpSpPr>
        <p:grpSp>
          <p:nvGrpSpPr>
            <p:cNvPr id="12" name="Group 12"/>
            <p:cNvGrpSpPr/>
            <p:nvPr/>
          </p:nvGrpSpPr>
          <p:grpSpPr>
            <a:xfrm>
              <a:off x="0" y="0"/>
              <a:ext cx="611475" cy="610136"/>
              <a:chOff x="0" y="0"/>
              <a:chExt cx="900098" cy="898127"/>
            </a:xfrm>
          </p:grpSpPr>
          <p:sp>
            <p:nvSpPr>
              <p:cNvPr id="13" name="Freeform 13"/>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14" name="TextBox 14"/>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15" name="TextBox 15"/>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1</a:t>
              </a:r>
            </a:p>
          </p:txBody>
        </p:sp>
      </p:grpSp>
      <p:grpSp>
        <p:nvGrpSpPr>
          <p:cNvPr id="19" name="Group 19"/>
          <p:cNvGrpSpPr/>
          <p:nvPr/>
        </p:nvGrpSpPr>
        <p:grpSpPr>
          <a:xfrm>
            <a:off x="2133600" y="4469547"/>
            <a:ext cx="458606" cy="521553"/>
            <a:chOff x="0" y="-79801"/>
            <a:chExt cx="611475" cy="695404"/>
          </a:xfrm>
        </p:grpSpPr>
        <p:grpSp>
          <p:nvGrpSpPr>
            <p:cNvPr id="20" name="Group 20"/>
            <p:cNvGrpSpPr/>
            <p:nvPr/>
          </p:nvGrpSpPr>
          <p:grpSpPr>
            <a:xfrm>
              <a:off x="0" y="0"/>
              <a:ext cx="611475" cy="610136"/>
              <a:chOff x="0" y="0"/>
              <a:chExt cx="900098" cy="898127"/>
            </a:xfrm>
          </p:grpSpPr>
          <p:sp>
            <p:nvSpPr>
              <p:cNvPr id="21" name="Freeform 21"/>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22" name="TextBox 22"/>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23" name="TextBox 23"/>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2</a:t>
              </a:r>
            </a:p>
          </p:txBody>
        </p:sp>
      </p:grpSp>
      <p:grpSp>
        <p:nvGrpSpPr>
          <p:cNvPr id="24" name="Group 24"/>
          <p:cNvGrpSpPr/>
          <p:nvPr/>
        </p:nvGrpSpPr>
        <p:grpSpPr>
          <a:xfrm>
            <a:off x="2132194" y="5307747"/>
            <a:ext cx="458606" cy="521553"/>
            <a:chOff x="0" y="-79801"/>
            <a:chExt cx="611475" cy="695404"/>
          </a:xfrm>
        </p:grpSpPr>
        <p:grpSp>
          <p:nvGrpSpPr>
            <p:cNvPr id="25" name="Group 25"/>
            <p:cNvGrpSpPr/>
            <p:nvPr/>
          </p:nvGrpSpPr>
          <p:grpSpPr>
            <a:xfrm>
              <a:off x="0" y="0"/>
              <a:ext cx="611475" cy="610136"/>
              <a:chOff x="0" y="0"/>
              <a:chExt cx="900098" cy="898127"/>
            </a:xfrm>
          </p:grpSpPr>
          <p:sp>
            <p:nvSpPr>
              <p:cNvPr id="26" name="Freeform 26"/>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27" name="TextBox 27"/>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28" name="TextBox 28"/>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3</a:t>
              </a:r>
            </a:p>
          </p:txBody>
        </p:sp>
      </p:grpSp>
      <p:grpSp>
        <p:nvGrpSpPr>
          <p:cNvPr id="29" name="Group 29"/>
          <p:cNvGrpSpPr/>
          <p:nvPr/>
        </p:nvGrpSpPr>
        <p:grpSpPr>
          <a:xfrm>
            <a:off x="2132194" y="6145947"/>
            <a:ext cx="458606" cy="521553"/>
            <a:chOff x="0" y="-79801"/>
            <a:chExt cx="611475" cy="695404"/>
          </a:xfrm>
        </p:grpSpPr>
        <p:grpSp>
          <p:nvGrpSpPr>
            <p:cNvPr id="30" name="Group 30"/>
            <p:cNvGrpSpPr/>
            <p:nvPr/>
          </p:nvGrpSpPr>
          <p:grpSpPr>
            <a:xfrm>
              <a:off x="0" y="0"/>
              <a:ext cx="611475" cy="610136"/>
              <a:chOff x="0" y="0"/>
              <a:chExt cx="900098" cy="898127"/>
            </a:xfrm>
          </p:grpSpPr>
          <p:sp>
            <p:nvSpPr>
              <p:cNvPr id="31" name="Freeform 31"/>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32" name="TextBox 32"/>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33" name="TextBox 33"/>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4</a:t>
              </a:r>
            </a:p>
          </p:txBody>
        </p:sp>
      </p:grpSp>
      <p:sp>
        <p:nvSpPr>
          <p:cNvPr id="62" name="ZoneTexte 61">
            <a:extLst>
              <a:ext uri="{FF2B5EF4-FFF2-40B4-BE49-F238E27FC236}">
                <a16:creationId xmlns:a16="http://schemas.microsoft.com/office/drawing/2014/main" id="{B260E1D1-E371-37A4-922C-BDE71584821F}"/>
              </a:ext>
            </a:extLst>
          </p:cNvPr>
          <p:cNvSpPr txBox="1"/>
          <p:nvPr/>
        </p:nvSpPr>
        <p:spPr>
          <a:xfrm>
            <a:off x="17308286" y="4288971"/>
            <a:ext cx="184731" cy="36933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wrap="none" rtlCol="0">
            <a:spAutoFit/>
          </a:bodyPr>
          <a:lstStyle/>
          <a:p>
            <a:endParaRPr lang="fr-FR" dirty="0"/>
          </a:p>
        </p:txBody>
      </p:sp>
      <p:sp>
        <p:nvSpPr>
          <p:cNvPr id="49" name="TextBox 8">
            <a:extLst>
              <a:ext uri="{FF2B5EF4-FFF2-40B4-BE49-F238E27FC236}">
                <a16:creationId xmlns:a16="http://schemas.microsoft.com/office/drawing/2014/main" id="{BE8B374E-C35C-67D4-84FF-F48044105005}"/>
              </a:ext>
            </a:extLst>
          </p:cNvPr>
          <p:cNvSpPr txBox="1"/>
          <p:nvPr/>
        </p:nvSpPr>
        <p:spPr>
          <a:xfrm>
            <a:off x="2743200" y="5348040"/>
            <a:ext cx="13298198"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ARCHITECURE LOGICIEL MICRO SERVICES</a:t>
            </a:r>
            <a:endParaRPr lang="en-US" sz="3302" dirty="0">
              <a:solidFill>
                <a:srgbClr val="000000"/>
              </a:solidFill>
              <a:latin typeface="Akzidenz-Grotesk"/>
              <a:sym typeface="Akzidenz-Grotesk"/>
            </a:endParaRPr>
          </a:p>
        </p:txBody>
      </p:sp>
      <p:sp>
        <p:nvSpPr>
          <p:cNvPr id="50" name="TextBox 8">
            <a:extLst>
              <a:ext uri="{FF2B5EF4-FFF2-40B4-BE49-F238E27FC236}">
                <a16:creationId xmlns:a16="http://schemas.microsoft.com/office/drawing/2014/main" id="{0A6CFA2E-9D9A-152F-407A-2D2BCC3C13A7}"/>
              </a:ext>
            </a:extLst>
          </p:cNvPr>
          <p:cNvSpPr txBox="1"/>
          <p:nvPr/>
        </p:nvSpPr>
        <p:spPr>
          <a:xfrm>
            <a:off x="2743200" y="6110040"/>
            <a:ext cx="12337469"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COMPARAISON DES ARCHITECTURES</a:t>
            </a:r>
            <a:endParaRPr lang="en-US" sz="3302" dirty="0">
              <a:solidFill>
                <a:srgbClr val="000000"/>
              </a:solidFill>
              <a:latin typeface="Akzidenz-Grotesk"/>
              <a:sym typeface="Akzidenz-Grotesk"/>
            </a:endParaRPr>
          </a:p>
        </p:txBody>
      </p:sp>
      <p:grpSp>
        <p:nvGrpSpPr>
          <p:cNvPr id="9" name="Group 29">
            <a:extLst>
              <a:ext uri="{FF2B5EF4-FFF2-40B4-BE49-F238E27FC236}">
                <a16:creationId xmlns:a16="http://schemas.microsoft.com/office/drawing/2014/main" id="{EDD3B8AC-FE53-83CB-9291-CA670ED02B5D}"/>
              </a:ext>
            </a:extLst>
          </p:cNvPr>
          <p:cNvGrpSpPr/>
          <p:nvPr/>
        </p:nvGrpSpPr>
        <p:grpSpPr>
          <a:xfrm>
            <a:off x="2133600" y="6984147"/>
            <a:ext cx="458606" cy="521553"/>
            <a:chOff x="0" y="-79801"/>
            <a:chExt cx="611475" cy="695404"/>
          </a:xfrm>
        </p:grpSpPr>
        <p:grpSp>
          <p:nvGrpSpPr>
            <p:cNvPr id="10" name="Group 30">
              <a:extLst>
                <a:ext uri="{FF2B5EF4-FFF2-40B4-BE49-F238E27FC236}">
                  <a16:creationId xmlns:a16="http://schemas.microsoft.com/office/drawing/2014/main" id="{46DB80FB-A6CE-84A0-0526-C0839FCC6C87}"/>
                </a:ext>
              </a:extLst>
            </p:cNvPr>
            <p:cNvGrpSpPr/>
            <p:nvPr/>
          </p:nvGrpSpPr>
          <p:grpSpPr>
            <a:xfrm>
              <a:off x="0" y="0"/>
              <a:ext cx="611475" cy="610136"/>
              <a:chOff x="0" y="0"/>
              <a:chExt cx="900098" cy="898127"/>
            </a:xfrm>
          </p:grpSpPr>
          <p:sp>
            <p:nvSpPr>
              <p:cNvPr id="17" name="Freeform 31">
                <a:extLst>
                  <a:ext uri="{FF2B5EF4-FFF2-40B4-BE49-F238E27FC236}">
                    <a16:creationId xmlns:a16="http://schemas.microsoft.com/office/drawing/2014/main" id="{8637925C-8F52-61AF-F702-53A403917A68}"/>
                  </a:ext>
                </a:extLst>
              </p:cNvPr>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18" name="TextBox 32">
                <a:extLst>
                  <a:ext uri="{FF2B5EF4-FFF2-40B4-BE49-F238E27FC236}">
                    <a16:creationId xmlns:a16="http://schemas.microsoft.com/office/drawing/2014/main" id="{411D285D-B412-B0A8-EC8A-886FC82BBE1A}"/>
                  </a:ext>
                </a:extLst>
              </p:cNvPr>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16" name="TextBox 33">
              <a:extLst>
                <a:ext uri="{FF2B5EF4-FFF2-40B4-BE49-F238E27FC236}">
                  <a16:creationId xmlns:a16="http://schemas.microsoft.com/office/drawing/2014/main" id="{7EF9C189-C3D1-5765-96D5-7A052711DC33}"/>
                </a:ext>
              </a:extLst>
            </p:cNvPr>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5</a:t>
              </a:r>
            </a:p>
          </p:txBody>
        </p:sp>
      </p:grpSp>
      <p:sp>
        <p:nvSpPr>
          <p:cNvPr id="51" name="TextBox 8">
            <a:extLst>
              <a:ext uri="{FF2B5EF4-FFF2-40B4-BE49-F238E27FC236}">
                <a16:creationId xmlns:a16="http://schemas.microsoft.com/office/drawing/2014/main" id="{11DA07A7-B6DC-4812-C9A1-11D3056056A0}"/>
              </a:ext>
            </a:extLst>
          </p:cNvPr>
          <p:cNvSpPr txBox="1"/>
          <p:nvPr/>
        </p:nvSpPr>
        <p:spPr>
          <a:xfrm>
            <a:off x="2895600" y="7024440"/>
            <a:ext cx="12337469"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EN RESUME</a:t>
            </a:r>
            <a:endParaRPr lang="en-US" sz="3302" dirty="0">
              <a:solidFill>
                <a:srgbClr val="000000"/>
              </a:solidFill>
              <a:latin typeface="Akzidenz-Grotesk"/>
              <a:sym typeface="Akzidenz-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Freeform 2"/>
          <p:cNvSpPr/>
          <p:nvPr/>
        </p:nvSpPr>
        <p:spPr>
          <a:xfrm rot="2807232">
            <a:off x="10752155" y="1445807"/>
            <a:ext cx="9943320" cy="8022549"/>
          </a:xfrm>
          <a:custGeom>
            <a:avLst/>
            <a:gdLst/>
            <a:ahLst/>
            <a:cxnLst/>
            <a:rect l="l" t="t" r="r" b="b"/>
            <a:pathLst>
              <a:path w="9943320" h="8022549">
                <a:moveTo>
                  <a:pt x="0" y="0"/>
                </a:moveTo>
                <a:lnTo>
                  <a:pt x="9943319" y="0"/>
                </a:lnTo>
                <a:lnTo>
                  <a:pt x="9943319" y="8022549"/>
                </a:lnTo>
                <a:lnTo>
                  <a:pt x="0" y="80225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2438400" y="1603416"/>
            <a:ext cx="12420600" cy="6723779"/>
            <a:chOff x="0" y="0"/>
            <a:chExt cx="2864198" cy="1770872"/>
          </a:xfrm>
        </p:grpSpPr>
        <p:sp>
          <p:nvSpPr>
            <p:cNvPr id="4" name="Freeform 4"/>
            <p:cNvSpPr/>
            <p:nvPr/>
          </p:nvSpPr>
          <p:spPr>
            <a:xfrm>
              <a:off x="0" y="0"/>
              <a:ext cx="2864198" cy="1770872"/>
            </a:xfrm>
            <a:custGeom>
              <a:avLst/>
              <a:gdLst/>
              <a:ahLst/>
              <a:cxnLst/>
              <a:rect l="l" t="t" r="r" b="b"/>
              <a:pathLst>
                <a:path w="2864198" h="1770872">
                  <a:moveTo>
                    <a:pt x="0" y="0"/>
                  </a:moveTo>
                  <a:lnTo>
                    <a:pt x="2864198" y="0"/>
                  </a:lnTo>
                  <a:lnTo>
                    <a:pt x="2864198" y="1770872"/>
                  </a:lnTo>
                  <a:lnTo>
                    <a:pt x="0" y="1770872"/>
                  </a:lnTo>
                  <a:close/>
                </a:path>
              </a:pathLst>
            </a:custGeom>
            <a:solidFill>
              <a:srgbClr val="FFFFFF"/>
            </a:solidFill>
            <a:ln w="19050" cap="sq">
              <a:solidFill>
                <a:srgbClr val="000000"/>
              </a:solidFill>
              <a:prstDash val="solid"/>
              <a:miter/>
            </a:ln>
          </p:spPr>
        </p:sp>
        <p:sp>
          <p:nvSpPr>
            <p:cNvPr id="5" name="TextBox 5"/>
            <p:cNvSpPr txBox="1"/>
            <p:nvPr/>
          </p:nvSpPr>
          <p:spPr>
            <a:xfrm>
              <a:off x="0" y="-76200"/>
              <a:ext cx="2864198" cy="1847072"/>
            </a:xfrm>
            <a:prstGeom prst="rect">
              <a:avLst/>
            </a:prstGeom>
          </p:spPr>
          <p:txBody>
            <a:bodyPr lIns="50800" tIns="50800" rIns="50800" bIns="50800" rtlCol="0" anchor="ctr"/>
            <a:lstStyle/>
            <a:p>
              <a:pPr algn="ctr">
                <a:lnSpc>
                  <a:spcPts val="2660"/>
                </a:lnSpc>
              </a:pPr>
              <a:endParaRPr/>
            </a:p>
          </p:txBody>
        </p:sp>
      </p:grpSp>
      <p:sp>
        <p:nvSpPr>
          <p:cNvPr id="6" name="Freeform 6"/>
          <p:cNvSpPr/>
          <p:nvPr/>
        </p:nvSpPr>
        <p:spPr>
          <a:xfrm rot="4303617">
            <a:off x="-3542583" y="3745421"/>
            <a:ext cx="7085164" cy="6325897"/>
          </a:xfrm>
          <a:custGeom>
            <a:avLst/>
            <a:gdLst/>
            <a:ahLst/>
            <a:cxnLst/>
            <a:rect l="l" t="t" r="r" b="b"/>
            <a:pathLst>
              <a:path w="7085164" h="6325897">
                <a:moveTo>
                  <a:pt x="0" y="0"/>
                </a:moveTo>
                <a:lnTo>
                  <a:pt x="7085164" y="0"/>
                </a:lnTo>
                <a:lnTo>
                  <a:pt x="7085164" y="6325897"/>
                </a:lnTo>
                <a:lnTo>
                  <a:pt x="0" y="63258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3319358" y="2919904"/>
            <a:ext cx="9058265" cy="859210"/>
          </a:xfrm>
          <a:prstGeom prst="rect">
            <a:avLst/>
          </a:prstGeom>
        </p:spPr>
        <p:txBody>
          <a:bodyPr wrap="square" lIns="0" tIns="0" rIns="0" bIns="0" rtlCol="0" anchor="t">
            <a:spAutoFit/>
          </a:bodyPr>
          <a:lstStyle/>
          <a:p>
            <a:pPr algn="ctr">
              <a:lnSpc>
                <a:spcPts val="6734"/>
              </a:lnSpc>
            </a:pPr>
            <a:r>
              <a:rPr lang="en-US" sz="6538" b="1" dirty="0">
                <a:solidFill>
                  <a:srgbClr val="000000"/>
                </a:solidFill>
                <a:latin typeface="Neue Machina Ultra-Bold"/>
                <a:ea typeface="Neue Machina Ultra-Bold"/>
                <a:cs typeface="Neue Machina Ultra-Bold"/>
                <a:sym typeface="Neue Machina Ultra-Bold"/>
              </a:rPr>
              <a:t>OJECTIF DU COURS </a:t>
            </a:r>
          </a:p>
        </p:txBody>
      </p:sp>
      <p:sp>
        <p:nvSpPr>
          <p:cNvPr id="8" name="TextBox 8"/>
          <p:cNvSpPr txBox="1"/>
          <p:nvPr/>
        </p:nvSpPr>
        <p:spPr>
          <a:xfrm>
            <a:off x="3048000" y="4017239"/>
            <a:ext cx="10820400" cy="2677656"/>
          </a:xfrm>
          <a:prstGeom prst="rect">
            <a:avLst/>
          </a:prstGeom>
        </p:spPr>
        <p:txBody>
          <a:bodyPr wrap="square" lIns="0" tIns="0" rIns="0" bIns="0" rtlCol="0" anchor="t">
            <a:spAutoFit/>
          </a:bodyPr>
          <a:lstStyle/>
          <a:p>
            <a:pPr algn="just">
              <a:lnSpc>
                <a:spcPts val="3642"/>
              </a:lnSpc>
            </a:pPr>
            <a:endParaRPr lang="en-US" sz="3600" dirty="0">
              <a:solidFill>
                <a:srgbClr val="000000"/>
              </a:solidFill>
              <a:latin typeface="Akzidenz-Grotesk"/>
              <a:ea typeface="Akzidenz-Grotesk"/>
              <a:cs typeface="Akzidenz-Grotesk"/>
              <a:sym typeface="Akzidenz-Grotesk"/>
            </a:endParaRPr>
          </a:p>
          <a:p>
            <a:pPr lvl="0"/>
            <a:r>
              <a:rPr lang="en-US" sz="3600" dirty="0">
                <a:solidFill>
                  <a:srgbClr val="000000"/>
                </a:solidFill>
                <a:latin typeface="Akzidenz-Grotesk"/>
                <a:ea typeface="Akzidenz-Grotesk"/>
                <a:cs typeface="Akzidenz-Grotesk"/>
                <a:sym typeface="Akzidenz-Grotesk"/>
              </a:rPr>
              <a:t>LE COURS </a:t>
            </a:r>
            <a:r>
              <a:rPr lang="es-ES" sz="3600" dirty="0">
                <a:solidFill>
                  <a:srgbClr val="000000"/>
                </a:solidFill>
                <a:latin typeface="Akzidenz-Grotesk"/>
              </a:rPr>
              <a:t>PERMETTRA AUX ETUDIANTS DE COMPRENDRE LA DIFFERENCE ENTRE LES ARCHETECTURE MONOLITHIQUES ET MICRO SERVICES</a:t>
            </a:r>
            <a:endParaRPr lang="fr-FR" sz="3600" dirty="0">
              <a:solidFill>
                <a:srgbClr val="000000"/>
              </a:solidFill>
              <a:latin typeface="Akzidenz-Grotesk"/>
            </a:endParaRPr>
          </a:p>
        </p:txBody>
      </p:sp>
      <p:sp>
        <p:nvSpPr>
          <p:cNvPr id="9" name="ZoneTexte 8">
            <a:extLst>
              <a:ext uri="{FF2B5EF4-FFF2-40B4-BE49-F238E27FC236}">
                <a16:creationId xmlns:a16="http://schemas.microsoft.com/office/drawing/2014/main" id="{55078FFB-C3B8-2107-59F6-45CAEF7456D4}"/>
              </a:ext>
            </a:extLst>
          </p:cNvPr>
          <p:cNvSpPr txBox="1"/>
          <p:nvPr/>
        </p:nvSpPr>
        <p:spPr>
          <a:xfrm>
            <a:off x="14190133" y="6163733"/>
            <a:ext cx="184731" cy="369332"/>
          </a:xfrm>
          <a:prstGeom prst="rect">
            <a:avLst/>
          </a:prstGeom>
          <a:solidFill>
            <a:srgbClr val="E9DFCF"/>
          </a:solidFill>
        </p:spPr>
        <p:txBody>
          <a:bodyPr wrap="none" rtlCol="0">
            <a:spAutoFit/>
          </a:bodyPr>
          <a:lstStyle/>
          <a:p>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grpSp>
        <p:nvGrpSpPr>
          <p:cNvPr id="2" name="Group 2"/>
          <p:cNvGrpSpPr/>
          <p:nvPr/>
        </p:nvGrpSpPr>
        <p:grpSpPr>
          <a:xfrm>
            <a:off x="2276860" y="854798"/>
            <a:ext cx="15172940" cy="9272862"/>
            <a:chOff x="-3137" y="-110498"/>
            <a:chExt cx="2276066" cy="2015244"/>
          </a:xfrm>
        </p:grpSpPr>
        <p:sp>
          <p:nvSpPr>
            <p:cNvPr id="3" name="Freeform 3"/>
            <p:cNvSpPr/>
            <p:nvPr/>
          </p:nvSpPr>
          <p:spPr>
            <a:xfrm>
              <a:off x="-3137" y="-110498"/>
              <a:ext cx="2272929" cy="2015244"/>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2616221" y="969666"/>
            <a:ext cx="14473305" cy="8753102"/>
          </a:xfrm>
          <a:prstGeom prst="rect">
            <a:avLst/>
          </a:prstGeom>
        </p:spPr>
        <p:txBody>
          <a:bodyPr wrap="square" lIns="0" tIns="0" rIns="0" bIns="0" rtlCol="0" anchor="t">
            <a:spAutoFit/>
          </a:bodyPr>
          <a:lstStyle/>
          <a:p>
            <a:pPr>
              <a:lnSpc>
                <a:spcPct val="150000"/>
              </a:lnSpc>
            </a:pPr>
            <a:r>
              <a:rPr lang="fr-FR" sz="4800" dirty="0"/>
              <a:t>L’</a:t>
            </a:r>
            <a:r>
              <a:rPr lang="fr-FR" sz="4800" b="1" dirty="0"/>
              <a:t>architecture logicielle</a:t>
            </a:r>
            <a:r>
              <a:rPr lang="fr-FR" sz="4800" dirty="0"/>
              <a:t> définit la manière dont les différents composants d’un système informatique sont organisés et interagissent entre eux. Au fil du temps, les besoins des entreprises et la complexité des applications ont fait évoluer les modèles d’architecture.</a:t>
            </a:r>
            <a:br>
              <a:rPr lang="fr-FR" sz="4800" dirty="0"/>
            </a:br>
            <a:r>
              <a:rPr lang="fr-FR" sz="4800" dirty="0"/>
              <a:t>Parmi les approches les plus connues figurent </a:t>
            </a:r>
            <a:r>
              <a:rPr lang="fr-FR" sz="4800" b="1" dirty="0"/>
              <a:t>l’architecture monolithique</a:t>
            </a:r>
            <a:r>
              <a:rPr lang="fr-FR" sz="4800" dirty="0"/>
              <a:t> et </a:t>
            </a:r>
            <a:r>
              <a:rPr lang="fr-FR" sz="4800" b="1" dirty="0"/>
              <a:t>l’architecture à micro services</a:t>
            </a:r>
            <a:r>
              <a:rPr lang="fr-FR" sz="4800" dirty="0"/>
              <a:t>.</a:t>
            </a:r>
            <a:endParaRPr lang="en-US" sz="2602" dirty="0">
              <a:solidFill>
                <a:srgbClr val="000000"/>
              </a:solidFill>
              <a:latin typeface="Akzidenz-Grotesk"/>
              <a:ea typeface="Akzidenz-Grotesk"/>
              <a:cs typeface="Akzidenz-Grotesk"/>
              <a:sym typeface="Akzidenz-Grotesk"/>
            </a:endParaRPr>
          </a:p>
        </p:txBody>
      </p:sp>
      <p:pic>
        <p:nvPicPr>
          <p:cNvPr id="1026" name="Picture 2" descr="universite-assane-seck-zig-5af59 - Wincom">
            <a:extLst>
              <a:ext uri="{FF2B5EF4-FFF2-40B4-BE49-F238E27FC236}">
                <a16:creationId xmlns:a16="http://schemas.microsoft.com/office/drawing/2014/main" id="{4A5214F0-E0D9-DB48-A3CA-C443A0BAAB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p:cNvSpPr/>
          <p:nvPr/>
        </p:nvSpPr>
        <p:spPr>
          <a:xfrm rot="6308718">
            <a:off x="-1760956" y="-2320622"/>
            <a:ext cx="5198311" cy="4641244"/>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445A32C8-E28B-DC7E-0566-9633172FEF6D}"/>
              </a:ext>
            </a:extLst>
          </p:cNvPr>
          <p:cNvSpPr txBox="1"/>
          <p:nvPr/>
        </p:nvSpPr>
        <p:spPr>
          <a:xfrm>
            <a:off x="457200" y="159340"/>
            <a:ext cx="16992600" cy="730969"/>
          </a:xfrm>
          <a:prstGeom prst="rect">
            <a:avLst/>
          </a:prstGeom>
        </p:spPr>
        <p:txBody>
          <a:bodyPr wrap="square" lIns="0" tIns="0" rIns="0" bIns="0" rtlCol="0" anchor="t">
            <a:spAutoFit/>
          </a:bodyPr>
          <a:lstStyle/>
          <a:p>
            <a:pPr algn="ctr">
              <a:lnSpc>
                <a:spcPts val="5704"/>
              </a:lnSpc>
            </a:pPr>
            <a:r>
              <a:rPr lang="en-US" sz="5538" b="1" dirty="0">
                <a:solidFill>
                  <a:srgbClr val="000000"/>
                </a:solidFill>
                <a:latin typeface="Neue Machina Ultra-Bold"/>
                <a:sym typeface="Akzidenz-Grotesk"/>
              </a:rPr>
              <a:t>DEFINITION</a:t>
            </a:r>
            <a:endParaRPr lang="en-US" sz="5538" b="1" dirty="0">
              <a:solidFill>
                <a:srgbClr val="000000"/>
              </a:solidFill>
              <a:latin typeface="Neue Machina Ultra-Bold"/>
              <a:ea typeface="Neue Machina Ultra-Bold"/>
              <a:cs typeface="Neue Machina Ultra-Bold"/>
              <a:sym typeface="Neue Machina Ul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BE78C2E9-2576-46C2-5232-86A1222E826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4DAF905-6167-22B1-6DA2-CAFBDDE852FC}"/>
              </a:ext>
            </a:extLst>
          </p:cNvPr>
          <p:cNvGrpSpPr/>
          <p:nvPr/>
        </p:nvGrpSpPr>
        <p:grpSpPr>
          <a:xfrm>
            <a:off x="2297772" y="1929346"/>
            <a:ext cx="15152028" cy="8357654"/>
            <a:chOff x="0" y="0"/>
            <a:chExt cx="2272929" cy="1645889"/>
          </a:xfrm>
        </p:grpSpPr>
        <p:sp>
          <p:nvSpPr>
            <p:cNvPr id="3" name="Freeform 3">
              <a:extLst>
                <a:ext uri="{FF2B5EF4-FFF2-40B4-BE49-F238E27FC236}">
                  <a16:creationId xmlns:a16="http://schemas.microsoft.com/office/drawing/2014/main" id="{38F8E488-EE60-EC2D-2E0A-FA9FA43364E5}"/>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6EDBFFF3-F426-BC0A-29F8-B1E90FA17368}"/>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D4580858-4BCF-D30C-3BAD-B451A7F16526}"/>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F8B8943B-35F9-8F8E-E35C-6A02B1465CD0}"/>
              </a:ext>
            </a:extLst>
          </p:cNvPr>
          <p:cNvSpPr txBox="1"/>
          <p:nvPr/>
        </p:nvSpPr>
        <p:spPr>
          <a:xfrm>
            <a:off x="2824095" y="2334896"/>
            <a:ext cx="14473305" cy="5909310"/>
          </a:xfrm>
          <a:prstGeom prst="rect">
            <a:avLst/>
          </a:prstGeom>
        </p:spPr>
        <p:txBody>
          <a:bodyPr wrap="square" lIns="0" tIns="0" rIns="0" bIns="0" rtlCol="0" anchor="t">
            <a:spAutoFit/>
          </a:bodyPr>
          <a:lstStyle/>
          <a:p>
            <a:r>
              <a:rPr lang="fr-FR" sz="4800" dirty="0"/>
              <a:t>L’approche monolithique est un modèle par défaut pour la création d’une application logicielle. Pourtant, sa tendance est à la baisse car la création d’une application monolithique pose un certain nombre de défis liés à la manipulation d’une énorme base de code, à l’adoption d’une nouvelle technologie, au déploiement de toute l’application, à la mise en œuvre de nouveaux changements.</a:t>
            </a:r>
          </a:p>
        </p:txBody>
      </p:sp>
      <p:pic>
        <p:nvPicPr>
          <p:cNvPr id="1026" name="Picture 2" descr="universite-assane-seck-zig-5af59 - Wincom">
            <a:extLst>
              <a:ext uri="{FF2B5EF4-FFF2-40B4-BE49-F238E27FC236}">
                <a16:creationId xmlns:a16="http://schemas.microsoft.com/office/drawing/2014/main" id="{6CE10CCC-151E-90F0-533A-8D15CF29A7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43F301CB-51CD-250E-36AE-876690371830}"/>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816CDA63-FE64-7F61-104F-E2856C20926F}"/>
              </a:ext>
            </a:extLst>
          </p:cNvPr>
          <p:cNvSpPr txBox="1"/>
          <p:nvPr/>
        </p:nvSpPr>
        <p:spPr>
          <a:xfrm>
            <a:off x="457200" y="720435"/>
            <a:ext cx="16992600" cy="757259"/>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ARCHITECURE LOGICIEL MONOLITHIQUE</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943653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A24A1B50-F490-BA01-01B9-D21FD67DFD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25D8DE-CAD2-6CC0-44D4-B1DF57ED8A8E}"/>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62848A2F-8895-AE3A-656B-D4C9D6E15755}"/>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7776C75-63FF-8F7E-B5A4-592D5EBAC50F}"/>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8C8852D9-E257-A60D-79A6-8593726CC507}"/>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7CF7C0B1-37D1-B037-4180-278D8640B3B7}"/>
              </a:ext>
            </a:extLst>
          </p:cNvPr>
          <p:cNvSpPr txBox="1"/>
          <p:nvPr/>
        </p:nvSpPr>
        <p:spPr>
          <a:xfrm>
            <a:off x="2824095" y="2334896"/>
            <a:ext cx="14473305" cy="8125301"/>
          </a:xfrm>
          <a:prstGeom prst="rect">
            <a:avLst/>
          </a:prstGeom>
        </p:spPr>
        <p:txBody>
          <a:bodyPr wrap="square" lIns="0" tIns="0" rIns="0" bIns="0" rtlCol="0" anchor="t">
            <a:spAutoFit/>
          </a:bodyPr>
          <a:lstStyle/>
          <a:p>
            <a:r>
              <a:rPr lang="fr-FR" sz="4800" dirty="0"/>
              <a:t>L’architecture monolithique est considérée comme une manière traditionnelle de construire des applications. </a:t>
            </a:r>
            <a:r>
              <a:rPr lang="fr-FR" sz="4800" b="1" dirty="0"/>
              <a:t>Une application monolithique</a:t>
            </a:r>
            <a:r>
              <a:rPr lang="fr-FR" sz="4800" dirty="0"/>
              <a:t> est construite comme une unité unique et indivisible. Habituellement, une telle solution comprend une interface utilisateur côté client, une application côté serveur et une base de données. Elle est unifiée et toutes les fonctions sont gérées et servies en un seul endroit</a:t>
            </a:r>
            <a:r>
              <a:rPr lang="fr-SN" sz="4800" dirty="0"/>
              <a:t>,</a:t>
            </a:r>
            <a:r>
              <a:rPr lang="fr-FR" sz="4800" dirty="0"/>
              <a:t> et tout le code est implémenté dans un seul langage de programmation.</a:t>
            </a:r>
          </a:p>
          <a:p>
            <a:r>
              <a:rPr lang="fr-FR" sz="4800" dirty="0"/>
              <a:t>Ce type d'application peut fonctionner jusqu'à un certain temps, et ne pourra évoluer que très difficilement.</a:t>
            </a:r>
          </a:p>
        </p:txBody>
      </p:sp>
      <p:pic>
        <p:nvPicPr>
          <p:cNvPr id="1026" name="Picture 2" descr="universite-assane-seck-zig-5af59 - Wincom">
            <a:extLst>
              <a:ext uri="{FF2B5EF4-FFF2-40B4-BE49-F238E27FC236}">
                <a16:creationId xmlns:a16="http://schemas.microsoft.com/office/drawing/2014/main" id="{A6488248-4BF3-51F1-DF76-C32E990DA2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D7D37771-5C14-4493-3993-DC44819D19D4}"/>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9BFB495-2CD4-E3DE-D40E-3539FE6A9849}"/>
              </a:ext>
            </a:extLst>
          </p:cNvPr>
          <p:cNvSpPr txBox="1"/>
          <p:nvPr/>
        </p:nvSpPr>
        <p:spPr>
          <a:xfrm>
            <a:off x="4572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ARCHITECURE LOGICIEL MONOLITHIQUE</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594834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F58985C7-B916-F321-FB59-357434FF7AC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64BBD41-3E00-A938-DBFF-E5250B09244A}"/>
              </a:ext>
            </a:extLst>
          </p:cNvPr>
          <p:cNvGrpSpPr/>
          <p:nvPr/>
        </p:nvGrpSpPr>
        <p:grpSpPr>
          <a:xfrm>
            <a:off x="1981201" y="1333500"/>
            <a:ext cx="15152028" cy="9714910"/>
            <a:chOff x="0" y="0"/>
            <a:chExt cx="2272929" cy="1645889"/>
          </a:xfrm>
        </p:grpSpPr>
        <p:sp>
          <p:nvSpPr>
            <p:cNvPr id="3" name="Freeform 3">
              <a:extLst>
                <a:ext uri="{FF2B5EF4-FFF2-40B4-BE49-F238E27FC236}">
                  <a16:creationId xmlns:a16="http://schemas.microsoft.com/office/drawing/2014/main" id="{87692C7F-7F3C-6E9D-BF5B-BF4F5C1A841B}"/>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EEC3F4A4-94A3-91DF-D14A-7203340D903D}"/>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2BDD2FFE-99C3-9C70-2137-6FCFF027812B}"/>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F0721274-5CD5-F947-1B9B-D1CDF420BD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1E366BC8-F37C-6B0B-7A66-993E0F60B682}"/>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B16CE2A4-0E73-F83F-0EB5-6547C82D9488}"/>
              </a:ext>
            </a:extLst>
          </p:cNvPr>
          <p:cNvSpPr txBox="1"/>
          <p:nvPr/>
        </p:nvSpPr>
        <p:spPr>
          <a:xfrm>
            <a:off x="457200" y="190500"/>
            <a:ext cx="16992600" cy="1241365"/>
          </a:xfrm>
          <a:prstGeom prst="rect">
            <a:avLst/>
          </a:prstGeom>
        </p:spPr>
        <p:txBody>
          <a:bodyPr wrap="square" lIns="0" tIns="0" rIns="0" bIns="0" rtlCol="0" anchor="t">
            <a:spAutoFit/>
          </a:bodyPr>
          <a:lstStyle/>
          <a:p>
            <a:pPr algn="ctr">
              <a:lnSpc>
                <a:spcPts val="4622"/>
              </a:lnSpc>
            </a:pPr>
            <a:r>
              <a:rPr lang="fr-FR" sz="6000" dirty="0">
                <a:solidFill>
                  <a:srgbClr val="000000"/>
                </a:solidFill>
                <a:latin typeface="Akzidenz-Grotesk"/>
              </a:rPr>
              <a:t>ARCHITECURE LOGICIEL MONOLITHIQUE </a:t>
            </a:r>
          </a:p>
          <a:p>
            <a:pPr algn="ctr">
              <a:lnSpc>
                <a:spcPts val="4622"/>
              </a:lnSpc>
            </a:pPr>
            <a:r>
              <a:rPr lang="fr-FR" sz="6000" dirty="0">
                <a:solidFill>
                  <a:srgbClr val="000000"/>
                </a:solidFill>
                <a:latin typeface="Akzidenz-Grotesk"/>
                <a:sym typeface="Akzidenz-Grotesk"/>
              </a:rPr>
              <a:t>SCHEMA FONCTIONNEL</a:t>
            </a:r>
            <a:endParaRPr lang="en-US" sz="6000" dirty="0">
              <a:solidFill>
                <a:srgbClr val="000000"/>
              </a:solidFill>
              <a:latin typeface="Akzidenz-Grotesk"/>
              <a:sym typeface="Akzidenz-Grotesk"/>
            </a:endParaRPr>
          </a:p>
        </p:txBody>
      </p:sp>
      <p:pic>
        <p:nvPicPr>
          <p:cNvPr id="6" name="Image 5">
            <a:extLst>
              <a:ext uri="{FF2B5EF4-FFF2-40B4-BE49-F238E27FC236}">
                <a16:creationId xmlns:a16="http://schemas.microsoft.com/office/drawing/2014/main" id="{F5915574-4CC6-877F-BA29-6515D1576C5D}"/>
              </a:ext>
            </a:extLst>
          </p:cNvPr>
          <p:cNvPicPr>
            <a:picLocks noChangeAspect="1"/>
          </p:cNvPicPr>
          <p:nvPr/>
        </p:nvPicPr>
        <p:blipFill>
          <a:blip r:embed="rId8">
            <a:extLst>
              <a:ext uri="{28A0092B-C50C-407E-A947-70E740481C1C}">
                <a14:useLocalDpi xmlns:a14="http://schemas.microsoft.com/office/drawing/2010/main" val="0"/>
              </a:ext>
            </a:extLst>
          </a:blip>
          <a:srcRect r="68096"/>
          <a:stretch>
            <a:fillRect/>
          </a:stretch>
        </p:blipFill>
        <p:spPr>
          <a:xfrm>
            <a:off x="5562600" y="1485900"/>
            <a:ext cx="8305800" cy="8991600"/>
          </a:xfrm>
          <a:prstGeom prst="rect">
            <a:avLst/>
          </a:prstGeom>
        </p:spPr>
      </p:pic>
      <p:sp>
        <p:nvSpPr>
          <p:cNvPr id="7" name="ZoneTexte 6">
            <a:extLst>
              <a:ext uri="{FF2B5EF4-FFF2-40B4-BE49-F238E27FC236}">
                <a16:creationId xmlns:a16="http://schemas.microsoft.com/office/drawing/2014/main" id="{23326638-7262-2F47-DD4F-AB67FC6DFD40}"/>
              </a:ext>
            </a:extLst>
          </p:cNvPr>
          <p:cNvSpPr txBox="1"/>
          <p:nvPr/>
        </p:nvSpPr>
        <p:spPr>
          <a:xfrm>
            <a:off x="10223039" y="8616434"/>
            <a:ext cx="2100071" cy="369332"/>
          </a:xfrm>
          <a:prstGeom prst="rect">
            <a:avLst/>
          </a:prstGeom>
          <a:noFill/>
        </p:spPr>
        <p:txBody>
          <a:bodyPr wrap="square" rtlCol="0">
            <a:spAutoFit/>
          </a:bodyPr>
          <a:lstStyle/>
          <a:p>
            <a:r>
              <a:rPr lang="fr-FR" dirty="0"/>
              <a:t>Base de Donnée</a:t>
            </a:r>
          </a:p>
        </p:txBody>
      </p:sp>
      <p:sp>
        <p:nvSpPr>
          <p:cNvPr id="10" name="ZoneTexte 9">
            <a:extLst>
              <a:ext uri="{FF2B5EF4-FFF2-40B4-BE49-F238E27FC236}">
                <a16:creationId xmlns:a16="http://schemas.microsoft.com/office/drawing/2014/main" id="{1A8838F8-85AF-3CDE-7790-54A34CFC9150}"/>
              </a:ext>
            </a:extLst>
          </p:cNvPr>
          <p:cNvSpPr txBox="1"/>
          <p:nvPr/>
        </p:nvSpPr>
        <p:spPr>
          <a:xfrm>
            <a:off x="11273074" y="2922887"/>
            <a:ext cx="2415736" cy="369332"/>
          </a:xfrm>
          <a:prstGeom prst="rect">
            <a:avLst/>
          </a:prstGeom>
          <a:noFill/>
        </p:spPr>
        <p:txBody>
          <a:bodyPr wrap="square" rtlCol="0">
            <a:spAutoFit/>
          </a:bodyPr>
          <a:lstStyle/>
          <a:p>
            <a:r>
              <a:rPr lang="fr-FR" dirty="0"/>
              <a:t>Server d’application</a:t>
            </a:r>
          </a:p>
        </p:txBody>
      </p:sp>
      <mc:AlternateContent xmlns:mc="http://schemas.openxmlformats.org/markup-compatibility/2006">
        <mc:Choice xmlns:p14="http://schemas.microsoft.com/office/powerpoint/2010/main" Requires="p14">
          <p:contentPart p14:bwMode="auto" r:id="rId9">
            <p14:nvContentPartPr>
              <p14:cNvPr id="9" name="Encre 8">
                <a:extLst>
                  <a:ext uri="{FF2B5EF4-FFF2-40B4-BE49-F238E27FC236}">
                    <a16:creationId xmlns:a16="http://schemas.microsoft.com/office/drawing/2014/main" id="{0A4907ED-A8F9-B7B2-A23A-D0A34EA95B0F}"/>
                  </a:ext>
                </a:extLst>
              </p14:cNvPr>
              <p14:cNvContentPartPr/>
              <p14:nvPr/>
            </p14:nvContentPartPr>
            <p14:xfrm>
              <a:off x="6665760" y="2816640"/>
              <a:ext cx="7447320" cy="6378840"/>
            </p14:xfrm>
          </p:contentPart>
        </mc:Choice>
        <mc:Fallback>
          <p:pic>
            <p:nvPicPr>
              <p:cNvPr id="9" name="Encre 8">
                <a:extLst>
                  <a:ext uri="{FF2B5EF4-FFF2-40B4-BE49-F238E27FC236}">
                    <a16:creationId xmlns:a16="http://schemas.microsoft.com/office/drawing/2014/main" id="{0A4907ED-A8F9-B7B2-A23A-D0A34EA95B0F}"/>
                  </a:ext>
                </a:extLst>
              </p:cNvPr>
              <p:cNvPicPr/>
              <p:nvPr/>
            </p:nvPicPr>
            <p:blipFill>
              <a:blip r:embed="rId10"/>
              <a:stretch>
                <a:fillRect/>
              </a:stretch>
            </p:blipFill>
            <p:spPr>
              <a:xfrm>
                <a:off x="6656400" y="2807280"/>
                <a:ext cx="7466040" cy="6397560"/>
              </a:xfrm>
              <a:prstGeom prst="rect">
                <a:avLst/>
              </a:prstGeom>
            </p:spPr>
          </p:pic>
        </mc:Fallback>
      </mc:AlternateContent>
    </p:spTree>
    <p:extLst>
      <p:ext uri="{BB962C8B-B14F-4D97-AF65-F5344CB8AC3E}">
        <p14:creationId xmlns:p14="http://schemas.microsoft.com/office/powerpoint/2010/main" val="501949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9BF78437-DBA2-EDF7-12C3-85E9137A9B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40835CE-F5E2-7598-CC84-12E369D91893}"/>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A29B80F0-CF6D-C240-F4A3-7EDFACC3561E}"/>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A5DA1D17-6E78-53FB-AA84-0C8864783C2F}"/>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D8B76C21-63C3-7FE7-F3B7-07953FFFF66B}"/>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755F6918-CFBF-C855-8CB2-F41DCF6C9DED}"/>
              </a:ext>
            </a:extLst>
          </p:cNvPr>
          <p:cNvSpPr txBox="1"/>
          <p:nvPr/>
        </p:nvSpPr>
        <p:spPr>
          <a:xfrm>
            <a:off x="2644684" y="2669821"/>
            <a:ext cx="14473305" cy="5170646"/>
          </a:xfrm>
          <a:prstGeom prst="rect">
            <a:avLst/>
          </a:prstGeom>
        </p:spPr>
        <p:txBody>
          <a:bodyPr wrap="square" lIns="0" tIns="0" rIns="0" bIns="0" rtlCol="0" anchor="t">
            <a:spAutoFit/>
          </a:bodyPr>
          <a:lstStyle/>
          <a:p>
            <a:pPr marL="685800" lvl="0" indent="-685800" fontAlgn="base">
              <a:buFont typeface="Wingdings" pitchFamily="2" charset="2"/>
              <a:buChar char="Ø"/>
            </a:pPr>
            <a:r>
              <a:rPr lang="fr-FR" sz="4800" b="1" dirty="0"/>
              <a:t>la compréhension</a:t>
            </a:r>
            <a:r>
              <a:rPr lang="fr-FR" sz="4800" dirty="0"/>
              <a:t> (en cas d’évolution elle devient trop compliquée à comprendre, en outre , un système complexe de code au sein d’une application) ;</a:t>
            </a:r>
          </a:p>
          <a:p>
            <a:pPr lvl="0" fontAlgn="base"/>
            <a:endParaRPr lang="fr-FR" sz="4800" dirty="0"/>
          </a:p>
          <a:p>
            <a:pPr marL="685800" lvl="0" indent="-685800" fontAlgn="base">
              <a:buFont typeface="Wingdings" pitchFamily="2" charset="2"/>
              <a:buChar char="Ø"/>
            </a:pPr>
            <a:r>
              <a:rPr lang="fr-FR" sz="4800" b="1" dirty="0"/>
              <a:t>apporter des modifications</a:t>
            </a:r>
            <a:r>
              <a:rPr lang="fr-FR" sz="4800" dirty="0"/>
              <a:t> (plus difficile de mettre en œuvre des changements, un  processus de développement global beaucoup plus long) ;</a:t>
            </a:r>
          </a:p>
        </p:txBody>
      </p:sp>
      <p:pic>
        <p:nvPicPr>
          <p:cNvPr id="1026" name="Picture 2" descr="universite-assane-seck-zig-5af59 - Wincom">
            <a:extLst>
              <a:ext uri="{FF2B5EF4-FFF2-40B4-BE49-F238E27FC236}">
                <a16:creationId xmlns:a16="http://schemas.microsoft.com/office/drawing/2014/main" id="{5A134103-F09C-B794-1C62-3DC2D4B210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078CC0A0-D228-F32B-EBDC-9C04D692A1E1}"/>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2E3D56E3-7A77-DD90-CD76-75C6BCD8642E}"/>
              </a:ext>
            </a:extLst>
          </p:cNvPr>
          <p:cNvSpPr txBox="1"/>
          <p:nvPr/>
        </p:nvSpPr>
        <p:spPr>
          <a:xfrm>
            <a:off x="457200" y="720435"/>
            <a:ext cx="16992600" cy="1241365"/>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ARCHITECURE LOGICIEL MONOLITHIQUE (</a:t>
            </a:r>
            <a:r>
              <a:rPr lang="fr-SN" sz="6000" dirty="0">
                <a:solidFill>
                  <a:srgbClr val="000000"/>
                </a:solidFill>
                <a:latin typeface="Akzidenz-Grotesk"/>
              </a:rPr>
              <a:t>inconvénients </a:t>
            </a:r>
            <a:r>
              <a:rPr lang="fr-FR" sz="6000" dirty="0">
                <a:solidFill>
                  <a:srgbClr val="000000"/>
                </a:solidFill>
                <a:latin typeface="Akzidenz-Grotesk"/>
              </a:rPr>
              <a:t>)</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77385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C3861DBA-6F02-4854-90D5-0EFE133ED60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2537E8E-03AA-D860-89E9-2F1131B71B8F}"/>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AC1B58B4-56FF-78E1-9158-22A1478352B1}"/>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234B6257-BECF-44E7-054D-77AE2056FAB0}"/>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AE60463B-C493-ABBE-491C-862639BCEAFA}"/>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2B275772-771A-8C57-0653-F36A6910B046}"/>
              </a:ext>
            </a:extLst>
          </p:cNvPr>
          <p:cNvSpPr txBox="1"/>
          <p:nvPr/>
        </p:nvSpPr>
        <p:spPr>
          <a:xfrm>
            <a:off x="2499974" y="2833131"/>
            <a:ext cx="14473305" cy="6647974"/>
          </a:xfrm>
          <a:prstGeom prst="rect">
            <a:avLst/>
          </a:prstGeom>
        </p:spPr>
        <p:txBody>
          <a:bodyPr wrap="square" lIns="0" tIns="0" rIns="0" bIns="0" rtlCol="0" anchor="t">
            <a:spAutoFit/>
          </a:bodyPr>
          <a:lstStyle/>
          <a:p>
            <a:pPr marL="685800" lvl="0" indent="-685800" fontAlgn="base">
              <a:buFont typeface="Wingdings" pitchFamily="2" charset="2"/>
              <a:buChar char="Ø"/>
            </a:pPr>
            <a:r>
              <a:rPr lang="fr-FR" sz="4800" b="1" dirty="0"/>
              <a:t>l’évolution</a:t>
            </a:r>
            <a:r>
              <a:rPr lang="fr-FR" sz="4800" dirty="0"/>
              <a:t> ( pas possible de faire évoluer les composants ou fonctionnalité de manière indépendante, mais uniquement l’application dans son ensemble) ;</a:t>
            </a:r>
          </a:p>
          <a:p>
            <a:pPr marL="685800" lvl="0" indent="-685800" fontAlgn="base">
              <a:buFont typeface="Wingdings" pitchFamily="2" charset="2"/>
              <a:buChar char="Ø"/>
            </a:pPr>
            <a:endParaRPr lang="fr-FR" sz="4800" dirty="0"/>
          </a:p>
          <a:p>
            <a:pPr marL="685800" lvl="0" indent="-685800" fontAlgn="base">
              <a:buFont typeface="Wingdings" pitchFamily="2" charset="2"/>
              <a:buChar char="Ø"/>
            </a:pPr>
            <a:r>
              <a:rPr lang="fr-FR" sz="4800" b="1" dirty="0"/>
              <a:t>les obstacles liés aux nouvelles technologies</a:t>
            </a:r>
            <a:r>
              <a:rPr lang="fr-FR" sz="4800" dirty="0"/>
              <a:t>( Il est extrêmement difficile d’appliquer une nouvelle technologie, car il faut alors réécrire l’ensemble de l’application).</a:t>
            </a:r>
          </a:p>
        </p:txBody>
      </p:sp>
      <p:pic>
        <p:nvPicPr>
          <p:cNvPr id="1026" name="Picture 2" descr="universite-assane-seck-zig-5af59 - Wincom">
            <a:extLst>
              <a:ext uri="{FF2B5EF4-FFF2-40B4-BE49-F238E27FC236}">
                <a16:creationId xmlns:a16="http://schemas.microsoft.com/office/drawing/2014/main" id="{9423AF91-0548-1BDB-1A62-17B60F2875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7E54012C-AAA3-B0C4-58F6-B7681B25857F}"/>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1DA5DDB6-B7CE-18F1-55B6-90C4387462D8}"/>
              </a:ext>
            </a:extLst>
          </p:cNvPr>
          <p:cNvSpPr txBox="1"/>
          <p:nvPr/>
        </p:nvSpPr>
        <p:spPr>
          <a:xfrm>
            <a:off x="457200" y="720435"/>
            <a:ext cx="16992600" cy="1241365"/>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ARCHITECURE LOGICIEL MONOLITHIQUE (</a:t>
            </a:r>
            <a:r>
              <a:rPr lang="fr-SN" sz="6000" dirty="0">
                <a:solidFill>
                  <a:srgbClr val="000000"/>
                </a:solidFill>
                <a:latin typeface="Akzidenz-Grotesk"/>
              </a:rPr>
              <a:t>inconvénients </a:t>
            </a:r>
            <a:r>
              <a:rPr lang="fr-FR" sz="6000" dirty="0">
                <a:solidFill>
                  <a:srgbClr val="000000"/>
                </a:solidFill>
                <a:latin typeface="Akzidenz-Grotesk"/>
              </a:rPr>
              <a:t>)</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837394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AB6EBA4A-04E3-2EAF-0C96-FB220077946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6C029F-8DB6-D269-8BAD-E6CB2BBA0346}"/>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B0B56CAE-6202-67AA-94D6-1598FEEC4E89}"/>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41EDC1AE-D12B-267B-AE34-671E212DF9A1}"/>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57FA5ED6-F498-1624-9979-DE2C6CBDEFF0}"/>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E15E3EA5-7899-8B87-FE87-1021AB023A25}"/>
              </a:ext>
            </a:extLst>
          </p:cNvPr>
          <p:cNvSpPr txBox="1"/>
          <p:nvPr/>
        </p:nvSpPr>
        <p:spPr>
          <a:xfrm>
            <a:off x="2824095" y="2334896"/>
            <a:ext cx="14473305" cy="5909310"/>
          </a:xfrm>
          <a:prstGeom prst="rect">
            <a:avLst/>
          </a:prstGeom>
        </p:spPr>
        <p:txBody>
          <a:bodyPr wrap="square" lIns="0" tIns="0" rIns="0" bIns="0" rtlCol="0" anchor="t">
            <a:spAutoFit/>
          </a:bodyPr>
          <a:lstStyle/>
          <a:p>
            <a:r>
              <a:rPr lang="fr-FR" sz="4800" dirty="0"/>
              <a:t>Les micro services constituent un nouveau modèle pour les développeurs de logiciels, ils leur permettent de développer des applications d’entreprise beaucoup plus complexes et volumineuses sous la forme d’une suite de compartiments fonctionnels connexes. Il s’agit clairement d’une idée puissante qui offre de sérieux avantages pour la conception et la mise en œuvre d’applications d’entreprise.</a:t>
            </a:r>
          </a:p>
        </p:txBody>
      </p:sp>
      <p:pic>
        <p:nvPicPr>
          <p:cNvPr id="1026" name="Picture 2" descr="universite-assane-seck-zig-5af59 - Wincom">
            <a:extLst>
              <a:ext uri="{FF2B5EF4-FFF2-40B4-BE49-F238E27FC236}">
                <a16:creationId xmlns:a16="http://schemas.microsoft.com/office/drawing/2014/main" id="{61330613-8658-DADC-3E17-629A8D0EAF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48AA7F0A-5074-72F1-591B-DAB95EF242F2}"/>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29106C26-1D25-10BF-4121-9DD763449EBB}"/>
              </a:ext>
            </a:extLst>
          </p:cNvPr>
          <p:cNvSpPr txBox="1"/>
          <p:nvPr/>
        </p:nvSpPr>
        <p:spPr>
          <a:xfrm>
            <a:off x="4572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ARCHITECURE LOGICIEL MICRO SERVICES</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544815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1D4139F0-2A1A-549E-018A-EFA34243B0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59300C4-74C6-C38B-5525-574C4D39312C}"/>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0A96D582-EA41-4ADF-2BDD-9C22BD61BBF4}"/>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4AACA0FE-267A-CD6A-4A17-085790282B78}"/>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6954486A-E2E4-6AEC-885A-F1BA637AD8B2}"/>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E225D87A-D5A5-11F4-613E-FCFFDBA0D939}"/>
              </a:ext>
            </a:extLst>
          </p:cNvPr>
          <p:cNvSpPr txBox="1"/>
          <p:nvPr/>
        </p:nvSpPr>
        <p:spPr>
          <a:xfrm>
            <a:off x="2824095" y="2334896"/>
            <a:ext cx="14473305" cy="8125301"/>
          </a:xfrm>
          <a:prstGeom prst="rect">
            <a:avLst/>
          </a:prstGeom>
        </p:spPr>
        <p:txBody>
          <a:bodyPr wrap="square" lIns="0" tIns="0" rIns="0" bIns="0" rtlCol="0" anchor="t">
            <a:spAutoFit/>
          </a:bodyPr>
          <a:lstStyle/>
          <a:p>
            <a:r>
              <a:rPr lang="fr-FR" sz="4800" dirty="0"/>
              <a:t>L’architecture micro services a été inventée pour résoudre certaines difficultés causées par les gros projets car avec le temps les projets informatiques ont tendance à grossir et petit à petit on étend les fonctionnalités existantes, avec de nombreux rajouts et peu de suppressions, on termine avec un mille feuilles fonctionnel compliqués et difficilement gérable.</a:t>
            </a:r>
          </a:p>
          <a:p>
            <a:r>
              <a:rPr lang="fr-FR" sz="4800" dirty="0"/>
              <a:t>Quand la quantité de code augmente, sa maintenance devient de plus en plus complexe. Même avec une architecture logicielle solide, les interdépendances entre les différentes briques augmentent avec le temps.</a:t>
            </a:r>
          </a:p>
        </p:txBody>
      </p:sp>
      <p:pic>
        <p:nvPicPr>
          <p:cNvPr id="1026" name="Picture 2" descr="universite-assane-seck-zig-5af59 - Wincom">
            <a:extLst>
              <a:ext uri="{FF2B5EF4-FFF2-40B4-BE49-F238E27FC236}">
                <a16:creationId xmlns:a16="http://schemas.microsoft.com/office/drawing/2014/main" id="{F52903A7-56E1-50AD-CD45-0AE944500B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A90FA11D-C6E3-79F7-9410-34601A9FA9BD}"/>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502B1C54-6599-B1F0-351E-E0783FEDE489}"/>
              </a:ext>
            </a:extLst>
          </p:cNvPr>
          <p:cNvSpPr txBox="1"/>
          <p:nvPr/>
        </p:nvSpPr>
        <p:spPr>
          <a:xfrm>
            <a:off x="4572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ARCHITECURE LOGICIEL MICRO SERVICES</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2811105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8AFE7738-85BE-F4A6-630E-CBB9DC4597D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CDF061-FE4F-2D9E-AFF8-0FE535AA7FBD}"/>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92813E8A-22A2-2624-E5C8-BDA3AD92A649}"/>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520AC637-97F5-16A0-8C40-08C804778D0E}"/>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DD09F9C3-0CA1-4B7D-7C51-EE80096518C3}"/>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EDE59A91-4BD9-9031-218B-7F8DBDF99AAD}"/>
              </a:ext>
            </a:extLst>
          </p:cNvPr>
          <p:cNvSpPr txBox="1"/>
          <p:nvPr/>
        </p:nvSpPr>
        <p:spPr>
          <a:xfrm>
            <a:off x="2824095" y="2334896"/>
            <a:ext cx="14473305" cy="6647974"/>
          </a:xfrm>
          <a:prstGeom prst="rect">
            <a:avLst/>
          </a:prstGeom>
        </p:spPr>
        <p:txBody>
          <a:bodyPr wrap="square" lIns="0" tIns="0" rIns="0" bIns="0" rtlCol="0" anchor="t">
            <a:spAutoFit/>
          </a:bodyPr>
          <a:lstStyle/>
          <a:p>
            <a:r>
              <a:rPr lang="fr-FR" sz="4800" dirty="0"/>
              <a:t>Le</a:t>
            </a:r>
            <a:r>
              <a:rPr lang="fr-FR" sz="4800" b="1" dirty="0"/>
              <a:t> micro service</a:t>
            </a:r>
            <a:r>
              <a:rPr lang="fr-FR" sz="4800" dirty="0"/>
              <a:t> est une méthode de développement d’applications logicielles en tant que suite de services modulables et indépendamment, dans lesquels chaque service exécute un processus qu’il communique à travers un mécanisme défini au préalable.</a:t>
            </a:r>
          </a:p>
          <a:p>
            <a:r>
              <a:rPr lang="fr-FR" sz="4800" dirty="0"/>
              <a:t>Composés d’un ou plusieurs services, les micro services peuvent être déployés indépendamment les uns des autres en restant faiblement dépendants.</a:t>
            </a:r>
          </a:p>
          <a:p>
            <a:endParaRPr lang="fr-FR" sz="4800" dirty="0"/>
          </a:p>
        </p:txBody>
      </p:sp>
      <p:pic>
        <p:nvPicPr>
          <p:cNvPr id="1026" name="Picture 2" descr="universite-assane-seck-zig-5af59 - Wincom">
            <a:extLst>
              <a:ext uri="{FF2B5EF4-FFF2-40B4-BE49-F238E27FC236}">
                <a16:creationId xmlns:a16="http://schemas.microsoft.com/office/drawing/2014/main" id="{3DC23898-A209-5973-E25C-114367E2D0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EA1D47F2-A034-2A3E-DD36-8E56DC5B06CA}"/>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3847BE1B-8D4C-82A0-06FD-2344D665E726}"/>
              </a:ext>
            </a:extLst>
          </p:cNvPr>
          <p:cNvSpPr txBox="1"/>
          <p:nvPr/>
        </p:nvSpPr>
        <p:spPr>
          <a:xfrm>
            <a:off x="457200" y="720435"/>
            <a:ext cx="16992600" cy="651460"/>
          </a:xfrm>
          <a:prstGeom prst="rect">
            <a:avLst/>
          </a:prstGeom>
        </p:spPr>
        <p:txBody>
          <a:bodyPr wrap="square" lIns="0" tIns="0" rIns="0" bIns="0" rtlCol="0" anchor="t">
            <a:spAutoFit/>
          </a:bodyPr>
          <a:lstStyle/>
          <a:p>
            <a:pPr>
              <a:lnSpc>
                <a:spcPts val="4622"/>
              </a:lnSpc>
            </a:pPr>
            <a:r>
              <a:rPr lang="fr-FR" sz="6000" dirty="0">
                <a:solidFill>
                  <a:srgbClr val="000000"/>
                </a:solidFill>
                <a:latin typeface="Akzidenz-Grotesk"/>
              </a:rPr>
              <a:t>ARCHITECURE LOGICIEL MICRO SERVICES</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152676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29387D87-F71C-457E-1C1B-D08C6A6B97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3D88C98-1B85-6D3F-C05E-973E0C0DCF61}"/>
              </a:ext>
            </a:extLst>
          </p:cNvPr>
          <p:cNvGrpSpPr/>
          <p:nvPr/>
        </p:nvGrpSpPr>
        <p:grpSpPr>
          <a:xfrm>
            <a:off x="1981201" y="1220161"/>
            <a:ext cx="15152028" cy="10476541"/>
            <a:chOff x="0" y="-76200"/>
            <a:chExt cx="2272929" cy="1747510"/>
          </a:xfrm>
        </p:grpSpPr>
        <p:sp>
          <p:nvSpPr>
            <p:cNvPr id="3" name="Freeform 3">
              <a:extLst>
                <a:ext uri="{FF2B5EF4-FFF2-40B4-BE49-F238E27FC236}">
                  <a16:creationId xmlns:a16="http://schemas.microsoft.com/office/drawing/2014/main" id="{C7773921-67EF-17F5-BE74-B49DABE34281}"/>
                </a:ext>
              </a:extLst>
            </p:cNvPr>
            <p:cNvSpPr/>
            <p:nvPr/>
          </p:nvSpPr>
          <p:spPr>
            <a:xfrm>
              <a:off x="0" y="25421"/>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3D3D70B2-AD80-766F-4FF3-A0AFAA241BE1}"/>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E67777B7-9E4C-BDB9-A000-CE66EAD0F23B}"/>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8903A68A-4C0C-F126-0F78-8B13D1C387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C5ED56BC-5BA5-0ACD-2902-C82D756DFF66}"/>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61BE2ECE-79F0-77A2-E585-F5012DAAB944}"/>
              </a:ext>
            </a:extLst>
          </p:cNvPr>
          <p:cNvSpPr txBox="1"/>
          <p:nvPr/>
        </p:nvSpPr>
        <p:spPr>
          <a:xfrm>
            <a:off x="457200" y="720435"/>
            <a:ext cx="16992600" cy="651460"/>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ARCHITECURE LOGICIEL MICRO SERVICES</a:t>
            </a:r>
            <a:r>
              <a:rPr lang="fr-FR" sz="6000" dirty="0">
                <a:solidFill>
                  <a:srgbClr val="000000"/>
                </a:solidFill>
                <a:latin typeface="Akzidenz-Grotesk"/>
              </a:rPr>
              <a:t>(SCHEMA)</a:t>
            </a:r>
            <a:endParaRPr lang="en-US" sz="6000" dirty="0">
              <a:solidFill>
                <a:srgbClr val="000000"/>
              </a:solidFill>
              <a:latin typeface="Akzidenz-Grotesk"/>
              <a:sym typeface="Akzidenz-Grotesk"/>
            </a:endParaRPr>
          </a:p>
        </p:txBody>
      </p:sp>
      <p:pic>
        <p:nvPicPr>
          <p:cNvPr id="6" name="Image 5">
            <a:extLst>
              <a:ext uri="{FF2B5EF4-FFF2-40B4-BE49-F238E27FC236}">
                <a16:creationId xmlns:a16="http://schemas.microsoft.com/office/drawing/2014/main" id="{33406DE2-259A-234D-C490-AE5A6A139C3E}"/>
              </a:ext>
            </a:extLst>
          </p:cNvPr>
          <p:cNvPicPr>
            <a:picLocks noChangeAspect="1"/>
          </p:cNvPicPr>
          <p:nvPr/>
        </p:nvPicPr>
        <p:blipFill>
          <a:blip r:embed="rId8">
            <a:extLst>
              <a:ext uri="{28A0092B-C50C-407E-A947-70E740481C1C}">
                <a14:useLocalDpi xmlns:a14="http://schemas.microsoft.com/office/drawing/2010/main" val="0"/>
              </a:ext>
            </a:extLst>
          </a:blip>
          <a:srcRect l="35897"/>
          <a:stretch>
            <a:fillRect/>
          </a:stretch>
        </p:blipFill>
        <p:spPr>
          <a:xfrm>
            <a:off x="3669374" y="2001760"/>
            <a:ext cx="12332626" cy="9237740"/>
          </a:xfrm>
          <a:prstGeom prst="rect">
            <a:avLst/>
          </a:prstGeom>
        </p:spPr>
      </p:pic>
      <mc:AlternateContent xmlns:mc="http://schemas.openxmlformats.org/markup-compatibility/2006">
        <mc:Choice xmlns:p14="http://schemas.microsoft.com/office/powerpoint/2010/main" Requires="p14">
          <p:contentPart p14:bwMode="auto" r:id="rId9">
            <p14:nvContentPartPr>
              <p14:cNvPr id="7" name="Encre 6">
                <a:extLst>
                  <a:ext uri="{FF2B5EF4-FFF2-40B4-BE49-F238E27FC236}">
                    <a16:creationId xmlns:a16="http://schemas.microsoft.com/office/drawing/2014/main" id="{35A01070-6C88-63EB-1949-2632ADAFBFD6}"/>
                  </a:ext>
                </a:extLst>
              </p14:cNvPr>
              <p14:cNvContentPartPr/>
              <p14:nvPr/>
            </p14:nvContentPartPr>
            <p14:xfrm>
              <a:off x="3662640" y="2999160"/>
              <a:ext cx="11074320" cy="6132600"/>
            </p14:xfrm>
          </p:contentPart>
        </mc:Choice>
        <mc:Fallback>
          <p:pic>
            <p:nvPicPr>
              <p:cNvPr id="7" name="Encre 6">
                <a:extLst>
                  <a:ext uri="{FF2B5EF4-FFF2-40B4-BE49-F238E27FC236}">
                    <a16:creationId xmlns:a16="http://schemas.microsoft.com/office/drawing/2014/main" id="{35A01070-6C88-63EB-1949-2632ADAFBFD6}"/>
                  </a:ext>
                </a:extLst>
              </p:cNvPr>
              <p:cNvPicPr/>
              <p:nvPr/>
            </p:nvPicPr>
            <p:blipFill>
              <a:blip r:embed="rId10"/>
              <a:stretch>
                <a:fillRect/>
              </a:stretch>
            </p:blipFill>
            <p:spPr>
              <a:xfrm>
                <a:off x="3653280" y="2989800"/>
                <a:ext cx="11093040" cy="6151320"/>
              </a:xfrm>
              <a:prstGeom prst="rect">
                <a:avLst/>
              </a:prstGeom>
            </p:spPr>
          </p:pic>
        </mc:Fallback>
      </mc:AlternateContent>
    </p:spTree>
    <p:extLst>
      <p:ext uri="{BB962C8B-B14F-4D97-AF65-F5344CB8AC3E}">
        <p14:creationId xmlns:p14="http://schemas.microsoft.com/office/powerpoint/2010/main" val="3699665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21CF163C-D2A5-6A58-A9E8-C52948F52DD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0A81C9E-CC56-FA60-BAF7-A1C8991FFB0A}"/>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7B4D3B7C-7D8A-BD14-E72C-03EEF092D3B0}"/>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516A1E58-5332-59C7-F2B2-2BF08CE14929}"/>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1E755803-A1FC-6D66-EB29-6EC80596DBEA}"/>
              </a:ext>
            </a:extLst>
          </p:cNvPr>
          <p:cNvSpPr/>
          <p:nvPr/>
        </p:nvSpPr>
        <p:spPr>
          <a:xfrm rot="18864025">
            <a:off x="13457740" y="8886176"/>
            <a:ext cx="2757887" cy="340315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635093B6-03DC-E59C-8BA1-FACADBE5CF3C}"/>
              </a:ext>
            </a:extLst>
          </p:cNvPr>
          <p:cNvSpPr txBox="1"/>
          <p:nvPr/>
        </p:nvSpPr>
        <p:spPr>
          <a:xfrm>
            <a:off x="2946015" y="1567419"/>
            <a:ext cx="14473305" cy="8863965"/>
          </a:xfrm>
          <a:prstGeom prst="rect">
            <a:avLst/>
          </a:prstGeom>
        </p:spPr>
        <p:txBody>
          <a:bodyPr wrap="square" lIns="0" tIns="0" rIns="0" bIns="0" rtlCol="0" anchor="t">
            <a:spAutoFit/>
          </a:bodyPr>
          <a:lstStyle/>
          <a:p>
            <a:pPr marL="914400" lvl="0" indent="-914400">
              <a:buFont typeface="Wingdings" pitchFamily="2" charset="2"/>
              <a:buChar char="Ø"/>
            </a:pPr>
            <a:r>
              <a:rPr lang="fr-FR" sz="4800" b="1" dirty="0"/>
              <a:t>composants indépendants </a:t>
            </a:r>
            <a:r>
              <a:rPr lang="fr-FR" sz="4800" dirty="0"/>
              <a:t>(premièrement, tous les services peuvent être déployés et mis à jour indépendamment, ce qui donne plus de flexibilité, deuxièmement, un beug n’a d’impact que sur un service particulier et n’influence pas l’ensemble de l’application)</a:t>
            </a:r>
            <a:r>
              <a:rPr lang="fr-SN" sz="4800" dirty="0"/>
              <a:t> </a:t>
            </a:r>
            <a:endParaRPr lang="fr-FR" sz="4800" dirty="0"/>
          </a:p>
          <a:p>
            <a:pPr marL="914400" lvl="0" indent="-914400">
              <a:buFont typeface="Wingdings" pitchFamily="2" charset="2"/>
              <a:buChar char="Ø"/>
            </a:pPr>
            <a:r>
              <a:rPr lang="fr-FR" sz="4800" b="1" dirty="0"/>
              <a:t>une compréhension plus aisée </a:t>
            </a:r>
            <a:r>
              <a:rPr lang="fr-FR" sz="4800" dirty="0"/>
              <a:t>(divisée en composants plus petits et plus simples qui est plus facile à comprendre et à gérer, il suffit de se concentrer sur un service spécifique) ;</a:t>
            </a:r>
          </a:p>
          <a:p>
            <a:pPr marL="914400" lvl="0" indent="-914400">
              <a:buFont typeface="Wingdings" pitchFamily="2" charset="2"/>
              <a:buChar char="Ø"/>
            </a:pPr>
            <a:r>
              <a:rPr lang="fr-FR" sz="4800" b="1" dirty="0"/>
              <a:t>meilleure évolutivité </a:t>
            </a:r>
            <a:r>
              <a:rPr lang="fr-FR" sz="4800" dirty="0"/>
              <a:t>( chaque élément peut être mis à l’échelle indépendamment) ;</a:t>
            </a:r>
          </a:p>
        </p:txBody>
      </p:sp>
      <p:pic>
        <p:nvPicPr>
          <p:cNvPr id="1026" name="Picture 2" descr="universite-assane-seck-zig-5af59 - Wincom">
            <a:extLst>
              <a:ext uri="{FF2B5EF4-FFF2-40B4-BE49-F238E27FC236}">
                <a16:creationId xmlns:a16="http://schemas.microsoft.com/office/drawing/2014/main" id="{22B6D4D8-0EE3-A052-E20E-5DDDB409B7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F0F3A9EF-94AF-B03D-BBB6-81AE40DFBE91}"/>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056F8BF3-A3B4-530D-BB9D-1DE29D22B03B}"/>
              </a:ext>
            </a:extLst>
          </p:cNvPr>
          <p:cNvSpPr txBox="1"/>
          <p:nvPr/>
        </p:nvSpPr>
        <p:spPr>
          <a:xfrm>
            <a:off x="457200" y="720435"/>
            <a:ext cx="16992600" cy="651460"/>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ARCHITECURE LOGICIEL MICRO SERVICES</a:t>
            </a:r>
            <a:r>
              <a:rPr lang="fr-FR" sz="6000" dirty="0">
                <a:solidFill>
                  <a:srgbClr val="000000"/>
                </a:solidFill>
                <a:latin typeface="Akzidenz-Grotesk"/>
              </a:rPr>
              <a:t>(</a:t>
            </a:r>
            <a:r>
              <a:rPr lang="fr-SN" sz="6000" dirty="0">
                <a:solidFill>
                  <a:srgbClr val="000000"/>
                </a:solidFill>
                <a:latin typeface="Akzidenz-Grotesk"/>
              </a:rPr>
              <a:t>Les points forts</a:t>
            </a:r>
            <a:r>
              <a:rPr lang="en-US" sz="6000" dirty="0">
                <a:solidFill>
                  <a:srgbClr val="000000"/>
                </a:solidFill>
                <a:latin typeface="Akzidenz-Grotesk"/>
                <a:sym typeface="Akzidenz-Grotesk"/>
              </a:rPr>
              <a:t>)</a:t>
            </a:r>
          </a:p>
        </p:txBody>
      </p:sp>
    </p:spTree>
    <p:extLst>
      <p:ext uri="{BB962C8B-B14F-4D97-AF65-F5344CB8AC3E}">
        <p14:creationId xmlns:p14="http://schemas.microsoft.com/office/powerpoint/2010/main" val="274418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9EB8071E-8081-F5CA-4048-DE265A62D07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4513373-A7AF-C868-F8A1-3DCE78330351}"/>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F32555C0-4FA9-6354-1EE8-9A35077E801A}"/>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CCEBCB4-B421-6CC8-4916-EBF0ED30B54E}"/>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E05542AA-8666-64FB-A9A0-C3620FD4378E}"/>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CB08C242-E6D3-8FD4-3FEA-FFCA193B9687}"/>
              </a:ext>
            </a:extLst>
          </p:cNvPr>
          <p:cNvSpPr txBox="1"/>
          <p:nvPr/>
        </p:nvSpPr>
        <p:spPr>
          <a:xfrm>
            <a:off x="2824095" y="2334896"/>
            <a:ext cx="14473305" cy="7386638"/>
          </a:xfrm>
          <a:prstGeom prst="rect">
            <a:avLst/>
          </a:prstGeom>
        </p:spPr>
        <p:txBody>
          <a:bodyPr wrap="square" lIns="0" tIns="0" rIns="0" bIns="0" rtlCol="0" anchor="t">
            <a:spAutoFit/>
          </a:bodyPr>
          <a:lstStyle/>
          <a:p>
            <a:pPr marL="914400" lvl="0" indent="-914400">
              <a:buFont typeface="Wingdings" pitchFamily="2" charset="2"/>
              <a:buChar char="Ø"/>
            </a:pPr>
            <a:r>
              <a:rPr lang="fr-FR" sz="4800" b="1" dirty="0"/>
              <a:t>flexibilité dans le choix de la technologie</a:t>
            </a:r>
            <a:r>
              <a:rPr lang="fr-FR" sz="4800" dirty="0"/>
              <a:t>(Les équipes d’ingénieurs ne sont pas limitées par la technologie choisie dès le départ, elles sont libres d’appliquer diverses technologies et Framework pour chaque micro service).</a:t>
            </a:r>
          </a:p>
          <a:p>
            <a:pPr marL="914400" lvl="0" indent="-914400" fontAlgn="base">
              <a:buFont typeface="Wingdings" pitchFamily="2" charset="2"/>
              <a:buChar char="Ø"/>
            </a:pPr>
            <a:r>
              <a:rPr lang="fr-FR" sz="4800" b="1" dirty="0"/>
              <a:t>le niveau supérieur d’agilité</a:t>
            </a:r>
            <a:r>
              <a:rPr lang="fr-FR" sz="4800" dirty="0"/>
              <a:t>(toute défaillance dans une application micro services n’affecte qu’un service particulier et non l’ensemble de la solution, ainsi, tous les changements et toutes les expériences sont mis en œuvre avec moins de risques et moins d’erreurs).</a:t>
            </a:r>
          </a:p>
        </p:txBody>
      </p:sp>
      <p:pic>
        <p:nvPicPr>
          <p:cNvPr id="1026" name="Picture 2" descr="universite-assane-seck-zig-5af59 - Wincom">
            <a:extLst>
              <a:ext uri="{FF2B5EF4-FFF2-40B4-BE49-F238E27FC236}">
                <a16:creationId xmlns:a16="http://schemas.microsoft.com/office/drawing/2014/main" id="{BAE1C5E2-34F6-1F87-EF8C-7CF2FB183C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57E0D376-7DBE-E0F7-CE5C-F67F6784FB00}"/>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865FA3C-16C1-8F9B-2DE1-79840BEB3626}"/>
              </a:ext>
            </a:extLst>
          </p:cNvPr>
          <p:cNvSpPr txBox="1"/>
          <p:nvPr/>
        </p:nvSpPr>
        <p:spPr>
          <a:xfrm>
            <a:off x="457200" y="720435"/>
            <a:ext cx="16992600" cy="651460"/>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ARCHITECURE LOGICIEL MICRO SERVICES</a:t>
            </a:r>
            <a:r>
              <a:rPr lang="fr-FR" sz="6000" dirty="0">
                <a:solidFill>
                  <a:srgbClr val="000000"/>
                </a:solidFill>
                <a:latin typeface="Akzidenz-Grotesk"/>
              </a:rPr>
              <a:t>(</a:t>
            </a:r>
            <a:r>
              <a:rPr lang="fr-SN" sz="6000" dirty="0">
                <a:solidFill>
                  <a:srgbClr val="000000"/>
                </a:solidFill>
                <a:latin typeface="Akzidenz-Grotesk"/>
              </a:rPr>
              <a:t>Les points forts</a:t>
            </a:r>
            <a:r>
              <a:rPr lang="en-US" sz="6000" dirty="0">
                <a:solidFill>
                  <a:srgbClr val="000000"/>
                </a:solidFill>
                <a:latin typeface="Akzidenz-Grotesk"/>
                <a:sym typeface="Akzidenz-Grotesk"/>
              </a:rPr>
              <a:t>)</a:t>
            </a:r>
          </a:p>
        </p:txBody>
      </p:sp>
    </p:spTree>
    <p:extLst>
      <p:ext uri="{BB962C8B-B14F-4D97-AF65-F5344CB8AC3E}">
        <p14:creationId xmlns:p14="http://schemas.microsoft.com/office/powerpoint/2010/main" val="1410440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5AD2921A-4015-3797-AF01-AD1899ACF4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F3AD70D-0047-417F-90D5-0AAEC0F65A0B}"/>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187E13DE-82AE-309F-C1FB-8B63EDBA1477}"/>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1A4F2EA0-92F6-F3FB-101A-6213B75A4669}"/>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A9CC8F45-F584-6D72-B762-BD5CAB179320}"/>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8CDAB668-345E-4BF2-6EAE-CDA6B9CBABA5}"/>
              </a:ext>
            </a:extLst>
          </p:cNvPr>
          <p:cNvSpPr txBox="1"/>
          <p:nvPr/>
        </p:nvSpPr>
        <p:spPr>
          <a:xfrm>
            <a:off x="2209800" y="2663190"/>
            <a:ext cx="14473305" cy="5909310"/>
          </a:xfrm>
          <a:prstGeom prst="rect">
            <a:avLst/>
          </a:prstGeom>
        </p:spPr>
        <p:txBody>
          <a:bodyPr wrap="square" lIns="0" tIns="0" rIns="0" bIns="0" rtlCol="0" anchor="t">
            <a:spAutoFit/>
          </a:bodyPr>
          <a:lstStyle/>
          <a:p>
            <a:pPr marL="685800" lvl="0" indent="-685800">
              <a:buFont typeface="Wingdings" pitchFamily="2" charset="2"/>
              <a:buChar char="Ø"/>
            </a:pPr>
            <a:r>
              <a:rPr lang="fr-FR" sz="4800" b="1" dirty="0"/>
              <a:t>une complexité supplémentaire</a:t>
            </a:r>
            <a:r>
              <a:rPr lang="fr-FR" sz="4800" dirty="0"/>
              <a:t> (  c’est une application qui comprend des services indépendants, le déploiement des  micro services doit se faire indépendamment) ;</a:t>
            </a:r>
          </a:p>
          <a:p>
            <a:pPr marL="685800" lvl="0" indent="-685800">
              <a:buFont typeface="Wingdings" pitchFamily="2" charset="2"/>
              <a:buChar char="Ø"/>
            </a:pPr>
            <a:r>
              <a:rPr lang="fr-FR" sz="4800" b="1" dirty="0"/>
              <a:t>distribution du système </a:t>
            </a:r>
            <a:r>
              <a:rPr lang="fr-FR" sz="4800" dirty="0"/>
              <a:t>(c’est un système complexe composé de plusieurs modules et bases de données, toutes les connexions doivent donc être gérées avec soin) ;</a:t>
            </a:r>
          </a:p>
        </p:txBody>
      </p:sp>
      <p:pic>
        <p:nvPicPr>
          <p:cNvPr id="1026" name="Picture 2" descr="universite-assane-seck-zig-5af59 - Wincom">
            <a:extLst>
              <a:ext uri="{FF2B5EF4-FFF2-40B4-BE49-F238E27FC236}">
                <a16:creationId xmlns:a16="http://schemas.microsoft.com/office/drawing/2014/main" id="{534AD8D4-8E82-325D-08CC-5907853777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C101E284-3C0C-63BC-77E9-8CF675C54E63}"/>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9A01BA9F-47B9-5F07-1E13-06A8D96C2393}"/>
              </a:ext>
            </a:extLst>
          </p:cNvPr>
          <p:cNvSpPr txBox="1"/>
          <p:nvPr/>
        </p:nvSpPr>
        <p:spPr>
          <a:xfrm>
            <a:off x="457200" y="720435"/>
            <a:ext cx="16992600" cy="651460"/>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ARCHITECURE LOGICIEL MICRO SERVICES</a:t>
            </a:r>
            <a:r>
              <a:rPr lang="fr-FR" sz="6000" dirty="0">
                <a:solidFill>
                  <a:srgbClr val="000000"/>
                </a:solidFill>
                <a:latin typeface="Akzidenz-Grotesk"/>
              </a:rPr>
              <a:t>(</a:t>
            </a:r>
            <a:r>
              <a:rPr lang="fr-SN" sz="6000" dirty="0">
                <a:solidFill>
                  <a:srgbClr val="000000"/>
                </a:solidFill>
                <a:latin typeface="Akzidenz-Grotesk"/>
              </a:rPr>
              <a:t>Les faiblesses </a:t>
            </a:r>
            <a:r>
              <a:rPr lang="en-US" sz="6000" dirty="0">
                <a:solidFill>
                  <a:srgbClr val="000000"/>
                </a:solidFill>
                <a:latin typeface="Akzidenz-Grotesk"/>
                <a:sym typeface="Akzidenz-Grotesk"/>
              </a:rPr>
              <a:t>)</a:t>
            </a:r>
          </a:p>
        </p:txBody>
      </p:sp>
    </p:spTree>
    <p:extLst>
      <p:ext uri="{BB962C8B-B14F-4D97-AF65-F5344CB8AC3E}">
        <p14:creationId xmlns:p14="http://schemas.microsoft.com/office/powerpoint/2010/main" val="1765446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798B0402-1200-8D70-DAC5-87D7B5058D3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A2744C3-B12F-0B4F-8F2E-9755F67096B9}"/>
              </a:ext>
            </a:extLst>
          </p:cNvPr>
          <p:cNvGrpSpPr/>
          <p:nvPr/>
        </p:nvGrpSpPr>
        <p:grpSpPr>
          <a:xfrm>
            <a:off x="1981201" y="1544559"/>
            <a:ext cx="15152028" cy="9867310"/>
            <a:chOff x="0" y="0"/>
            <a:chExt cx="2272929" cy="1645889"/>
          </a:xfrm>
        </p:grpSpPr>
        <p:sp>
          <p:nvSpPr>
            <p:cNvPr id="3" name="Freeform 3">
              <a:extLst>
                <a:ext uri="{FF2B5EF4-FFF2-40B4-BE49-F238E27FC236}">
                  <a16:creationId xmlns:a16="http://schemas.microsoft.com/office/drawing/2014/main" id="{534CB3CD-9D7A-AFDB-4CDD-0B17E3A877D7}"/>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txBody>
            <a:bodyPr/>
            <a:lstStyle/>
            <a:p>
              <a:endParaRPr lang="fr-FR" dirty="0"/>
            </a:p>
          </p:txBody>
        </p:sp>
        <p:sp>
          <p:nvSpPr>
            <p:cNvPr id="4" name="TextBox 4">
              <a:extLst>
                <a:ext uri="{FF2B5EF4-FFF2-40B4-BE49-F238E27FC236}">
                  <a16:creationId xmlns:a16="http://schemas.microsoft.com/office/drawing/2014/main" id="{6C879414-7E1A-19CF-9E63-81531A697C89}"/>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2C38250E-ED9D-969C-E0FA-D8FF2FB611EA}"/>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0F2F23C4-0CA3-6018-DAAF-6AD174257366}"/>
              </a:ext>
            </a:extLst>
          </p:cNvPr>
          <p:cNvSpPr txBox="1"/>
          <p:nvPr/>
        </p:nvSpPr>
        <p:spPr>
          <a:xfrm>
            <a:off x="2286000" y="2311717"/>
            <a:ext cx="14473305" cy="4431983"/>
          </a:xfrm>
          <a:prstGeom prst="rect">
            <a:avLst/>
          </a:prstGeom>
        </p:spPr>
        <p:txBody>
          <a:bodyPr wrap="square" lIns="0" tIns="0" rIns="0" bIns="0" rtlCol="0" anchor="t">
            <a:spAutoFit/>
          </a:bodyPr>
          <a:lstStyle/>
          <a:p>
            <a:pPr marL="685800" lvl="0" indent="-685800">
              <a:buFont typeface="Wingdings" pitchFamily="2" charset="2"/>
              <a:buChar char="Ø"/>
            </a:pPr>
            <a:r>
              <a:rPr lang="fr-FR" sz="4800" b="1" dirty="0"/>
              <a:t>préoccupations transversales </a:t>
            </a:r>
            <a:r>
              <a:rPr lang="fr-FR" sz="4800" dirty="0"/>
              <a:t>(il s’agit notamment de la configuration externalisée, de la journalisation, des métriques réseau) ;</a:t>
            </a:r>
          </a:p>
          <a:p>
            <a:pPr marL="685800" lvl="0" indent="-685800">
              <a:buFont typeface="Wingdings" pitchFamily="2" charset="2"/>
              <a:buChar char="Ø"/>
            </a:pPr>
            <a:r>
              <a:rPr lang="fr-FR" sz="4800" b="1" dirty="0"/>
              <a:t>les tests unitaires </a:t>
            </a:r>
            <a:r>
              <a:rPr lang="fr-FR" sz="4800" dirty="0"/>
              <a:t>(Une multitude de composants déployables indépendamment rend le test beaucoup plus difficile).</a:t>
            </a:r>
          </a:p>
        </p:txBody>
      </p:sp>
      <p:pic>
        <p:nvPicPr>
          <p:cNvPr id="1026" name="Picture 2" descr="universite-assane-seck-zig-5af59 - Wincom">
            <a:extLst>
              <a:ext uri="{FF2B5EF4-FFF2-40B4-BE49-F238E27FC236}">
                <a16:creationId xmlns:a16="http://schemas.microsoft.com/office/drawing/2014/main" id="{2808B4D9-7AD6-60B2-573E-4555414510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616E2C41-5021-282B-AE2D-3FF8C626AE4B}"/>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9DB8258A-A199-6439-FF01-DF60896F1F62}"/>
              </a:ext>
            </a:extLst>
          </p:cNvPr>
          <p:cNvSpPr txBox="1"/>
          <p:nvPr/>
        </p:nvSpPr>
        <p:spPr>
          <a:xfrm>
            <a:off x="457200" y="720435"/>
            <a:ext cx="16992600" cy="651460"/>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ARCHITECURE LOGICIEL MICRO SERVICES</a:t>
            </a:r>
            <a:r>
              <a:rPr lang="fr-FR" sz="6000" dirty="0">
                <a:solidFill>
                  <a:srgbClr val="000000"/>
                </a:solidFill>
                <a:latin typeface="Akzidenz-Grotesk"/>
              </a:rPr>
              <a:t>(</a:t>
            </a:r>
            <a:r>
              <a:rPr lang="fr-SN" sz="6000" dirty="0">
                <a:solidFill>
                  <a:srgbClr val="000000"/>
                </a:solidFill>
                <a:latin typeface="Akzidenz-Grotesk"/>
              </a:rPr>
              <a:t>Les faiblesses </a:t>
            </a:r>
            <a:r>
              <a:rPr lang="en-US" sz="6000" dirty="0">
                <a:solidFill>
                  <a:srgbClr val="000000"/>
                </a:solidFill>
                <a:latin typeface="Akzidenz-Grotesk"/>
                <a:sym typeface="Akzidenz-Grotesk"/>
              </a:rPr>
              <a:t>)</a:t>
            </a:r>
          </a:p>
        </p:txBody>
      </p:sp>
    </p:spTree>
    <p:extLst>
      <p:ext uri="{BB962C8B-B14F-4D97-AF65-F5344CB8AC3E}">
        <p14:creationId xmlns:p14="http://schemas.microsoft.com/office/powerpoint/2010/main" val="1008006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80674C74-4322-CFBF-40C4-0090A3FFC184}"/>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A8391F47-BE52-CD3E-2735-253B56E7A941}"/>
              </a:ext>
            </a:extLst>
          </p:cNvPr>
          <p:cNvSpPr txBox="1"/>
          <p:nvPr/>
        </p:nvSpPr>
        <p:spPr>
          <a:xfrm>
            <a:off x="1981201" y="1081598"/>
            <a:ext cx="15152028" cy="10462701"/>
          </a:xfrm>
          <a:prstGeom prst="rect">
            <a:avLst/>
          </a:prstGeom>
        </p:spPr>
        <p:txBody>
          <a:bodyPr lIns="50800" tIns="50800" rIns="50800" bIns="50800" rtlCol="0" anchor="ctr"/>
          <a:lstStyle/>
          <a:p>
            <a:pPr algn="ctr">
              <a:lnSpc>
                <a:spcPts val="2660"/>
              </a:lnSpc>
            </a:pPr>
            <a:endParaRPr/>
          </a:p>
        </p:txBody>
      </p:sp>
      <p:sp>
        <p:nvSpPr>
          <p:cNvPr id="5" name="Freeform 5">
            <a:extLst>
              <a:ext uri="{FF2B5EF4-FFF2-40B4-BE49-F238E27FC236}">
                <a16:creationId xmlns:a16="http://schemas.microsoft.com/office/drawing/2014/main" id="{6155479A-94B9-E4FC-DF27-BA88E81C9892}"/>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88BA87C5-7F81-676C-D94D-CA22D272C0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A41637F4-75B5-C53A-D149-506B54F1418D}"/>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1D1206CC-0207-0C6D-B6A1-5F672C70FF40}"/>
              </a:ext>
            </a:extLst>
          </p:cNvPr>
          <p:cNvSpPr txBox="1"/>
          <p:nvPr/>
        </p:nvSpPr>
        <p:spPr>
          <a:xfrm>
            <a:off x="457200" y="720435"/>
            <a:ext cx="16992600" cy="589905"/>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COMPARAISON ARCHITECTURES</a:t>
            </a:r>
            <a:endParaRPr lang="en-US" sz="6000" dirty="0">
              <a:solidFill>
                <a:srgbClr val="000000"/>
              </a:solidFill>
              <a:latin typeface="Akzidenz-Grotesk"/>
              <a:sym typeface="Akzidenz-Grotesk"/>
            </a:endParaRPr>
          </a:p>
        </p:txBody>
      </p:sp>
      <p:graphicFrame>
        <p:nvGraphicFramePr>
          <p:cNvPr id="7" name="Tableau 6">
            <a:extLst>
              <a:ext uri="{FF2B5EF4-FFF2-40B4-BE49-F238E27FC236}">
                <a16:creationId xmlns:a16="http://schemas.microsoft.com/office/drawing/2014/main" id="{247F4FA9-94F0-9431-0532-7CD280CC2735}"/>
              </a:ext>
            </a:extLst>
          </p:cNvPr>
          <p:cNvGraphicFramePr>
            <a:graphicFrameLocks noGrp="1"/>
          </p:cNvGraphicFramePr>
          <p:nvPr>
            <p:extLst>
              <p:ext uri="{D42A27DB-BD31-4B8C-83A1-F6EECF244321}">
                <p14:modId xmlns:p14="http://schemas.microsoft.com/office/powerpoint/2010/main" val="1219460983"/>
              </p:ext>
            </p:extLst>
          </p:nvPr>
        </p:nvGraphicFramePr>
        <p:xfrm>
          <a:off x="2145373" y="1702441"/>
          <a:ext cx="15830749" cy="9156059"/>
        </p:xfrm>
        <a:graphic>
          <a:graphicData uri="http://schemas.openxmlformats.org/drawingml/2006/table">
            <a:tbl>
              <a:tblPr firstRow="1" firstCol="1" bandRow="1">
                <a:tableStyleId>{5C22544A-7EE6-4342-B048-85BDC9FD1C3A}</a:tableStyleId>
              </a:tblPr>
              <a:tblGrid>
                <a:gridCol w="3831549">
                  <a:extLst>
                    <a:ext uri="{9D8B030D-6E8A-4147-A177-3AD203B41FA5}">
                      <a16:colId xmlns:a16="http://schemas.microsoft.com/office/drawing/2014/main" val="2853157478"/>
                    </a:ext>
                  </a:extLst>
                </a:gridCol>
                <a:gridCol w="6818227">
                  <a:extLst>
                    <a:ext uri="{9D8B030D-6E8A-4147-A177-3AD203B41FA5}">
                      <a16:colId xmlns:a16="http://schemas.microsoft.com/office/drawing/2014/main" val="565874537"/>
                    </a:ext>
                  </a:extLst>
                </a:gridCol>
                <a:gridCol w="5180973">
                  <a:extLst>
                    <a:ext uri="{9D8B030D-6E8A-4147-A177-3AD203B41FA5}">
                      <a16:colId xmlns:a16="http://schemas.microsoft.com/office/drawing/2014/main" val="431128866"/>
                    </a:ext>
                  </a:extLst>
                </a:gridCol>
              </a:tblGrid>
              <a:tr h="1017340">
                <a:tc>
                  <a:txBody>
                    <a:bodyPr/>
                    <a:lstStyle/>
                    <a:p>
                      <a:pPr>
                        <a:buNone/>
                      </a:pPr>
                      <a:r>
                        <a:rPr lang="fr-FR" sz="4000">
                          <a:effectLst/>
                        </a:rPr>
                        <a:t>APPLICATION</a:t>
                      </a:r>
                      <a:endParaRPr lang="fr-FR" sz="4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MICRO SERVICE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MONOLITHIQUE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37062784"/>
                  </a:ext>
                </a:extLst>
              </a:tr>
              <a:tr h="8138719">
                <a:tc>
                  <a:txBody>
                    <a:bodyPr/>
                    <a:lstStyle/>
                    <a:p>
                      <a:pPr>
                        <a:buNone/>
                      </a:pPr>
                      <a:r>
                        <a:rPr lang="fr-FR" sz="4000" dirty="0">
                          <a:effectLst/>
                        </a:rPr>
                        <a:t>DEFINITION </a:t>
                      </a:r>
                      <a:endParaRPr lang="fr-FR" sz="4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buFont typeface="Arial" panose="020B0604020202020204" pitchFamily="34" charset="0"/>
                        <a:buChar char="-"/>
                      </a:pPr>
                      <a:r>
                        <a:rPr lang="fr-FR" sz="4000" dirty="0">
                          <a:effectLst/>
                        </a:rPr>
                        <a:t>Architecture consistant à créer une suite de services modulables et indépendants ;</a:t>
                      </a:r>
                    </a:p>
                    <a:p>
                      <a:pPr marL="342900" lvl="0" indent="-342900">
                        <a:buFont typeface="Arial" panose="020B0604020202020204" pitchFamily="34" charset="0"/>
                        <a:buChar char="-"/>
                      </a:pPr>
                      <a:r>
                        <a:rPr lang="fr-FR" sz="4000" dirty="0">
                          <a:effectLst/>
                        </a:rPr>
                        <a:t>Chaque service exécute un processus unique et communique à travers un mécanisme léger ;</a:t>
                      </a:r>
                    </a:p>
                    <a:p>
                      <a:pPr marL="342900" lvl="0" indent="-342900">
                        <a:buFont typeface="Arial" panose="020B0604020202020204" pitchFamily="34" charset="0"/>
                        <a:buChar char="-"/>
                      </a:pPr>
                      <a:r>
                        <a:rPr lang="fr-FR" sz="4000" dirty="0">
                          <a:effectLst/>
                        </a:rPr>
                        <a:t>Chaque service peut être modifié, déployé indépendamment des autres ;</a:t>
                      </a:r>
                    </a:p>
                    <a:p>
                      <a:pPr marL="342900" lvl="0" indent="-342900">
                        <a:buFont typeface="Arial" panose="020B0604020202020204" pitchFamily="34" charset="0"/>
                        <a:buChar char="-"/>
                      </a:pPr>
                      <a:r>
                        <a:rPr lang="fr-FR" sz="4000" dirty="0">
                          <a:effectLst/>
                        </a:rPr>
                        <a:t>Un service peut échouer sans compromettre les services voisins</a:t>
                      </a:r>
                      <a:endParaRPr lang="fr-FR" sz="4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buFont typeface="Arial" panose="020B0604020202020204" pitchFamily="34" charset="0"/>
                        <a:buChar char="-"/>
                      </a:pPr>
                      <a:r>
                        <a:rPr lang="fr-FR" sz="4000" dirty="0">
                          <a:effectLst/>
                        </a:rPr>
                        <a:t>Architecture consistant à développer l’application en un seul bloc,</a:t>
                      </a:r>
                    </a:p>
                    <a:p>
                      <a:pPr marL="342900" lvl="0" indent="-342900">
                        <a:buFont typeface="Arial" panose="020B0604020202020204" pitchFamily="34" charset="0"/>
                        <a:buChar char="-"/>
                      </a:pPr>
                      <a:r>
                        <a:rPr lang="fr-FR" sz="4000" dirty="0">
                          <a:effectLst/>
                        </a:rPr>
                        <a:t>Avec une même technologie et déployé dans un serveur d’application et une seule base de données.</a:t>
                      </a:r>
                      <a:endParaRPr lang="fr-FR" sz="4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4421371"/>
                  </a:ext>
                </a:extLst>
              </a:tr>
            </a:tbl>
          </a:graphicData>
        </a:graphic>
      </p:graphicFrame>
    </p:spTree>
    <p:extLst>
      <p:ext uri="{BB962C8B-B14F-4D97-AF65-F5344CB8AC3E}">
        <p14:creationId xmlns:p14="http://schemas.microsoft.com/office/powerpoint/2010/main" val="4054497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D8E8716A-1EB9-7139-8274-F14122025081}"/>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F0305406-2CA8-3362-1383-89609BE25B00}"/>
              </a:ext>
            </a:extLst>
          </p:cNvPr>
          <p:cNvSpPr txBox="1"/>
          <p:nvPr/>
        </p:nvSpPr>
        <p:spPr>
          <a:xfrm>
            <a:off x="1981201" y="1081598"/>
            <a:ext cx="15152028" cy="10462701"/>
          </a:xfrm>
          <a:prstGeom prst="rect">
            <a:avLst/>
          </a:prstGeom>
        </p:spPr>
        <p:txBody>
          <a:bodyPr lIns="50800" tIns="50800" rIns="50800" bIns="50800" rtlCol="0" anchor="ctr"/>
          <a:lstStyle/>
          <a:p>
            <a:pPr algn="ctr">
              <a:lnSpc>
                <a:spcPts val="2660"/>
              </a:lnSpc>
            </a:pPr>
            <a:endParaRPr/>
          </a:p>
        </p:txBody>
      </p:sp>
      <p:sp>
        <p:nvSpPr>
          <p:cNvPr id="5" name="Freeform 5">
            <a:extLst>
              <a:ext uri="{FF2B5EF4-FFF2-40B4-BE49-F238E27FC236}">
                <a16:creationId xmlns:a16="http://schemas.microsoft.com/office/drawing/2014/main" id="{656E1C20-EA1B-EA78-09AE-B6177FC7B714}"/>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BCC9718C-B992-D893-5A8A-BDFDC51DC1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D4997226-7D16-B13B-4145-511C7F945B93}"/>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A49126EA-DF32-043B-B207-B44677C782DF}"/>
              </a:ext>
            </a:extLst>
          </p:cNvPr>
          <p:cNvSpPr txBox="1"/>
          <p:nvPr/>
        </p:nvSpPr>
        <p:spPr>
          <a:xfrm>
            <a:off x="457200" y="720435"/>
            <a:ext cx="16992600" cy="589905"/>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COMPARAISON ARCHITECTURES</a:t>
            </a:r>
            <a:endParaRPr lang="en-US" sz="6000" dirty="0">
              <a:solidFill>
                <a:srgbClr val="000000"/>
              </a:solidFill>
              <a:latin typeface="Akzidenz-Grotesk"/>
              <a:sym typeface="Akzidenz-Grotesk"/>
            </a:endParaRPr>
          </a:p>
        </p:txBody>
      </p:sp>
      <p:graphicFrame>
        <p:nvGraphicFramePr>
          <p:cNvPr id="7" name="Tableau 6">
            <a:extLst>
              <a:ext uri="{FF2B5EF4-FFF2-40B4-BE49-F238E27FC236}">
                <a16:creationId xmlns:a16="http://schemas.microsoft.com/office/drawing/2014/main" id="{158333E7-5ECE-D9E5-2865-15C99C004076}"/>
              </a:ext>
            </a:extLst>
          </p:cNvPr>
          <p:cNvGraphicFramePr>
            <a:graphicFrameLocks noGrp="1"/>
          </p:cNvGraphicFramePr>
          <p:nvPr>
            <p:extLst>
              <p:ext uri="{D42A27DB-BD31-4B8C-83A1-F6EECF244321}">
                <p14:modId xmlns:p14="http://schemas.microsoft.com/office/powerpoint/2010/main" val="581427078"/>
              </p:ext>
            </p:extLst>
          </p:nvPr>
        </p:nvGraphicFramePr>
        <p:xfrm>
          <a:off x="2145373" y="1702441"/>
          <a:ext cx="15830749" cy="9156059"/>
        </p:xfrm>
        <a:graphic>
          <a:graphicData uri="http://schemas.openxmlformats.org/drawingml/2006/table">
            <a:tbl>
              <a:tblPr firstRow="1" firstCol="1" bandRow="1">
                <a:tableStyleId>{5C22544A-7EE6-4342-B048-85BDC9FD1C3A}</a:tableStyleId>
              </a:tblPr>
              <a:tblGrid>
                <a:gridCol w="3831549">
                  <a:extLst>
                    <a:ext uri="{9D8B030D-6E8A-4147-A177-3AD203B41FA5}">
                      <a16:colId xmlns:a16="http://schemas.microsoft.com/office/drawing/2014/main" val="2853157478"/>
                    </a:ext>
                  </a:extLst>
                </a:gridCol>
                <a:gridCol w="6291278">
                  <a:extLst>
                    <a:ext uri="{9D8B030D-6E8A-4147-A177-3AD203B41FA5}">
                      <a16:colId xmlns:a16="http://schemas.microsoft.com/office/drawing/2014/main" val="565874537"/>
                    </a:ext>
                  </a:extLst>
                </a:gridCol>
                <a:gridCol w="5707922">
                  <a:extLst>
                    <a:ext uri="{9D8B030D-6E8A-4147-A177-3AD203B41FA5}">
                      <a16:colId xmlns:a16="http://schemas.microsoft.com/office/drawing/2014/main" val="431128866"/>
                    </a:ext>
                  </a:extLst>
                </a:gridCol>
              </a:tblGrid>
              <a:tr h="1017340">
                <a:tc>
                  <a:txBody>
                    <a:bodyPr/>
                    <a:lstStyle/>
                    <a:p>
                      <a:pPr>
                        <a:buNone/>
                      </a:pPr>
                      <a:r>
                        <a:rPr lang="fr-FR" sz="4000">
                          <a:effectLst/>
                        </a:rPr>
                        <a:t>APPLICATION</a:t>
                      </a:r>
                      <a:endParaRPr lang="fr-FR" sz="4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MICRO SERVICE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MONOLITHIQUE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37062784"/>
                  </a:ext>
                </a:extLst>
              </a:tr>
              <a:tr h="8138719">
                <a:tc>
                  <a:txBody>
                    <a:bodyPr/>
                    <a:lstStyle/>
                    <a:p>
                      <a:pPr>
                        <a:buNone/>
                      </a:pPr>
                      <a:r>
                        <a:rPr lang="fr-FR" sz="3600" b="1" kern="1200" dirty="0">
                          <a:solidFill>
                            <a:schemeClr val="lt1"/>
                          </a:solidFill>
                          <a:effectLst/>
                          <a:latin typeface="+mn-lt"/>
                          <a:ea typeface="+mn-ea"/>
                          <a:cs typeface="+mn-cs"/>
                        </a:rPr>
                        <a:t>CARACTISTIQUE</a:t>
                      </a:r>
                      <a:r>
                        <a:rPr lang="fr-FR" sz="3600" dirty="0">
                          <a:effectLst/>
                        </a:rPr>
                        <a:t> </a:t>
                      </a:r>
                      <a:r>
                        <a:rPr lang="fr-FR" sz="4000" dirty="0">
                          <a:effectLst/>
                        </a:rPr>
                        <a:t> </a:t>
                      </a:r>
                      <a:endParaRPr lang="fr-FR" sz="4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285750" lvl="0" indent="-285750">
                        <a:buFont typeface="Arial" panose="020B0604020202020204" pitchFamily="34" charset="0"/>
                        <a:buChar char="•"/>
                      </a:pPr>
                      <a:r>
                        <a:rPr lang="fr-FR" sz="4400" kern="1200" dirty="0">
                          <a:solidFill>
                            <a:schemeClr val="dk1"/>
                          </a:solidFill>
                          <a:effectLst/>
                          <a:latin typeface="+mn-lt"/>
                          <a:ea typeface="+mn-ea"/>
                          <a:cs typeface="+mn-cs"/>
                        </a:rPr>
                        <a:t>Une application devient plus simple à construire et à maintenir lorsqu’elle est divisée en petits morceaux </a:t>
                      </a:r>
                    </a:p>
                    <a:p>
                      <a:pPr marL="285750" lvl="0" indent="-285750">
                        <a:buFont typeface="Arial" panose="020B0604020202020204" pitchFamily="34" charset="0"/>
                        <a:buChar char="•"/>
                      </a:pPr>
                      <a:r>
                        <a:rPr lang="fr-FR" sz="4400" kern="1200" dirty="0">
                          <a:solidFill>
                            <a:schemeClr val="dk1"/>
                          </a:solidFill>
                          <a:effectLst/>
                          <a:latin typeface="+mn-lt"/>
                          <a:ea typeface="+mn-ea"/>
                          <a:cs typeface="+mn-cs"/>
                        </a:rPr>
                        <a:t>Un micro service est basé sur une seule fonctionnalité ;déployable individuellement ;</a:t>
                      </a:r>
                    </a:p>
                  </a:txBody>
                  <a:tcPr marL="68580" marR="68580" marT="0" marB="0"/>
                </a:tc>
                <a:tc>
                  <a:txBody>
                    <a:bodyPr/>
                    <a:lstStyle/>
                    <a:p>
                      <a:pPr marL="285750" lvl="0" indent="-285750">
                        <a:buFont typeface="Arial" panose="020B0604020202020204" pitchFamily="34" charset="0"/>
                        <a:buChar char="•"/>
                      </a:pPr>
                      <a:r>
                        <a:rPr lang="fr-FR" sz="4000" kern="1200" dirty="0">
                          <a:solidFill>
                            <a:schemeClr val="dk1"/>
                          </a:solidFill>
                          <a:effectLst/>
                          <a:latin typeface="+mn-lt"/>
                          <a:ea typeface="+mn-ea"/>
                          <a:cs typeface="+mn-cs"/>
                        </a:rPr>
                        <a:t>Un monolithique est basée sur plusieurs fonctionnalités ;</a:t>
                      </a:r>
                    </a:p>
                    <a:p>
                      <a:pPr marL="285750" lvl="0" indent="-285750">
                        <a:buFont typeface="Arial" panose="020B0604020202020204" pitchFamily="34" charset="0"/>
                        <a:buChar char="•"/>
                      </a:pPr>
                      <a:r>
                        <a:rPr lang="fr-FR" sz="4000" kern="1200" dirty="0">
                          <a:solidFill>
                            <a:schemeClr val="dk1"/>
                          </a:solidFill>
                          <a:effectLst/>
                          <a:latin typeface="+mn-lt"/>
                          <a:ea typeface="+mn-ea"/>
                          <a:cs typeface="+mn-cs"/>
                        </a:rPr>
                        <a:t>Les requête des utilisateurs passent par les frontend qui communique avec la logique métier qui envoie la requête à la base de données unique et inversement pour la réponse à l’utilisateur.</a:t>
                      </a:r>
                    </a:p>
                  </a:txBody>
                  <a:tcPr marL="68580" marR="68580" marT="0" marB="0"/>
                </a:tc>
                <a:extLst>
                  <a:ext uri="{0D108BD9-81ED-4DB2-BD59-A6C34878D82A}">
                    <a16:rowId xmlns:a16="http://schemas.microsoft.com/office/drawing/2014/main" val="484421371"/>
                  </a:ext>
                </a:extLst>
              </a:tr>
            </a:tbl>
          </a:graphicData>
        </a:graphic>
      </p:graphicFrame>
    </p:spTree>
    <p:extLst>
      <p:ext uri="{BB962C8B-B14F-4D97-AF65-F5344CB8AC3E}">
        <p14:creationId xmlns:p14="http://schemas.microsoft.com/office/powerpoint/2010/main" val="1733800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2FCADB89-A73D-A052-651C-6560D2697264}"/>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F335C8EF-BC1C-9D31-8869-557AB3D1EC93}"/>
              </a:ext>
            </a:extLst>
          </p:cNvPr>
          <p:cNvSpPr txBox="1"/>
          <p:nvPr/>
        </p:nvSpPr>
        <p:spPr>
          <a:xfrm>
            <a:off x="1981201" y="1081598"/>
            <a:ext cx="15152028" cy="10462701"/>
          </a:xfrm>
          <a:prstGeom prst="rect">
            <a:avLst/>
          </a:prstGeom>
        </p:spPr>
        <p:txBody>
          <a:bodyPr lIns="50800" tIns="50800" rIns="50800" bIns="50800" rtlCol="0" anchor="ctr"/>
          <a:lstStyle/>
          <a:p>
            <a:pPr algn="ctr">
              <a:lnSpc>
                <a:spcPts val="2660"/>
              </a:lnSpc>
            </a:pPr>
            <a:endParaRPr/>
          </a:p>
        </p:txBody>
      </p:sp>
      <p:sp>
        <p:nvSpPr>
          <p:cNvPr id="5" name="Freeform 5">
            <a:extLst>
              <a:ext uri="{FF2B5EF4-FFF2-40B4-BE49-F238E27FC236}">
                <a16:creationId xmlns:a16="http://schemas.microsoft.com/office/drawing/2014/main" id="{B4DD8716-2F45-BC0D-6CD3-0EE17198A45A}"/>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C02357F4-9575-D0B6-9401-36B5859A73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0E742E43-AF27-D337-9B5E-CDFAD7F6E463}"/>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D014C639-6CB3-715F-378E-05FFFB6DB0D1}"/>
              </a:ext>
            </a:extLst>
          </p:cNvPr>
          <p:cNvSpPr txBox="1"/>
          <p:nvPr/>
        </p:nvSpPr>
        <p:spPr>
          <a:xfrm>
            <a:off x="457200" y="720435"/>
            <a:ext cx="16992600" cy="589905"/>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COMPARAISON ARCHITECTURES</a:t>
            </a:r>
            <a:endParaRPr lang="en-US" sz="6000" dirty="0">
              <a:solidFill>
                <a:srgbClr val="000000"/>
              </a:solidFill>
              <a:latin typeface="Akzidenz-Grotesk"/>
              <a:sym typeface="Akzidenz-Grotesk"/>
            </a:endParaRPr>
          </a:p>
        </p:txBody>
      </p:sp>
      <p:graphicFrame>
        <p:nvGraphicFramePr>
          <p:cNvPr id="7" name="Tableau 6">
            <a:extLst>
              <a:ext uri="{FF2B5EF4-FFF2-40B4-BE49-F238E27FC236}">
                <a16:creationId xmlns:a16="http://schemas.microsoft.com/office/drawing/2014/main" id="{FE390773-4C19-E9AB-C029-E6C73F203010}"/>
              </a:ext>
            </a:extLst>
          </p:cNvPr>
          <p:cNvGraphicFramePr>
            <a:graphicFrameLocks noGrp="1"/>
          </p:cNvGraphicFramePr>
          <p:nvPr>
            <p:extLst>
              <p:ext uri="{D42A27DB-BD31-4B8C-83A1-F6EECF244321}">
                <p14:modId xmlns:p14="http://schemas.microsoft.com/office/powerpoint/2010/main" val="674720469"/>
              </p:ext>
            </p:extLst>
          </p:nvPr>
        </p:nvGraphicFramePr>
        <p:xfrm>
          <a:off x="2145373" y="1702441"/>
          <a:ext cx="15830749" cy="13087420"/>
        </p:xfrm>
        <a:graphic>
          <a:graphicData uri="http://schemas.openxmlformats.org/drawingml/2006/table">
            <a:tbl>
              <a:tblPr firstRow="1" firstCol="1" bandRow="1">
                <a:tableStyleId>{5C22544A-7EE6-4342-B048-85BDC9FD1C3A}</a:tableStyleId>
              </a:tblPr>
              <a:tblGrid>
                <a:gridCol w="3831549">
                  <a:extLst>
                    <a:ext uri="{9D8B030D-6E8A-4147-A177-3AD203B41FA5}">
                      <a16:colId xmlns:a16="http://schemas.microsoft.com/office/drawing/2014/main" val="2853157478"/>
                    </a:ext>
                  </a:extLst>
                </a:gridCol>
                <a:gridCol w="6291278">
                  <a:extLst>
                    <a:ext uri="{9D8B030D-6E8A-4147-A177-3AD203B41FA5}">
                      <a16:colId xmlns:a16="http://schemas.microsoft.com/office/drawing/2014/main" val="565874537"/>
                    </a:ext>
                  </a:extLst>
                </a:gridCol>
                <a:gridCol w="5707922">
                  <a:extLst>
                    <a:ext uri="{9D8B030D-6E8A-4147-A177-3AD203B41FA5}">
                      <a16:colId xmlns:a16="http://schemas.microsoft.com/office/drawing/2014/main" val="431128866"/>
                    </a:ext>
                  </a:extLst>
                </a:gridCol>
              </a:tblGrid>
              <a:tr h="1017340">
                <a:tc>
                  <a:txBody>
                    <a:bodyPr/>
                    <a:lstStyle/>
                    <a:p>
                      <a:pPr>
                        <a:buNone/>
                      </a:pPr>
                      <a:r>
                        <a:rPr lang="fr-FR" sz="4000">
                          <a:effectLst/>
                        </a:rPr>
                        <a:t>APPLICATION</a:t>
                      </a:r>
                      <a:endParaRPr lang="fr-FR" sz="4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MICRO SERVICE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MONOLITHIQUE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37062784"/>
                  </a:ext>
                </a:extLst>
              </a:tr>
              <a:tr h="8138719">
                <a:tc>
                  <a:txBody>
                    <a:bodyPr/>
                    <a:lstStyle/>
                    <a:p>
                      <a:pPr>
                        <a:buNone/>
                      </a:pPr>
                      <a:r>
                        <a:rPr lang="fr-FR" sz="3600" b="1" kern="1200" dirty="0">
                          <a:solidFill>
                            <a:schemeClr val="lt1"/>
                          </a:solidFill>
                          <a:effectLst/>
                          <a:latin typeface="+mn-lt"/>
                          <a:ea typeface="+mn-ea"/>
                          <a:cs typeface="+mn-cs"/>
                        </a:rPr>
                        <a:t>AVANTAGE</a:t>
                      </a:r>
                      <a:r>
                        <a:rPr lang="fr-FR" sz="3600" dirty="0">
                          <a:effectLst/>
                        </a:rPr>
                        <a:t> </a:t>
                      </a:r>
                      <a:r>
                        <a:rPr lang="fr-FR" sz="4000" dirty="0">
                          <a:effectLst/>
                        </a:rPr>
                        <a:t> </a:t>
                      </a:r>
                      <a:endParaRPr lang="fr-FR" sz="4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lvl="0"/>
                      <a:r>
                        <a:rPr lang="fr-FR" sz="3600" kern="1200" dirty="0">
                          <a:solidFill>
                            <a:schemeClr val="dk1"/>
                          </a:solidFill>
                          <a:effectLst/>
                          <a:latin typeface="+mn-lt"/>
                          <a:ea typeface="+mn-ea"/>
                          <a:cs typeface="+mn-cs"/>
                        </a:rPr>
                        <a:t>Possibilité de développer et déployer de manière indépendante ;</a:t>
                      </a:r>
                    </a:p>
                    <a:p>
                      <a:pPr lvl="0"/>
                      <a:r>
                        <a:rPr lang="fr-FR" sz="3600" kern="1200" dirty="0">
                          <a:solidFill>
                            <a:schemeClr val="dk1"/>
                          </a:solidFill>
                          <a:effectLst/>
                          <a:latin typeface="+mn-lt"/>
                          <a:ea typeface="+mn-ea"/>
                          <a:cs typeface="+mn-cs"/>
                        </a:rPr>
                        <a:t>Un </a:t>
                      </a:r>
                      <a:r>
                        <a:rPr lang="fr-FR" sz="3600" kern="1200" dirty="0" err="1">
                          <a:solidFill>
                            <a:schemeClr val="dk1"/>
                          </a:solidFill>
                          <a:effectLst/>
                          <a:latin typeface="+mn-lt"/>
                          <a:ea typeface="+mn-ea"/>
                          <a:cs typeface="+mn-cs"/>
                        </a:rPr>
                        <a:t>microservice</a:t>
                      </a:r>
                      <a:r>
                        <a:rPr lang="fr-FR" sz="3600" kern="1200" dirty="0">
                          <a:solidFill>
                            <a:schemeClr val="dk1"/>
                          </a:solidFill>
                          <a:effectLst/>
                          <a:latin typeface="+mn-lt"/>
                          <a:ea typeface="+mn-ea"/>
                          <a:cs typeface="+mn-cs"/>
                        </a:rPr>
                        <a:t> peut être développé par une équipe assez petite ( peu de code , peu de fonctionnalité) ;</a:t>
                      </a:r>
                    </a:p>
                    <a:p>
                      <a:pPr lvl="0"/>
                      <a:r>
                        <a:rPr lang="fr-FR" sz="3600" kern="1200" dirty="0">
                          <a:solidFill>
                            <a:schemeClr val="dk1"/>
                          </a:solidFill>
                          <a:effectLst/>
                          <a:latin typeface="+mn-lt"/>
                          <a:ea typeface="+mn-ea"/>
                          <a:cs typeface="+mn-cs"/>
                        </a:rPr>
                        <a:t>Les </a:t>
                      </a:r>
                      <a:r>
                        <a:rPr lang="fr-FR" sz="3600" kern="1200" dirty="0" err="1">
                          <a:solidFill>
                            <a:schemeClr val="dk1"/>
                          </a:solidFill>
                          <a:effectLst/>
                          <a:latin typeface="+mn-lt"/>
                          <a:ea typeface="+mn-ea"/>
                          <a:cs typeface="+mn-cs"/>
                        </a:rPr>
                        <a:t>microservices</a:t>
                      </a:r>
                      <a:r>
                        <a:rPr lang="fr-FR" sz="3600" kern="1200" dirty="0">
                          <a:solidFill>
                            <a:schemeClr val="dk1"/>
                          </a:solidFill>
                          <a:effectLst/>
                          <a:latin typeface="+mn-lt"/>
                          <a:ea typeface="+mn-ea"/>
                          <a:cs typeface="+mn-cs"/>
                        </a:rPr>
                        <a:t> peuvent être écrits dans différents langages (java, </a:t>
                      </a:r>
                      <a:r>
                        <a:rPr lang="fr-FR" sz="3600" kern="1200" dirty="0" err="1">
                          <a:solidFill>
                            <a:schemeClr val="dk1"/>
                          </a:solidFill>
                          <a:effectLst/>
                          <a:latin typeface="+mn-lt"/>
                          <a:ea typeface="+mn-ea"/>
                          <a:cs typeface="+mn-cs"/>
                        </a:rPr>
                        <a:t>c#</a:t>
                      </a:r>
                      <a:r>
                        <a:rPr lang="fr-FR" sz="3600" kern="1200" dirty="0">
                          <a:solidFill>
                            <a:schemeClr val="dk1"/>
                          </a:solidFill>
                          <a:effectLst/>
                          <a:latin typeface="+mn-lt"/>
                          <a:ea typeface="+mn-ea"/>
                          <a:cs typeface="+mn-cs"/>
                        </a:rPr>
                        <a:t> , </a:t>
                      </a:r>
                      <a:r>
                        <a:rPr lang="fr-FR" sz="3600" kern="1200" dirty="0" err="1">
                          <a:solidFill>
                            <a:schemeClr val="dk1"/>
                          </a:solidFill>
                          <a:effectLst/>
                          <a:latin typeface="+mn-lt"/>
                          <a:ea typeface="+mn-ea"/>
                          <a:cs typeface="+mn-cs"/>
                        </a:rPr>
                        <a:t>php</a:t>
                      </a:r>
                      <a:r>
                        <a:rPr lang="fr-FR" sz="3600" kern="1200" dirty="0">
                          <a:solidFill>
                            <a:schemeClr val="dk1"/>
                          </a:solidFill>
                          <a:effectLst/>
                          <a:latin typeface="+mn-lt"/>
                          <a:ea typeface="+mn-ea"/>
                          <a:cs typeface="+mn-cs"/>
                        </a:rPr>
                        <a:t> ) ;</a:t>
                      </a:r>
                    </a:p>
                    <a:p>
                      <a:pPr lvl="0"/>
                      <a:r>
                        <a:rPr lang="fr-FR" sz="3600" kern="1200" dirty="0">
                          <a:solidFill>
                            <a:schemeClr val="dk1"/>
                          </a:solidFill>
                          <a:effectLst/>
                          <a:latin typeface="+mn-lt"/>
                          <a:ea typeface="+mn-ea"/>
                          <a:cs typeface="+mn-cs"/>
                        </a:rPr>
                        <a:t>Intégration facile et déploiement automatique </a:t>
                      </a:r>
                    </a:p>
                    <a:p>
                      <a:pPr lvl="0"/>
                      <a:r>
                        <a:rPr lang="fr-FR" sz="3600" kern="1200" dirty="0">
                          <a:solidFill>
                            <a:schemeClr val="dk1"/>
                          </a:solidFill>
                          <a:effectLst/>
                          <a:latin typeface="+mn-lt"/>
                          <a:ea typeface="+mn-ea"/>
                          <a:cs typeface="+mn-cs"/>
                        </a:rPr>
                        <a:t>Facile à comprendre et à modifier ;</a:t>
                      </a:r>
                    </a:p>
                    <a:p>
                      <a:pPr lvl="0"/>
                      <a:r>
                        <a:rPr lang="fr-FR" sz="3600" kern="1200" dirty="0">
                          <a:solidFill>
                            <a:schemeClr val="dk1"/>
                          </a:solidFill>
                          <a:effectLst/>
                          <a:latin typeface="+mn-lt"/>
                          <a:ea typeface="+mn-ea"/>
                          <a:cs typeface="+mn-cs"/>
                        </a:rPr>
                        <a:t>Code organisé autour du métier ;</a:t>
                      </a:r>
                    </a:p>
                    <a:p>
                      <a:pPr lvl="0"/>
                      <a:r>
                        <a:rPr lang="fr-FR" sz="3600" kern="1200" dirty="0">
                          <a:solidFill>
                            <a:schemeClr val="dk1"/>
                          </a:solidFill>
                          <a:effectLst/>
                          <a:latin typeface="+mn-lt"/>
                          <a:ea typeface="+mn-ea"/>
                          <a:cs typeface="+mn-cs"/>
                        </a:rPr>
                        <a:t>Meilleure isolation des pannes ;</a:t>
                      </a:r>
                    </a:p>
                    <a:p>
                      <a:pPr lvl="0"/>
                      <a:r>
                        <a:rPr lang="fr-FR" sz="3600" kern="1200" dirty="0">
                          <a:solidFill>
                            <a:schemeClr val="dk1"/>
                          </a:solidFill>
                          <a:effectLst/>
                          <a:latin typeface="+mn-lt"/>
                          <a:ea typeface="+mn-ea"/>
                          <a:cs typeface="+mn-cs"/>
                        </a:rPr>
                        <a:t>Pas d’engagement à long terme quant aux technologies.</a:t>
                      </a:r>
                    </a:p>
                    <a:p>
                      <a:r>
                        <a:rPr lang="fr-FR" sz="3600" kern="1200" dirty="0">
                          <a:solidFill>
                            <a:schemeClr val="dk1"/>
                          </a:solidFill>
                          <a:effectLst/>
                          <a:latin typeface="+mn-lt"/>
                          <a:ea typeface="+mn-ea"/>
                          <a:cs typeface="+mn-cs"/>
                        </a:rPr>
                        <a:t> </a:t>
                      </a:r>
                    </a:p>
                    <a:p>
                      <a:pPr lvl="0"/>
                      <a:r>
                        <a:rPr lang="fr-FR" sz="3600" kern="1200" dirty="0">
                          <a:solidFill>
                            <a:schemeClr val="dk1"/>
                          </a:solidFill>
                          <a:effectLst/>
                          <a:latin typeface="+mn-lt"/>
                          <a:ea typeface="+mn-ea"/>
                          <a:cs typeface="+mn-cs"/>
                        </a:rPr>
                        <a:t>Si un service est plus sollicité possibilité de déployé en plusieurs instances</a:t>
                      </a:r>
                    </a:p>
                  </a:txBody>
                  <a:tcPr marL="68580" marR="68580" marT="0" marB="0"/>
                </a:tc>
                <a:tc>
                  <a:txBody>
                    <a:bodyPr/>
                    <a:lstStyle/>
                    <a:p>
                      <a:pPr marL="342900" lvl="0" indent="-342900">
                        <a:buFont typeface="Arial" panose="020B0604020202020204" pitchFamily="34" charset="0"/>
                        <a:buChar char="-"/>
                      </a:pPr>
                      <a:r>
                        <a:rPr lang="fr-FR" sz="4000" dirty="0">
                          <a:effectLst/>
                          <a:latin typeface="Times New Roman" panose="02020603050405020304" pitchFamily="18" charset="0"/>
                          <a:ea typeface="Calibri" panose="020F0502020204030204" pitchFamily="34" charset="0"/>
                        </a:rPr>
                        <a:t>Simplicité de mise en place d’une application </a:t>
                      </a:r>
                      <a:endParaRPr lang="fr-FR" sz="4400" dirty="0">
                        <a:effectLst/>
                        <a:latin typeface="Times New Roman" panose="02020603050405020304" pitchFamily="18" charset="0"/>
                        <a:ea typeface="Calibri" panose="020F0502020204030204" pitchFamily="34" charset="0"/>
                      </a:endParaRPr>
                    </a:p>
                    <a:p>
                      <a:pPr marL="342900" lvl="0" indent="-342900">
                        <a:buFont typeface="Arial" panose="020B0604020202020204" pitchFamily="34" charset="0"/>
                        <a:buChar char="-"/>
                      </a:pPr>
                      <a:r>
                        <a:rPr lang="fr-FR" sz="4000" dirty="0">
                          <a:effectLst/>
                          <a:latin typeface="Times New Roman" panose="02020603050405020304" pitchFamily="18" charset="0"/>
                          <a:ea typeface="Calibri" panose="020F0502020204030204" pitchFamily="34" charset="0"/>
                        </a:rPr>
                        <a:t>Une seule codebase (Un seul repositories)</a:t>
                      </a:r>
                      <a:endParaRPr lang="fr-FR" sz="4400" dirty="0">
                        <a:effectLst/>
                        <a:latin typeface="Times New Roman" panose="02020603050405020304" pitchFamily="18" charset="0"/>
                        <a:ea typeface="Calibri" panose="020F0502020204030204" pitchFamily="34" charset="0"/>
                      </a:endParaRPr>
                    </a:p>
                    <a:p>
                      <a:pPr marL="342900" lvl="0" indent="-342900">
                        <a:buFont typeface="Arial" panose="020B0604020202020204" pitchFamily="34" charset="0"/>
                        <a:buChar char="-"/>
                      </a:pPr>
                      <a:r>
                        <a:rPr lang="fr-FR" sz="4000" dirty="0">
                          <a:effectLst/>
                          <a:latin typeface="Times New Roman" panose="02020603050405020304" pitchFamily="18" charset="0"/>
                          <a:ea typeface="Calibri" panose="020F0502020204030204" pitchFamily="34" charset="0"/>
                        </a:rPr>
                        <a:t>Efficience à petite échelle pour de petite application</a:t>
                      </a:r>
                      <a:endParaRPr lang="fr-FR" sz="4400" dirty="0">
                        <a:effectLst/>
                        <a:latin typeface="Times New Roman" panose="02020603050405020304" pitchFamily="18" charset="0"/>
                        <a:ea typeface="Calibri" panose="020F0502020204030204" pitchFamily="34" charset="0"/>
                      </a:endParaRPr>
                    </a:p>
                    <a:p>
                      <a:pPr marL="342900" lvl="0" indent="-342900">
                        <a:buFont typeface="Arial" panose="020B0604020202020204" pitchFamily="34" charset="0"/>
                        <a:buChar char="-"/>
                      </a:pPr>
                      <a:r>
                        <a:rPr lang="fr-FR" sz="4000" dirty="0">
                          <a:effectLst/>
                          <a:latin typeface="Times New Roman" panose="02020603050405020304" pitchFamily="18" charset="0"/>
                          <a:ea typeface="Calibri" panose="020F0502020204030204" pitchFamily="34" charset="0"/>
                        </a:rPr>
                        <a:t>Latence applicative ;</a:t>
                      </a:r>
                      <a:endParaRPr lang="fr-FR" sz="4400" dirty="0">
                        <a:effectLst/>
                        <a:latin typeface="Times New Roman" panose="02020603050405020304" pitchFamily="18" charset="0"/>
                        <a:ea typeface="Calibri" panose="020F0502020204030204" pitchFamily="34" charset="0"/>
                      </a:endParaRPr>
                    </a:p>
                    <a:p>
                      <a:pPr marL="342900" lvl="0" indent="-342900">
                        <a:buFont typeface="Arial" panose="020B0604020202020204" pitchFamily="34" charset="0"/>
                        <a:buChar char="-"/>
                      </a:pPr>
                      <a:r>
                        <a:rPr lang="fr-FR" sz="4000" dirty="0">
                          <a:effectLst/>
                          <a:latin typeface="Times New Roman" panose="02020603050405020304" pitchFamily="18" charset="0"/>
                          <a:ea typeface="Calibri" panose="020F0502020204030204" pitchFamily="34" charset="0"/>
                        </a:rPr>
                        <a:t>Les bases de données qui sont derrière on peut faire des requête et jointure faciles ;</a:t>
                      </a:r>
                      <a:endParaRPr lang="fr-FR" sz="4400" dirty="0">
                        <a:effectLst/>
                        <a:latin typeface="Times New Roman" panose="02020603050405020304" pitchFamily="18" charset="0"/>
                        <a:ea typeface="Calibri" panose="020F0502020204030204" pitchFamily="34" charset="0"/>
                      </a:endParaRPr>
                    </a:p>
                    <a:p>
                      <a:pPr>
                        <a:buNone/>
                      </a:pPr>
                      <a:r>
                        <a:rPr lang="fr-FR" sz="4000" dirty="0">
                          <a:effectLst/>
                          <a:latin typeface="Times New Roman" panose="02020603050405020304" pitchFamily="18" charset="0"/>
                          <a:ea typeface="Times New Roman" panose="02020603050405020304" pitchFamily="18" charset="0"/>
                        </a:rPr>
                        <a:t>Un seul schéma, un seul déployèrent </a:t>
                      </a:r>
                      <a:endParaRPr lang="fr-FR" sz="40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484421371"/>
                  </a:ext>
                </a:extLst>
              </a:tr>
            </a:tbl>
          </a:graphicData>
        </a:graphic>
      </p:graphicFrame>
    </p:spTree>
    <p:extLst>
      <p:ext uri="{BB962C8B-B14F-4D97-AF65-F5344CB8AC3E}">
        <p14:creationId xmlns:p14="http://schemas.microsoft.com/office/powerpoint/2010/main" val="1929246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3DC1FF33-F454-8E55-2C27-532D6BE4CEA1}"/>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92191F2A-7A1D-6D17-10CE-B938DBEA1AE8}"/>
              </a:ext>
            </a:extLst>
          </p:cNvPr>
          <p:cNvSpPr txBox="1"/>
          <p:nvPr/>
        </p:nvSpPr>
        <p:spPr>
          <a:xfrm>
            <a:off x="1981201" y="1081598"/>
            <a:ext cx="15152028" cy="10462701"/>
          </a:xfrm>
          <a:prstGeom prst="rect">
            <a:avLst/>
          </a:prstGeom>
        </p:spPr>
        <p:txBody>
          <a:bodyPr lIns="50800" tIns="50800" rIns="50800" bIns="50800" rtlCol="0" anchor="ctr"/>
          <a:lstStyle/>
          <a:p>
            <a:pPr algn="ctr">
              <a:lnSpc>
                <a:spcPts val="2660"/>
              </a:lnSpc>
            </a:pPr>
            <a:endParaRPr/>
          </a:p>
        </p:txBody>
      </p:sp>
      <p:sp>
        <p:nvSpPr>
          <p:cNvPr id="5" name="Freeform 5">
            <a:extLst>
              <a:ext uri="{FF2B5EF4-FFF2-40B4-BE49-F238E27FC236}">
                <a16:creationId xmlns:a16="http://schemas.microsoft.com/office/drawing/2014/main" id="{0EB75303-4243-5E9B-4748-158CDDC0CB2F}"/>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D3DA2F5F-CEEA-211C-62C8-2E1808CED1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5EB71196-7F48-228E-0833-DC4FB4889F48}"/>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31F07194-C637-5ABD-1CEF-1C442935C899}"/>
              </a:ext>
            </a:extLst>
          </p:cNvPr>
          <p:cNvSpPr txBox="1"/>
          <p:nvPr/>
        </p:nvSpPr>
        <p:spPr>
          <a:xfrm>
            <a:off x="457200" y="720435"/>
            <a:ext cx="16992600" cy="589905"/>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COMPARAISON ARCHITECTURES</a:t>
            </a:r>
            <a:endParaRPr lang="en-US" sz="6000" dirty="0">
              <a:solidFill>
                <a:srgbClr val="000000"/>
              </a:solidFill>
              <a:latin typeface="Akzidenz-Grotesk"/>
              <a:sym typeface="Akzidenz-Grotesk"/>
            </a:endParaRPr>
          </a:p>
        </p:txBody>
      </p:sp>
      <p:graphicFrame>
        <p:nvGraphicFramePr>
          <p:cNvPr id="7" name="Tableau 6">
            <a:extLst>
              <a:ext uri="{FF2B5EF4-FFF2-40B4-BE49-F238E27FC236}">
                <a16:creationId xmlns:a16="http://schemas.microsoft.com/office/drawing/2014/main" id="{D02CD5A2-82FF-AE9E-685E-63FC870E2ADA}"/>
              </a:ext>
            </a:extLst>
          </p:cNvPr>
          <p:cNvGraphicFramePr>
            <a:graphicFrameLocks noGrp="1"/>
          </p:cNvGraphicFramePr>
          <p:nvPr>
            <p:extLst>
              <p:ext uri="{D42A27DB-BD31-4B8C-83A1-F6EECF244321}">
                <p14:modId xmlns:p14="http://schemas.microsoft.com/office/powerpoint/2010/main" val="1908703114"/>
              </p:ext>
            </p:extLst>
          </p:nvPr>
        </p:nvGraphicFramePr>
        <p:xfrm>
          <a:off x="2145373" y="1702441"/>
          <a:ext cx="15830749" cy="9156059"/>
        </p:xfrm>
        <a:graphic>
          <a:graphicData uri="http://schemas.openxmlformats.org/drawingml/2006/table">
            <a:tbl>
              <a:tblPr firstRow="1" firstCol="1" bandRow="1">
                <a:tableStyleId>{5C22544A-7EE6-4342-B048-85BDC9FD1C3A}</a:tableStyleId>
              </a:tblPr>
              <a:tblGrid>
                <a:gridCol w="3831549">
                  <a:extLst>
                    <a:ext uri="{9D8B030D-6E8A-4147-A177-3AD203B41FA5}">
                      <a16:colId xmlns:a16="http://schemas.microsoft.com/office/drawing/2014/main" val="2853157478"/>
                    </a:ext>
                  </a:extLst>
                </a:gridCol>
                <a:gridCol w="6291278">
                  <a:extLst>
                    <a:ext uri="{9D8B030D-6E8A-4147-A177-3AD203B41FA5}">
                      <a16:colId xmlns:a16="http://schemas.microsoft.com/office/drawing/2014/main" val="565874537"/>
                    </a:ext>
                  </a:extLst>
                </a:gridCol>
                <a:gridCol w="5707922">
                  <a:extLst>
                    <a:ext uri="{9D8B030D-6E8A-4147-A177-3AD203B41FA5}">
                      <a16:colId xmlns:a16="http://schemas.microsoft.com/office/drawing/2014/main" val="431128866"/>
                    </a:ext>
                  </a:extLst>
                </a:gridCol>
              </a:tblGrid>
              <a:tr h="1017340">
                <a:tc>
                  <a:txBody>
                    <a:bodyPr/>
                    <a:lstStyle/>
                    <a:p>
                      <a:pPr>
                        <a:buNone/>
                      </a:pPr>
                      <a:r>
                        <a:rPr lang="fr-FR" sz="4000">
                          <a:effectLst/>
                        </a:rPr>
                        <a:t>APPLICATION</a:t>
                      </a:r>
                      <a:endParaRPr lang="fr-FR" sz="4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MICRO SERVICE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MONOLITHIQUE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37062784"/>
                  </a:ext>
                </a:extLst>
              </a:tr>
              <a:tr h="8138719">
                <a:tc>
                  <a:txBody>
                    <a:bodyPr/>
                    <a:lstStyle/>
                    <a:p>
                      <a:pPr>
                        <a:buNone/>
                      </a:pPr>
                      <a:r>
                        <a:rPr lang="fr-FR" sz="3600" b="1" kern="1200" dirty="0">
                          <a:solidFill>
                            <a:schemeClr val="lt1"/>
                          </a:solidFill>
                          <a:effectLst/>
                          <a:latin typeface="+mn-lt"/>
                          <a:ea typeface="+mn-ea"/>
                          <a:cs typeface="+mn-cs"/>
                        </a:rPr>
                        <a:t>AVANTAGE</a:t>
                      </a:r>
                      <a:r>
                        <a:rPr lang="fr-FR" sz="3600" dirty="0">
                          <a:effectLst/>
                        </a:rPr>
                        <a:t> </a:t>
                      </a:r>
                      <a:r>
                        <a:rPr lang="fr-FR" sz="4000" dirty="0">
                          <a:effectLst/>
                        </a:rPr>
                        <a:t> </a:t>
                      </a:r>
                      <a:endParaRPr lang="fr-FR" sz="4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571500" lvl="0" indent="-571500">
                        <a:buFont typeface="Arial" panose="020B0604020202020204" pitchFamily="34" charset="0"/>
                        <a:buChar char="•"/>
                      </a:pPr>
                      <a:r>
                        <a:rPr lang="fr-FR" sz="3600" kern="1200" dirty="0">
                          <a:solidFill>
                            <a:schemeClr val="dk1"/>
                          </a:solidFill>
                          <a:effectLst/>
                          <a:latin typeface="+mn-lt"/>
                          <a:ea typeface="+mn-ea"/>
                          <a:cs typeface="+mn-cs"/>
                        </a:rPr>
                        <a:t>Code organisé autour du métier ;</a:t>
                      </a:r>
                    </a:p>
                    <a:p>
                      <a:pPr marL="571500" lvl="0" indent="-571500">
                        <a:buFont typeface="Arial" panose="020B0604020202020204" pitchFamily="34" charset="0"/>
                        <a:buChar char="•"/>
                      </a:pPr>
                      <a:r>
                        <a:rPr lang="fr-FR" sz="3600" kern="1200" dirty="0">
                          <a:solidFill>
                            <a:schemeClr val="dk1"/>
                          </a:solidFill>
                          <a:effectLst/>
                          <a:latin typeface="+mn-lt"/>
                          <a:ea typeface="+mn-ea"/>
                          <a:cs typeface="+mn-cs"/>
                        </a:rPr>
                        <a:t>Meilleure isolation des pannes ;</a:t>
                      </a:r>
                    </a:p>
                    <a:p>
                      <a:pPr marL="571500" lvl="0" indent="-571500">
                        <a:buFont typeface="Arial" panose="020B0604020202020204" pitchFamily="34" charset="0"/>
                        <a:buChar char="•"/>
                      </a:pPr>
                      <a:r>
                        <a:rPr lang="fr-FR" sz="3600" kern="1200" dirty="0">
                          <a:solidFill>
                            <a:schemeClr val="dk1"/>
                          </a:solidFill>
                          <a:effectLst/>
                          <a:latin typeface="+mn-lt"/>
                          <a:ea typeface="+mn-ea"/>
                          <a:cs typeface="+mn-cs"/>
                        </a:rPr>
                        <a:t>Pas d’engagement à long terme quant aux technologies.</a:t>
                      </a:r>
                    </a:p>
                    <a:p>
                      <a:pPr marL="571500" indent="-571500">
                        <a:buFont typeface="Arial" panose="020B0604020202020204" pitchFamily="34" charset="0"/>
                        <a:buChar char="•"/>
                      </a:pPr>
                      <a:r>
                        <a:rPr lang="fr-FR" sz="3600" kern="1200" dirty="0">
                          <a:solidFill>
                            <a:schemeClr val="dk1"/>
                          </a:solidFill>
                          <a:effectLst/>
                          <a:latin typeface="+mn-lt"/>
                          <a:ea typeface="+mn-ea"/>
                          <a:cs typeface="+mn-cs"/>
                        </a:rPr>
                        <a:t> </a:t>
                      </a:r>
                    </a:p>
                    <a:p>
                      <a:pPr marL="571500" lvl="0" indent="-571500">
                        <a:buFont typeface="Arial" panose="020B0604020202020204" pitchFamily="34" charset="0"/>
                        <a:buChar char="•"/>
                      </a:pPr>
                      <a:r>
                        <a:rPr lang="fr-FR" sz="3600" kern="1200" dirty="0">
                          <a:solidFill>
                            <a:schemeClr val="dk1"/>
                          </a:solidFill>
                          <a:effectLst/>
                          <a:latin typeface="+mn-lt"/>
                          <a:ea typeface="+mn-ea"/>
                          <a:cs typeface="+mn-cs"/>
                        </a:rPr>
                        <a:t>Si un service est plus sollicité possibilité de déployé en plusieurs instances</a:t>
                      </a:r>
                    </a:p>
                  </a:txBody>
                  <a:tcPr marL="68580" marR="68580" marT="0" marB="0"/>
                </a:tc>
                <a:tc>
                  <a:txBody>
                    <a:bodyPr/>
                    <a:lstStyle/>
                    <a:p>
                      <a:pPr marL="342900" lvl="0" indent="-342900">
                        <a:buFont typeface="Arial" panose="020B0604020202020204" pitchFamily="34" charset="0"/>
                        <a:buChar char="-"/>
                      </a:pPr>
                      <a:endParaRPr lang="fr-FR" sz="44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484421371"/>
                  </a:ext>
                </a:extLst>
              </a:tr>
            </a:tbl>
          </a:graphicData>
        </a:graphic>
      </p:graphicFrame>
    </p:spTree>
    <p:extLst>
      <p:ext uri="{BB962C8B-B14F-4D97-AF65-F5344CB8AC3E}">
        <p14:creationId xmlns:p14="http://schemas.microsoft.com/office/powerpoint/2010/main" val="4017175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CDAD076D-A067-8756-0900-37BBFC3940EF}"/>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5C110270-9F15-D332-A5D3-9A38C8D8DEE4}"/>
              </a:ext>
            </a:extLst>
          </p:cNvPr>
          <p:cNvSpPr txBox="1"/>
          <p:nvPr/>
        </p:nvSpPr>
        <p:spPr>
          <a:xfrm>
            <a:off x="1981201" y="1081598"/>
            <a:ext cx="15152028" cy="10462701"/>
          </a:xfrm>
          <a:prstGeom prst="rect">
            <a:avLst/>
          </a:prstGeom>
        </p:spPr>
        <p:txBody>
          <a:bodyPr lIns="50800" tIns="50800" rIns="50800" bIns="50800" rtlCol="0" anchor="ctr"/>
          <a:lstStyle/>
          <a:p>
            <a:pPr algn="ctr">
              <a:lnSpc>
                <a:spcPts val="2660"/>
              </a:lnSpc>
            </a:pPr>
            <a:endParaRPr/>
          </a:p>
        </p:txBody>
      </p:sp>
      <p:sp>
        <p:nvSpPr>
          <p:cNvPr id="5" name="Freeform 5">
            <a:extLst>
              <a:ext uri="{FF2B5EF4-FFF2-40B4-BE49-F238E27FC236}">
                <a16:creationId xmlns:a16="http://schemas.microsoft.com/office/drawing/2014/main" id="{E5353813-40EC-703E-FDA2-549FC2D9E585}"/>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11430312-51E8-1235-974E-D8F859906E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00F25C55-3B3D-73C4-AB52-67E1B6E77EC9}"/>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675FADA2-C37D-16A2-95B7-73AAE4D1E48C}"/>
              </a:ext>
            </a:extLst>
          </p:cNvPr>
          <p:cNvSpPr txBox="1"/>
          <p:nvPr/>
        </p:nvSpPr>
        <p:spPr>
          <a:xfrm>
            <a:off x="457200" y="720435"/>
            <a:ext cx="16992600" cy="589905"/>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COMPARAISON ARCHITECTURES</a:t>
            </a:r>
            <a:endParaRPr lang="en-US" sz="6000" dirty="0">
              <a:solidFill>
                <a:srgbClr val="000000"/>
              </a:solidFill>
              <a:latin typeface="Akzidenz-Grotesk"/>
              <a:sym typeface="Akzidenz-Grotesk"/>
            </a:endParaRPr>
          </a:p>
        </p:txBody>
      </p:sp>
      <p:graphicFrame>
        <p:nvGraphicFramePr>
          <p:cNvPr id="7" name="Tableau 6">
            <a:extLst>
              <a:ext uri="{FF2B5EF4-FFF2-40B4-BE49-F238E27FC236}">
                <a16:creationId xmlns:a16="http://schemas.microsoft.com/office/drawing/2014/main" id="{CE6BBF8D-305E-8BEB-9D6F-6A742568C914}"/>
              </a:ext>
            </a:extLst>
          </p:cNvPr>
          <p:cNvGraphicFramePr>
            <a:graphicFrameLocks noGrp="1"/>
          </p:cNvGraphicFramePr>
          <p:nvPr>
            <p:extLst>
              <p:ext uri="{D42A27DB-BD31-4B8C-83A1-F6EECF244321}">
                <p14:modId xmlns:p14="http://schemas.microsoft.com/office/powerpoint/2010/main" val="2257999660"/>
              </p:ext>
            </p:extLst>
          </p:nvPr>
        </p:nvGraphicFramePr>
        <p:xfrm>
          <a:off x="2145373" y="1702441"/>
          <a:ext cx="15830749" cy="9079859"/>
        </p:xfrm>
        <a:graphic>
          <a:graphicData uri="http://schemas.openxmlformats.org/drawingml/2006/table">
            <a:tbl>
              <a:tblPr firstRow="1" firstCol="1" bandRow="1">
                <a:tableStyleId>{5C22544A-7EE6-4342-B048-85BDC9FD1C3A}</a:tableStyleId>
              </a:tblPr>
              <a:tblGrid>
                <a:gridCol w="3831549">
                  <a:extLst>
                    <a:ext uri="{9D8B030D-6E8A-4147-A177-3AD203B41FA5}">
                      <a16:colId xmlns:a16="http://schemas.microsoft.com/office/drawing/2014/main" val="2853157478"/>
                    </a:ext>
                  </a:extLst>
                </a:gridCol>
                <a:gridCol w="6291278">
                  <a:extLst>
                    <a:ext uri="{9D8B030D-6E8A-4147-A177-3AD203B41FA5}">
                      <a16:colId xmlns:a16="http://schemas.microsoft.com/office/drawing/2014/main" val="565874537"/>
                    </a:ext>
                  </a:extLst>
                </a:gridCol>
                <a:gridCol w="5707922">
                  <a:extLst>
                    <a:ext uri="{9D8B030D-6E8A-4147-A177-3AD203B41FA5}">
                      <a16:colId xmlns:a16="http://schemas.microsoft.com/office/drawing/2014/main" val="431128866"/>
                    </a:ext>
                  </a:extLst>
                </a:gridCol>
              </a:tblGrid>
              <a:tr h="998958">
                <a:tc>
                  <a:txBody>
                    <a:bodyPr/>
                    <a:lstStyle/>
                    <a:p>
                      <a:pPr>
                        <a:buNone/>
                      </a:pPr>
                      <a:r>
                        <a:rPr lang="fr-FR" sz="4000">
                          <a:effectLst/>
                        </a:rPr>
                        <a:t>APPLICATION</a:t>
                      </a:r>
                      <a:endParaRPr lang="fr-FR" sz="4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MICRO SERVICE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MONOLITHIQUE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37062784"/>
                  </a:ext>
                </a:extLst>
              </a:tr>
              <a:tr h="8080901">
                <a:tc>
                  <a:txBody>
                    <a:bodyPr/>
                    <a:lstStyle/>
                    <a:p>
                      <a:pPr>
                        <a:buNone/>
                      </a:pPr>
                      <a:r>
                        <a:rPr lang="fr-FR" sz="3600" b="1" kern="1200" dirty="0">
                          <a:solidFill>
                            <a:schemeClr val="lt1"/>
                          </a:solidFill>
                          <a:effectLst/>
                          <a:latin typeface="+mn-lt"/>
                          <a:ea typeface="+mn-ea"/>
                          <a:cs typeface="+mn-cs"/>
                        </a:rPr>
                        <a:t>INCONVENENT</a:t>
                      </a:r>
                      <a:r>
                        <a:rPr lang="fr-FR" sz="3600" dirty="0">
                          <a:effectLst/>
                        </a:rPr>
                        <a:t> </a:t>
                      </a:r>
                      <a:r>
                        <a:rPr lang="fr-FR" sz="4000" dirty="0">
                          <a:effectLst/>
                        </a:rPr>
                        <a:t> </a:t>
                      </a:r>
                      <a:endParaRPr lang="fr-FR" sz="4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285750" lvl="0" indent="-285750">
                        <a:buFont typeface="Arial" panose="020B0604020202020204" pitchFamily="34" charset="0"/>
                        <a:buChar char="•"/>
                      </a:pPr>
                      <a:r>
                        <a:rPr lang="fr-FR" sz="3200" kern="1200" dirty="0">
                          <a:solidFill>
                            <a:schemeClr val="dk1"/>
                          </a:solidFill>
                          <a:effectLst/>
                          <a:latin typeface="+mn-lt"/>
                          <a:ea typeface="+mn-ea"/>
                          <a:cs typeface="+mn-cs"/>
                        </a:rPr>
                        <a:t>Les tests peuvent devenir compliqués et fastidieux ;</a:t>
                      </a:r>
                    </a:p>
                    <a:p>
                      <a:pPr marL="285750" lvl="0" indent="-285750">
                        <a:buFont typeface="Arial" panose="020B0604020202020204" pitchFamily="34" charset="0"/>
                        <a:buChar char="•"/>
                      </a:pPr>
                      <a:r>
                        <a:rPr lang="fr-FR" sz="3200" kern="1200" dirty="0">
                          <a:solidFill>
                            <a:schemeClr val="dk1"/>
                          </a:solidFill>
                          <a:effectLst/>
                          <a:latin typeface="+mn-lt"/>
                          <a:ea typeface="+mn-ea"/>
                          <a:cs typeface="+mn-cs"/>
                        </a:rPr>
                        <a:t>Complexité complémentaire due à la tolérance aux pannes, la latence du réseau ;</a:t>
                      </a:r>
                    </a:p>
                    <a:p>
                      <a:pPr marL="285750" lvl="0" indent="-285750">
                        <a:buFont typeface="Arial" panose="020B0604020202020204" pitchFamily="34" charset="0"/>
                        <a:buChar char="•"/>
                      </a:pPr>
                      <a:r>
                        <a:rPr lang="fr-FR" sz="3200" kern="1200" dirty="0">
                          <a:solidFill>
                            <a:schemeClr val="dk1"/>
                          </a:solidFill>
                          <a:effectLst/>
                          <a:latin typeface="+mn-lt"/>
                          <a:ea typeface="+mn-ea"/>
                          <a:cs typeface="+mn-cs"/>
                        </a:rPr>
                        <a:t>Complexité supplémentaire d’un système distribué ;</a:t>
                      </a:r>
                    </a:p>
                    <a:p>
                      <a:pPr marL="285750" lvl="0" indent="-285750">
                        <a:buFont typeface="Arial" panose="020B0604020202020204" pitchFamily="34" charset="0"/>
                        <a:buChar char="•"/>
                      </a:pPr>
                      <a:r>
                        <a:rPr lang="fr-FR" sz="3200" kern="1200" dirty="0">
                          <a:solidFill>
                            <a:schemeClr val="dk1"/>
                          </a:solidFill>
                          <a:effectLst/>
                          <a:latin typeface="+mn-lt"/>
                          <a:ea typeface="+mn-ea"/>
                          <a:cs typeface="+mn-cs"/>
                        </a:rPr>
                        <a:t>Effort supplémentaire pour la communication entre services ;</a:t>
                      </a:r>
                    </a:p>
                    <a:p>
                      <a:pPr marL="285750" lvl="0" indent="-285750">
                        <a:buFont typeface="Arial" panose="020B0604020202020204" pitchFamily="34" charset="0"/>
                        <a:buChar char="•"/>
                      </a:pPr>
                      <a:r>
                        <a:rPr lang="fr-FR" sz="3200" kern="1200" dirty="0">
                          <a:solidFill>
                            <a:schemeClr val="dk1"/>
                          </a:solidFill>
                          <a:effectLst/>
                          <a:latin typeface="+mn-lt"/>
                          <a:ea typeface="+mn-ea"/>
                          <a:cs typeface="+mn-cs"/>
                        </a:rPr>
                        <a:t>Pour les cas d’utilisation mettant en œuvre plus d’un service, obligation de collaboration entre équipes ;</a:t>
                      </a:r>
                    </a:p>
                    <a:p>
                      <a:pPr marL="285750" indent="-285750">
                        <a:buFont typeface="Arial" panose="020B0604020202020204" pitchFamily="34" charset="0"/>
                        <a:buChar char="•"/>
                      </a:pPr>
                      <a:r>
                        <a:rPr lang="fr-FR" sz="3200" kern="1200" dirty="0">
                          <a:solidFill>
                            <a:schemeClr val="dk1"/>
                          </a:solidFill>
                          <a:effectLst/>
                          <a:latin typeface="+mn-lt"/>
                          <a:ea typeface="+mn-ea"/>
                          <a:cs typeface="+mn-cs"/>
                        </a:rPr>
                        <a:t>Pas simple de fractionner l’application en services</a:t>
                      </a:r>
                      <a:r>
                        <a:rPr lang="fr-FR" sz="3200" dirty="0">
                          <a:effectLst/>
                        </a:rPr>
                        <a:t> </a:t>
                      </a:r>
                      <a:endParaRPr lang="fr-FR" sz="3200" kern="1200" dirty="0">
                        <a:solidFill>
                          <a:schemeClr val="dk1"/>
                        </a:solidFill>
                        <a:effectLst/>
                        <a:latin typeface="+mn-lt"/>
                        <a:ea typeface="+mn-ea"/>
                        <a:cs typeface="+mn-cs"/>
                      </a:endParaRPr>
                    </a:p>
                  </a:txBody>
                  <a:tcPr marL="68580" marR="68580" marT="0" marB="0"/>
                </a:tc>
                <a:tc>
                  <a:txBody>
                    <a:bodyPr/>
                    <a:lstStyle/>
                    <a:p>
                      <a:pPr marL="285750" lvl="0" indent="-285750">
                        <a:buFont typeface="Arial" panose="020B0604020202020204" pitchFamily="34" charset="0"/>
                        <a:buChar char="•"/>
                      </a:pPr>
                      <a:r>
                        <a:rPr lang="fr-FR" sz="3200" kern="1200" dirty="0">
                          <a:solidFill>
                            <a:schemeClr val="dk1"/>
                          </a:solidFill>
                          <a:effectLst/>
                          <a:latin typeface="+mn-lt"/>
                          <a:ea typeface="+mn-ea"/>
                          <a:cs typeface="+mn-cs"/>
                        </a:rPr>
                        <a:t>Elles centralisent tous les besoins fonctionnels ;</a:t>
                      </a:r>
                    </a:p>
                    <a:p>
                      <a:pPr marL="285750" lvl="0" indent="-285750">
                        <a:buFont typeface="Arial" panose="020B0604020202020204" pitchFamily="34" charset="0"/>
                        <a:buChar char="•"/>
                      </a:pPr>
                      <a:r>
                        <a:rPr lang="fr-FR" sz="3200" kern="1200" dirty="0">
                          <a:solidFill>
                            <a:schemeClr val="dk1"/>
                          </a:solidFill>
                          <a:effectLst/>
                          <a:latin typeface="+mn-lt"/>
                          <a:ea typeface="+mn-ea"/>
                          <a:cs typeface="+mn-cs"/>
                        </a:rPr>
                        <a:t>Elles sont réalisées dans une seule technologie ;</a:t>
                      </a:r>
                    </a:p>
                    <a:p>
                      <a:pPr marL="285750" lvl="0" indent="-285750">
                        <a:buFont typeface="Arial" panose="020B0604020202020204" pitchFamily="34" charset="0"/>
                        <a:buChar char="•"/>
                      </a:pPr>
                      <a:r>
                        <a:rPr lang="fr-FR" sz="3200" kern="1200" dirty="0">
                          <a:solidFill>
                            <a:schemeClr val="dk1"/>
                          </a:solidFill>
                          <a:effectLst/>
                          <a:latin typeface="+mn-lt"/>
                          <a:ea typeface="+mn-ea"/>
                          <a:cs typeface="+mn-cs"/>
                        </a:rPr>
                        <a:t>Chaque modification nécessite de tester les régressions ; redéployer toute l’application ;</a:t>
                      </a:r>
                    </a:p>
                    <a:p>
                      <a:pPr marL="285750" indent="-285750">
                        <a:buFont typeface="Arial" panose="020B0604020202020204" pitchFamily="34" charset="0"/>
                        <a:buChar char="•"/>
                      </a:pPr>
                      <a:r>
                        <a:rPr lang="fr-FR" sz="3200" kern="1200" dirty="0">
                          <a:solidFill>
                            <a:schemeClr val="dk1"/>
                          </a:solidFill>
                          <a:effectLst/>
                          <a:latin typeface="+mn-lt"/>
                          <a:ea typeface="+mn-ea"/>
                          <a:cs typeface="+mn-cs"/>
                        </a:rPr>
                        <a:t> </a:t>
                      </a:r>
                    </a:p>
                    <a:p>
                      <a:pPr marL="285750" lvl="0" indent="-285750">
                        <a:buFont typeface="Arial" panose="020B0604020202020204" pitchFamily="34" charset="0"/>
                        <a:buChar char="•"/>
                      </a:pPr>
                      <a:r>
                        <a:rPr lang="fr-FR" sz="3200" kern="1200" dirty="0">
                          <a:solidFill>
                            <a:schemeClr val="dk1"/>
                          </a:solidFill>
                          <a:effectLst/>
                          <a:latin typeface="+mn-lt"/>
                          <a:ea typeface="+mn-ea"/>
                          <a:cs typeface="+mn-cs"/>
                        </a:rPr>
                        <a:t>Difficile à faire évoluer au niveau fonctionnel</a:t>
                      </a:r>
                    </a:p>
                    <a:p>
                      <a:pPr marL="285750" indent="-285750">
                        <a:buFont typeface="Arial" panose="020B0604020202020204" pitchFamily="34" charset="0"/>
                        <a:buChar char="•"/>
                      </a:pPr>
                      <a:r>
                        <a:rPr lang="fr-FR" sz="3200" kern="1200" dirty="0">
                          <a:solidFill>
                            <a:schemeClr val="dk1"/>
                          </a:solidFill>
                          <a:effectLst/>
                          <a:latin typeface="+mn-lt"/>
                          <a:ea typeface="+mn-ea"/>
                          <a:cs typeface="+mn-cs"/>
                        </a:rPr>
                        <a:t> </a:t>
                      </a:r>
                    </a:p>
                    <a:p>
                      <a:pPr marL="285750" indent="-285750">
                        <a:buFont typeface="Arial" panose="020B0604020202020204" pitchFamily="34" charset="0"/>
                        <a:buChar char="•"/>
                      </a:pPr>
                      <a:r>
                        <a:rPr lang="fr-FR" sz="3200" kern="1200" dirty="0">
                          <a:solidFill>
                            <a:schemeClr val="dk1"/>
                          </a:solidFill>
                          <a:effectLst/>
                          <a:latin typeface="+mn-lt"/>
                          <a:ea typeface="+mn-ea"/>
                          <a:cs typeface="+mn-cs"/>
                        </a:rPr>
                        <a:t>Livraison en bloc (le client attend beaucoup de temps pour commencer à voir les premières version)</a:t>
                      </a:r>
                      <a:r>
                        <a:rPr lang="fr-FR" sz="3200" dirty="0">
                          <a:effectLst/>
                        </a:rPr>
                        <a:t> </a:t>
                      </a:r>
                      <a:endParaRPr lang="fr-FR" sz="32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484421371"/>
                  </a:ext>
                </a:extLst>
              </a:tr>
            </a:tbl>
          </a:graphicData>
        </a:graphic>
      </p:graphicFrame>
    </p:spTree>
    <p:extLst>
      <p:ext uri="{BB962C8B-B14F-4D97-AF65-F5344CB8AC3E}">
        <p14:creationId xmlns:p14="http://schemas.microsoft.com/office/powerpoint/2010/main" val="566564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3DF9BD7D-9E97-7853-62C9-5DEA2EC45E57}"/>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71B47641-4BB0-08F3-EBB7-B29F51EAC584}"/>
              </a:ext>
            </a:extLst>
          </p:cNvPr>
          <p:cNvSpPr txBox="1"/>
          <p:nvPr/>
        </p:nvSpPr>
        <p:spPr>
          <a:xfrm>
            <a:off x="1981201" y="1081598"/>
            <a:ext cx="15152028" cy="10462701"/>
          </a:xfrm>
          <a:prstGeom prst="rect">
            <a:avLst/>
          </a:prstGeom>
        </p:spPr>
        <p:txBody>
          <a:bodyPr lIns="50800" tIns="50800" rIns="50800" bIns="50800" rtlCol="0" anchor="ctr"/>
          <a:lstStyle/>
          <a:p>
            <a:pPr algn="ctr">
              <a:lnSpc>
                <a:spcPts val="2660"/>
              </a:lnSpc>
            </a:pPr>
            <a:endParaRPr/>
          </a:p>
        </p:txBody>
      </p:sp>
      <p:sp>
        <p:nvSpPr>
          <p:cNvPr id="5" name="Freeform 5">
            <a:extLst>
              <a:ext uri="{FF2B5EF4-FFF2-40B4-BE49-F238E27FC236}">
                <a16:creationId xmlns:a16="http://schemas.microsoft.com/office/drawing/2014/main" id="{2687146A-E094-C362-317E-E22B0B8A72A6}"/>
              </a:ext>
            </a:extLst>
          </p:cNvPr>
          <p:cNvSpPr/>
          <p:nvPr/>
        </p:nvSpPr>
        <p:spPr>
          <a:xfrm rot="-5051927">
            <a:off x="13879202" y="9289964"/>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517BF9FB-9A13-1BA9-30FA-60AEED8653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734FFB22-1A41-798A-CCB8-E6B1DFA67418}"/>
              </a:ext>
            </a:extLst>
          </p:cNvPr>
          <p:cNvSpPr/>
          <p:nvPr/>
        </p:nvSpPr>
        <p:spPr>
          <a:xfrm rot="6308718">
            <a:off x="-1705175" y="7703707"/>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7A285558-1419-5C6D-C423-8933B948D310}"/>
              </a:ext>
            </a:extLst>
          </p:cNvPr>
          <p:cNvSpPr txBox="1"/>
          <p:nvPr/>
        </p:nvSpPr>
        <p:spPr>
          <a:xfrm>
            <a:off x="457200" y="720435"/>
            <a:ext cx="16992600" cy="589905"/>
          </a:xfrm>
          <a:prstGeom prst="rect">
            <a:avLst/>
          </a:prstGeom>
        </p:spPr>
        <p:txBody>
          <a:bodyPr wrap="square" lIns="0" tIns="0" rIns="0" bIns="0" rtlCol="0" anchor="t">
            <a:spAutoFit/>
          </a:bodyPr>
          <a:lstStyle/>
          <a:p>
            <a:pPr>
              <a:lnSpc>
                <a:spcPts val="4622"/>
              </a:lnSpc>
            </a:pPr>
            <a:r>
              <a:rPr lang="fr-FR" sz="4000" dirty="0">
                <a:solidFill>
                  <a:srgbClr val="000000"/>
                </a:solidFill>
                <a:latin typeface="Akzidenz-Grotesk"/>
              </a:rPr>
              <a:t>COMPARAISON ARCHITECTURES</a:t>
            </a:r>
            <a:endParaRPr lang="en-US" sz="6000" dirty="0">
              <a:solidFill>
                <a:srgbClr val="000000"/>
              </a:solidFill>
              <a:latin typeface="Akzidenz-Grotesk"/>
              <a:sym typeface="Akzidenz-Grotesk"/>
            </a:endParaRPr>
          </a:p>
        </p:txBody>
      </p:sp>
      <p:graphicFrame>
        <p:nvGraphicFramePr>
          <p:cNvPr id="7" name="Tableau 6">
            <a:extLst>
              <a:ext uri="{FF2B5EF4-FFF2-40B4-BE49-F238E27FC236}">
                <a16:creationId xmlns:a16="http://schemas.microsoft.com/office/drawing/2014/main" id="{43BB8AD5-7939-BB61-56DD-7F956C3CFC8F}"/>
              </a:ext>
            </a:extLst>
          </p:cNvPr>
          <p:cNvGraphicFramePr>
            <a:graphicFrameLocks noGrp="1"/>
          </p:cNvGraphicFramePr>
          <p:nvPr>
            <p:extLst>
              <p:ext uri="{D42A27DB-BD31-4B8C-83A1-F6EECF244321}">
                <p14:modId xmlns:p14="http://schemas.microsoft.com/office/powerpoint/2010/main" val="3455217630"/>
              </p:ext>
            </p:extLst>
          </p:nvPr>
        </p:nvGraphicFramePr>
        <p:xfrm>
          <a:off x="2145373" y="1702441"/>
          <a:ext cx="15830749" cy="8584559"/>
        </p:xfrm>
        <a:graphic>
          <a:graphicData uri="http://schemas.openxmlformats.org/drawingml/2006/table">
            <a:tbl>
              <a:tblPr firstRow="1" firstCol="1" bandRow="1">
                <a:tableStyleId>{5C22544A-7EE6-4342-B048-85BDC9FD1C3A}</a:tableStyleId>
              </a:tblPr>
              <a:tblGrid>
                <a:gridCol w="3831549">
                  <a:extLst>
                    <a:ext uri="{9D8B030D-6E8A-4147-A177-3AD203B41FA5}">
                      <a16:colId xmlns:a16="http://schemas.microsoft.com/office/drawing/2014/main" val="2853157478"/>
                    </a:ext>
                  </a:extLst>
                </a:gridCol>
                <a:gridCol w="6291278">
                  <a:extLst>
                    <a:ext uri="{9D8B030D-6E8A-4147-A177-3AD203B41FA5}">
                      <a16:colId xmlns:a16="http://schemas.microsoft.com/office/drawing/2014/main" val="565874537"/>
                    </a:ext>
                  </a:extLst>
                </a:gridCol>
                <a:gridCol w="5707922">
                  <a:extLst>
                    <a:ext uri="{9D8B030D-6E8A-4147-A177-3AD203B41FA5}">
                      <a16:colId xmlns:a16="http://schemas.microsoft.com/office/drawing/2014/main" val="431128866"/>
                    </a:ext>
                  </a:extLst>
                </a:gridCol>
              </a:tblGrid>
              <a:tr h="944466">
                <a:tc>
                  <a:txBody>
                    <a:bodyPr/>
                    <a:lstStyle/>
                    <a:p>
                      <a:pPr>
                        <a:buNone/>
                      </a:pPr>
                      <a:r>
                        <a:rPr lang="fr-FR" sz="4000">
                          <a:effectLst/>
                        </a:rPr>
                        <a:t>APPLICATION</a:t>
                      </a:r>
                      <a:endParaRPr lang="fr-FR" sz="4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MICRO SERVICE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fr-FR" sz="4400" dirty="0">
                          <a:effectLst/>
                        </a:rPr>
                        <a:t>MONOLITHIQUE</a:t>
                      </a:r>
                      <a:endParaRPr lang="fr-FR" sz="4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37062784"/>
                  </a:ext>
                </a:extLst>
              </a:tr>
              <a:tr h="7640093">
                <a:tc>
                  <a:txBody>
                    <a:bodyPr/>
                    <a:lstStyle/>
                    <a:p>
                      <a:pPr>
                        <a:buNone/>
                      </a:pPr>
                      <a:r>
                        <a:rPr lang="fr-FR" sz="3600" b="1" kern="1200" dirty="0">
                          <a:solidFill>
                            <a:schemeClr val="lt1"/>
                          </a:solidFill>
                          <a:effectLst/>
                          <a:latin typeface="+mn-lt"/>
                          <a:ea typeface="+mn-ea"/>
                          <a:cs typeface="+mn-cs"/>
                        </a:rPr>
                        <a:t>CHOIX </a:t>
                      </a:r>
                      <a:r>
                        <a:rPr lang="fr-FR" sz="4000" dirty="0">
                          <a:effectLst/>
                        </a:rPr>
                        <a:t> TECHNOLOGIE</a:t>
                      </a:r>
                      <a:endParaRPr lang="fr-FR" sz="4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285750" lvl="0" indent="-285750">
                        <a:buFont typeface="Arial" panose="020B0604020202020204" pitchFamily="34" charset="0"/>
                        <a:buChar char="•"/>
                      </a:pPr>
                      <a:r>
                        <a:rPr lang="fr-FR" sz="4400" kern="1200" dirty="0">
                          <a:solidFill>
                            <a:schemeClr val="dk1"/>
                          </a:solidFill>
                          <a:effectLst/>
                          <a:latin typeface="+mn-lt"/>
                          <a:ea typeface="+mn-ea"/>
                          <a:cs typeface="+mn-cs"/>
                        </a:rPr>
                        <a:t>Framework </a:t>
                      </a:r>
                      <a:r>
                        <a:rPr lang="fr-FR" sz="4400" kern="1200" dirty="0" err="1">
                          <a:solidFill>
                            <a:schemeClr val="dk1"/>
                          </a:solidFill>
                          <a:effectLst/>
                          <a:latin typeface="+mn-lt"/>
                          <a:ea typeface="+mn-ea"/>
                          <a:cs typeface="+mn-cs"/>
                        </a:rPr>
                        <a:t>spring</a:t>
                      </a:r>
                      <a:r>
                        <a:rPr lang="fr-FR" sz="4400" kern="1200" dirty="0">
                          <a:solidFill>
                            <a:schemeClr val="dk1"/>
                          </a:solidFill>
                          <a:effectLst/>
                          <a:latin typeface="+mn-lt"/>
                          <a:ea typeface="+mn-ea"/>
                          <a:cs typeface="+mn-cs"/>
                        </a:rPr>
                        <a:t> book + la technologies java,</a:t>
                      </a:r>
                    </a:p>
                    <a:p>
                      <a:pPr marL="285750" lvl="0" indent="-285750">
                        <a:buFont typeface="Arial" panose="020B0604020202020204" pitchFamily="34" charset="0"/>
                        <a:buChar char="•"/>
                      </a:pPr>
                      <a:r>
                        <a:rPr lang="fr-FR" sz="4400" kern="1200" dirty="0">
                          <a:solidFill>
                            <a:schemeClr val="dk1"/>
                          </a:solidFill>
                          <a:effectLst/>
                          <a:latin typeface="+mn-lt"/>
                          <a:ea typeface="+mn-ea"/>
                          <a:cs typeface="+mn-cs"/>
                        </a:rPr>
                        <a:t>Spring cloud;</a:t>
                      </a:r>
                    </a:p>
                    <a:p>
                      <a:pPr marL="285750" lvl="0" indent="-285750">
                        <a:buFont typeface="Arial" panose="020B0604020202020204" pitchFamily="34" charset="0"/>
                        <a:buChar char="•"/>
                      </a:pPr>
                      <a:r>
                        <a:rPr lang="fr-FR" sz="4400" kern="1200" dirty="0" err="1">
                          <a:solidFill>
                            <a:schemeClr val="dk1"/>
                          </a:solidFill>
                          <a:effectLst/>
                          <a:latin typeface="+mn-lt"/>
                          <a:ea typeface="+mn-ea"/>
                          <a:cs typeface="+mn-cs"/>
                        </a:rPr>
                        <a:t>Agular</a:t>
                      </a:r>
                      <a:r>
                        <a:rPr lang="fr-FR" sz="4400" kern="1200" dirty="0">
                          <a:solidFill>
                            <a:schemeClr val="dk1"/>
                          </a:solidFill>
                          <a:effectLst/>
                          <a:latin typeface="+mn-lt"/>
                          <a:ea typeface="+mn-ea"/>
                          <a:cs typeface="+mn-cs"/>
                        </a:rPr>
                        <a:t>;</a:t>
                      </a:r>
                    </a:p>
                    <a:p>
                      <a:pPr marL="285750" lvl="0" indent="-285750">
                        <a:buFont typeface="Arial" panose="020B0604020202020204" pitchFamily="34" charset="0"/>
                        <a:buChar char="•"/>
                      </a:pPr>
                      <a:r>
                        <a:rPr lang="fr-FR" sz="4400" kern="1200" dirty="0" err="1">
                          <a:solidFill>
                            <a:schemeClr val="dk1"/>
                          </a:solidFill>
                          <a:effectLst/>
                          <a:latin typeface="+mn-lt"/>
                          <a:ea typeface="+mn-ea"/>
                          <a:cs typeface="+mn-cs"/>
                        </a:rPr>
                        <a:t>React</a:t>
                      </a:r>
                      <a:r>
                        <a:rPr lang="fr-FR" sz="4400" kern="1200" dirty="0">
                          <a:solidFill>
                            <a:schemeClr val="dk1"/>
                          </a:solidFill>
                          <a:effectLst/>
                          <a:latin typeface="+mn-lt"/>
                          <a:ea typeface="+mn-ea"/>
                          <a:cs typeface="+mn-cs"/>
                        </a:rPr>
                        <a:t> native;</a:t>
                      </a:r>
                    </a:p>
                    <a:p>
                      <a:pPr marL="285750" indent="-285750">
                        <a:buFont typeface="Arial" panose="020B0604020202020204" pitchFamily="34" charset="0"/>
                        <a:buChar char="•"/>
                      </a:pPr>
                      <a:r>
                        <a:rPr lang="fr-FR" sz="4400" kern="1200" dirty="0">
                          <a:solidFill>
                            <a:schemeClr val="dk1"/>
                          </a:solidFill>
                          <a:effectLst/>
                          <a:latin typeface="+mn-lt"/>
                          <a:ea typeface="+mn-ea"/>
                          <a:cs typeface="+mn-cs"/>
                        </a:rPr>
                        <a:t>Vue </a:t>
                      </a:r>
                      <a:r>
                        <a:rPr lang="fr-FR" sz="4400" kern="1200" dirty="0" err="1">
                          <a:solidFill>
                            <a:schemeClr val="dk1"/>
                          </a:solidFill>
                          <a:effectLst/>
                          <a:latin typeface="+mn-lt"/>
                          <a:ea typeface="+mn-ea"/>
                          <a:cs typeface="+mn-cs"/>
                        </a:rPr>
                        <a:t>jsf</a:t>
                      </a:r>
                      <a:r>
                        <a:rPr lang="fr-FR" sz="4400" kern="1200" dirty="0">
                          <a:solidFill>
                            <a:schemeClr val="dk1"/>
                          </a:solidFill>
                          <a:effectLst/>
                          <a:latin typeface="+mn-lt"/>
                          <a:ea typeface="+mn-ea"/>
                          <a:cs typeface="+mn-cs"/>
                        </a:rPr>
                        <a:t>.</a:t>
                      </a:r>
                      <a:r>
                        <a:rPr lang="fr-FR" sz="4400" dirty="0">
                          <a:effectLst/>
                        </a:rPr>
                        <a:t> </a:t>
                      </a:r>
                      <a:endParaRPr lang="fr-FR" sz="4400" kern="1200" dirty="0">
                        <a:solidFill>
                          <a:schemeClr val="dk1"/>
                        </a:solidFill>
                        <a:effectLst/>
                        <a:latin typeface="+mn-lt"/>
                        <a:ea typeface="+mn-ea"/>
                        <a:cs typeface="+mn-cs"/>
                      </a:endParaRPr>
                    </a:p>
                  </a:txBody>
                  <a:tcPr marL="68580" marR="68580" marT="0" marB="0"/>
                </a:tc>
                <a:tc>
                  <a:txBody>
                    <a:bodyPr/>
                    <a:lstStyle/>
                    <a:p>
                      <a:pPr marL="285750" lvl="0" indent="-285750">
                        <a:buFont typeface="Arial" panose="020B0604020202020204" pitchFamily="34" charset="0"/>
                        <a:buChar char="•"/>
                      </a:pPr>
                      <a:r>
                        <a:rPr lang="fr-FR" sz="4400" kern="1200" dirty="0">
                          <a:solidFill>
                            <a:schemeClr val="dk1"/>
                          </a:solidFill>
                          <a:effectLst/>
                          <a:latin typeface="+mn-lt"/>
                          <a:ea typeface="+mn-ea"/>
                          <a:cs typeface="+mn-cs"/>
                        </a:rPr>
                        <a:t>Avec la technologie J2ee Java , Framework JSF ,  Framework JSP ;</a:t>
                      </a:r>
                    </a:p>
                    <a:p>
                      <a:pPr marL="285750" lvl="0" indent="-285750">
                        <a:buFont typeface="Arial" panose="020B0604020202020204" pitchFamily="34" charset="0"/>
                        <a:buChar char="•"/>
                      </a:pPr>
                      <a:r>
                        <a:rPr lang="fr-FR" sz="4400" kern="1200" dirty="0">
                          <a:solidFill>
                            <a:schemeClr val="dk1"/>
                          </a:solidFill>
                          <a:effectLst/>
                          <a:latin typeface="+mn-lt"/>
                          <a:ea typeface="+mn-ea"/>
                          <a:cs typeface="+mn-cs"/>
                        </a:rPr>
                        <a:t>Struts  , Ice face, ZK  et PrimeFaces ;</a:t>
                      </a:r>
                    </a:p>
                    <a:p>
                      <a:pPr marL="285750" indent="-285750">
                        <a:buFont typeface="Arial" panose="020B0604020202020204" pitchFamily="34" charset="0"/>
                        <a:buChar char="•"/>
                      </a:pPr>
                      <a:r>
                        <a:rPr lang="fr-FR" sz="4400" kern="1200" dirty="0" err="1">
                          <a:solidFill>
                            <a:schemeClr val="dk1"/>
                          </a:solidFill>
                          <a:effectLst/>
                          <a:latin typeface="+mn-lt"/>
                          <a:ea typeface="+mn-ea"/>
                          <a:cs typeface="+mn-cs"/>
                        </a:rPr>
                        <a:t>Thymeleaf</a:t>
                      </a:r>
                      <a:r>
                        <a:rPr lang="fr-FR" sz="4400" kern="1200" dirty="0">
                          <a:solidFill>
                            <a:schemeClr val="dk1"/>
                          </a:solidFill>
                          <a:effectLst/>
                          <a:latin typeface="+mn-lt"/>
                          <a:ea typeface="+mn-ea"/>
                          <a:cs typeface="+mn-cs"/>
                        </a:rPr>
                        <a:t>.</a:t>
                      </a:r>
                      <a:r>
                        <a:rPr lang="fr-FR" sz="4400" dirty="0">
                          <a:effectLst/>
                        </a:rPr>
                        <a:t> </a:t>
                      </a:r>
                      <a:endParaRPr lang="fr-FR" sz="44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484421371"/>
                  </a:ext>
                </a:extLst>
              </a:tr>
            </a:tbl>
          </a:graphicData>
        </a:graphic>
      </p:graphicFrame>
    </p:spTree>
    <p:extLst>
      <p:ext uri="{BB962C8B-B14F-4D97-AF65-F5344CB8AC3E}">
        <p14:creationId xmlns:p14="http://schemas.microsoft.com/office/powerpoint/2010/main" val="700700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64E88B47-1B71-0322-EA88-E9D722F124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547C517-9591-0A3A-1DCB-C6FA5D46827E}"/>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758F664F-7DDC-A76F-C26D-30F5E2EAE8C6}"/>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E1C2D6F4-4B03-211E-9D99-9CC20C7EA42D}"/>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117D7D6B-D3BD-A94F-EDBF-7B76D92F636C}"/>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D371403C-DEC7-48DD-11B2-FD9CD8918D44}"/>
              </a:ext>
            </a:extLst>
          </p:cNvPr>
          <p:cNvSpPr txBox="1"/>
          <p:nvPr/>
        </p:nvSpPr>
        <p:spPr>
          <a:xfrm>
            <a:off x="2011681" y="1888170"/>
            <a:ext cx="15260512" cy="5170646"/>
          </a:xfrm>
          <a:prstGeom prst="rect">
            <a:avLst/>
          </a:prstGeom>
        </p:spPr>
        <p:txBody>
          <a:bodyPr wrap="square" lIns="0" tIns="0" rIns="0" bIns="0" rtlCol="0" anchor="t">
            <a:spAutoFit/>
          </a:bodyPr>
          <a:lstStyle/>
          <a:p>
            <a:endParaRPr lang="fr-FR" sz="4800" dirty="0"/>
          </a:p>
          <a:p>
            <a:r>
              <a:rPr lang="fr-FR" sz="4800" dirty="0"/>
              <a:t>L’</a:t>
            </a:r>
            <a:r>
              <a:rPr lang="fr-FR" sz="4800" b="1" dirty="0"/>
              <a:t>architecture monolithique</a:t>
            </a:r>
            <a:r>
              <a:rPr lang="fr-FR" sz="4800" dirty="0"/>
              <a:t>, bien que simple à concevoir, déployer et maintenir à petite échelle, montre rapidement ses limites lorsque l’application devient complexe ou nécessite une forte évolutivité. Elle reste toutefois un choix judicieux pour les </a:t>
            </a:r>
            <a:r>
              <a:rPr lang="fr-FR" sz="4800" b="1" dirty="0"/>
              <a:t>projets de taille moyenne</a:t>
            </a:r>
            <a:r>
              <a:rPr lang="fr-FR" sz="4800" dirty="0"/>
              <a:t>, les </a:t>
            </a:r>
            <a:r>
              <a:rPr lang="fr-FR" sz="4800" b="1" dirty="0"/>
              <a:t>équipes restreintes</a:t>
            </a:r>
            <a:r>
              <a:rPr lang="fr-FR" sz="4800" dirty="0"/>
              <a:t> ou les </a:t>
            </a:r>
            <a:r>
              <a:rPr lang="fr-FR" sz="4800" b="1" dirty="0"/>
              <a:t>applications à cycle de vie court</a:t>
            </a:r>
            <a:r>
              <a:rPr lang="fr-FR" sz="4800" dirty="0"/>
              <a:t>.</a:t>
            </a:r>
          </a:p>
        </p:txBody>
      </p:sp>
      <p:pic>
        <p:nvPicPr>
          <p:cNvPr id="1026" name="Picture 2" descr="universite-assane-seck-zig-5af59 - Wincom">
            <a:extLst>
              <a:ext uri="{FF2B5EF4-FFF2-40B4-BE49-F238E27FC236}">
                <a16:creationId xmlns:a16="http://schemas.microsoft.com/office/drawing/2014/main" id="{9E8AE8ED-DFAB-1AB5-858F-07EBAF2F69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9A334757-3D38-670A-36FF-E22D44CBD361}"/>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E292BED1-DA67-E644-EC1B-574EBC5AA307}"/>
              </a:ext>
            </a:extLst>
          </p:cNvPr>
          <p:cNvSpPr txBox="1"/>
          <p:nvPr/>
        </p:nvSpPr>
        <p:spPr>
          <a:xfrm>
            <a:off x="-159140" y="264187"/>
            <a:ext cx="17939234" cy="730969"/>
          </a:xfrm>
          <a:prstGeom prst="rect">
            <a:avLst/>
          </a:prstGeom>
        </p:spPr>
        <p:txBody>
          <a:bodyPr wrap="square" lIns="0" tIns="0" rIns="0" bIns="0" rtlCol="0" anchor="t">
            <a:spAutoFit/>
          </a:bodyPr>
          <a:lstStyle/>
          <a:p>
            <a:pPr algn="ctr">
              <a:lnSpc>
                <a:spcPts val="5704"/>
              </a:lnSpc>
            </a:pPr>
            <a:r>
              <a:rPr lang="fr-FR" sz="4800" kern="0" dirty="0">
                <a:latin typeface="Times New Roman" panose="02020603050405020304" pitchFamily="18" charset="0"/>
              </a:rPr>
              <a:t>EN RESUME</a:t>
            </a:r>
            <a:endParaRPr lang="en-US" sz="4800" kern="0" dirty="0">
              <a:latin typeface="Times New Roman" panose="02020603050405020304" pitchFamily="18" charset="0"/>
              <a:sym typeface="Akzidenz-Grotesk"/>
            </a:endParaRPr>
          </a:p>
        </p:txBody>
      </p:sp>
    </p:spTree>
    <p:extLst>
      <p:ext uri="{BB962C8B-B14F-4D97-AF65-F5344CB8AC3E}">
        <p14:creationId xmlns:p14="http://schemas.microsoft.com/office/powerpoint/2010/main" val="1200484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2CEB6208-B294-B8E6-5F06-BA3271EF8A6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AA79D02-789B-4AEE-C132-75F2DBC9F249}"/>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B2CC7A07-EAA4-C7FC-054D-3C57D59D1F9B}"/>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B739692-997A-A274-D9D2-164F9F381909}"/>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39411653-BBDE-EBA7-41DC-4CF6C04D2A31}"/>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BA87E866-0769-BD7F-596F-93BBD781929D}"/>
              </a:ext>
            </a:extLst>
          </p:cNvPr>
          <p:cNvSpPr txBox="1"/>
          <p:nvPr/>
        </p:nvSpPr>
        <p:spPr>
          <a:xfrm>
            <a:off x="2011681" y="1888170"/>
            <a:ext cx="15260512" cy="5909310"/>
          </a:xfrm>
          <a:prstGeom prst="rect">
            <a:avLst/>
          </a:prstGeom>
        </p:spPr>
        <p:txBody>
          <a:bodyPr wrap="square" lIns="0" tIns="0" rIns="0" bIns="0" rtlCol="0" anchor="t">
            <a:spAutoFit/>
          </a:bodyPr>
          <a:lstStyle/>
          <a:p>
            <a:endParaRPr lang="fr-FR" sz="4800" dirty="0"/>
          </a:p>
          <a:p>
            <a:r>
              <a:rPr lang="fr-FR" sz="4800" dirty="0"/>
              <a:t>À l’inverse, l’</a:t>
            </a:r>
            <a:r>
              <a:rPr lang="fr-FR" sz="4800" b="1" dirty="0"/>
              <a:t>architecture </a:t>
            </a:r>
            <a:r>
              <a:rPr lang="fr-FR" sz="4800" b="1" dirty="0" err="1"/>
              <a:t>microservices</a:t>
            </a:r>
            <a:r>
              <a:rPr lang="fr-FR" sz="4800" dirty="0"/>
              <a:t> offre une plus grande </a:t>
            </a:r>
            <a:r>
              <a:rPr lang="fr-FR" sz="4800" b="1" dirty="0"/>
              <a:t>flexibilité</a:t>
            </a:r>
            <a:r>
              <a:rPr lang="fr-FR" sz="4800" dirty="0"/>
              <a:t>, une </a:t>
            </a:r>
            <a:r>
              <a:rPr lang="fr-FR" sz="4800" b="1" dirty="0"/>
              <a:t>scalabilité fine</a:t>
            </a:r>
            <a:r>
              <a:rPr lang="fr-FR" sz="4800" dirty="0"/>
              <a:t> et une </a:t>
            </a:r>
            <a:r>
              <a:rPr lang="fr-FR" sz="4800" b="1" dirty="0"/>
              <a:t>meilleure résilience</a:t>
            </a:r>
            <a:r>
              <a:rPr lang="fr-FR" sz="4800" dirty="0"/>
              <a:t>. Elle permet de faire évoluer chaque service indépendamment, mais exige une </a:t>
            </a:r>
            <a:r>
              <a:rPr lang="fr-FR" sz="4800" b="1" dirty="0"/>
              <a:t>infrastructure plus complexe</a:t>
            </a:r>
            <a:r>
              <a:rPr lang="fr-FR" sz="4800" dirty="0"/>
              <a:t>, une </a:t>
            </a:r>
            <a:r>
              <a:rPr lang="fr-FR" sz="4800" b="1" dirty="0"/>
              <a:t>gouvernance technique solide</a:t>
            </a:r>
            <a:r>
              <a:rPr lang="fr-FR" sz="4800" dirty="0"/>
              <a:t> et une </a:t>
            </a:r>
            <a:r>
              <a:rPr lang="fr-FR" sz="4800" b="1" dirty="0"/>
              <a:t>bonne maîtrise des outils de communication, de sécurité et de supervision</a:t>
            </a:r>
            <a:r>
              <a:rPr lang="fr-FR" sz="4800" dirty="0"/>
              <a:t>.</a:t>
            </a:r>
          </a:p>
        </p:txBody>
      </p:sp>
      <p:pic>
        <p:nvPicPr>
          <p:cNvPr id="1026" name="Picture 2" descr="universite-assane-seck-zig-5af59 - Wincom">
            <a:extLst>
              <a:ext uri="{FF2B5EF4-FFF2-40B4-BE49-F238E27FC236}">
                <a16:creationId xmlns:a16="http://schemas.microsoft.com/office/drawing/2014/main" id="{60BB8091-29FD-A368-F62E-A988A98506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BCC646AF-8F86-A5E1-3716-E4C0D2DCF3D3}"/>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E01B0C3-5D1C-63D3-0D5C-8C6E92CBA940}"/>
              </a:ext>
            </a:extLst>
          </p:cNvPr>
          <p:cNvSpPr txBox="1"/>
          <p:nvPr/>
        </p:nvSpPr>
        <p:spPr>
          <a:xfrm>
            <a:off x="-159140" y="264187"/>
            <a:ext cx="17939234" cy="730969"/>
          </a:xfrm>
          <a:prstGeom prst="rect">
            <a:avLst/>
          </a:prstGeom>
        </p:spPr>
        <p:txBody>
          <a:bodyPr wrap="square" lIns="0" tIns="0" rIns="0" bIns="0" rtlCol="0" anchor="t">
            <a:spAutoFit/>
          </a:bodyPr>
          <a:lstStyle/>
          <a:p>
            <a:pPr algn="ctr">
              <a:lnSpc>
                <a:spcPts val="5704"/>
              </a:lnSpc>
            </a:pPr>
            <a:r>
              <a:rPr lang="fr-FR" sz="4800" kern="0" dirty="0">
                <a:latin typeface="Times New Roman" panose="02020603050405020304" pitchFamily="18" charset="0"/>
              </a:rPr>
              <a:t>EN RESUME</a:t>
            </a:r>
            <a:endParaRPr lang="en-US" sz="4800" kern="0" dirty="0">
              <a:latin typeface="Times New Roman" panose="02020603050405020304" pitchFamily="18" charset="0"/>
              <a:sym typeface="Akzidenz-Grotesk"/>
            </a:endParaRPr>
          </a:p>
        </p:txBody>
      </p:sp>
    </p:spTree>
    <p:extLst>
      <p:ext uri="{BB962C8B-B14F-4D97-AF65-F5344CB8AC3E}">
        <p14:creationId xmlns:p14="http://schemas.microsoft.com/office/powerpoint/2010/main" val="2800894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B4399A21-07E4-ADF6-99BF-E9A9A9CFD18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8364BFD-9534-C7C9-548F-FC6938B108FB}"/>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28E0B9F9-17F3-8C76-9592-2706F5448D9D}"/>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EB63B480-BEA5-4302-8BE9-BE7976FD6D78}"/>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BC59EA22-335C-C8DC-F0D2-26D3CFC0DEE8}"/>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5F8A964E-BD49-E073-7089-14DE9C2A0225}"/>
              </a:ext>
            </a:extLst>
          </p:cNvPr>
          <p:cNvSpPr txBox="1"/>
          <p:nvPr/>
        </p:nvSpPr>
        <p:spPr>
          <a:xfrm>
            <a:off x="2011681" y="1888170"/>
            <a:ext cx="15260512" cy="6647974"/>
          </a:xfrm>
          <a:prstGeom prst="rect">
            <a:avLst/>
          </a:prstGeom>
        </p:spPr>
        <p:txBody>
          <a:bodyPr wrap="square" lIns="0" tIns="0" rIns="0" bIns="0" rtlCol="0" anchor="t">
            <a:spAutoFit/>
          </a:bodyPr>
          <a:lstStyle/>
          <a:p>
            <a:endParaRPr lang="fr-FR" sz="4800" dirty="0"/>
          </a:p>
          <a:p>
            <a:r>
              <a:rPr lang="fr-FR" sz="4800" dirty="0"/>
              <a:t>Ainsi, le choix entre ces deux architectures ne dépend pas uniquement de la technologie, mais surtout des </a:t>
            </a:r>
            <a:r>
              <a:rPr lang="fr-FR" sz="4800" b="1" dirty="0"/>
              <a:t>objectifs de l’entreprise</a:t>
            </a:r>
            <a:r>
              <a:rPr lang="fr-FR" sz="4800" dirty="0"/>
              <a:t>, de la </a:t>
            </a:r>
            <a:r>
              <a:rPr lang="fr-FR" sz="4800" b="1" dirty="0"/>
              <a:t>maturité des équipes</a:t>
            </a:r>
            <a:r>
              <a:rPr lang="fr-FR" sz="4800" dirty="0"/>
              <a:t> et de la </a:t>
            </a:r>
            <a:r>
              <a:rPr lang="fr-FR" sz="4800" b="1" dirty="0"/>
              <a:t>vision à long terme du système</a:t>
            </a:r>
            <a:r>
              <a:rPr lang="fr-FR" sz="4800" dirty="0"/>
              <a:t>.</a:t>
            </a:r>
            <a:br>
              <a:rPr lang="fr-FR" sz="4800" dirty="0"/>
            </a:br>
            <a:r>
              <a:rPr lang="fr-FR" sz="4800" dirty="0"/>
              <a:t>Une approche pragmatique consiste souvent à </a:t>
            </a:r>
            <a:r>
              <a:rPr lang="fr-FR" sz="4800" b="1" dirty="0"/>
              <a:t>commencer par une architecture monolithique modulaire</a:t>
            </a:r>
            <a:r>
              <a:rPr lang="fr-FR" sz="4800" dirty="0"/>
              <a:t>, avant d’évoluer vers un modèle </a:t>
            </a:r>
            <a:r>
              <a:rPr lang="fr-FR" sz="4800" b="1" dirty="0"/>
              <a:t>micro services</a:t>
            </a:r>
            <a:r>
              <a:rPr lang="fr-FR" sz="4800" dirty="0"/>
              <a:t> lorsque les besoins en évolutivité et en indépendance deviennent prioritaires.</a:t>
            </a:r>
          </a:p>
        </p:txBody>
      </p:sp>
      <p:pic>
        <p:nvPicPr>
          <p:cNvPr id="1026" name="Picture 2" descr="universite-assane-seck-zig-5af59 - Wincom">
            <a:extLst>
              <a:ext uri="{FF2B5EF4-FFF2-40B4-BE49-F238E27FC236}">
                <a16:creationId xmlns:a16="http://schemas.microsoft.com/office/drawing/2014/main" id="{BC5B93BE-4455-8587-724B-7E07DE1137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208E8618-8795-B7F0-EED4-2ADF1A5034F8}"/>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FD20A30-E9F5-2BC8-4050-F0AB7E489027}"/>
              </a:ext>
            </a:extLst>
          </p:cNvPr>
          <p:cNvSpPr txBox="1"/>
          <p:nvPr/>
        </p:nvSpPr>
        <p:spPr>
          <a:xfrm>
            <a:off x="-159140" y="264187"/>
            <a:ext cx="17939234" cy="730969"/>
          </a:xfrm>
          <a:prstGeom prst="rect">
            <a:avLst/>
          </a:prstGeom>
        </p:spPr>
        <p:txBody>
          <a:bodyPr wrap="square" lIns="0" tIns="0" rIns="0" bIns="0" rtlCol="0" anchor="t">
            <a:spAutoFit/>
          </a:bodyPr>
          <a:lstStyle/>
          <a:p>
            <a:pPr algn="ctr">
              <a:lnSpc>
                <a:spcPts val="5704"/>
              </a:lnSpc>
            </a:pPr>
            <a:r>
              <a:rPr lang="fr-FR" sz="4800" kern="0" dirty="0">
                <a:latin typeface="Times New Roman" panose="02020603050405020304" pitchFamily="18" charset="0"/>
              </a:rPr>
              <a:t>EN RESUME</a:t>
            </a:r>
            <a:endParaRPr lang="en-US" sz="4800" kern="0" dirty="0">
              <a:latin typeface="Times New Roman" panose="02020603050405020304" pitchFamily="18" charset="0"/>
              <a:sym typeface="Akzidenz-Grotesk"/>
            </a:endParaRPr>
          </a:p>
        </p:txBody>
      </p:sp>
    </p:spTree>
    <p:extLst>
      <p:ext uri="{BB962C8B-B14F-4D97-AF65-F5344CB8AC3E}">
        <p14:creationId xmlns:p14="http://schemas.microsoft.com/office/powerpoint/2010/main" val="4018783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C6311920-132D-9766-94FA-76E328BCAE22}"/>
            </a:ext>
          </a:extLst>
        </p:cNvPr>
        <p:cNvGrpSpPr/>
        <p:nvPr/>
      </p:nvGrpSpPr>
      <p:grpSpPr>
        <a:xfrm>
          <a:off x="0" y="0"/>
          <a:ext cx="0" cy="0"/>
          <a:chOff x="0" y="0"/>
          <a:chExt cx="0" cy="0"/>
        </a:xfrm>
      </p:grpSpPr>
      <p:sp>
        <p:nvSpPr>
          <p:cNvPr id="21" name="Freeform 4">
            <a:extLst>
              <a:ext uri="{FF2B5EF4-FFF2-40B4-BE49-F238E27FC236}">
                <a16:creationId xmlns:a16="http://schemas.microsoft.com/office/drawing/2014/main" id="{7CED2294-752D-8F3E-E705-49F048C6DF3C}"/>
              </a:ext>
            </a:extLst>
          </p:cNvPr>
          <p:cNvSpPr/>
          <p:nvPr/>
        </p:nvSpPr>
        <p:spPr>
          <a:xfrm rot="4303617">
            <a:off x="324784" y="1212141"/>
            <a:ext cx="3833334" cy="2776856"/>
          </a:xfrm>
          <a:custGeom>
            <a:avLst/>
            <a:gdLst/>
            <a:ahLst/>
            <a:cxnLst/>
            <a:rect l="l" t="t" r="r" b="b"/>
            <a:pathLst>
              <a:path w="7085164" h="6325897">
                <a:moveTo>
                  <a:pt x="0" y="0"/>
                </a:moveTo>
                <a:lnTo>
                  <a:pt x="7085164" y="0"/>
                </a:lnTo>
                <a:lnTo>
                  <a:pt x="7085164" y="6325897"/>
                </a:lnTo>
                <a:lnTo>
                  <a:pt x="0" y="63258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TextBox 8">
            <a:extLst>
              <a:ext uri="{FF2B5EF4-FFF2-40B4-BE49-F238E27FC236}">
                <a16:creationId xmlns:a16="http://schemas.microsoft.com/office/drawing/2014/main" id="{DFC837B6-EB9B-4C60-5B99-9A538796A854}"/>
              </a:ext>
            </a:extLst>
          </p:cNvPr>
          <p:cNvSpPr txBox="1"/>
          <p:nvPr/>
        </p:nvSpPr>
        <p:spPr>
          <a:xfrm>
            <a:off x="7947926" y="2429523"/>
            <a:ext cx="4266282" cy="835887"/>
          </a:xfrm>
          <a:prstGeom prst="rect">
            <a:avLst/>
          </a:prstGeom>
        </p:spPr>
        <p:txBody>
          <a:bodyPr lIns="0" tIns="0" rIns="0" bIns="0" rtlCol="0" anchor="t">
            <a:spAutoFit/>
          </a:bodyPr>
          <a:lstStyle/>
          <a:p>
            <a:pPr algn="ctr">
              <a:lnSpc>
                <a:spcPts val="6251"/>
              </a:lnSpc>
            </a:pPr>
            <a:r>
              <a:rPr lang="en-US" sz="6069" b="1" dirty="0">
                <a:solidFill>
                  <a:srgbClr val="000000"/>
                </a:solidFill>
                <a:latin typeface="Neue Machina Ultra-Bold"/>
                <a:ea typeface="Neue Machina Ultra-Bold"/>
                <a:cs typeface="Neue Machina Ultra-Bold"/>
                <a:sym typeface="Neue Machina Ultra-Bold"/>
              </a:rPr>
              <a:t>MERCI</a:t>
            </a:r>
          </a:p>
        </p:txBody>
      </p:sp>
      <p:sp>
        <p:nvSpPr>
          <p:cNvPr id="23" name="Freeform 18">
            <a:extLst>
              <a:ext uri="{FF2B5EF4-FFF2-40B4-BE49-F238E27FC236}">
                <a16:creationId xmlns:a16="http://schemas.microsoft.com/office/drawing/2014/main" id="{F1DF4ED8-1C24-350C-7596-AD18DA2EB20B}"/>
              </a:ext>
            </a:extLst>
          </p:cNvPr>
          <p:cNvSpPr/>
          <p:nvPr/>
        </p:nvSpPr>
        <p:spPr>
          <a:xfrm rot="2807232">
            <a:off x="11897451" y="352843"/>
            <a:ext cx="6236818" cy="8416774"/>
          </a:xfrm>
          <a:custGeom>
            <a:avLst/>
            <a:gdLst/>
            <a:ahLst/>
            <a:cxnLst/>
            <a:rect l="l" t="t" r="r" b="b"/>
            <a:pathLst>
              <a:path w="9505647" h="7669422">
                <a:moveTo>
                  <a:pt x="0" y="0"/>
                </a:moveTo>
                <a:lnTo>
                  <a:pt x="9505647" y="0"/>
                </a:lnTo>
                <a:lnTo>
                  <a:pt x="9505647" y="7669422"/>
                </a:lnTo>
                <a:lnTo>
                  <a:pt x="0" y="76694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4" name="Group 2">
            <a:extLst>
              <a:ext uri="{FF2B5EF4-FFF2-40B4-BE49-F238E27FC236}">
                <a16:creationId xmlns:a16="http://schemas.microsoft.com/office/drawing/2014/main" id="{2A6F2A5E-A32F-5029-D1D4-892823878A9A}"/>
              </a:ext>
            </a:extLst>
          </p:cNvPr>
          <p:cNvGrpSpPr/>
          <p:nvPr/>
        </p:nvGrpSpPr>
        <p:grpSpPr>
          <a:xfrm>
            <a:off x="4670867" y="3955250"/>
            <a:ext cx="10820400" cy="3050066"/>
            <a:chOff x="0" y="0"/>
            <a:chExt cx="2272929" cy="1645889"/>
          </a:xfrm>
        </p:grpSpPr>
        <p:sp>
          <p:nvSpPr>
            <p:cNvPr id="25" name="TextBox 4">
              <a:extLst>
                <a:ext uri="{FF2B5EF4-FFF2-40B4-BE49-F238E27FC236}">
                  <a16:creationId xmlns:a16="http://schemas.microsoft.com/office/drawing/2014/main" id="{4D1FAC6A-062E-3798-72F0-E6748EEC6735}"/>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sp>
          <p:nvSpPr>
            <p:cNvPr id="26" name="Freeform 3">
              <a:extLst>
                <a:ext uri="{FF2B5EF4-FFF2-40B4-BE49-F238E27FC236}">
                  <a16:creationId xmlns:a16="http://schemas.microsoft.com/office/drawing/2014/main" id="{9F5274E9-FC9B-80C5-80AF-6FAC23EC96C8}"/>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grpSp>
      <p:pic>
        <p:nvPicPr>
          <p:cNvPr id="27" name="Picture 2" descr="universite-assane-seck-zig-5af59 - Wincom">
            <a:extLst>
              <a:ext uri="{FF2B5EF4-FFF2-40B4-BE49-F238E27FC236}">
                <a16:creationId xmlns:a16="http://schemas.microsoft.com/office/drawing/2014/main" id="{65D6DB2E-4459-A196-EBC6-B45AA6F879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385" y="4700887"/>
            <a:ext cx="1273615" cy="2525413"/>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9">
            <a:extLst>
              <a:ext uri="{FF2B5EF4-FFF2-40B4-BE49-F238E27FC236}">
                <a16:creationId xmlns:a16="http://schemas.microsoft.com/office/drawing/2014/main" id="{1839AE76-7EFC-7C88-91B9-D0D9FA00FED8}"/>
              </a:ext>
            </a:extLst>
          </p:cNvPr>
          <p:cNvSpPr txBox="1"/>
          <p:nvPr/>
        </p:nvSpPr>
        <p:spPr>
          <a:xfrm>
            <a:off x="5486696" y="4855919"/>
            <a:ext cx="8228427" cy="738664"/>
          </a:xfrm>
          <a:prstGeom prst="rect">
            <a:avLst/>
          </a:prstGeom>
        </p:spPr>
        <p:txBody>
          <a:bodyPr wrap="square" lIns="0" tIns="0" rIns="0" bIns="0" rtlCol="0" anchor="t">
            <a:spAutoFit/>
          </a:bodyPr>
          <a:lstStyle/>
          <a:p>
            <a:pPr lvl="1"/>
            <a:r>
              <a:rPr lang="fr-FR" sz="4800" b="1" dirty="0"/>
              <a:t>POUR LA PROCHAINE ETAPE</a:t>
            </a:r>
            <a:endParaRPr lang="en-US" sz="2602"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512290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1558</TotalTime>
  <Words>1654</Words>
  <Application>Microsoft Macintosh PowerPoint</Application>
  <PresentationFormat>Personnalisé</PresentationFormat>
  <Paragraphs>184</Paragraphs>
  <Slides>28</Slides>
  <Notes>28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28</vt:i4>
      </vt:variant>
    </vt:vector>
  </HeadingPairs>
  <TitlesOfParts>
    <vt:vector size="36" baseType="lpstr">
      <vt:lpstr>Akzidenz-Grotesk</vt:lpstr>
      <vt:lpstr>Arial</vt:lpstr>
      <vt:lpstr>Neue Machina Ultra-Bold</vt:lpstr>
      <vt:lpstr>Times New Roman</vt:lpstr>
      <vt:lpstr>Bookman Old Style</vt:lpstr>
      <vt:lpstr>Calibri</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Entreprise Présentation  Minimaliste Organique Noir Beige </dc:title>
  <cp:lastModifiedBy>Microsoft Office User</cp:lastModifiedBy>
  <cp:revision>13</cp:revision>
  <dcterms:created xsi:type="dcterms:W3CDTF">2006-08-16T00:00:00Z</dcterms:created>
  <dcterms:modified xsi:type="dcterms:W3CDTF">2025-10-21T18:55:18Z</dcterms:modified>
  <dc:identifier>DAGyTjyv83I</dc:identifier>
</cp:coreProperties>
</file>