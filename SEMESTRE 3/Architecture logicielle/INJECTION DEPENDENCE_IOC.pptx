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0"/>
  </p:notesMasterIdLst>
  <p:sldIdLst>
    <p:sldId id="256" r:id="rId2"/>
    <p:sldId id="293" r:id="rId3"/>
    <p:sldId id="257" r:id="rId4"/>
    <p:sldId id="258" r:id="rId5"/>
    <p:sldId id="272" r:id="rId6"/>
    <p:sldId id="313" r:id="rId7"/>
    <p:sldId id="314" r:id="rId8"/>
    <p:sldId id="315" r:id="rId9"/>
    <p:sldId id="316" r:id="rId10"/>
    <p:sldId id="317" r:id="rId11"/>
    <p:sldId id="318" r:id="rId12"/>
    <p:sldId id="319" r:id="rId13"/>
    <p:sldId id="320" r:id="rId14"/>
    <p:sldId id="321" r:id="rId15"/>
    <p:sldId id="322" r:id="rId16"/>
    <p:sldId id="323" r:id="rId17"/>
    <p:sldId id="324" r:id="rId18"/>
    <p:sldId id="325" r:id="rId19"/>
    <p:sldId id="326" r:id="rId20"/>
    <p:sldId id="327" r:id="rId21"/>
    <p:sldId id="328" r:id="rId22"/>
    <p:sldId id="329" r:id="rId23"/>
    <p:sldId id="330" r:id="rId24"/>
    <p:sldId id="275" r:id="rId25"/>
    <p:sldId id="331" r:id="rId26"/>
    <p:sldId id="332" r:id="rId27"/>
    <p:sldId id="333" r:id="rId28"/>
    <p:sldId id="334" r:id="rId29"/>
    <p:sldId id="335" r:id="rId30"/>
    <p:sldId id="336" r:id="rId31"/>
    <p:sldId id="337" r:id="rId32"/>
    <p:sldId id="338" r:id="rId33"/>
    <p:sldId id="339" r:id="rId34"/>
    <p:sldId id="340" r:id="rId35"/>
    <p:sldId id="341" r:id="rId36"/>
    <p:sldId id="312" r:id="rId37"/>
    <p:sldId id="342" r:id="rId38"/>
    <p:sldId id="291" r:id="rId39"/>
  </p:sldIdLst>
  <p:sldSz cx="18288000" cy="10287000"/>
  <p:notesSz cx="6858000" cy="9144000"/>
  <p:embeddedFontLst>
    <p:embeddedFont>
      <p:font typeface="Akzidenz-Grotesk" panose="02000503030000020003" pitchFamily="2" charset="77"/>
      <p:regular r:id="rId41"/>
    </p:embeddedFont>
    <p:embeddedFont>
      <p:font typeface="Bookman Old Style" panose="02050604050505020204" pitchFamily="18" charset="0"/>
      <p:regular r:id="rId42"/>
      <p:bold r:id="rId43"/>
      <p:italic r:id="rId44"/>
      <p:boldItalic r:id="rId45"/>
    </p:embeddedFont>
    <p:embeddedFont>
      <p:font typeface="Neue Machina Ultra-Bold" pitchFamily="2" charset="77"/>
      <p:regular r:id="rId46"/>
      <p:bold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94181" autoAdjust="0"/>
  </p:normalViewPr>
  <p:slideViewPr>
    <p:cSldViewPr>
      <p:cViewPr varScale="1">
        <p:scale>
          <a:sx n="38" d="100"/>
          <a:sy n="38" d="100"/>
        </p:scale>
        <p:origin x="240" y="5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C5A1AD-6EE0-7B47-843F-7A2A6B89B1E6}" type="datetimeFigureOut">
              <a:rPr lang="fr-FR" smtClean="0"/>
              <a:t>23/10/2025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B5923D-B6A3-304B-9A38-4C678B293161}" type="slidenum">
              <a:rPr lang="fr-FR" smtClean="0"/>
              <a:t>‹N°›</a:t>
            </a:fld>
            <a:endParaRPr lang="fr-FR"/>
          </a:p>
        </p:txBody>
      </p:sp>
    </p:spTree>
    <p:extLst>
      <p:ext uri="{BB962C8B-B14F-4D97-AF65-F5344CB8AC3E}">
        <p14:creationId xmlns:p14="http://schemas.microsoft.com/office/powerpoint/2010/main" val="206811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8B5923D-B6A3-304B-9A38-4C678B293161}" type="slidenum">
              <a:rPr lang="fr-FR" smtClean="0"/>
              <a:t>1</a:t>
            </a:fld>
            <a:endParaRPr lang="fr-FR"/>
          </a:p>
        </p:txBody>
      </p:sp>
    </p:spTree>
    <p:extLst>
      <p:ext uri="{BB962C8B-B14F-4D97-AF65-F5344CB8AC3E}">
        <p14:creationId xmlns:p14="http://schemas.microsoft.com/office/powerpoint/2010/main" val="1600596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C411C-102E-20F8-BFEB-2D8BA47FBC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23109BA-42AE-328E-3DDD-4C667EBB3AC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E60F3D2-9B2E-D0E5-21DC-9667BE6CB8E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131556C-E9B4-3A31-73BA-A9E8D30C9533}"/>
              </a:ext>
            </a:extLst>
          </p:cNvPr>
          <p:cNvSpPr>
            <a:spLocks noGrp="1"/>
          </p:cNvSpPr>
          <p:nvPr>
            <p:ph type="sldNum" sz="quarter" idx="5"/>
          </p:nvPr>
        </p:nvSpPr>
        <p:spPr/>
        <p:txBody>
          <a:bodyPr/>
          <a:lstStyle/>
          <a:p>
            <a:fld id="{98B5923D-B6A3-304B-9A38-4C678B293161}" type="slidenum">
              <a:rPr lang="fr-FR" smtClean="0"/>
              <a:t>2</a:t>
            </a:fld>
            <a:endParaRPr lang="fr-FR"/>
          </a:p>
        </p:txBody>
      </p:sp>
    </p:spTree>
    <p:extLst>
      <p:ext uri="{BB962C8B-B14F-4D97-AF65-F5344CB8AC3E}">
        <p14:creationId xmlns:p14="http://schemas.microsoft.com/office/powerpoint/2010/main" val="900247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8B5923D-B6A3-304B-9A38-4C678B293161}" type="slidenum">
              <a:rPr lang="fr-FR" smtClean="0"/>
              <a:t>3</a:t>
            </a:fld>
            <a:endParaRPr lang="fr-FR"/>
          </a:p>
        </p:txBody>
      </p:sp>
    </p:spTree>
    <p:extLst>
      <p:ext uri="{BB962C8B-B14F-4D97-AF65-F5344CB8AC3E}">
        <p14:creationId xmlns:p14="http://schemas.microsoft.com/office/powerpoint/2010/main" val="794534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8B5923D-B6A3-304B-9A38-4C678B293161}" type="slidenum">
              <a:rPr lang="fr-FR" smtClean="0"/>
              <a:t>4</a:t>
            </a:fld>
            <a:endParaRPr lang="fr-FR"/>
          </a:p>
        </p:txBody>
      </p:sp>
    </p:spTree>
    <p:extLst>
      <p:ext uri="{BB962C8B-B14F-4D97-AF65-F5344CB8AC3E}">
        <p14:creationId xmlns:p14="http://schemas.microsoft.com/office/powerpoint/2010/main" val="633893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2E821-D4E3-B104-3FA1-9CF96E7AAB4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6028EE0-8195-43BD-E2F5-D02AF07C02B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D1F7505-C643-670B-4947-A4A3E127D85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439DB42-8359-1283-9891-3F6093426CEF}"/>
              </a:ext>
            </a:extLst>
          </p:cNvPr>
          <p:cNvSpPr>
            <a:spLocks noGrp="1"/>
          </p:cNvSpPr>
          <p:nvPr>
            <p:ph type="sldNum" sz="quarter" idx="5"/>
          </p:nvPr>
        </p:nvSpPr>
        <p:spPr/>
        <p:txBody>
          <a:bodyPr/>
          <a:lstStyle/>
          <a:p>
            <a:fld id="{98B5923D-B6A3-304B-9A38-4C678B293161}" type="slidenum">
              <a:rPr lang="fr-FR" smtClean="0"/>
              <a:t>5</a:t>
            </a:fld>
            <a:endParaRPr lang="fr-FR"/>
          </a:p>
        </p:txBody>
      </p:sp>
    </p:spTree>
    <p:extLst>
      <p:ext uri="{BB962C8B-B14F-4D97-AF65-F5344CB8AC3E}">
        <p14:creationId xmlns:p14="http://schemas.microsoft.com/office/powerpoint/2010/main" val="2079096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3B40A-7CD1-8204-91CF-94648F1C6AE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C9C2EBB-D4D7-9B9B-9F4F-4501B6AFFC9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140546F-E5EF-395C-EBAF-5EC2D99FBBB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F5102C8-176A-1A89-8CA6-35EE9F825E3B}"/>
              </a:ext>
            </a:extLst>
          </p:cNvPr>
          <p:cNvSpPr>
            <a:spLocks noGrp="1"/>
          </p:cNvSpPr>
          <p:nvPr>
            <p:ph type="sldNum" sz="quarter" idx="5"/>
          </p:nvPr>
        </p:nvSpPr>
        <p:spPr/>
        <p:txBody>
          <a:bodyPr/>
          <a:lstStyle/>
          <a:p>
            <a:fld id="{98B5923D-B6A3-304B-9A38-4C678B293161}" type="slidenum">
              <a:rPr lang="fr-FR" smtClean="0"/>
              <a:t>6</a:t>
            </a:fld>
            <a:endParaRPr lang="fr-FR"/>
          </a:p>
        </p:txBody>
      </p:sp>
    </p:spTree>
    <p:extLst>
      <p:ext uri="{BB962C8B-B14F-4D97-AF65-F5344CB8AC3E}">
        <p14:creationId xmlns:p14="http://schemas.microsoft.com/office/powerpoint/2010/main" val="3423596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26653-0A3F-D17F-B906-199FA5497B2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F1F03B5-6276-A4AA-E5F2-8DDE3D7FE5B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31253EE-FDBC-ECC9-5F93-307AB3380AE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FF8E64F-9A51-7A0D-3737-137F8464CEE3}"/>
              </a:ext>
            </a:extLst>
          </p:cNvPr>
          <p:cNvSpPr>
            <a:spLocks noGrp="1"/>
          </p:cNvSpPr>
          <p:nvPr>
            <p:ph type="sldNum" sz="quarter" idx="5"/>
          </p:nvPr>
        </p:nvSpPr>
        <p:spPr/>
        <p:txBody>
          <a:bodyPr/>
          <a:lstStyle/>
          <a:p>
            <a:fld id="{98B5923D-B6A3-304B-9A38-4C678B293161}" type="slidenum">
              <a:rPr lang="fr-FR" smtClean="0"/>
              <a:t>7</a:t>
            </a:fld>
            <a:endParaRPr lang="fr-FR"/>
          </a:p>
        </p:txBody>
      </p:sp>
    </p:spTree>
    <p:extLst>
      <p:ext uri="{BB962C8B-B14F-4D97-AF65-F5344CB8AC3E}">
        <p14:creationId xmlns:p14="http://schemas.microsoft.com/office/powerpoint/2010/main" val="1288580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373B8-70F0-DB05-9A41-35D40DBAF5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3E854D5-5515-B943-ACB1-FE0AB1C5A50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65C2B92-DC95-DF18-4E0A-578DEBCCD47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1722A1B-0381-4054-5D41-71527B4591AD}"/>
              </a:ext>
            </a:extLst>
          </p:cNvPr>
          <p:cNvSpPr>
            <a:spLocks noGrp="1"/>
          </p:cNvSpPr>
          <p:nvPr>
            <p:ph type="sldNum" sz="quarter" idx="5"/>
          </p:nvPr>
        </p:nvSpPr>
        <p:spPr/>
        <p:txBody>
          <a:bodyPr/>
          <a:lstStyle/>
          <a:p>
            <a:fld id="{98B5923D-B6A3-304B-9A38-4C678B293161}" type="slidenum">
              <a:rPr lang="fr-FR" smtClean="0"/>
              <a:t>8</a:t>
            </a:fld>
            <a:endParaRPr lang="fr-FR"/>
          </a:p>
        </p:txBody>
      </p:sp>
    </p:spTree>
    <p:extLst>
      <p:ext uri="{BB962C8B-B14F-4D97-AF65-F5344CB8AC3E}">
        <p14:creationId xmlns:p14="http://schemas.microsoft.com/office/powerpoint/2010/main" val="746414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4E5AB-1D29-E789-DEF0-1F11569BE1D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A474F24-7B6D-D1EA-EC76-19D7CE679CD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34FCD73-571E-FD9F-6DE1-839956D8236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4E81913-45B9-7163-9B88-C0D44BFD8D8E}"/>
              </a:ext>
            </a:extLst>
          </p:cNvPr>
          <p:cNvSpPr>
            <a:spLocks noGrp="1"/>
          </p:cNvSpPr>
          <p:nvPr>
            <p:ph type="sldNum" sz="quarter" idx="5"/>
          </p:nvPr>
        </p:nvSpPr>
        <p:spPr/>
        <p:txBody>
          <a:bodyPr/>
          <a:lstStyle/>
          <a:p>
            <a:fld id="{98B5923D-B6A3-304B-9A38-4C678B293161}" type="slidenum">
              <a:rPr lang="fr-FR" smtClean="0"/>
              <a:t>9</a:t>
            </a:fld>
            <a:endParaRPr lang="fr-FR"/>
          </a:p>
        </p:txBody>
      </p:sp>
    </p:spTree>
    <p:extLst>
      <p:ext uri="{BB962C8B-B14F-4D97-AF65-F5344CB8AC3E}">
        <p14:creationId xmlns:p14="http://schemas.microsoft.com/office/powerpoint/2010/main" val="1218653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12AB0-98D4-05DE-66E8-F8841AA3DA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304C393-BC04-4040-049B-B4D960FD953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7642EC8-6056-11B0-6F29-427CE704E70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CCAC3A-3854-B402-E0DE-B9C1E70F52FB}"/>
              </a:ext>
            </a:extLst>
          </p:cNvPr>
          <p:cNvSpPr>
            <a:spLocks noGrp="1"/>
          </p:cNvSpPr>
          <p:nvPr>
            <p:ph type="sldNum" sz="quarter" idx="5"/>
          </p:nvPr>
        </p:nvSpPr>
        <p:spPr/>
        <p:txBody>
          <a:bodyPr/>
          <a:lstStyle/>
          <a:p>
            <a:fld id="{98B5923D-B6A3-304B-9A38-4C678B293161}" type="slidenum">
              <a:rPr lang="fr-FR" smtClean="0"/>
              <a:t>10</a:t>
            </a:fld>
            <a:endParaRPr lang="fr-FR"/>
          </a:p>
        </p:txBody>
      </p:sp>
    </p:spTree>
    <p:extLst>
      <p:ext uri="{BB962C8B-B14F-4D97-AF65-F5344CB8AC3E}">
        <p14:creationId xmlns:p14="http://schemas.microsoft.com/office/powerpoint/2010/main" val="4175704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9D506-03CD-3E18-5412-D54EBD392DC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0FA7129-456E-05A0-F1D6-A2CF3EF85DD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C8C18EA-FAAC-58F9-F988-7A44EBCA6D8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E6EEBD6-0FE2-BE36-1875-4D60ACEA7266}"/>
              </a:ext>
            </a:extLst>
          </p:cNvPr>
          <p:cNvSpPr>
            <a:spLocks noGrp="1"/>
          </p:cNvSpPr>
          <p:nvPr>
            <p:ph type="sldNum" sz="quarter" idx="5"/>
          </p:nvPr>
        </p:nvSpPr>
        <p:spPr/>
        <p:txBody>
          <a:bodyPr/>
          <a:lstStyle/>
          <a:p>
            <a:fld id="{98B5923D-B6A3-304B-9A38-4C678B293161}" type="slidenum">
              <a:rPr lang="fr-FR" smtClean="0"/>
              <a:t>11</a:t>
            </a:fld>
            <a:endParaRPr lang="fr-FR"/>
          </a:p>
        </p:txBody>
      </p:sp>
    </p:spTree>
    <p:extLst>
      <p:ext uri="{BB962C8B-B14F-4D97-AF65-F5344CB8AC3E}">
        <p14:creationId xmlns:p14="http://schemas.microsoft.com/office/powerpoint/2010/main" val="5556051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330CF-4501-88F0-4012-7CE81D94442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20D7519-15D0-5D24-26BC-529478A158D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94C433C-396C-36EC-CB08-553488A20C9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026A3F2-325B-C9EC-2D35-DF014FF109B8}"/>
              </a:ext>
            </a:extLst>
          </p:cNvPr>
          <p:cNvSpPr>
            <a:spLocks noGrp="1"/>
          </p:cNvSpPr>
          <p:nvPr>
            <p:ph type="sldNum" sz="quarter" idx="5"/>
          </p:nvPr>
        </p:nvSpPr>
        <p:spPr/>
        <p:txBody>
          <a:bodyPr/>
          <a:lstStyle/>
          <a:p>
            <a:fld id="{98B5923D-B6A3-304B-9A38-4C678B293161}" type="slidenum">
              <a:rPr lang="fr-FR" smtClean="0"/>
              <a:t>12</a:t>
            </a:fld>
            <a:endParaRPr lang="fr-FR"/>
          </a:p>
        </p:txBody>
      </p:sp>
    </p:spTree>
    <p:extLst>
      <p:ext uri="{BB962C8B-B14F-4D97-AF65-F5344CB8AC3E}">
        <p14:creationId xmlns:p14="http://schemas.microsoft.com/office/powerpoint/2010/main" val="3707018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8C942-4C64-0390-DB5D-15F1540730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A5140A1-350C-92DB-E281-1161B933F87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8A72338-4510-CB0E-E9F5-C4F43DF56C9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FE20689-786D-44B7-BB6B-7F10CCD32194}"/>
              </a:ext>
            </a:extLst>
          </p:cNvPr>
          <p:cNvSpPr>
            <a:spLocks noGrp="1"/>
          </p:cNvSpPr>
          <p:nvPr>
            <p:ph type="sldNum" sz="quarter" idx="5"/>
          </p:nvPr>
        </p:nvSpPr>
        <p:spPr/>
        <p:txBody>
          <a:bodyPr/>
          <a:lstStyle/>
          <a:p>
            <a:fld id="{98B5923D-B6A3-304B-9A38-4C678B293161}" type="slidenum">
              <a:rPr lang="fr-FR" smtClean="0"/>
              <a:t>13</a:t>
            </a:fld>
            <a:endParaRPr lang="fr-FR"/>
          </a:p>
        </p:txBody>
      </p:sp>
    </p:spTree>
    <p:extLst>
      <p:ext uri="{BB962C8B-B14F-4D97-AF65-F5344CB8AC3E}">
        <p14:creationId xmlns:p14="http://schemas.microsoft.com/office/powerpoint/2010/main" val="41802547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691AB-EBEB-EF27-C143-F38F1D3919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B0A98CD-9284-251C-5190-89CF353ADFF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2338AF4-3E22-F531-A2EE-15CBBD5ACED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831483C-E16F-8E04-1C8D-7DDEC2D48330}"/>
              </a:ext>
            </a:extLst>
          </p:cNvPr>
          <p:cNvSpPr>
            <a:spLocks noGrp="1"/>
          </p:cNvSpPr>
          <p:nvPr>
            <p:ph type="sldNum" sz="quarter" idx="5"/>
          </p:nvPr>
        </p:nvSpPr>
        <p:spPr/>
        <p:txBody>
          <a:bodyPr/>
          <a:lstStyle/>
          <a:p>
            <a:fld id="{98B5923D-B6A3-304B-9A38-4C678B293161}" type="slidenum">
              <a:rPr lang="fr-FR" smtClean="0"/>
              <a:t>14</a:t>
            </a:fld>
            <a:endParaRPr lang="fr-FR"/>
          </a:p>
        </p:txBody>
      </p:sp>
    </p:spTree>
    <p:extLst>
      <p:ext uri="{BB962C8B-B14F-4D97-AF65-F5344CB8AC3E}">
        <p14:creationId xmlns:p14="http://schemas.microsoft.com/office/powerpoint/2010/main" val="1742698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C9E66-E254-7ED0-69F3-BFA2FE43B22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3947E10-39C1-4F1A-FAC8-381452AEBFA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0F662B1-7EEC-2468-6931-68A29F22DF0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4B08AC3-7C21-ADFB-8F24-3CA87DD1B4CF}"/>
              </a:ext>
            </a:extLst>
          </p:cNvPr>
          <p:cNvSpPr>
            <a:spLocks noGrp="1"/>
          </p:cNvSpPr>
          <p:nvPr>
            <p:ph type="sldNum" sz="quarter" idx="5"/>
          </p:nvPr>
        </p:nvSpPr>
        <p:spPr/>
        <p:txBody>
          <a:bodyPr/>
          <a:lstStyle/>
          <a:p>
            <a:fld id="{98B5923D-B6A3-304B-9A38-4C678B293161}" type="slidenum">
              <a:rPr lang="fr-FR" smtClean="0"/>
              <a:t>15</a:t>
            </a:fld>
            <a:endParaRPr lang="fr-FR"/>
          </a:p>
        </p:txBody>
      </p:sp>
    </p:spTree>
    <p:extLst>
      <p:ext uri="{BB962C8B-B14F-4D97-AF65-F5344CB8AC3E}">
        <p14:creationId xmlns:p14="http://schemas.microsoft.com/office/powerpoint/2010/main" val="40453631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94381-3FE2-C18C-CADD-F9974E12142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097C560-8650-42D9-8797-36822798773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6DE2D04-0598-5589-97F1-CB45CD8BCBA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FBF547B-01B5-3D5D-E72A-1D38043E3FE6}"/>
              </a:ext>
            </a:extLst>
          </p:cNvPr>
          <p:cNvSpPr>
            <a:spLocks noGrp="1"/>
          </p:cNvSpPr>
          <p:nvPr>
            <p:ph type="sldNum" sz="quarter" idx="5"/>
          </p:nvPr>
        </p:nvSpPr>
        <p:spPr/>
        <p:txBody>
          <a:bodyPr/>
          <a:lstStyle/>
          <a:p>
            <a:fld id="{98B5923D-B6A3-304B-9A38-4C678B293161}" type="slidenum">
              <a:rPr lang="fr-FR" smtClean="0"/>
              <a:t>16</a:t>
            </a:fld>
            <a:endParaRPr lang="fr-FR"/>
          </a:p>
        </p:txBody>
      </p:sp>
    </p:spTree>
    <p:extLst>
      <p:ext uri="{BB962C8B-B14F-4D97-AF65-F5344CB8AC3E}">
        <p14:creationId xmlns:p14="http://schemas.microsoft.com/office/powerpoint/2010/main" val="29098903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73DC7-3EC4-F80B-E0F4-A671859C564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1AE55F1-2D8E-85A7-7631-12D6102D319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FD61F22-0653-E3CA-6756-61691F29D87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D9888B4-BD90-F9C4-AEB9-D09904F5E582}"/>
              </a:ext>
            </a:extLst>
          </p:cNvPr>
          <p:cNvSpPr>
            <a:spLocks noGrp="1"/>
          </p:cNvSpPr>
          <p:nvPr>
            <p:ph type="sldNum" sz="quarter" idx="5"/>
          </p:nvPr>
        </p:nvSpPr>
        <p:spPr/>
        <p:txBody>
          <a:bodyPr/>
          <a:lstStyle/>
          <a:p>
            <a:fld id="{98B5923D-B6A3-304B-9A38-4C678B293161}" type="slidenum">
              <a:rPr lang="fr-FR" smtClean="0"/>
              <a:t>17</a:t>
            </a:fld>
            <a:endParaRPr lang="fr-FR"/>
          </a:p>
        </p:txBody>
      </p:sp>
    </p:spTree>
    <p:extLst>
      <p:ext uri="{BB962C8B-B14F-4D97-AF65-F5344CB8AC3E}">
        <p14:creationId xmlns:p14="http://schemas.microsoft.com/office/powerpoint/2010/main" val="22467780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7A2D0-8383-9AC0-A9F8-43BD7FECB5F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EEE8FC3-618D-5E9B-57BD-FA30013F5C7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CBD285E-D3D7-CFC3-8E92-45FE4D7BCED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866AE08-8A39-25C1-4B09-A5D9483EB1AC}"/>
              </a:ext>
            </a:extLst>
          </p:cNvPr>
          <p:cNvSpPr>
            <a:spLocks noGrp="1"/>
          </p:cNvSpPr>
          <p:nvPr>
            <p:ph type="sldNum" sz="quarter" idx="5"/>
          </p:nvPr>
        </p:nvSpPr>
        <p:spPr/>
        <p:txBody>
          <a:bodyPr/>
          <a:lstStyle/>
          <a:p>
            <a:fld id="{98B5923D-B6A3-304B-9A38-4C678B293161}" type="slidenum">
              <a:rPr lang="fr-FR" smtClean="0"/>
              <a:t>18</a:t>
            </a:fld>
            <a:endParaRPr lang="fr-FR"/>
          </a:p>
        </p:txBody>
      </p:sp>
    </p:spTree>
    <p:extLst>
      <p:ext uri="{BB962C8B-B14F-4D97-AF65-F5344CB8AC3E}">
        <p14:creationId xmlns:p14="http://schemas.microsoft.com/office/powerpoint/2010/main" val="4024107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23BD2-CEF6-936C-6347-5DE41AB3124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436FE59-1AA8-0F8C-7F72-B6F042763C6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68EE5B7-67A1-9700-D334-82582C71BF3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722A9CE-49C1-DFB3-C696-096740A920FF}"/>
              </a:ext>
            </a:extLst>
          </p:cNvPr>
          <p:cNvSpPr>
            <a:spLocks noGrp="1"/>
          </p:cNvSpPr>
          <p:nvPr>
            <p:ph type="sldNum" sz="quarter" idx="5"/>
          </p:nvPr>
        </p:nvSpPr>
        <p:spPr/>
        <p:txBody>
          <a:bodyPr/>
          <a:lstStyle/>
          <a:p>
            <a:fld id="{98B5923D-B6A3-304B-9A38-4C678B293161}" type="slidenum">
              <a:rPr lang="fr-FR" smtClean="0"/>
              <a:t>19</a:t>
            </a:fld>
            <a:endParaRPr lang="fr-FR"/>
          </a:p>
        </p:txBody>
      </p:sp>
    </p:spTree>
    <p:extLst>
      <p:ext uri="{BB962C8B-B14F-4D97-AF65-F5344CB8AC3E}">
        <p14:creationId xmlns:p14="http://schemas.microsoft.com/office/powerpoint/2010/main" val="3312942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19DC4-91E5-D0DC-7349-ECE21D87DDF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A6B6212-3BF6-C9B5-3B50-7560C7ECF16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6CB2390-4745-8E4B-3F24-172DA43612A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9484DB2-4BA9-EF54-E5CF-851E59874F30}"/>
              </a:ext>
            </a:extLst>
          </p:cNvPr>
          <p:cNvSpPr>
            <a:spLocks noGrp="1"/>
          </p:cNvSpPr>
          <p:nvPr>
            <p:ph type="sldNum" sz="quarter" idx="5"/>
          </p:nvPr>
        </p:nvSpPr>
        <p:spPr/>
        <p:txBody>
          <a:bodyPr/>
          <a:lstStyle/>
          <a:p>
            <a:fld id="{98B5923D-B6A3-304B-9A38-4C678B293161}" type="slidenum">
              <a:rPr lang="fr-FR" smtClean="0"/>
              <a:t>20</a:t>
            </a:fld>
            <a:endParaRPr lang="fr-FR"/>
          </a:p>
        </p:txBody>
      </p:sp>
    </p:spTree>
    <p:extLst>
      <p:ext uri="{BB962C8B-B14F-4D97-AF65-F5344CB8AC3E}">
        <p14:creationId xmlns:p14="http://schemas.microsoft.com/office/powerpoint/2010/main" val="36998278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67911-72EE-2E56-9E49-5828A95724C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AFEEB96-F0D4-68EB-A915-7C46E2BB845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50B56EF-D2F5-2D68-774F-7CE1F80FF9F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30CF325-62A2-7275-B160-174114D26B40}"/>
              </a:ext>
            </a:extLst>
          </p:cNvPr>
          <p:cNvSpPr>
            <a:spLocks noGrp="1"/>
          </p:cNvSpPr>
          <p:nvPr>
            <p:ph type="sldNum" sz="quarter" idx="5"/>
          </p:nvPr>
        </p:nvSpPr>
        <p:spPr/>
        <p:txBody>
          <a:bodyPr/>
          <a:lstStyle/>
          <a:p>
            <a:fld id="{98B5923D-B6A3-304B-9A38-4C678B293161}" type="slidenum">
              <a:rPr lang="fr-FR" smtClean="0"/>
              <a:t>21</a:t>
            </a:fld>
            <a:endParaRPr lang="fr-FR"/>
          </a:p>
        </p:txBody>
      </p:sp>
    </p:spTree>
    <p:extLst>
      <p:ext uri="{BB962C8B-B14F-4D97-AF65-F5344CB8AC3E}">
        <p14:creationId xmlns:p14="http://schemas.microsoft.com/office/powerpoint/2010/main" val="41285797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91AEF-345E-1F37-DDED-65FB8D3722F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F449AF6-A4A6-0652-425A-F8E16593608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BDB2E87-1A40-AB7A-23B0-4139457FC91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A25AFC9-1DFC-916F-3F14-E18B78F8CD3E}"/>
              </a:ext>
            </a:extLst>
          </p:cNvPr>
          <p:cNvSpPr>
            <a:spLocks noGrp="1"/>
          </p:cNvSpPr>
          <p:nvPr>
            <p:ph type="sldNum" sz="quarter" idx="5"/>
          </p:nvPr>
        </p:nvSpPr>
        <p:spPr/>
        <p:txBody>
          <a:bodyPr/>
          <a:lstStyle/>
          <a:p>
            <a:fld id="{98B5923D-B6A3-304B-9A38-4C678B293161}" type="slidenum">
              <a:rPr lang="fr-FR" smtClean="0"/>
              <a:t>22</a:t>
            </a:fld>
            <a:endParaRPr lang="fr-FR"/>
          </a:p>
        </p:txBody>
      </p:sp>
    </p:spTree>
    <p:extLst>
      <p:ext uri="{BB962C8B-B14F-4D97-AF65-F5344CB8AC3E}">
        <p14:creationId xmlns:p14="http://schemas.microsoft.com/office/powerpoint/2010/main" val="7084295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DA8B7-5D04-49CF-F2B2-DE932D0FF5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5D46441-8F23-BA91-BB18-A25FEBD33C6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A20C76A-E54E-8EA3-7BB5-951D9B4E05F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536FF84-8E24-9146-8827-72745DAB6600}"/>
              </a:ext>
            </a:extLst>
          </p:cNvPr>
          <p:cNvSpPr>
            <a:spLocks noGrp="1"/>
          </p:cNvSpPr>
          <p:nvPr>
            <p:ph type="sldNum" sz="quarter" idx="5"/>
          </p:nvPr>
        </p:nvSpPr>
        <p:spPr/>
        <p:txBody>
          <a:bodyPr/>
          <a:lstStyle/>
          <a:p>
            <a:fld id="{98B5923D-B6A3-304B-9A38-4C678B293161}" type="slidenum">
              <a:rPr lang="fr-FR" smtClean="0"/>
              <a:t>23</a:t>
            </a:fld>
            <a:endParaRPr lang="fr-FR"/>
          </a:p>
        </p:txBody>
      </p:sp>
    </p:spTree>
    <p:extLst>
      <p:ext uri="{BB962C8B-B14F-4D97-AF65-F5344CB8AC3E}">
        <p14:creationId xmlns:p14="http://schemas.microsoft.com/office/powerpoint/2010/main" val="13998082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86EF4-BD5D-43B2-BB4D-218ECC02531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4FC91D-1781-7D61-3F7D-078BA3BB9CD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AF90E0F-AB4E-C77A-42AA-67B960CD5E3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2DA9C28-F2CE-F3D7-A6A9-BB73A5A80D09}"/>
              </a:ext>
            </a:extLst>
          </p:cNvPr>
          <p:cNvSpPr>
            <a:spLocks noGrp="1"/>
          </p:cNvSpPr>
          <p:nvPr>
            <p:ph type="sldNum" sz="quarter" idx="5"/>
          </p:nvPr>
        </p:nvSpPr>
        <p:spPr/>
        <p:txBody>
          <a:bodyPr/>
          <a:lstStyle/>
          <a:p>
            <a:fld id="{98B5923D-B6A3-304B-9A38-4C678B293161}" type="slidenum">
              <a:rPr lang="fr-FR" smtClean="0"/>
              <a:t>24</a:t>
            </a:fld>
            <a:endParaRPr lang="fr-FR"/>
          </a:p>
        </p:txBody>
      </p:sp>
    </p:spTree>
    <p:extLst>
      <p:ext uri="{BB962C8B-B14F-4D97-AF65-F5344CB8AC3E}">
        <p14:creationId xmlns:p14="http://schemas.microsoft.com/office/powerpoint/2010/main" val="23193723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542C1-5916-8F1E-9D23-B945BA92F22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960E4E1-9AE0-1CE8-324C-690AE632A45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11FA63B-DBA2-4D0D-29F6-5FD1145B2C0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1DFA7A0-EB7A-2260-C902-E29FBA288981}"/>
              </a:ext>
            </a:extLst>
          </p:cNvPr>
          <p:cNvSpPr>
            <a:spLocks noGrp="1"/>
          </p:cNvSpPr>
          <p:nvPr>
            <p:ph type="sldNum" sz="quarter" idx="5"/>
          </p:nvPr>
        </p:nvSpPr>
        <p:spPr/>
        <p:txBody>
          <a:bodyPr/>
          <a:lstStyle/>
          <a:p>
            <a:fld id="{98B5923D-B6A3-304B-9A38-4C678B293161}" type="slidenum">
              <a:rPr lang="fr-FR" smtClean="0"/>
              <a:t>25</a:t>
            </a:fld>
            <a:endParaRPr lang="fr-FR"/>
          </a:p>
        </p:txBody>
      </p:sp>
    </p:spTree>
    <p:extLst>
      <p:ext uri="{BB962C8B-B14F-4D97-AF65-F5344CB8AC3E}">
        <p14:creationId xmlns:p14="http://schemas.microsoft.com/office/powerpoint/2010/main" val="40146312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9FA76-BB99-BE12-3976-FC9E1E3FB52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9D780F1-56C4-0248-63C6-95A92499A03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4F3BE88-196F-42C0-B62B-1CD8CC9D6F9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274BD06-F10D-EE3F-ECE3-7257FF4A5E89}"/>
              </a:ext>
            </a:extLst>
          </p:cNvPr>
          <p:cNvSpPr>
            <a:spLocks noGrp="1"/>
          </p:cNvSpPr>
          <p:nvPr>
            <p:ph type="sldNum" sz="quarter" idx="5"/>
          </p:nvPr>
        </p:nvSpPr>
        <p:spPr/>
        <p:txBody>
          <a:bodyPr/>
          <a:lstStyle/>
          <a:p>
            <a:fld id="{98B5923D-B6A3-304B-9A38-4C678B293161}" type="slidenum">
              <a:rPr lang="fr-FR" smtClean="0"/>
              <a:t>26</a:t>
            </a:fld>
            <a:endParaRPr lang="fr-FR"/>
          </a:p>
        </p:txBody>
      </p:sp>
    </p:spTree>
    <p:extLst>
      <p:ext uri="{BB962C8B-B14F-4D97-AF65-F5344CB8AC3E}">
        <p14:creationId xmlns:p14="http://schemas.microsoft.com/office/powerpoint/2010/main" val="7128593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2A812-2107-575F-8CB5-D1BCE213A13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020F2FB-877D-CCD4-8CF4-D311A56355F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AEEE5CC-8C73-6086-6C07-9C5F5CEADDD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1360A14-7394-89A8-1B3F-FD26BDAF9C37}"/>
              </a:ext>
            </a:extLst>
          </p:cNvPr>
          <p:cNvSpPr>
            <a:spLocks noGrp="1"/>
          </p:cNvSpPr>
          <p:nvPr>
            <p:ph type="sldNum" sz="quarter" idx="5"/>
          </p:nvPr>
        </p:nvSpPr>
        <p:spPr/>
        <p:txBody>
          <a:bodyPr/>
          <a:lstStyle/>
          <a:p>
            <a:fld id="{98B5923D-B6A3-304B-9A38-4C678B293161}" type="slidenum">
              <a:rPr lang="fr-FR" smtClean="0"/>
              <a:t>27</a:t>
            </a:fld>
            <a:endParaRPr lang="fr-FR"/>
          </a:p>
        </p:txBody>
      </p:sp>
    </p:spTree>
    <p:extLst>
      <p:ext uri="{BB962C8B-B14F-4D97-AF65-F5344CB8AC3E}">
        <p14:creationId xmlns:p14="http://schemas.microsoft.com/office/powerpoint/2010/main" val="10666012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DCA5A-59C1-BC89-868E-C6AE2B98A0A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CBC8660-FD92-47DC-792F-D57F5DF0B3B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AD50FB0-9AB8-05F0-3768-ACE20B15530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D25FCC5-B28C-FFE8-C7B8-8E6CE79703A0}"/>
              </a:ext>
            </a:extLst>
          </p:cNvPr>
          <p:cNvSpPr>
            <a:spLocks noGrp="1"/>
          </p:cNvSpPr>
          <p:nvPr>
            <p:ph type="sldNum" sz="quarter" idx="5"/>
          </p:nvPr>
        </p:nvSpPr>
        <p:spPr/>
        <p:txBody>
          <a:bodyPr/>
          <a:lstStyle/>
          <a:p>
            <a:fld id="{98B5923D-B6A3-304B-9A38-4C678B293161}" type="slidenum">
              <a:rPr lang="fr-FR" smtClean="0"/>
              <a:t>28</a:t>
            </a:fld>
            <a:endParaRPr lang="fr-FR"/>
          </a:p>
        </p:txBody>
      </p:sp>
    </p:spTree>
    <p:extLst>
      <p:ext uri="{BB962C8B-B14F-4D97-AF65-F5344CB8AC3E}">
        <p14:creationId xmlns:p14="http://schemas.microsoft.com/office/powerpoint/2010/main" val="23556745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A0DF4-8EF6-0D43-E17E-63B9A045A9C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7E8B2B5-5897-E511-6A83-32FE4C2950A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8B0056A-9F7C-DBD3-4733-7D7DCF109E6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2C105C6-7885-6AF8-92DE-F2B2C80E0B05}"/>
              </a:ext>
            </a:extLst>
          </p:cNvPr>
          <p:cNvSpPr>
            <a:spLocks noGrp="1"/>
          </p:cNvSpPr>
          <p:nvPr>
            <p:ph type="sldNum" sz="quarter" idx="5"/>
          </p:nvPr>
        </p:nvSpPr>
        <p:spPr/>
        <p:txBody>
          <a:bodyPr/>
          <a:lstStyle/>
          <a:p>
            <a:fld id="{98B5923D-B6A3-304B-9A38-4C678B293161}" type="slidenum">
              <a:rPr lang="fr-FR" smtClean="0"/>
              <a:t>29</a:t>
            </a:fld>
            <a:endParaRPr lang="fr-FR"/>
          </a:p>
        </p:txBody>
      </p:sp>
    </p:spTree>
    <p:extLst>
      <p:ext uri="{BB962C8B-B14F-4D97-AF65-F5344CB8AC3E}">
        <p14:creationId xmlns:p14="http://schemas.microsoft.com/office/powerpoint/2010/main" val="10661824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805C2-D6A5-152A-B403-CF83E19D033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0E735FC-4649-BB04-3FDF-E96A0A71428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9F548BF-2DAB-96AB-781F-59E2316682D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EF42638-801A-8228-55AF-E69406B19D11}"/>
              </a:ext>
            </a:extLst>
          </p:cNvPr>
          <p:cNvSpPr>
            <a:spLocks noGrp="1"/>
          </p:cNvSpPr>
          <p:nvPr>
            <p:ph type="sldNum" sz="quarter" idx="5"/>
          </p:nvPr>
        </p:nvSpPr>
        <p:spPr/>
        <p:txBody>
          <a:bodyPr/>
          <a:lstStyle/>
          <a:p>
            <a:fld id="{98B5923D-B6A3-304B-9A38-4C678B293161}" type="slidenum">
              <a:rPr lang="fr-FR" smtClean="0"/>
              <a:t>30</a:t>
            </a:fld>
            <a:endParaRPr lang="fr-FR"/>
          </a:p>
        </p:txBody>
      </p:sp>
    </p:spTree>
    <p:extLst>
      <p:ext uri="{BB962C8B-B14F-4D97-AF65-F5344CB8AC3E}">
        <p14:creationId xmlns:p14="http://schemas.microsoft.com/office/powerpoint/2010/main" val="4543314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18F37-0F09-2A80-D4DE-14D679D621C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B095B18-BA7B-C68F-17D1-54C5D735A8D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211E59C-CFD7-0681-D85B-0AF91C722B7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5985363-9E17-8E58-BFC3-043317E81310}"/>
              </a:ext>
            </a:extLst>
          </p:cNvPr>
          <p:cNvSpPr>
            <a:spLocks noGrp="1"/>
          </p:cNvSpPr>
          <p:nvPr>
            <p:ph type="sldNum" sz="quarter" idx="5"/>
          </p:nvPr>
        </p:nvSpPr>
        <p:spPr/>
        <p:txBody>
          <a:bodyPr/>
          <a:lstStyle/>
          <a:p>
            <a:fld id="{98B5923D-B6A3-304B-9A38-4C678B293161}" type="slidenum">
              <a:rPr lang="fr-FR" smtClean="0"/>
              <a:t>31</a:t>
            </a:fld>
            <a:endParaRPr lang="fr-FR"/>
          </a:p>
        </p:txBody>
      </p:sp>
    </p:spTree>
    <p:extLst>
      <p:ext uri="{BB962C8B-B14F-4D97-AF65-F5344CB8AC3E}">
        <p14:creationId xmlns:p14="http://schemas.microsoft.com/office/powerpoint/2010/main" val="30051450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FDF38-3B44-8148-5200-D7EF3F4BC00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56A1D10-1701-75E0-E8EA-F620428CB5E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D2857BB-0BB2-5469-DD61-2C5AA6F7A18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DB648D9-3646-C0AA-2859-C23FDD554593}"/>
              </a:ext>
            </a:extLst>
          </p:cNvPr>
          <p:cNvSpPr>
            <a:spLocks noGrp="1"/>
          </p:cNvSpPr>
          <p:nvPr>
            <p:ph type="sldNum" sz="quarter" idx="5"/>
          </p:nvPr>
        </p:nvSpPr>
        <p:spPr/>
        <p:txBody>
          <a:bodyPr/>
          <a:lstStyle/>
          <a:p>
            <a:fld id="{98B5923D-B6A3-304B-9A38-4C678B293161}" type="slidenum">
              <a:rPr lang="fr-FR" smtClean="0"/>
              <a:t>32</a:t>
            </a:fld>
            <a:endParaRPr lang="fr-FR"/>
          </a:p>
        </p:txBody>
      </p:sp>
    </p:spTree>
    <p:extLst>
      <p:ext uri="{BB962C8B-B14F-4D97-AF65-F5344CB8AC3E}">
        <p14:creationId xmlns:p14="http://schemas.microsoft.com/office/powerpoint/2010/main" val="3867282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E9741-B746-AB5B-D337-E30540AF8C8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510E61D-C00E-07D6-DF02-9CE68A56B14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69C1E2C-6A55-7B86-7E48-38ED94668C7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37AD59E-B66C-80E7-D749-EAEF7C7B3EED}"/>
              </a:ext>
            </a:extLst>
          </p:cNvPr>
          <p:cNvSpPr>
            <a:spLocks noGrp="1"/>
          </p:cNvSpPr>
          <p:nvPr>
            <p:ph type="sldNum" sz="quarter" idx="5"/>
          </p:nvPr>
        </p:nvSpPr>
        <p:spPr/>
        <p:txBody>
          <a:bodyPr/>
          <a:lstStyle/>
          <a:p>
            <a:fld id="{98B5923D-B6A3-304B-9A38-4C678B293161}" type="slidenum">
              <a:rPr lang="fr-FR" smtClean="0"/>
              <a:t>33</a:t>
            </a:fld>
            <a:endParaRPr lang="fr-FR"/>
          </a:p>
        </p:txBody>
      </p:sp>
    </p:spTree>
    <p:extLst>
      <p:ext uri="{BB962C8B-B14F-4D97-AF65-F5344CB8AC3E}">
        <p14:creationId xmlns:p14="http://schemas.microsoft.com/office/powerpoint/2010/main" val="16028502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83F05-5EB9-5898-825A-205754B37E8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28044F5-D8CE-5E4A-4680-C0DD153CB60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DCF6F3F-0EC2-DBBB-4835-D90E3A3AD3A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65D92A4-214F-88D9-A1DE-9606C7621D1D}"/>
              </a:ext>
            </a:extLst>
          </p:cNvPr>
          <p:cNvSpPr>
            <a:spLocks noGrp="1"/>
          </p:cNvSpPr>
          <p:nvPr>
            <p:ph type="sldNum" sz="quarter" idx="5"/>
          </p:nvPr>
        </p:nvSpPr>
        <p:spPr/>
        <p:txBody>
          <a:bodyPr/>
          <a:lstStyle/>
          <a:p>
            <a:fld id="{98B5923D-B6A3-304B-9A38-4C678B293161}" type="slidenum">
              <a:rPr lang="fr-FR" smtClean="0"/>
              <a:t>34</a:t>
            </a:fld>
            <a:endParaRPr lang="fr-FR"/>
          </a:p>
        </p:txBody>
      </p:sp>
    </p:spTree>
    <p:extLst>
      <p:ext uri="{BB962C8B-B14F-4D97-AF65-F5344CB8AC3E}">
        <p14:creationId xmlns:p14="http://schemas.microsoft.com/office/powerpoint/2010/main" val="14198641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2502F-992A-5C7C-F210-B1FDF9A5688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FCAA778-4255-AE7C-1E44-267773586C3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97BAA1E-F3EC-5834-9DC3-38BA9D8708C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A3C0F30-0CA1-B70D-FEBA-650A36A5F4F7}"/>
              </a:ext>
            </a:extLst>
          </p:cNvPr>
          <p:cNvSpPr>
            <a:spLocks noGrp="1"/>
          </p:cNvSpPr>
          <p:nvPr>
            <p:ph type="sldNum" sz="quarter" idx="5"/>
          </p:nvPr>
        </p:nvSpPr>
        <p:spPr/>
        <p:txBody>
          <a:bodyPr/>
          <a:lstStyle/>
          <a:p>
            <a:fld id="{98B5923D-B6A3-304B-9A38-4C678B293161}" type="slidenum">
              <a:rPr lang="fr-FR" smtClean="0"/>
              <a:t>35</a:t>
            </a:fld>
            <a:endParaRPr lang="fr-FR"/>
          </a:p>
        </p:txBody>
      </p:sp>
    </p:spTree>
    <p:extLst>
      <p:ext uri="{BB962C8B-B14F-4D97-AF65-F5344CB8AC3E}">
        <p14:creationId xmlns:p14="http://schemas.microsoft.com/office/powerpoint/2010/main" val="16823299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B1676-23E6-6C0B-444D-3617E7FA9A7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BF20112-A4DC-8779-F422-89D1C4D037A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1158407-E44E-A637-B6F0-8A82C6EDD76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872DFF8-0707-621D-617A-B76BEFD8C0F2}"/>
              </a:ext>
            </a:extLst>
          </p:cNvPr>
          <p:cNvSpPr>
            <a:spLocks noGrp="1"/>
          </p:cNvSpPr>
          <p:nvPr>
            <p:ph type="sldNum" sz="quarter" idx="5"/>
          </p:nvPr>
        </p:nvSpPr>
        <p:spPr/>
        <p:txBody>
          <a:bodyPr/>
          <a:lstStyle/>
          <a:p>
            <a:fld id="{98B5923D-B6A3-304B-9A38-4C678B293161}" type="slidenum">
              <a:rPr lang="fr-FR" smtClean="0"/>
              <a:t>36</a:t>
            </a:fld>
            <a:endParaRPr lang="fr-FR"/>
          </a:p>
        </p:txBody>
      </p:sp>
    </p:spTree>
    <p:extLst>
      <p:ext uri="{BB962C8B-B14F-4D97-AF65-F5344CB8AC3E}">
        <p14:creationId xmlns:p14="http://schemas.microsoft.com/office/powerpoint/2010/main" val="19953480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E0AD1-A52E-C7BB-185E-F6E092E4997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5DA4F05-5114-3AB6-D1D0-C2E81927EB6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A6BAB40-2DFD-172B-5F5C-52CDB3D617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0F6EB91-1D3E-A518-20C0-CD377B08C04B}"/>
              </a:ext>
            </a:extLst>
          </p:cNvPr>
          <p:cNvSpPr>
            <a:spLocks noGrp="1"/>
          </p:cNvSpPr>
          <p:nvPr>
            <p:ph type="sldNum" sz="quarter" idx="5"/>
          </p:nvPr>
        </p:nvSpPr>
        <p:spPr/>
        <p:txBody>
          <a:bodyPr/>
          <a:lstStyle/>
          <a:p>
            <a:fld id="{98B5923D-B6A3-304B-9A38-4C678B293161}" type="slidenum">
              <a:rPr lang="fr-FR" smtClean="0"/>
              <a:t>37</a:t>
            </a:fld>
            <a:endParaRPr lang="fr-FR"/>
          </a:p>
        </p:txBody>
      </p:sp>
    </p:spTree>
    <p:extLst>
      <p:ext uri="{BB962C8B-B14F-4D97-AF65-F5344CB8AC3E}">
        <p14:creationId xmlns:p14="http://schemas.microsoft.com/office/powerpoint/2010/main" val="37152325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4981E-4A59-A290-99BF-DE6B79E5A5D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1079566-AC1A-26CE-E2DC-58267E759B6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72FC41B-952E-4FB7-7A00-E3C4881D1CB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B53A123-B277-E44D-8852-EA24D3391C42}"/>
              </a:ext>
            </a:extLst>
          </p:cNvPr>
          <p:cNvSpPr>
            <a:spLocks noGrp="1"/>
          </p:cNvSpPr>
          <p:nvPr>
            <p:ph type="sldNum" sz="quarter" idx="5"/>
          </p:nvPr>
        </p:nvSpPr>
        <p:spPr/>
        <p:txBody>
          <a:bodyPr/>
          <a:lstStyle/>
          <a:p>
            <a:fld id="{98B5923D-B6A3-304B-9A38-4C678B293161}" type="slidenum">
              <a:rPr lang="fr-FR" smtClean="0"/>
              <a:t>38</a:t>
            </a:fld>
            <a:endParaRPr lang="fr-FR"/>
          </a:p>
        </p:txBody>
      </p:sp>
    </p:spTree>
    <p:extLst>
      <p:ext uri="{BB962C8B-B14F-4D97-AF65-F5344CB8AC3E}">
        <p14:creationId xmlns:p14="http://schemas.microsoft.com/office/powerpoint/2010/main" val="1409780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10/23/25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3.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7.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1.sv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36.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11.sv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7.sv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11.sv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7.sv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5.jpe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3.png"/><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9" name="Freeform 2">
            <a:extLst>
              <a:ext uri="{FF2B5EF4-FFF2-40B4-BE49-F238E27FC236}">
                <a16:creationId xmlns:a16="http://schemas.microsoft.com/office/drawing/2014/main" id="{3EDC4CD8-A495-A728-63E8-60BA31ED9EE5}"/>
              </a:ext>
            </a:extLst>
          </p:cNvPr>
          <p:cNvSpPr/>
          <p:nvPr/>
        </p:nvSpPr>
        <p:spPr>
          <a:xfrm rot="-7160485">
            <a:off x="13419555" y="4654397"/>
            <a:ext cx="6728545" cy="6403217"/>
          </a:xfrm>
          <a:custGeom>
            <a:avLst/>
            <a:gdLst/>
            <a:ahLst/>
            <a:cxnLst/>
            <a:rect l="l" t="t" r="r" b="b"/>
            <a:pathLst>
              <a:path w="6728545" h="6403217">
                <a:moveTo>
                  <a:pt x="0" y="0"/>
                </a:moveTo>
                <a:lnTo>
                  <a:pt x="6728545" y="0"/>
                </a:lnTo>
                <a:lnTo>
                  <a:pt x="6728545" y="6403217"/>
                </a:lnTo>
                <a:lnTo>
                  <a:pt x="0" y="640321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6">
            <a:extLst>
              <a:ext uri="{FF2B5EF4-FFF2-40B4-BE49-F238E27FC236}">
                <a16:creationId xmlns:a16="http://schemas.microsoft.com/office/drawing/2014/main" id="{436B5AF8-B99A-051F-F288-AE7259328A6A}"/>
              </a:ext>
            </a:extLst>
          </p:cNvPr>
          <p:cNvSpPr/>
          <p:nvPr/>
        </p:nvSpPr>
        <p:spPr>
          <a:xfrm rot="3206933">
            <a:off x="-3150744" y="2201181"/>
            <a:ext cx="6500754" cy="5382013"/>
          </a:xfrm>
          <a:custGeom>
            <a:avLst/>
            <a:gdLst/>
            <a:ahLst/>
            <a:cxnLst/>
            <a:rect l="l" t="t" r="r" b="b"/>
            <a:pathLst>
              <a:path w="11239071" h="9067998">
                <a:moveTo>
                  <a:pt x="0" y="0"/>
                </a:moveTo>
                <a:lnTo>
                  <a:pt x="11239072" y="0"/>
                </a:lnTo>
                <a:lnTo>
                  <a:pt x="11239072" y="9067998"/>
                </a:lnTo>
                <a:lnTo>
                  <a:pt x="0" y="906799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ZoneTexte 10">
            <a:extLst>
              <a:ext uri="{FF2B5EF4-FFF2-40B4-BE49-F238E27FC236}">
                <a16:creationId xmlns:a16="http://schemas.microsoft.com/office/drawing/2014/main" id="{E5EE5997-8ABD-C01B-4458-55298C90C677}"/>
              </a:ext>
            </a:extLst>
          </p:cNvPr>
          <p:cNvSpPr txBox="1"/>
          <p:nvPr/>
        </p:nvSpPr>
        <p:spPr>
          <a:xfrm>
            <a:off x="17961429" y="762000"/>
            <a:ext cx="184731" cy="369332"/>
          </a:xfrm>
          <a:prstGeom prst="rect">
            <a:avLst/>
          </a:prstGeom>
          <a:noFill/>
        </p:spPr>
        <p:txBody>
          <a:bodyPr wrap="none" rtlCol="0">
            <a:spAutoFit/>
          </a:bodyPr>
          <a:lstStyle/>
          <a:p>
            <a:endParaRPr lang="fr-FR" dirty="0"/>
          </a:p>
        </p:txBody>
      </p:sp>
      <p:sp>
        <p:nvSpPr>
          <p:cNvPr id="17" name="ZoneTexte 16">
            <a:extLst>
              <a:ext uri="{FF2B5EF4-FFF2-40B4-BE49-F238E27FC236}">
                <a16:creationId xmlns:a16="http://schemas.microsoft.com/office/drawing/2014/main" id="{419B6CEB-1D03-821A-3921-FF0391DA0646}"/>
              </a:ext>
            </a:extLst>
          </p:cNvPr>
          <p:cNvSpPr txBox="1"/>
          <p:nvPr/>
        </p:nvSpPr>
        <p:spPr>
          <a:xfrm>
            <a:off x="10938933" y="6468533"/>
            <a:ext cx="184731" cy="369332"/>
          </a:xfrm>
          <a:prstGeom prst="rect">
            <a:avLst/>
          </a:prstGeom>
          <a:solidFill>
            <a:schemeClr val="accent3">
              <a:lumMod val="40000"/>
              <a:lumOff val="60000"/>
            </a:schemeClr>
          </a:solidFill>
        </p:spPr>
        <p:txBody>
          <a:bodyPr wrap="none" rtlCol="0">
            <a:spAutoFit/>
          </a:bodyPr>
          <a:lstStyle/>
          <a:p>
            <a:endParaRPr lang="fr-FR" dirty="0"/>
          </a:p>
        </p:txBody>
      </p:sp>
      <p:pic>
        <p:nvPicPr>
          <p:cNvPr id="18" name="Picture 2" descr="universite-assane-seck-zig-5af59 - Wincom">
            <a:extLst>
              <a:ext uri="{FF2B5EF4-FFF2-40B4-BE49-F238E27FC236}">
                <a16:creationId xmlns:a16="http://schemas.microsoft.com/office/drawing/2014/main" id="{5451A5DF-D8C5-768B-BB6F-CFA0894241F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20100" y="249824"/>
            <a:ext cx="2857500" cy="2266082"/>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e 18">
            <a:extLst>
              <a:ext uri="{FF2B5EF4-FFF2-40B4-BE49-F238E27FC236}">
                <a16:creationId xmlns:a16="http://schemas.microsoft.com/office/drawing/2014/main" id="{7D6005D5-959C-3519-8D30-A84A747DD7C0}"/>
              </a:ext>
            </a:extLst>
          </p:cNvPr>
          <p:cNvGrpSpPr/>
          <p:nvPr/>
        </p:nvGrpSpPr>
        <p:grpSpPr>
          <a:xfrm>
            <a:off x="1761135" y="2650986"/>
            <a:ext cx="15379236" cy="1520389"/>
            <a:chOff x="2901042" y="6662557"/>
            <a:chExt cx="12230100" cy="2214744"/>
          </a:xfrm>
        </p:grpSpPr>
        <p:grpSp>
          <p:nvGrpSpPr>
            <p:cNvPr id="21" name="Group 3">
              <a:extLst>
                <a:ext uri="{FF2B5EF4-FFF2-40B4-BE49-F238E27FC236}">
                  <a16:creationId xmlns:a16="http://schemas.microsoft.com/office/drawing/2014/main" id="{9B8DC52D-AF36-16E2-3214-A8CF242D8173}"/>
                </a:ext>
              </a:extLst>
            </p:cNvPr>
            <p:cNvGrpSpPr/>
            <p:nvPr/>
          </p:nvGrpSpPr>
          <p:grpSpPr>
            <a:xfrm>
              <a:off x="3048000" y="6662557"/>
              <a:ext cx="12083142" cy="2214744"/>
              <a:chOff x="0" y="-38100"/>
              <a:chExt cx="2842321" cy="787881"/>
            </a:xfrm>
          </p:grpSpPr>
          <p:sp>
            <p:nvSpPr>
              <p:cNvPr id="24" name="Freeform 4">
                <a:extLst>
                  <a:ext uri="{FF2B5EF4-FFF2-40B4-BE49-F238E27FC236}">
                    <a16:creationId xmlns:a16="http://schemas.microsoft.com/office/drawing/2014/main" id="{AB9CA23A-73FD-F528-4ACE-339FF15407DB}"/>
                  </a:ext>
                </a:extLst>
              </p:cNvPr>
              <p:cNvSpPr/>
              <p:nvPr/>
            </p:nvSpPr>
            <p:spPr>
              <a:xfrm>
                <a:off x="0" y="0"/>
                <a:ext cx="2842321" cy="749781"/>
              </a:xfrm>
              <a:custGeom>
                <a:avLst/>
                <a:gdLst/>
                <a:ahLst/>
                <a:cxnLst/>
                <a:rect l="l" t="t" r="r" b="b"/>
                <a:pathLst>
                  <a:path w="2419814" h="749781">
                    <a:moveTo>
                      <a:pt x="0" y="0"/>
                    </a:moveTo>
                    <a:lnTo>
                      <a:pt x="2419814" y="0"/>
                    </a:lnTo>
                    <a:lnTo>
                      <a:pt x="2419814" y="749781"/>
                    </a:lnTo>
                    <a:lnTo>
                      <a:pt x="0" y="749781"/>
                    </a:lnTo>
                    <a:close/>
                  </a:path>
                </a:pathLst>
              </a:custGeom>
              <a:solidFill>
                <a:srgbClr val="FFFFFF"/>
              </a:solidFill>
              <a:ln w="28575" cap="sq">
                <a:solidFill>
                  <a:srgbClr val="000000"/>
                </a:solidFill>
                <a:prstDash val="solid"/>
                <a:miter/>
              </a:ln>
            </p:spPr>
            <p:txBody>
              <a:bodyPr/>
              <a:lstStyle/>
              <a:p>
                <a:endParaRPr lang="fr-FR" dirty="0"/>
              </a:p>
            </p:txBody>
          </p:sp>
          <p:sp>
            <p:nvSpPr>
              <p:cNvPr id="25" name="TextBox 5">
                <a:extLst>
                  <a:ext uri="{FF2B5EF4-FFF2-40B4-BE49-F238E27FC236}">
                    <a16:creationId xmlns:a16="http://schemas.microsoft.com/office/drawing/2014/main" id="{A9C458B3-3787-F9C9-8445-53DDB448FFE2}"/>
                  </a:ext>
                </a:extLst>
              </p:cNvPr>
              <p:cNvSpPr txBox="1"/>
              <p:nvPr/>
            </p:nvSpPr>
            <p:spPr>
              <a:xfrm>
                <a:off x="0" y="-38100"/>
                <a:ext cx="2419814" cy="787881"/>
              </a:xfrm>
              <a:prstGeom prst="rect">
                <a:avLst/>
              </a:prstGeom>
            </p:spPr>
            <p:txBody>
              <a:bodyPr lIns="57533" tIns="57533" rIns="57533" bIns="57533" rtlCol="0" anchor="ctr"/>
              <a:lstStyle/>
              <a:p>
                <a:pPr algn="ctr">
                  <a:lnSpc>
                    <a:spcPts val="2660"/>
                  </a:lnSpc>
                  <a:spcBef>
                    <a:spcPct val="0"/>
                  </a:spcBef>
                </a:pPr>
                <a:endParaRPr/>
              </a:p>
            </p:txBody>
          </p:sp>
        </p:grpSp>
        <p:sp>
          <p:nvSpPr>
            <p:cNvPr id="22" name="TextBox 7">
              <a:extLst>
                <a:ext uri="{FF2B5EF4-FFF2-40B4-BE49-F238E27FC236}">
                  <a16:creationId xmlns:a16="http://schemas.microsoft.com/office/drawing/2014/main" id="{721E866E-A223-A8CE-23C2-B02A39584FBA}"/>
                </a:ext>
              </a:extLst>
            </p:cNvPr>
            <p:cNvSpPr txBox="1"/>
            <p:nvPr/>
          </p:nvSpPr>
          <p:spPr>
            <a:xfrm>
              <a:off x="2901042" y="7011197"/>
              <a:ext cx="11887200" cy="1692771"/>
            </a:xfrm>
            <a:prstGeom prst="rect">
              <a:avLst/>
            </a:prstGeom>
          </p:spPr>
          <p:txBody>
            <a:bodyPr wrap="square" lIns="0" tIns="0" rIns="0" bIns="0" rtlCol="0" anchor="t">
              <a:spAutoFit/>
            </a:bodyPr>
            <a:lstStyle/>
            <a:p>
              <a:pPr algn="ctr">
                <a:lnSpc>
                  <a:spcPts val="6631"/>
                </a:lnSpc>
              </a:pPr>
              <a:r>
                <a:rPr lang="en-US" sz="6438" b="1" dirty="0">
                  <a:solidFill>
                    <a:srgbClr val="000000"/>
                  </a:solidFill>
                  <a:latin typeface="Neue Machina Ultra-Bold"/>
                  <a:ea typeface="Neue Machina Ultra-Bold"/>
                  <a:cs typeface="Neue Machina Ultra-Bold"/>
                  <a:sym typeface="Neue Machina Ultra-Bold"/>
                </a:rPr>
                <a:t>ARCHITECTURE LOGICIELLE</a:t>
              </a:r>
            </a:p>
          </p:txBody>
        </p:sp>
      </p:grpSp>
      <p:sp>
        <p:nvSpPr>
          <p:cNvPr id="28" name="TextBox 5">
            <a:extLst>
              <a:ext uri="{FF2B5EF4-FFF2-40B4-BE49-F238E27FC236}">
                <a16:creationId xmlns:a16="http://schemas.microsoft.com/office/drawing/2014/main" id="{C20DB199-2F93-61CF-91F1-64AF61543621}"/>
              </a:ext>
            </a:extLst>
          </p:cNvPr>
          <p:cNvSpPr txBox="1"/>
          <p:nvPr/>
        </p:nvSpPr>
        <p:spPr>
          <a:xfrm>
            <a:off x="2969804" y="2255956"/>
            <a:ext cx="12954000" cy="3387954"/>
          </a:xfrm>
          <a:prstGeom prst="rect">
            <a:avLst/>
          </a:prstGeom>
        </p:spPr>
        <p:txBody>
          <a:bodyPr lIns="57533" tIns="57533" rIns="57533" bIns="57533" rtlCol="0" anchor="ctr"/>
          <a:lstStyle/>
          <a:p>
            <a:pPr algn="ctr">
              <a:lnSpc>
                <a:spcPts val="2660"/>
              </a:lnSpc>
              <a:spcBef>
                <a:spcPct val="0"/>
              </a:spcBef>
            </a:pPr>
            <a:endParaRPr/>
          </a:p>
        </p:txBody>
      </p:sp>
      <p:sp>
        <p:nvSpPr>
          <p:cNvPr id="29" name="TextBox 5">
            <a:extLst>
              <a:ext uri="{FF2B5EF4-FFF2-40B4-BE49-F238E27FC236}">
                <a16:creationId xmlns:a16="http://schemas.microsoft.com/office/drawing/2014/main" id="{4E0FB133-B114-F489-7656-60490E38FA5C}"/>
              </a:ext>
            </a:extLst>
          </p:cNvPr>
          <p:cNvSpPr txBox="1"/>
          <p:nvPr/>
        </p:nvSpPr>
        <p:spPr>
          <a:xfrm>
            <a:off x="8441374" y="5421271"/>
            <a:ext cx="10506320" cy="1638084"/>
          </a:xfrm>
          <a:prstGeom prst="rect">
            <a:avLst/>
          </a:prstGeom>
        </p:spPr>
        <p:txBody>
          <a:bodyPr lIns="57533" tIns="57533" rIns="57533" bIns="57533" rtlCol="0" anchor="ctr"/>
          <a:lstStyle/>
          <a:p>
            <a:pPr algn="ctr">
              <a:lnSpc>
                <a:spcPts val="2660"/>
              </a:lnSpc>
              <a:spcBef>
                <a:spcPct val="0"/>
              </a:spcBef>
            </a:pPr>
            <a:endParaRPr sz="3200"/>
          </a:p>
        </p:txBody>
      </p:sp>
      <p:sp>
        <p:nvSpPr>
          <p:cNvPr id="30" name="TextBox 7">
            <a:extLst>
              <a:ext uri="{FF2B5EF4-FFF2-40B4-BE49-F238E27FC236}">
                <a16:creationId xmlns:a16="http://schemas.microsoft.com/office/drawing/2014/main" id="{25A22BC9-CE88-DB36-56B9-4FBE6A68C97E}"/>
              </a:ext>
            </a:extLst>
          </p:cNvPr>
          <p:cNvSpPr txBox="1"/>
          <p:nvPr/>
        </p:nvSpPr>
        <p:spPr>
          <a:xfrm>
            <a:off x="152401" y="5506402"/>
            <a:ext cx="10134600" cy="736292"/>
          </a:xfrm>
          <a:prstGeom prst="rect">
            <a:avLst/>
          </a:prstGeom>
        </p:spPr>
        <p:txBody>
          <a:bodyPr wrap="square" lIns="0" tIns="0" rIns="0" bIns="0" rtlCol="0" anchor="t">
            <a:spAutoFit/>
          </a:bodyPr>
          <a:lstStyle/>
          <a:p>
            <a:pPr algn="ctr">
              <a:lnSpc>
                <a:spcPts val="6631"/>
              </a:lnSpc>
            </a:pPr>
            <a:r>
              <a:rPr lang="fr-FR" sz="3200" b="1" dirty="0">
                <a:solidFill>
                  <a:srgbClr val="000000"/>
                </a:solidFill>
                <a:latin typeface="Neue Machina Ultra-Bold"/>
                <a:ea typeface="Neue Machina Ultra-Bold"/>
                <a:cs typeface="Neue Machina Ultra-Bold"/>
                <a:sym typeface="Neue Machina Ultra-Bold"/>
              </a:rPr>
              <a:t>Année académique : 2025-2026</a:t>
            </a:r>
            <a:endParaRPr lang="en-US" sz="3200" b="1" dirty="0">
              <a:solidFill>
                <a:srgbClr val="000000"/>
              </a:solidFill>
              <a:latin typeface="Neue Machina Ultra-Bold"/>
              <a:ea typeface="Neue Machina Ultra-Bold"/>
              <a:cs typeface="Neue Machina Ultra-Bold"/>
              <a:sym typeface="Neue Machina Ultra-Bold"/>
            </a:endParaRPr>
          </a:p>
        </p:txBody>
      </p:sp>
      <p:sp>
        <p:nvSpPr>
          <p:cNvPr id="31" name="TextBox 7">
            <a:extLst>
              <a:ext uri="{FF2B5EF4-FFF2-40B4-BE49-F238E27FC236}">
                <a16:creationId xmlns:a16="http://schemas.microsoft.com/office/drawing/2014/main" id="{B8AEE60E-4F53-C0D7-E7F0-FC2786522B8B}"/>
              </a:ext>
            </a:extLst>
          </p:cNvPr>
          <p:cNvSpPr txBox="1"/>
          <p:nvPr/>
        </p:nvSpPr>
        <p:spPr>
          <a:xfrm>
            <a:off x="1089336" y="6277257"/>
            <a:ext cx="8433613" cy="736292"/>
          </a:xfrm>
          <a:prstGeom prst="rect">
            <a:avLst/>
          </a:prstGeom>
        </p:spPr>
        <p:txBody>
          <a:bodyPr wrap="square" lIns="0" tIns="0" rIns="0" bIns="0" rtlCol="0" anchor="t">
            <a:spAutoFit/>
          </a:bodyPr>
          <a:lstStyle/>
          <a:p>
            <a:pPr algn="ctr">
              <a:lnSpc>
                <a:spcPts val="6631"/>
              </a:lnSpc>
            </a:pPr>
            <a:r>
              <a:rPr lang="fr-FR" sz="3200" b="1" dirty="0">
                <a:solidFill>
                  <a:srgbClr val="000000"/>
                </a:solidFill>
                <a:latin typeface="Neue Machina Ultra-Bold"/>
                <a:ea typeface="Neue Machina Ultra-Bold"/>
                <a:cs typeface="Neue Machina Ultra-Bold"/>
                <a:sym typeface="Neue Machina Ultra-Bold"/>
              </a:rPr>
              <a:t>Enseignent : Alassane DIEDHIOU</a:t>
            </a:r>
            <a:endParaRPr lang="en-US" sz="3200" b="1" dirty="0">
              <a:solidFill>
                <a:srgbClr val="000000"/>
              </a:solidFill>
              <a:latin typeface="Neue Machina Ultra-Bold"/>
              <a:ea typeface="Neue Machina Ultra-Bold"/>
              <a:cs typeface="Neue Machina Ultra-Bold"/>
              <a:sym typeface="Neue Machina Ultra-Bold"/>
            </a:endParaRPr>
          </a:p>
        </p:txBody>
      </p:sp>
      <p:sp>
        <p:nvSpPr>
          <p:cNvPr id="32" name="ZoneTexte 31">
            <a:extLst>
              <a:ext uri="{FF2B5EF4-FFF2-40B4-BE49-F238E27FC236}">
                <a16:creationId xmlns:a16="http://schemas.microsoft.com/office/drawing/2014/main" id="{81D7C4D9-C76A-D0E0-A299-48B43FDA7EAE}"/>
              </a:ext>
            </a:extLst>
          </p:cNvPr>
          <p:cNvSpPr txBox="1"/>
          <p:nvPr/>
        </p:nvSpPr>
        <p:spPr>
          <a:xfrm>
            <a:off x="9550400" y="6629400"/>
            <a:ext cx="184731" cy="369332"/>
          </a:xfrm>
          <a:prstGeom prst="rect">
            <a:avLst/>
          </a:prstGeom>
          <a:noFill/>
        </p:spPr>
        <p:txBody>
          <a:bodyPr wrap="none" rtlCol="0">
            <a:spAutoFit/>
          </a:bodyPr>
          <a:lstStyle/>
          <a:p>
            <a:endParaRPr lang="fr-FR" dirty="0"/>
          </a:p>
        </p:txBody>
      </p:sp>
      <p:sp>
        <p:nvSpPr>
          <p:cNvPr id="34" name="ZoneTexte 33">
            <a:extLst>
              <a:ext uri="{FF2B5EF4-FFF2-40B4-BE49-F238E27FC236}">
                <a16:creationId xmlns:a16="http://schemas.microsoft.com/office/drawing/2014/main" id="{DB88B186-CBAD-BA6C-D7C7-5AE849182787}"/>
              </a:ext>
            </a:extLst>
          </p:cNvPr>
          <p:cNvSpPr txBox="1"/>
          <p:nvPr/>
        </p:nvSpPr>
        <p:spPr>
          <a:xfrm>
            <a:off x="1971775" y="4211490"/>
            <a:ext cx="12992007" cy="1032527"/>
          </a:xfrm>
          <a:prstGeom prst="rect">
            <a:avLst/>
          </a:prstGeom>
          <a:noFill/>
        </p:spPr>
        <p:txBody>
          <a:bodyPr wrap="square">
            <a:spAutoFit/>
          </a:bodyPr>
          <a:lstStyle/>
          <a:p>
            <a:pPr marL="2487295" marR="2028825" indent="-768985">
              <a:lnSpc>
                <a:spcPct val="200000"/>
              </a:lnSpc>
              <a:spcBef>
                <a:spcPts val="450"/>
              </a:spcBef>
              <a:buNone/>
            </a:pPr>
            <a:r>
              <a:rPr lang="fr-FR" sz="3600" b="1" dirty="0">
                <a:effectLst/>
                <a:latin typeface="Bookman Old Style" panose="02050604050505020204" pitchFamily="18" charset="0"/>
                <a:ea typeface="Bookman Old Style" panose="02050604050505020204" pitchFamily="18" charset="0"/>
                <a:cs typeface="Bookman Old Style" panose="02050604050505020204" pitchFamily="18" charset="0"/>
              </a:rPr>
              <a:t>Université Assane Seck de Ziguinchor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D7C21CF7-DC55-46E1-5CA5-3179262D7BF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46DB1A8-CFCA-F1C7-2877-A406AEC7BF14}"/>
              </a:ext>
            </a:extLst>
          </p:cNvPr>
          <p:cNvSpPr/>
          <p:nvPr/>
        </p:nvSpPr>
        <p:spPr>
          <a:xfrm rot="-7160485">
            <a:off x="13419555" y="4654397"/>
            <a:ext cx="6728545" cy="6403217"/>
          </a:xfrm>
          <a:custGeom>
            <a:avLst/>
            <a:gdLst/>
            <a:ahLst/>
            <a:cxnLst/>
            <a:rect l="l" t="t" r="r" b="b"/>
            <a:pathLst>
              <a:path w="6728545" h="6403217">
                <a:moveTo>
                  <a:pt x="0" y="0"/>
                </a:moveTo>
                <a:lnTo>
                  <a:pt x="6728545" y="0"/>
                </a:lnTo>
                <a:lnTo>
                  <a:pt x="6728545" y="6403217"/>
                </a:lnTo>
                <a:lnTo>
                  <a:pt x="0" y="640321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a:extLst>
              <a:ext uri="{FF2B5EF4-FFF2-40B4-BE49-F238E27FC236}">
                <a16:creationId xmlns:a16="http://schemas.microsoft.com/office/drawing/2014/main" id="{BB79B9AF-037B-415F-1769-71E9F9C80F58}"/>
              </a:ext>
            </a:extLst>
          </p:cNvPr>
          <p:cNvSpPr/>
          <p:nvPr/>
        </p:nvSpPr>
        <p:spPr>
          <a:xfrm rot="3206933">
            <a:off x="-4984565" y="1515579"/>
            <a:ext cx="11239071" cy="9067998"/>
          </a:xfrm>
          <a:custGeom>
            <a:avLst/>
            <a:gdLst/>
            <a:ahLst/>
            <a:cxnLst/>
            <a:rect l="l" t="t" r="r" b="b"/>
            <a:pathLst>
              <a:path w="11239071" h="9067998">
                <a:moveTo>
                  <a:pt x="0" y="0"/>
                </a:moveTo>
                <a:lnTo>
                  <a:pt x="11239072" y="0"/>
                </a:lnTo>
                <a:lnTo>
                  <a:pt x="11239072" y="9067998"/>
                </a:lnTo>
                <a:lnTo>
                  <a:pt x="0" y="906799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6" name="Groupe 25">
            <a:extLst>
              <a:ext uri="{FF2B5EF4-FFF2-40B4-BE49-F238E27FC236}">
                <a16:creationId xmlns:a16="http://schemas.microsoft.com/office/drawing/2014/main" id="{6D21AA33-2954-82F5-C44D-2E6AEAF72A39}"/>
              </a:ext>
            </a:extLst>
          </p:cNvPr>
          <p:cNvGrpSpPr/>
          <p:nvPr/>
        </p:nvGrpSpPr>
        <p:grpSpPr>
          <a:xfrm>
            <a:off x="1761136" y="2515906"/>
            <a:ext cx="15379234" cy="6165727"/>
            <a:chOff x="2063940" y="2521349"/>
            <a:chExt cx="15379234" cy="3387954"/>
          </a:xfrm>
        </p:grpSpPr>
        <p:grpSp>
          <p:nvGrpSpPr>
            <p:cNvPr id="3" name="Group 3">
              <a:extLst>
                <a:ext uri="{FF2B5EF4-FFF2-40B4-BE49-F238E27FC236}">
                  <a16:creationId xmlns:a16="http://schemas.microsoft.com/office/drawing/2014/main" id="{04FCAD20-29C7-6A91-17C6-F6DCCB37F3A9}"/>
                </a:ext>
              </a:extLst>
            </p:cNvPr>
            <p:cNvGrpSpPr/>
            <p:nvPr/>
          </p:nvGrpSpPr>
          <p:grpSpPr>
            <a:xfrm>
              <a:off x="2063940" y="2521349"/>
              <a:ext cx="15379234" cy="3387954"/>
              <a:chOff x="-112652" y="-38100"/>
              <a:chExt cx="2872849" cy="787881"/>
            </a:xfrm>
          </p:grpSpPr>
          <p:sp>
            <p:nvSpPr>
              <p:cNvPr id="4" name="Freeform 4">
                <a:extLst>
                  <a:ext uri="{FF2B5EF4-FFF2-40B4-BE49-F238E27FC236}">
                    <a16:creationId xmlns:a16="http://schemas.microsoft.com/office/drawing/2014/main" id="{675F9A54-B643-16B2-83C1-E0B071A02EAD}"/>
                  </a:ext>
                </a:extLst>
              </p:cNvPr>
              <p:cNvSpPr/>
              <p:nvPr/>
            </p:nvSpPr>
            <p:spPr>
              <a:xfrm>
                <a:off x="-112652" y="0"/>
                <a:ext cx="2872849" cy="749781"/>
              </a:xfrm>
              <a:custGeom>
                <a:avLst/>
                <a:gdLst/>
                <a:ahLst/>
                <a:cxnLst/>
                <a:rect l="l" t="t" r="r" b="b"/>
                <a:pathLst>
                  <a:path w="2419814" h="749781">
                    <a:moveTo>
                      <a:pt x="0" y="0"/>
                    </a:moveTo>
                    <a:lnTo>
                      <a:pt x="2419814" y="0"/>
                    </a:lnTo>
                    <a:lnTo>
                      <a:pt x="2419814" y="749781"/>
                    </a:lnTo>
                    <a:lnTo>
                      <a:pt x="0" y="749781"/>
                    </a:lnTo>
                    <a:close/>
                  </a:path>
                </a:pathLst>
              </a:custGeom>
              <a:solidFill>
                <a:srgbClr val="FFFFFF"/>
              </a:solidFill>
              <a:ln w="28575" cap="sq">
                <a:solidFill>
                  <a:srgbClr val="000000"/>
                </a:solidFill>
                <a:prstDash val="solid"/>
                <a:miter/>
              </a:ln>
            </p:spPr>
            <p:txBody>
              <a:bodyPr/>
              <a:lstStyle/>
              <a:p>
                <a:endParaRPr lang="fr-FR" dirty="0"/>
              </a:p>
            </p:txBody>
          </p:sp>
          <p:sp>
            <p:nvSpPr>
              <p:cNvPr id="5" name="TextBox 5">
                <a:extLst>
                  <a:ext uri="{FF2B5EF4-FFF2-40B4-BE49-F238E27FC236}">
                    <a16:creationId xmlns:a16="http://schemas.microsoft.com/office/drawing/2014/main" id="{10425028-2987-5467-142D-746E523B0B60}"/>
                  </a:ext>
                </a:extLst>
              </p:cNvPr>
              <p:cNvSpPr txBox="1"/>
              <p:nvPr/>
            </p:nvSpPr>
            <p:spPr>
              <a:xfrm>
                <a:off x="0" y="-38100"/>
                <a:ext cx="2419814" cy="787881"/>
              </a:xfrm>
              <a:prstGeom prst="rect">
                <a:avLst/>
              </a:prstGeom>
            </p:spPr>
            <p:txBody>
              <a:bodyPr lIns="57533" tIns="57533" rIns="57533" bIns="57533" rtlCol="0" anchor="ctr"/>
              <a:lstStyle/>
              <a:p>
                <a:pPr algn="ctr">
                  <a:lnSpc>
                    <a:spcPts val="2660"/>
                  </a:lnSpc>
                  <a:spcBef>
                    <a:spcPct val="0"/>
                  </a:spcBef>
                </a:pPr>
                <a:endParaRPr/>
              </a:p>
            </p:txBody>
          </p:sp>
        </p:grpSp>
        <p:sp>
          <p:nvSpPr>
            <p:cNvPr id="7" name="TextBox 7">
              <a:extLst>
                <a:ext uri="{FF2B5EF4-FFF2-40B4-BE49-F238E27FC236}">
                  <a16:creationId xmlns:a16="http://schemas.microsoft.com/office/drawing/2014/main" id="{018DBED9-4604-298A-136E-36262216571B}"/>
                </a:ext>
              </a:extLst>
            </p:cNvPr>
            <p:cNvSpPr txBox="1"/>
            <p:nvPr/>
          </p:nvSpPr>
          <p:spPr>
            <a:xfrm>
              <a:off x="3255884" y="3341437"/>
              <a:ext cx="12656680" cy="1482034"/>
            </a:xfrm>
            <a:prstGeom prst="rect">
              <a:avLst/>
            </a:prstGeom>
          </p:spPr>
          <p:txBody>
            <a:bodyPr wrap="square" lIns="0" tIns="0" rIns="0" bIns="0" rtlCol="0" anchor="t">
              <a:spAutoFit/>
            </a:bodyPr>
            <a:lstStyle/>
            <a:p>
              <a:r>
                <a:rPr lang="fr-FR" sz="6600" b="1" dirty="0"/>
                <a:t>l’INJECTION DE DEPENDENCE(DI) </a:t>
              </a:r>
            </a:p>
            <a:p>
              <a:r>
                <a:rPr lang="fr-FR" sz="6600" b="1" dirty="0"/>
                <a:t>et L’INVERSION DE CONTRÔLE (</a:t>
              </a:r>
              <a:r>
                <a:rPr lang="fr-FR" sz="6600" b="1" dirty="0" err="1"/>
                <a:t>IoC</a:t>
              </a:r>
              <a:r>
                <a:rPr lang="fr-FR" sz="6600" b="1" dirty="0"/>
                <a:t>).</a:t>
              </a:r>
            </a:p>
            <a:p>
              <a:pPr>
                <a:lnSpc>
                  <a:spcPts val="4622"/>
                </a:lnSpc>
              </a:pPr>
              <a:endParaRPr lang="fr-FR" sz="6600" b="1" dirty="0">
                <a:sym typeface="Akzidenz-Grotesk"/>
              </a:endParaRPr>
            </a:p>
          </p:txBody>
        </p:sp>
      </p:grpSp>
      <p:sp>
        <p:nvSpPr>
          <p:cNvPr id="12" name="ZoneTexte 11">
            <a:extLst>
              <a:ext uri="{FF2B5EF4-FFF2-40B4-BE49-F238E27FC236}">
                <a16:creationId xmlns:a16="http://schemas.microsoft.com/office/drawing/2014/main" id="{58C51BA5-6400-0B6A-FDC9-BDE1E0F4C5FC}"/>
              </a:ext>
            </a:extLst>
          </p:cNvPr>
          <p:cNvSpPr txBox="1"/>
          <p:nvPr/>
        </p:nvSpPr>
        <p:spPr>
          <a:xfrm>
            <a:off x="17961429" y="762000"/>
            <a:ext cx="184731" cy="369332"/>
          </a:xfrm>
          <a:prstGeom prst="rect">
            <a:avLst/>
          </a:prstGeom>
          <a:noFill/>
        </p:spPr>
        <p:txBody>
          <a:bodyPr wrap="none" rtlCol="0">
            <a:spAutoFit/>
          </a:bodyPr>
          <a:lstStyle/>
          <a:p>
            <a:endParaRPr lang="fr-FR" dirty="0"/>
          </a:p>
        </p:txBody>
      </p:sp>
      <p:sp>
        <p:nvSpPr>
          <p:cNvPr id="13" name="ZoneTexte 12">
            <a:extLst>
              <a:ext uri="{FF2B5EF4-FFF2-40B4-BE49-F238E27FC236}">
                <a16:creationId xmlns:a16="http://schemas.microsoft.com/office/drawing/2014/main" id="{C37722BD-CA21-0C4C-5836-3DE4D872122B}"/>
              </a:ext>
            </a:extLst>
          </p:cNvPr>
          <p:cNvSpPr txBox="1"/>
          <p:nvPr/>
        </p:nvSpPr>
        <p:spPr>
          <a:xfrm>
            <a:off x="10938933" y="6468533"/>
            <a:ext cx="184731" cy="369332"/>
          </a:xfrm>
          <a:prstGeom prst="rect">
            <a:avLst/>
          </a:prstGeom>
          <a:solidFill>
            <a:schemeClr val="accent3">
              <a:lumMod val="40000"/>
              <a:lumOff val="60000"/>
            </a:schemeClr>
          </a:solidFill>
        </p:spPr>
        <p:txBody>
          <a:bodyPr wrap="none" rtlCol="0">
            <a:spAutoFit/>
          </a:bodyPr>
          <a:lstStyle/>
          <a:p>
            <a:endParaRPr lang="fr-FR" dirty="0"/>
          </a:p>
        </p:txBody>
      </p:sp>
      <p:pic>
        <p:nvPicPr>
          <p:cNvPr id="2050" name="Picture 2" descr="universite-assane-seck-zig-5af59 - Wincom">
            <a:extLst>
              <a:ext uri="{FF2B5EF4-FFF2-40B4-BE49-F238E27FC236}">
                <a16:creationId xmlns:a16="http://schemas.microsoft.com/office/drawing/2014/main" id="{98F3102A-6725-2AC8-A19C-5CC4174143A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20100" y="249824"/>
            <a:ext cx="2857500" cy="2266082"/>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5">
            <a:extLst>
              <a:ext uri="{FF2B5EF4-FFF2-40B4-BE49-F238E27FC236}">
                <a16:creationId xmlns:a16="http://schemas.microsoft.com/office/drawing/2014/main" id="{07F38206-B494-57AA-C683-0A16F0AB44A5}"/>
              </a:ext>
            </a:extLst>
          </p:cNvPr>
          <p:cNvSpPr txBox="1"/>
          <p:nvPr/>
        </p:nvSpPr>
        <p:spPr>
          <a:xfrm>
            <a:off x="2973753" y="1823809"/>
            <a:ext cx="12954000" cy="3387954"/>
          </a:xfrm>
          <a:prstGeom prst="rect">
            <a:avLst/>
          </a:prstGeom>
        </p:spPr>
        <p:txBody>
          <a:bodyPr lIns="57533" tIns="57533" rIns="57533" bIns="57533" rtlCol="0" anchor="ctr"/>
          <a:lstStyle/>
          <a:p>
            <a:pPr algn="ctr">
              <a:lnSpc>
                <a:spcPts val="2660"/>
              </a:lnSpc>
              <a:spcBef>
                <a:spcPct val="0"/>
              </a:spcBef>
            </a:pPr>
            <a:endParaRPr/>
          </a:p>
        </p:txBody>
      </p:sp>
    </p:spTree>
    <p:extLst>
      <p:ext uri="{BB962C8B-B14F-4D97-AF65-F5344CB8AC3E}">
        <p14:creationId xmlns:p14="http://schemas.microsoft.com/office/powerpoint/2010/main" val="1385862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1677453" y="2260420"/>
            <a:ext cx="14922638" cy="8467362"/>
            <a:chOff x="0" y="0"/>
            <a:chExt cx="2375755" cy="2230087"/>
          </a:xfrm>
        </p:grpSpPr>
        <p:sp>
          <p:nvSpPr>
            <p:cNvPr id="3" name="Freeform 3"/>
            <p:cNvSpPr/>
            <p:nvPr/>
          </p:nvSpPr>
          <p:spPr>
            <a:xfrm>
              <a:off x="0" y="0"/>
              <a:ext cx="2375755" cy="2230087"/>
            </a:xfrm>
            <a:custGeom>
              <a:avLst/>
              <a:gdLst/>
              <a:ahLst/>
              <a:cxnLst/>
              <a:rect l="l" t="t" r="r" b="b"/>
              <a:pathLst>
                <a:path w="2375755" h="2230087">
                  <a:moveTo>
                    <a:pt x="0" y="0"/>
                  </a:moveTo>
                  <a:lnTo>
                    <a:pt x="2375755" y="0"/>
                  </a:lnTo>
                  <a:lnTo>
                    <a:pt x="2375755" y="2230087"/>
                  </a:lnTo>
                  <a:lnTo>
                    <a:pt x="0" y="2230087"/>
                  </a:lnTo>
                  <a:close/>
                </a:path>
              </a:pathLst>
            </a:custGeom>
            <a:solidFill>
              <a:srgbClr val="FFFFFF"/>
            </a:solidFill>
            <a:ln w="9525" cap="sq">
              <a:solidFill>
                <a:srgbClr val="000000"/>
              </a:solidFill>
              <a:prstDash val="solid"/>
              <a:miter/>
            </a:ln>
          </p:spPr>
          <p:txBody>
            <a:bodyPr/>
            <a:lstStyle/>
            <a:p>
              <a:endParaRPr lang="fr-FR" dirty="0"/>
            </a:p>
          </p:txBody>
        </p:sp>
        <p:sp>
          <p:nvSpPr>
            <p:cNvPr id="4" name="TextBox 4"/>
            <p:cNvSpPr txBox="1"/>
            <p:nvPr/>
          </p:nvSpPr>
          <p:spPr>
            <a:xfrm>
              <a:off x="0" y="-38100"/>
              <a:ext cx="2375755" cy="2268187"/>
            </a:xfrm>
            <a:prstGeom prst="rect">
              <a:avLst/>
            </a:prstGeom>
          </p:spPr>
          <p:txBody>
            <a:bodyPr lIns="50800" tIns="50800" rIns="50800" bIns="50800" rtlCol="0" anchor="ctr"/>
            <a:lstStyle/>
            <a:p>
              <a:pPr algn="ctr">
                <a:lnSpc>
                  <a:spcPts val="2348"/>
                </a:lnSpc>
              </a:pPr>
              <a:endParaRPr/>
            </a:p>
          </p:txBody>
        </p:sp>
      </p:grpSp>
      <p:sp>
        <p:nvSpPr>
          <p:cNvPr id="5" name="Freeform 5"/>
          <p:cNvSpPr/>
          <p:nvPr/>
        </p:nvSpPr>
        <p:spPr>
          <a:xfrm rot="-1934702">
            <a:off x="-2190131" y="310559"/>
            <a:ext cx="6320501" cy="4391725"/>
          </a:xfrm>
          <a:custGeom>
            <a:avLst/>
            <a:gdLst/>
            <a:ahLst/>
            <a:cxnLst/>
            <a:rect l="l" t="t" r="r" b="b"/>
            <a:pathLst>
              <a:path w="6320501" h="4391725">
                <a:moveTo>
                  <a:pt x="0" y="0"/>
                </a:moveTo>
                <a:lnTo>
                  <a:pt x="6320502" y="0"/>
                </a:lnTo>
                <a:lnTo>
                  <a:pt x="6320502" y="4391725"/>
                </a:lnTo>
                <a:lnTo>
                  <a:pt x="0" y="43917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5257800" y="622019"/>
            <a:ext cx="6819588" cy="954078"/>
          </a:xfrm>
          <a:prstGeom prst="rect">
            <a:avLst/>
          </a:prstGeom>
        </p:spPr>
        <p:txBody>
          <a:bodyPr lIns="0" tIns="0" rIns="0" bIns="0" rtlCol="0" anchor="t">
            <a:spAutoFit/>
          </a:bodyPr>
          <a:lstStyle/>
          <a:p>
            <a:pPr algn="ctr">
              <a:lnSpc>
                <a:spcPts val="7361"/>
              </a:lnSpc>
            </a:pPr>
            <a:r>
              <a:rPr lang="en-US" sz="6457" b="1" dirty="0">
                <a:solidFill>
                  <a:srgbClr val="000000"/>
                </a:solidFill>
                <a:latin typeface="Neue Machina Ultra-Bold"/>
                <a:ea typeface="Neue Machina Ultra-Bold"/>
                <a:cs typeface="Neue Machina Ultra-Bold"/>
                <a:sym typeface="Neue Machina Ultra-Bold"/>
              </a:rPr>
              <a:t>SOMMAIRE</a:t>
            </a:r>
          </a:p>
        </p:txBody>
      </p:sp>
      <p:sp>
        <p:nvSpPr>
          <p:cNvPr id="7" name="TextBox 7"/>
          <p:cNvSpPr txBox="1"/>
          <p:nvPr/>
        </p:nvSpPr>
        <p:spPr>
          <a:xfrm>
            <a:off x="2743200" y="3695700"/>
            <a:ext cx="12107435" cy="557460"/>
          </a:xfrm>
          <a:prstGeom prst="rect">
            <a:avLst/>
          </a:prstGeom>
        </p:spPr>
        <p:txBody>
          <a:bodyPr wrap="square" lIns="0" tIns="0" rIns="0" bIns="0" rtlCol="0" anchor="t">
            <a:spAutoFit/>
          </a:bodyPr>
          <a:lstStyle/>
          <a:p>
            <a:pPr>
              <a:lnSpc>
                <a:spcPts val="4622"/>
              </a:lnSpc>
            </a:pPr>
            <a:r>
              <a:rPr lang="fr-FR" sz="3302" dirty="0">
                <a:solidFill>
                  <a:srgbClr val="000000"/>
                </a:solidFill>
                <a:latin typeface="Akzidenz-Grotesk"/>
              </a:rPr>
              <a:t> DEFINITION INJECTION DES DEPENDANCES</a:t>
            </a:r>
            <a:endParaRPr lang="en-US" sz="3302" dirty="0">
              <a:solidFill>
                <a:srgbClr val="000000"/>
              </a:solidFill>
              <a:latin typeface="Akzidenz-Grotesk"/>
              <a:sym typeface="Akzidenz-Grotesk"/>
            </a:endParaRPr>
          </a:p>
        </p:txBody>
      </p:sp>
      <p:sp>
        <p:nvSpPr>
          <p:cNvPr id="8" name="TextBox 8"/>
          <p:cNvSpPr txBox="1"/>
          <p:nvPr/>
        </p:nvSpPr>
        <p:spPr>
          <a:xfrm>
            <a:off x="2819400" y="4433640"/>
            <a:ext cx="8981144" cy="557460"/>
          </a:xfrm>
          <a:prstGeom prst="rect">
            <a:avLst/>
          </a:prstGeom>
        </p:spPr>
        <p:txBody>
          <a:bodyPr wrap="square" lIns="0" tIns="0" rIns="0" bIns="0" rtlCol="0" anchor="t">
            <a:spAutoFit/>
          </a:bodyPr>
          <a:lstStyle/>
          <a:p>
            <a:pPr>
              <a:lnSpc>
                <a:spcPts val="4622"/>
              </a:lnSpc>
            </a:pPr>
            <a:r>
              <a:rPr lang="en-US" sz="3302" dirty="0">
                <a:solidFill>
                  <a:srgbClr val="000000"/>
                </a:solidFill>
                <a:latin typeface="Akzidenz-Grotesk"/>
                <a:sym typeface="Akzidenz-Grotesk"/>
              </a:rPr>
              <a:t>DEFINITION L’INVERSION DE CONTROLE</a:t>
            </a:r>
          </a:p>
        </p:txBody>
      </p:sp>
      <p:grpSp>
        <p:nvGrpSpPr>
          <p:cNvPr id="11" name="Group 11"/>
          <p:cNvGrpSpPr/>
          <p:nvPr/>
        </p:nvGrpSpPr>
        <p:grpSpPr>
          <a:xfrm>
            <a:off x="2057400" y="3707547"/>
            <a:ext cx="458606" cy="521553"/>
            <a:chOff x="0" y="-79801"/>
            <a:chExt cx="611475" cy="695404"/>
          </a:xfrm>
        </p:grpSpPr>
        <p:grpSp>
          <p:nvGrpSpPr>
            <p:cNvPr id="12" name="Group 12"/>
            <p:cNvGrpSpPr/>
            <p:nvPr/>
          </p:nvGrpSpPr>
          <p:grpSpPr>
            <a:xfrm>
              <a:off x="0" y="0"/>
              <a:ext cx="611475" cy="610136"/>
              <a:chOff x="0" y="0"/>
              <a:chExt cx="900098" cy="898127"/>
            </a:xfrm>
          </p:grpSpPr>
          <p:sp>
            <p:nvSpPr>
              <p:cNvPr id="13" name="Freeform 13"/>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14" name="TextBox 14"/>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15" name="TextBox 15"/>
            <p:cNvSpPr txBox="1"/>
            <p:nvPr/>
          </p:nvSpPr>
          <p:spPr>
            <a:xfrm>
              <a:off x="152544" y="-79801"/>
              <a:ext cx="306388" cy="695404"/>
            </a:xfrm>
            <a:prstGeom prst="rect">
              <a:avLst/>
            </a:prstGeom>
          </p:spPr>
          <p:txBody>
            <a:bodyPr lIns="0" tIns="0" rIns="0" bIns="0" rtlCol="0" anchor="t">
              <a:spAutoFit/>
            </a:bodyPr>
            <a:lstStyle/>
            <a:p>
              <a:pPr algn="ctr">
                <a:lnSpc>
                  <a:spcPts val="4342"/>
                </a:lnSpc>
              </a:pPr>
              <a:r>
                <a:rPr lang="en-US" sz="3101" dirty="0">
                  <a:solidFill>
                    <a:srgbClr val="FFFFFF"/>
                  </a:solidFill>
                  <a:latin typeface="Akzidenz-Grotesk"/>
                  <a:ea typeface="Akzidenz-Grotesk"/>
                  <a:cs typeface="Akzidenz-Grotesk"/>
                  <a:sym typeface="Akzidenz-Grotesk"/>
                </a:rPr>
                <a:t>1</a:t>
              </a:r>
            </a:p>
          </p:txBody>
        </p:sp>
      </p:grpSp>
      <p:grpSp>
        <p:nvGrpSpPr>
          <p:cNvPr id="19" name="Group 19"/>
          <p:cNvGrpSpPr/>
          <p:nvPr/>
        </p:nvGrpSpPr>
        <p:grpSpPr>
          <a:xfrm>
            <a:off x="2133600" y="4469547"/>
            <a:ext cx="458606" cy="521553"/>
            <a:chOff x="0" y="-79801"/>
            <a:chExt cx="611475" cy="695404"/>
          </a:xfrm>
        </p:grpSpPr>
        <p:grpSp>
          <p:nvGrpSpPr>
            <p:cNvPr id="20" name="Group 20"/>
            <p:cNvGrpSpPr/>
            <p:nvPr/>
          </p:nvGrpSpPr>
          <p:grpSpPr>
            <a:xfrm>
              <a:off x="0" y="0"/>
              <a:ext cx="611475" cy="610136"/>
              <a:chOff x="0" y="0"/>
              <a:chExt cx="900098" cy="898127"/>
            </a:xfrm>
          </p:grpSpPr>
          <p:sp>
            <p:nvSpPr>
              <p:cNvPr id="21" name="Freeform 21"/>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22" name="TextBox 22"/>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23" name="TextBox 23"/>
            <p:cNvSpPr txBox="1"/>
            <p:nvPr/>
          </p:nvSpPr>
          <p:spPr>
            <a:xfrm>
              <a:off x="152544" y="-79801"/>
              <a:ext cx="306388" cy="695404"/>
            </a:xfrm>
            <a:prstGeom prst="rect">
              <a:avLst/>
            </a:prstGeom>
          </p:spPr>
          <p:txBody>
            <a:bodyPr lIns="0" tIns="0" rIns="0" bIns="0" rtlCol="0" anchor="t">
              <a:spAutoFit/>
            </a:bodyPr>
            <a:lstStyle/>
            <a:p>
              <a:pPr algn="ctr">
                <a:lnSpc>
                  <a:spcPts val="4342"/>
                </a:lnSpc>
              </a:pPr>
              <a:r>
                <a:rPr lang="en-US" sz="3101" dirty="0">
                  <a:solidFill>
                    <a:srgbClr val="FFFFFF"/>
                  </a:solidFill>
                  <a:latin typeface="Akzidenz-Grotesk"/>
                  <a:ea typeface="Akzidenz-Grotesk"/>
                  <a:cs typeface="Akzidenz-Grotesk"/>
                  <a:sym typeface="Akzidenz-Grotesk"/>
                </a:rPr>
                <a:t>2</a:t>
              </a:r>
            </a:p>
          </p:txBody>
        </p:sp>
      </p:grpSp>
      <p:grpSp>
        <p:nvGrpSpPr>
          <p:cNvPr id="24" name="Group 24"/>
          <p:cNvGrpSpPr/>
          <p:nvPr/>
        </p:nvGrpSpPr>
        <p:grpSpPr>
          <a:xfrm>
            <a:off x="2132194" y="5307747"/>
            <a:ext cx="458606" cy="521553"/>
            <a:chOff x="0" y="-79801"/>
            <a:chExt cx="611475" cy="695404"/>
          </a:xfrm>
        </p:grpSpPr>
        <p:grpSp>
          <p:nvGrpSpPr>
            <p:cNvPr id="25" name="Group 25"/>
            <p:cNvGrpSpPr/>
            <p:nvPr/>
          </p:nvGrpSpPr>
          <p:grpSpPr>
            <a:xfrm>
              <a:off x="0" y="0"/>
              <a:ext cx="611475" cy="610136"/>
              <a:chOff x="0" y="0"/>
              <a:chExt cx="900098" cy="898127"/>
            </a:xfrm>
          </p:grpSpPr>
          <p:sp>
            <p:nvSpPr>
              <p:cNvPr id="26" name="Freeform 26"/>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27" name="TextBox 27"/>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28" name="TextBox 28"/>
            <p:cNvSpPr txBox="1"/>
            <p:nvPr/>
          </p:nvSpPr>
          <p:spPr>
            <a:xfrm>
              <a:off x="152544" y="-79801"/>
              <a:ext cx="306388" cy="695404"/>
            </a:xfrm>
            <a:prstGeom prst="rect">
              <a:avLst/>
            </a:prstGeom>
          </p:spPr>
          <p:txBody>
            <a:bodyPr lIns="0" tIns="0" rIns="0" bIns="0" rtlCol="0" anchor="t">
              <a:spAutoFit/>
            </a:bodyPr>
            <a:lstStyle/>
            <a:p>
              <a:pPr algn="ctr">
                <a:lnSpc>
                  <a:spcPts val="4342"/>
                </a:lnSpc>
              </a:pPr>
              <a:r>
                <a:rPr lang="en-US" sz="3101" dirty="0">
                  <a:solidFill>
                    <a:srgbClr val="FFFFFF"/>
                  </a:solidFill>
                  <a:latin typeface="Akzidenz-Grotesk"/>
                  <a:ea typeface="Akzidenz-Grotesk"/>
                  <a:cs typeface="Akzidenz-Grotesk"/>
                  <a:sym typeface="Akzidenz-Grotesk"/>
                </a:rPr>
                <a:t>3</a:t>
              </a:r>
            </a:p>
          </p:txBody>
        </p:sp>
      </p:grpSp>
      <p:sp>
        <p:nvSpPr>
          <p:cNvPr id="62" name="ZoneTexte 61">
            <a:extLst>
              <a:ext uri="{FF2B5EF4-FFF2-40B4-BE49-F238E27FC236}">
                <a16:creationId xmlns:a16="http://schemas.microsoft.com/office/drawing/2014/main" id="{B260E1D1-E371-37A4-922C-BDE71584821F}"/>
              </a:ext>
            </a:extLst>
          </p:cNvPr>
          <p:cNvSpPr txBox="1"/>
          <p:nvPr/>
        </p:nvSpPr>
        <p:spPr>
          <a:xfrm>
            <a:off x="17308286" y="4288971"/>
            <a:ext cx="184731" cy="369332"/>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txBody>
          <a:bodyPr wrap="none" rtlCol="0">
            <a:spAutoFit/>
          </a:bodyPr>
          <a:lstStyle/>
          <a:p>
            <a:endParaRPr lang="fr-FR" dirty="0"/>
          </a:p>
        </p:txBody>
      </p:sp>
      <p:sp>
        <p:nvSpPr>
          <p:cNvPr id="49" name="TextBox 8">
            <a:extLst>
              <a:ext uri="{FF2B5EF4-FFF2-40B4-BE49-F238E27FC236}">
                <a16:creationId xmlns:a16="http://schemas.microsoft.com/office/drawing/2014/main" id="{BE8B374E-C35C-67D4-84FF-F48044105005}"/>
              </a:ext>
            </a:extLst>
          </p:cNvPr>
          <p:cNvSpPr txBox="1"/>
          <p:nvPr/>
        </p:nvSpPr>
        <p:spPr>
          <a:xfrm>
            <a:off x="2743200" y="5348040"/>
            <a:ext cx="13298198" cy="557460"/>
          </a:xfrm>
          <a:prstGeom prst="rect">
            <a:avLst/>
          </a:prstGeom>
        </p:spPr>
        <p:txBody>
          <a:bodyPr wrap="square" lIns="0" tIns="0" rIns="0" bIns="0" rtlCol="0" anchor="t">
            <a:spAutoFit/>
          </a:bodyPr>
          <a:lstStyle/>
          <a:p>
            <a:pPr>
              <a:lnSpc>
                <a:spcPts val="4622"/>
              </a:lnSpc>
            </a:pPr>
            <a:r>
              <a:rPr lang="fr-FR" sz="3302" dirty="0">
                <a:solidFill>
                  <a:srgbClr val="000000"/>
                </a:solidFill>
                <a:latin typeface="Akzidenz-Grotesk"/>
              </a:rPr>
              <a:t>EN RESUME</a:t>
            </a:r>
            <a:endParaRPr lang="en-US" sz="3302" dirty="0">
              <a:solidFill>
                <a:srgbClr val="000000"/>
              </a:solidFill>
              <a:latin typeface="Akzidenz-Grotesk"/>
              <a:sym typeface="Akzidenz-Grotes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Freeform 2"/>
          <p:cNvSpPr/>
          <p:nvPr/>
        </p:nvSpPr>
        <p:spPr>
          <a:xfrm rot="2807232">
            <a:off x="10752155" y="1445807"/>
            <a:ext cx="9943320" cy="8022549"/>
          </a:xfrm>
          <a:custGeom>
            <a:avLst/>
            <a:gdLst/>
            <a:ahLst/>
            <a:cxnLst/>
            <a:rect l="l" t="t" r="r" b="b"/>
            <a:pathLst>
              <a:path w="9943320" h="8022549">
                <a:moveTo>
                  <a:pt x="0" y="0"/>
                </a:moveTo>
                <a:lnTo>
                  <a:pt x="9943319" y="0"/>
                </a:lnTo>
                <a:lnTo>
                  <a:pt x="9943319" y="8022549"/>
                </a:lnTo>
                <a:lnTo>
                  <a:pt x="0" y="80225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2438400" y="571500"/>
            <a:ext cx="14630400" cy="9144000"/>
            <a:chOff x="0" y="0"/>
            <a:chExt cx="2864198" cy="1770872"/>
          </a:xfrm>
        </p:grpSpPr>
        <p:sp>
          <p:nvSpPr>
            <p:cNvPr id="4" name="Freeform 4"/>
            <p:cNvSpPr/>
            <p:nvPr/>
          </p:nvSpPr>
          <p:spPr>
            <a:xfrm>
              <a:off x="0" y="0"/>
              <a:ext cx="2864198" cy="1770872"/>
            </a:xfrm>
            <a:custGeom>
              <a:avLst/>
              <a:gdLst/>
              <a:ahLst/>
              <a:cxnLst/>
              <a:rect l="l" t="t" r="r" b="b"/>
              <a:pathLst>
                <a:path w="2864198" h="1770872">
                  <a:moveTo>
                    <a:pt x="0" y="0"/>
                  </a:moveTo>
                  <a:lnTo>
                    <a:pt x="2864198" y="0"/>
                  </a:lnTo>
                  <a:lnTo>
                    <a:pt x="2864198" y="1770872"/>
                  </a:lnTo>
                  <a:lnTo>
                    <a:pt x="0" y="1770872"/>
                  </a:lnTo>
                  <a:close/>
                </a:path>
              </a:pathLst>
            </a:custGeom>
            <a:solidFill>
              <a:srgbClr val="FFFFFF"/>
            </a:solidFill>
            <a:ln w="19050" cap="sq">
              <a:solidFill>
                <a:srgbClr val="000000"/>
              </a:solidFill>
              <a:prstDash val="solid"/>
              <a:miter/>
            </a:ln>
          </p:spPr>
        </p:sp>
        <p:sp>
          <p:nvSpPr>
            <p:cNvPr id="5" name="TextBox 5"/>
            <p:cNvSpPr txBox="1"/>
            <p:nvPr/>
          </p:nvSpPr>
          <p:spPr>
            <a:xfrm>
              <a:off x="0" y="-76200"/>
              <a:ext cx="2864198" cy="1847072"/>
            </a:xfrm>
            <a:prstGeom prst="rect">
              <a:avLst/>
            </a:prstGeom>
          </p:spPr>
          <p:txBody>
            <a:bodyPr lIns="50800" tIns="50800" rIns="50800" bIns="50800" rtlCol="0" anchor="ctr"/>
            <a:lstStyle/>
            <a:p>
              <a:pPr algn="ctr">
                <a:lnSpc>
                  <a:spcPts val="2660"/>
                </a:lnSpc>
              </a:pPr>
              <a:endParaRPr/>
            </a:p>
          </p:txBody>
        </p:sp>
      </p:grpSp>
      <p:sp>
        <p:nvSpPr>
          <p:cNvPr id="6" name="Freeform 6"/>
          <p:cNvSpPr/>
          <p:nvPr/>
        </p:nvSpPr>
        <p:spPr>
          <a:xfrm rot="4303617">
            <a:off x="-3542583" y="3745421"/>
            <a:ext cx="7085164" cy="6325897"/>
          </a:xfrm>
          <a:custGeom>
            <a:avLst/>
            <a:gdLst/>
            <a:ahLst/>
            <a:cxnLst/>
            <a:rect l="l" t="t" r="r" b="b"/>
            <a:pathLst>
              <a:path w="7085164" h="6325897">
                <a:moveTo>
                  <a:pt x="0" y="0"/>
                </a:moveTo>
                <a:lnTo>
                  <a:pt x="7085164" y="0"/>
                </a:lnTo>
                <a:lnTo>
                  <a:pt x="7085164" y="6325897"/>
                </a:lnTo>
                <a:lnTo>
                  <a:pt x="0" y="632589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3459480" y="1435160"/>
            <a:ext cx="9058265" cy="859210"/>
          </a:xfrm>
          <a:prstGeom prst="rect">
            <a:avLst/>
          </a:prstGeom>
        </p:spPr>
        <p:txBody>
          <a:bodyPr wrap="square" lIns="0" tIns="0" rIns="0" bIns="0" rtlCol="0" anchor="t">
            <a:spAutoFit/>
          </a:bodyPr>
          <a:lstStyle/>
          <a:p>
            <a:pPr algn="ctr">
              <a:lnSpc>
                <a:spcPts val="6734"/>
              </a:lnSpc>
            </a:pPr>
            <a:r>
              <a:rPr lang="en-US" sz="6538" b="1" dirty="0">
                <a:solidFill>
                  <a:srgbClr val="000000"/>
                </a:solidFill>
                <a:latin typeface="Neue Machina Ultra-Bold"/>
                <a:ea typeface="Neue Machina Ultra-Bold"/>
                <a:cs typeface="Neue Machina Ultra-Bold"/>
                <a:sym typeface="Neue Machina Ultra-Bold"/>
              </a:rPr>
              <a:t>OJECTIF DU COURS </a:t>
            </a:r>
          </a:p>
        </p:txBody>
      </p:sp>
      <p:sp>
        <p:nvSpPr>
          <p:cNvPr id="8" name="TextBox 8"/>
          <p:cNvSpPr txBox="1"/>
          <p:nvPr/>
        </p:nvSpPr>
        <p:spPr>
          <a:xfrm>
            <a:off x="2952695" y="2552699"/>
            <a:ext cx="12801600" cy="4893647"/>
          </a:xfrm>
          <a:prstGeom prst="rect">
            <a:avLst/>
          </a:prstGeom>
        </p:spPr>
        <p:txBody>
          <a:bodyPr wrap="square" lIns="0" tIns="0" rIns="0" bIns="0" rtlCol="0" anchor="t">
            <a:spAutoFit/>
          </a:bodyPr>
          <a:lstStyle/>
          <a:p>
            <a:pPr algn="just">
              <a:lnSpc>
                <a:spcPts val="3642"/>
              </a:lnSpc>
            </a:pPr>
            <a:endParaRPr lang="en-US" sz="3600" dirty="0">
              <a:solidFill>
                <a:srgbClr val="000000"/>
              </a:solidFill>
              <a:latin typeface="Akzidenz-Grotesk"/>
              <a:ea typeface="Akzidenz-Grotesk"/>
              <a:cs typeface="Akzidenz-Grotesk"/>
              <a:sym typeface="Akzidenz-Grotesk"/>
            </a:endParaRPr>
          </a:p>
          <a:p>
            <a:pPr lvl="0"/>
            <a:r>
              <a:rPr lang="fr-FR" sz="3600" dirty="0">
                <a:solidFill>
                  <a:srgbClr val="000000"/>
                </a:solidFill>
                <a:latin typeface="Akzidenz-Grotesk"/>
              </a:rPr>
              <a:t>PERMETTRE AUX ETUDIANTS DE COMPRENDRE LES PRINCIPES DE L’INVERSION DE CONTRÔLE (IOC) ET DE L’INJECTION DE DÉPENDANCES (DI), D’EN JUSTIFIER L’INTÉRÊT ARCHITECTURALE, ET DE SAVOIR LES APPLIQUER CONCRÈTEMENT DANS DES APPLICATIONS (PAR EXEMPLE JAVA/SPRING, .NET, OU FRAMEWORKS COMPARABLES) POUR AMÉLIORER TESTABILITÉ, MODULARITÉ ET MAINTENABILITÉ.</a:t>
            </a:r>
          </a:p>
        </p:txBody>
      </p:sp>
      <p:sp>
        <p:nvSpPr>
          <p:cNvPr id="9" name="ZoneTexte 8">
            <a:extLst>
              <a:ext uri="{FF2B5EF4-FFF2-40B4-BE49-F238E27FC236}">
                <a16:creationId xmlns:a16="http://schemas.microsoft.com/office/drawing/2014/main" id="{55078FFB-C3B8-2107-59F6-45CAEF7456D4}"/>
              </a:ext>
            </a:extLst>
          </p:cNvPr>
          <p:cNvSpPr txBox="1"/>
          <p:nvPr/>
        </p:nvSpPr>
        <p:spPr>
          <a:xfrm>
            <a:off x="14190133" y="6163733"/>
            <a:ext cx="184731" cy="369332"/>
          </a:xfrm>
          <a:prstGeom prst="rect">
            <a:avLst/>
          </a:prstGeom>
          <a:solidFill>
            <a:srgbClr val="E9DFCF"/>
          </a:solidFill>
        </p:spPr>
        <p:txBody>
          <a:bodyPr wrap="none" rtlCol="0">
            <a:spAutoFit/>
          </a:bodyPr>
          <a:lstStyle/>
          <a:p>
            <a:endParaRPr lang="fr-F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BE78C2E9-2576-46C2-5232-86A1222E826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4DAF905-6167-22B1-6DA2-CAFBDDE852FC}"/>
              </a:ext>
            </a:extLst>
          </p:cNvPr>
          <p:cNvGrpSpPr/>
          <p:nvPr/>
        </p:nvGrpSpPr>
        <p:grpSpPr>
          <a:xfrm>
            <a:off x="1676400" y="1485900"/>
            <a:ext cx="16611600" cy="8357654"/>
            <a:chOff x="0" y="0"/>
            <a:chExt cx="2272929" cy="1645889"/>
          </a:xfrm>
        </p:grpSpPr>
        <p:sp>
          <p:nvSpPr>
            <p:cNvPr id="3" name="Freeform 3">
              <a:extLst>
                <a:ext uri="{FF2B5EF4-FFF2-40B4-BE49-F238E27FC236}">
                  <a16:creationId xmlns:a16="http://schemas.microsoft.com/office/drawing/2014/main" id="{38F8E488-EE60-EC2D-2E0A-FA9FA43364E5}"/>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6EDBFFF3-F426-BC0A-29F8-B1E90FA17368}"/>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D4580858-4BCF-D30C-3BAD-B451A7F16526}"/>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F8B8943B-35F9-8F8E-E35C-6A02B1465CD0}"/>
              </a:ext>
            </a:extLst>
          </p:cNvPr>
          <p:cNvSpPr txBox="1"/>
          <p:nvPr/>
        </p:nvSpPr>
        <p:spPr>
          <a:xfrm>
            <a:off x="2768715" y="1724999"/>
            <a:ext cx="14473305" cy="6647974"/>
          </a:xfrm>
          <a:prstGeom prst="rect">
            <a:avLst/>
          </a:prstGeom>
        </p:spPr>
        <p:txBody>
          <a:bodyPr wrap="square" lIns="0" tIns="0" rIns="0" bIns="0" rtlCol="0" anchor="t">
            <a:spAutoFit/>
          </a:bodyPr>
          <a:lstStyle/>
          <a:p>
            <a:r>
              <a:rPr lang="fr-FR" sz="4800" dirty="0"/>
              <a:t>L’injection de dépendance (</a:t>
            </a:r>
            <a:r>
              <a:rPr lang="fr-FR" sz="4800" b="1" dirty="0" err="1"/>
              <a:t>Dependency</a:t>
            </a:r>
            <a:r>
              <a:rPr lang="fr-FR" sz="4800" b="1" dirty="0"/>
              <a:t> Injection</a:t>
            </a:r>
            <a:r>
              <a:rPr lang="fr-FR" sz="4800" dirty="0"/>
              <a:t>, ou </a:t>
            </a:r>
            <a:r>
              <a:rPr lang="fr-FR" sz="4800" b="1" dirty="0"/>
              <a:t>DI</a:t>
            </a:r>
            <a:r>
              <a:rPr lang="fr-FR" sz="4800" dirty="0"/>
              <a:t>) est un principe fondamental utilisé dans le développement d’applications modernes, notamment avec des </a:t>
            </a:r>
            <a:r>
              <a:rPr lang="fr-FR" sz="4800" dirty="0" err="1"/>
              <a:t>frameworks</a:t>
            </a:r>
            <a:r>
              <a:rPr lang="fr-FR" sz="4800" dirty="0"/>
              <a:t> comme </a:t>
            </a:r>
            <a:r>
              <a:rPr lang="fr-FR" sz="4800" b="1" dirty="0"/>
              <a:t>Spring Boot</a:t>
            </a:r>
            <a:endParaRPr lang="fr-FR" sz="4800" dirty="0"/>
          </a:p>
          <a:p>
            <a:r>
              <a:rPr lang="fr-FR" sz="4800" dirty="0"/>
              <a:t>C’est quoi l’injection de dépendance, comment elle fonctionne et pourquoi elle est si importante. Ensuite, nous verrons son implémentation dans </a:t>
            </a:r>
            <a:r>
              <a:rPr lang="fr-FR" sz="4800" b="1" dirty="0"/>
              <a:t>Spring Boot</a:t>
            </a:r>
            <a:r>
              <a:rPr lang="fr-FR" sz="4800" dirty="0"/>
              <a:t>, avec des exemples concrets pour illustrer ses différents modes d’injection (par champ, par constructeur, et par setter). </a:t>
            </a:r>
          </a:p>
        </p:txBody>
      </p:sp>
      <p:pic>
        <p:nvPicPr>
          <p:cNvPr id="1026" name="Picture 2" descr="universite-assane-seck-zig-5af59 - Wincom">
            <a:extLst>
              <a:ext uri="{FF2B5EF4-FFF2-40B4-BE49-F238E27FC236}">
                <a16:creationId xmlns:a16="http://schemas.microsoft.com/office/drawing/2014/main" id="{6CE10CCC-151E-90F0-533A-8D15CF29A7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43F301CB-51CD-250E-36AE-876690371830}"/>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816CDA63-FE64-7F61-104F-E2856C20926F}"/>
              </a:ext>
            </a:extLst>
          </p:cNvPr>
          <p:cNvSpPr txBox="1"/>
          <p:nvPr/>
        </p:nvSpPr>
        <p:spPr>
          <a:xfrm>
            <a:off x="457200" y="720435"/>
            <a:ext cx="16992600" cy="757259"/>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INJECTION DE DEPENDANCE(Introduction)</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943653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59DB8730-38AB-80AA-79EF-44DA2DDAE65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BD21DF7-B536-245E-E635-DC00E4F85AA2}"/>
              </a:ext>
            </a:extLst>
          </p:cNvPr>
          <p:cNvGrpSpPr/>
          <p:nvPr/>
        </p:nvGrpSpPr>
        <p:grpSpPr>
          <a:xfrm>
            <a:off x="1676400" y="1485900"/>
            <a:ext cx="16611600" cy="8357654"/>
            <a:chOff x="0" y="0"/>
            <a:chExt cx="2272929" cy="1645889"/>
          </a:xfrm>
        </p:grpSpPr>
        <p:sp>
          <p:nvSpPr>
            <p:cNvPr id="3" name="Freeform 3">
              <a:extLst>
                <a:ext uri="{FF2B5EF4-FFF2-40B4-BE49-F238E27FC236}">
                  <a16:creationId xmlns:a16="http://schemas.microsoft.com/office/drawing/2014/main" id="{0F0C9A8D-2D9E-C0A7-C20C-2BF13C8971D4}"/>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2B5D62D4-F021-54B7-DBDC-5D2BD12C4CFA}"/>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093BDAD7-D953-E7AA-534D-5376FD8179C0}"/>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BAA41FBA-73FD-0FA4-B087-1FB2CB2CD804}"/>
              </a:ext>
            </a:extLst>
          </p:cNvPr>
          <p:cNvSpPr txBox="1"/>
          <p:nvPr/>
        </p:nvSpPr>
        <p:spPr>
          <a:xfrm>
            <a:off x="2768715" y="1724999"/>
            <a:ext cx="14473305" cy="2954655"/>
          </a:xfrm>
          <a:prstGeom prst="rect">
            <a:avLst/>
          </a:prstGeom>
        </p:spPr>
        <p:txBody>
          <a:bodyPr wrap="square" lIns="0" tIns="0" rIns="0" bIns="0" rtlCol="0" anchor="t">
            <a:spAutoFit/>
          </a:bodyPr>
          <a:lstStyle/>
          <a:p>
            <a:r>
              <a:rPr lang="fr-FR" sz="4800" dirty="0"/>
              <a:t>Nous aborderons également la notion d’</a:t>
            </a:r>
            <a:r>
              <a:rPr lang="fr-FR" sz="4800" b="1" dirty="0"/>
              <a:t>Inversion de Contrôle</a:t>
            </a:r>
            <a:r>
              <a:rPr lang="fr-FR" sz="4800" dirty="0"/>
              <a:t> (</a:t>
            </a:r>
            <a:r>
              <a:rPr lang="fr-FR" sz="4800" b="1" dirty="0" err="1"/>
              <a:t>IoC</a:t>
            </a:r>
            <a:r>
              <a:rPr lang="fr-FR" sz="4800" dirty="0"/>
              <a:t>), qui est souvent confondue avec la DI, et explorerons d’autres modèles de conception qui existent en dehors de la DI.</a:t>
            </a:r>
          </a:p>
        </p:txBody>
      </p:sp>
      <p:pic>
        <p:nvPicPr>
          <p:cNvPr id="1026" name="Picture 2" descr="universite-assane-seck-zig-5af59 - Wincom">
            <a:extLst>
              <a:ext uri="{FF2B5EF4-FFF2-40B4-BE49-F238E27FC236}">
                <a16:creationId xmlns:a16="http://schemas.microsoft.com/office/drawing/2014/main" id="{CEC3DF21-27CA-E7CC-49A2-74EBEEC924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810A6776-5AD2-24C8-6BC8-C32907E8F4C9}"/>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29DF449B-6738-38EB-A826-CCD2E772A523}"/>
              </a:ext>
            </a:extLst>
          </p:cNvPr>
          <p:cNvSpPr txBox="1"/>
          <p:nvPr/>
        </p:nvSpPr>
        <p:spPr>
          <a:xfrm>
            <a:off x="457200" y="720435"/>
            <a:ext cx="16992600" cy="757259"/>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INJECTION DE DEPENDANCE(Introduction)</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479013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957AA83D-5DD8-2D00-A165-61116660C5C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1504FC6-ADE9-170F-B0A5-3E486EC0D59F}"/>
              </a:ext>
            </a:extLst>
          </p:cNvPr>
          <p:cNvGrpSpPr/>
          <p:nvPr/>
        </p:nvGrpSpPr>
        <p:grpSpPr>
          <a:xfrm>
            <a:off x="1676400" y="1485900"/>
            <a:ext cx="16611600" cy="8357654"/>
            <a:chOff x="0" y="0"/>
            <a:chExt cx="2272929" cy="1645889"/>
          </a:xfrm>
        </p:grpSpPr>
        <p:sp>
          <p:nvSpPr>
            <p:cNvPr id="3" name="Freeform 3">
              <a:extLst>
                <a:ext uri="{FF2B5EF4-FFF2-40B4-BE49-F238E27FC236}">
                  <a16:creationId xmlns:a16="http://schemas.microsoft.com/office/drawing/2014/main" id="{0A25EEB5-5E93-F694-A1B6-7B039392854D}"/>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0B36634D-5ABC-3692-905B-9A18328775C6}"/>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D4D236B4-416F-63B3-4381-91D58892E619}"/>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BBC45662-59D3-9194-B9F1-2DC05358696E}"/>
              </a:ext>
            </a:extLst>
          </p:cNvPr>
          <p:cNvSpPr txBox="1"/>
          <p:nvPr/>
        </p:nvSpPr>
        <p:spPr>
          <a:xfrm>
            <a:off x="2768715" y="1724999"/>
            <a:ext cx="14473305" cy="4431983"/>
          </a:xfrm>
          <a:prstGeom prst="rect">
            <a:avLst/>
          </a:prstGeom>
        </p:spPr>
        <p:txBody>
          <a:bodyPr wrap="square" lIns="0" tIns="0" rIns="0" bIns="0" rtlCol="0" anchor="t">
            <a:spAutoFit/>
          </a:bodyPr>
          <a:lstStyle/>
          <a:p>
            <a:r>
              <a:rPr lang="fr-FR" sz="4800" dirty="0"/>
              <a:t>L’injection de dépendance (DI) est un modèle de conception qui permet à une classe de recevoir ses dépendances au lieu de les créer elle-même. Cela signifie que les objets dont une classe a besoin pour fonctionner lui sont “injectés” plutôt que d’être instanciés directement dans la classe.</a:t>
            </a:r>
          </a:p>
        </p:txBody>
      </p:sp>
      <p:pic>
        <p:nvPicPr>
          <p:cNvPr id="1026" name="Picture 2" descr="universite-assane-seck-zig-5af59 - Wincom">
            <a:extLst>
              <a:ext uri="{FF2B5EF4-FFF2-40B4-BE49-F238E27FC236}">
                <a16:creationId xmlns:a16="http://schemas.microsoft.com/office/drawing/2014/main" id="{141D3919-6912-1877-12FA-9E245643DC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1005A4B2-1B8D-09C6-0615-1F75E0B9873A}"/>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C00FD662-3266-DC1B-5472-B47C13F732BD}"/>
              </a:ext>
            </a:extLst>
          </p:cNvPr>
          <p:cNvSpPr txBox="1"/>
          <p:nvPr/>
        </p:nvSpPr>
        <p:spPr>
          <a:xfrm>
            <a:off x="457200" y="720435"/>
            <a:ext cx="16992600" cy="757259"/>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INJECTION DE DEPENDANCE(</a:t>
            </a:r>
            <a:r>
              <a:rPr lang="fr-FR" sz="6000" dirty="0" err="1">
                <a:solidFill>
                  <a:srgbClr val="000000"/>
                </a:solidFill>
                <a:latin typeface="Akzidenz-Grotesk"/>
              </a:rPr>
              <a:t>Definition</a:t>
            </a:r>
            <a:r>
              <a:rPr lang="fr-FR" sz="6000" dirty="0">
                <a:solidFill>
                  <a:srgbClr val="000000"/>
                </a:solidFill>
                <a:latin typeface="Akzidenz-Grotesk"/>
              </a:rPr>
              <a:t>)</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2336785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6FC0D5D1-CC2E-DC6D-471F-E2ED03E008A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D330D87-CEEB-276A-190D-8E81AFD1B077}"/>
              </a:ext>
            </a:extLst>
          </p:cNvPr>
          <p:cNvGrpSpPr/>
          <p:nvPr/>
        </p:nvGrpSpPr>
        <p:grpSpPr>
          <a:xfrm>
            <a:off x="1676400" y="1485900"/>
            <a:ext cx="16611600" cy="8357654"/>
            <a:chOff x="0" y="0"/>
            <a:chExt cx="2272929" cy="1645889"/>
          </a:xfrm>
        </p:grpSpPr>
        <p:sp>
          <p:nvSpPr>
            <p:cNvPr id="3" name="Freeform 3">
              <a:extLst>
                <a:ext uri="{FF2B5EF4-FFF2-40B4-BE49-F238E27FC236}">
                  <a16:creationId xmlns:a16="http://schemas.microsoft.com/office/drawing/2014/main" id="{B307F973-4E56-4422-8BF1-050005B34860}"/>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15902A8B-41FC-BCBA-2AE8-7E9E63EF0F0C}"/>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6A17660E-D1BE-28B6-BE46-176EB733D5A3}"/>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5264D794-9DF7-4838-75A0-685271AC30F4}"/>
              </a:ext>
            </a:extLst>
          </p:cNvPr>
          <p:cNvSpPr txBox="1"/>
          <p:nvPr/>
        </p:nvSpPr>
        <p:spPr>
          <a:xfrm>
            <a:off x="2768715" y="1724999"/>
            <a:ext cx="14473305" cy="4431983"/>
          </a:xfrm>
          <a:prstGeom prst="rect">
            <a:avLst/>
          </a:prstGeom>
        </p:spPr>
        <p:txBody>
          <a:bodyPr wrap="square" lIns="0" tIns="0" rIns="0" bIns="0" rtlCol="0" anchor="t">
            <a:spAutoFit/>
          </a:bodyPr>
          <a:lstStyle/>
          <a:p>
            <a:r>
              <a:rPr lang="fr-FR" sz="4800" dirty="0"/>
              <a:t>L’injection de dépendance (DI) est un modèle de conception qui permet à une classe de recevoir ses dépendances au lieu de les créer elle-même. Cela signifie que les objets dont une classe a besoin pour fonctionner lui sont “injectés” plutôt que d’être instanciés directement dans la classe.</a:t>
            </a:r>
          </a:p>
        </p:txBody>
      </p:sp>
      <p:pic>
        <p:nvPicPr>
          <p:cNvPr id="1026" name="Picture 2" descr="universite-assane-seck-zig-5af59 - Wincom">
            <a:extLst>
              <a:ext uri="{FF2B5EF4-FFF2-40B4-BE49-F238E27FC236}">
                <a16:creationId xmlns:a16="http://schemas.microsoft.com/office/drawing/2014/main" id="{C11C403A-325E-202A-C519-E08A2DDBFD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BD6EB755-886D-89C9-05AA-0CC49C87C1EE}"/>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196D9B15-6382-55CE-8321-10577CC5A4A4}"/>
              </a:ext>
            </a:extLst>
          </p:cNvPr>
          <p:cNvSpPr txBox="1"/>
          <p:nvPr/>
        </p:nvSpPr>
        <p:spPr>
          <a:xfrm>
            <a:off x="457200" y="720435"/>
            <a:ext cx="16992600" cy="757259"/>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INJECTION DE DEPENDANCE(Exemple)</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2547314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1330788B-4061-06E4-E4ED-06B8523940B2}"/>
            </a:ext>
          </a:extLst>
        </p:cNvPr>
        <p:cNvGrpSpPr/>
        <p:nvPr/>
      </p:nvGrpSpPr>
      <p:grpSpPr>
        <a:xfrm>
          <a:off x="0" y="0"/>
          <a:ext cx="0" cy="0"/>
          <a:chOff x="0" y="0"/>
          <a:chExt cx="0" cy="0"/>
        </a:xfrm>
      </p:grpSpPr>
      <p:pic>
        <p:nvPicPr>
          <p:cNvPr id="1026" name="Picture 2" descr="universite-assane-seck-zig-5af59 - Wincom">
            <a:extLst>
              <a:ext uri="{FF2B5EF4-FFF2-40B4-BE49-F238E27FC236}">
                <a16:creationId xmlns:a16="http://schemas.microsoft.com/office/drawing/2014/main" id="{12218B74-C0EC-58A1-3308-BDE3D42754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85E0C83A-91EE-0C33-3360-452C3A3BD049}"/>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2" name="Group 2">
            <a:extLst>
              <a:ext uri="{FF2B5EF4-FFF2-40B4-BE49-F238E27FC236}">
                <a16:creationId xmlns:a16="http://schemas.microsoft.com/office/drawing/2014/main" id="{60C403F5-0357-150C-DBF5-6CDBA0D176BF}"/>
              </a:ext>
            </a:extLst>
          </p:cNvPr>
          <p:cNvGrpSpPr/>
          <p:nvPr/>
        </p:nvGrpSpPr>
        <p:grpSpPr>
          <a:xfrm>
            <a:off x="457200" y="1485900"/>
            <a:ext cx="17830800" cy="8357654"/>
            <a:chOff x="0" y="0"/>
            <a:chExt cx="2272929" cy="1645889"/>
          </a:xfrm>
        </p:grpSpPr>
        <p:sp>
          <p:nvSpPr>
            <p:cNvPr id="3" name="Freeform 3">
              <a:extLst>
                <a:ext uri="{FF2B5EF4-FFF2-40B4-BE49-F238E27FC236}">
                  <a16:creationId xmlns:a16="http://schemas.microsoft.com/office/drawing/2014/main" id="{C426D263-6109-E89F-B738-2FC365C5F033}"/>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C9A2BB74-DF9D-C249-514A-CB19091BD00F}"/>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8486EC2D-4D86-04A9-94FF-E5331E97BCF5}"/>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8FB68021-7122-121D-8C88-C48603A98A7E}"/>
              </a:ext>
            </a:extLst>
          </p:cNvPr>
          <p:cNvSpPr txBox="1"/>
          <p:nvPr/>
        </p:nvSpPr>
        <p:spPr>
          <a:xfrm>
            <a:off x="457200" y="1104900"/>
            <a:ext cx="17809015" cy="8125301"/>
          </a:xfrm>
          <a:prstGeom prst="rect">
            <a:avLst/>
          </a:prstGeom>
        </p:spPr>
        <p:txBody>
          <a:bodyPr wrap="square" lIns="0" tIns="0" rIns="0" bIns="0" rtlCol="0" anchor="t">
            <a:spAutoFit/>
          </a:bodyPr>
          <a:lstStyle/>
          <a:p>
            <a:r>
              <a:rPr lang="fr-FR" sz="4800" b="1" dirty="0"/>
              <a:t>Sans injection de dépendance :</a:t>
            </a:r>
            <a:endParaRPr lang="fr-FR" sz="4800" dirty="0"/>
          </a:p>
          <a:p>
            <a:r>
              <a:rPr lang="fr-FR" sz="4800" dirty="0"/>
              <a:t>Prenons un exemple classique où une voiture dépend d’un moteur pour fonctionner :</a:t>
            </a:r>
          </a:p>
          <a:p>
            <a:r>
              <a:rPr lang="fr-FR" sz="4800" dirty="0"/>
              <a:t>public class Car {</a:t>
            </a:r>
            <a:br>
              <a:rPr lang="fr-FR" sz="4800" dirty="0"/>
            </a:br>
            <a:r>
              <a:rPr lang="fr-FR" sz="4800" dirty="0"/>
              <a:t>    </a:t>
            </a:r>
            <a:r>
              <a:rPr lang="fr-FR" sz="4800" dirty="0" err="1"/>
              <a:t>private</a:t>
            </a:r>
            <a:r>
              <a:rPr lang="fr-FR" sz="4800" dirty="0"/>
              <a:t> Engine engine = new Engine();  // La classe Car crée elle-même l'objet Engine }</a:t>
            </a:r>
          </a:p>
          <a:p>
            <a:r>
              <a:rPr lang="fr-FR" sz="4800" dirty="0"/>
              <a:t>Dans cet exemple, la classe Car est </a:t>
            </a:r>
            <a:r>
              <a:rPr lang="fr-FR" sz="4800" b="1" dirty="0"/>
              <a:t>étroitement couplée</a:t>
            </a:r>
            <a:r>
              <a:rPr lang="fr-FR" sz="4800" dirty="0"/>
              <a:t> à l'implémentation de Engine. Si nous voulons utiliser un autre type de moteur (par exemple un moteur électrique au lieu d'un moteur à essence), il nous faudrait modifier le code de la classe Car. Ce n’est pas idéal si nous cherchons à avoir un code flexible et modulaire.</a:t>
            </a:r>
          </a:p>
        </p:txBody>
      </p:sp>
      <p:sp>
        <p:nvSpPr>
          <p:cNvPr id="11" name="TextBox 11">
            <a:extLst>
              <a:ext uri="{FF2B5EF4-FFF2-40B4-BE49-F238E27FC236}">
                <a16:creationId xmlns:a16="http://schemas.microsoft.com/office/drawing/2014/main" id="{C92F243F-2C65-CABB-AB93-B883C09271FB}"/>
              </a:ext>
            </a:extLst>
          </p:cNvPr>
          <p:cNvSpPr txBox="1"/>
          <p:nvPr/>
        </p:nvSpPr>
        <p:spPr>
          <a:xfrm>
            <a:off x="457200" y="720435"/>
            <a:ext cx="16992600" cy="757259"/>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INJECTION DE DEPENDANCE(Exemple)</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2679162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4B34E4A0-6ED5-54F6-9B33-7847108C7066}"/>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C6AB9801-0747-9EBC-C8F8-0C59C883159E}"/>
              </a:ext>
            </a:extLst>
          </p:cNvPr>
          <p:cNvSpPr/>
          <p:nvPr/>
        </p:nvSpPr>
        <p:spPr>
          <a:xfrm rot="-5051927">
            <a:off x="16027218" y="708772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D46A7B27-B620-0681-AF9D-282C27D6C4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1BC7A164-6B38-6555-E680-AC7D7ED50E19}"/>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 name="Group 2">
            <a:extLst>
              <a:ext uri="{FF2B5EF4-FFF2-40B4-BE49-F238E27FC236}">
                <a16:creationId xmlns:a16="http://schemas.microsoft.com/office/drawing/2014/main" id="{AD46C2ED-50B9-7475-1087-0FB9F0152C1A}"/>
              </a:ext>
            </a:extLst>
          </p:cNvPr>
          <p:cNvGrpSpPr/>
          <p:nvPr/>
        </p:nvGrpSpPr>
        <p:grpSpPr>
          <a:xfrm>
            <a:off x="457200" y="1485900"/>
            <a:ext cx="17830800" cy="8357654"/>
            <a:chOff x="0" y="0"/>
            <a:chExt cx="2272929" cy="1645889"/>
          </a:xfrm>
        </p:grpSpPr>
        <p:sp>
          <p:nvSpPr>
            <p:cNvPr id="3" name="Freeform 3">
              <a:extLst>
                <a:ext uri="{FF2B5EF4-FFF2-40B4-BE49-F238E27FC236}">
                  <a16:creationId xmlns:a16="http://schemas.microsoft.com/office/drawing/2014/main" id="{8B6AA0EB-7FF9-2F47-0294-1F0B535AD5D9}"/>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FBA0DE46-A7BA-C297-ECC1-3FAEC8CA0696}"/>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9" name="TextBox 9">
            <a:extLst>
              <a:ext uri="{FF2B5EF4-FFF2-40B4-BE49-F238E27FC236}">
                <a16:creationId xmlns:a16="http://schemas.microsoft.com/office/drawing/2014/main" id="{B45622CE-A6F9-0C3A-420E-266293A40CCB}"/>
              </a:ext>
            </a:extLst>
          </p:cNvPr>
          <p:cNvSpPr txBox="1"/>
          <p:nvPr/>
        </p:nvSpPr>
        <p:spPr>
          <a:xfrm>
            <a:off x="944880" y="1864630"/>
            <a:ext cx="17809015" cy="8125301"/>
          </a:xfrm>
          <a:prstGeom prst="rect">
            <a:avLst/>
          </a:prstGeom>
        </p:spPr>
        <p:txBody>
          <a:bodyPr wrap="square" lIns="0" tIns="0" rIns="0" bIns="0" rtlCol="0" anchor="t">
            <a:spAutoFit/>
          </a:bodyPr>
          <a:lstStyle/>
          <a:p>
            <a:r>
              <a:rPr lang="fr-FR" sz="4400" b="1" dirty="0"/>
              <a:t>Avec injection de dépendance :</a:t>
            </a:r>
            <a:endParaRPr lang="fr-FR" sz="4400" dirty="0"/>
          </a:p>
          <a:p>
            <a:r>
              <a:rPr lang="fr-FR" sz="4400" dirty="0"/>
              <a:t>Dans un système utilisant l’injection de dépendance, Car ne crée pas directement l'instance de Engine. Au lieu de cela, Car reçoit l'objet Engine de l'extérieur, par injection.</a:t>
            </a:r>
          </a:p>
          <a:p>
            <a:r>
              <a:rPr lang="fr-FR" sz="4400" dirty="0"/>
              <a:t>public class Car {</a:t>
            </a:r>
            <a:br>
              <a:rPr lang="fr-FR" sz="4400" dirty="0"/>
            </a:br>
            <a:r>
              <a:rPr lang="fr-FR" sz="4400" dirty="0"/>
              <a:t> </a:t>
            </a:r>
            <a:r>
              <a:rPr lang="fr-FR" sz="4400" dirty="0" err="1"/>
              <a:t>private</a:t>
            </a:r>
            <a:r>
              <a:rPr lang="fr-FR" sz="4400" dirty="0"/>
              <a:t> Engine engine;</a:t>
            </a:r>
            <a:br>
              <a:rPr lang="fr-FR" sz="4400" dirty="0"/>
            </a:br>
            <a:r>
              <a:rPr lang="fr-FR" sz="4400" dirty="0"/>
              <a:t>public Car(Engine engine) { // Engine est injecté via le constructeur</a:t>
            </a:r>
            <a:br>
              <a:rPr lang="fr-FR" sz="4400" dirty="0"/>
            </a:br>
            <a:r>
              <a:rPr lang="fr-FR" sz="4400" dirty="0"/>
              <a:t> </a:t>
            </a:r>
            <a:r>
              <a:rPr lang="fr-FR" sz="4400" dirty="0" err="1"/>
              <a:t>this.engine</a:t>
            </a:r>
            <a:r>
              <a:rPr lang="fr-FR" sz="4400" dirty="0"/>
              <a:t> = engine; }}</a:t>
            </a:r>
          </a:p>
          <a:p>
            <a:r>
              <a:rPr lang="fr-FR" sz="4400" dirty="0"/>
              <a:t>Dans cet exemple, Car ne sait pas </a:t>
            </a:r>
            <a:r>
              <a:rPr lang="fr-FR" sz="4400" b="1" dirty="0"/>
              <a:t>comment</a:t>
            </a:r>
            <a:r>
              <a:rPr lang="fr-FR" sz="4400" dirty="0"/>
              <a:t> créer un Engine. Cela permet de remplacer l'implémentation de Engine sans toucher au code de Car. Par exemple, nous pourrions injecter un </a:t>
            </a:r>
            <a:r>
              <a:rPr lang="fr-FR" sz="4400" dirty="0" err="1"/>
              <a:t>ElectricEngine</a:t>
            </a:r>
            <a:r>
              <a:rPr lang="fr-FR" sz="4400" dirty="0"/>
              <a:t> ou un </a:t>
            </a:r>
            <a:r>
              <a:rPr lang="fr-FR" sz="4400" dirty="0" err="1"/>
              <a:t>DieselEngine</a:t>
            </a:r>
            <a:r>
              <a:rPr lang="fr-FR" sz="4400" dirty="0"/>
              <a:t> selon le contexte. Ce principe est au cœur de l'injection de dépendance.</a:t>
            </a:r>
          </a:p>
        </p:txBody>
      </p:sp>
      <p:sp>
        <p:nvSpPr>
          <p:cNvPr id="11" name="TextBox 11">
            <a:extLst>
              <a:ext uri="{FF2B5EF4-FFF2-40B4-BE49-F238E27FC236}">
                <a16:creationId xmlns:a16="http://schemas.microsoft.com/office/drawing/2014/main" id="{EDCFC13D-C7D1-EF9B-8FCE-8AC54B696C8A}"/>
              </a:ext>
            </a:extLst>
          </p:cNvPr>
          <p:cNvSpPr txBox="1"/>
          <p:nvPr/>
        </p:nvSpPr>
        <p:spPr>
          <a:xfrm>
            <a:off x="457200" y="720435"/>
            <a:ext cx="16992600" cy="757259"/>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INJECTION DE DEPENDANCE(Exemple)</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3598675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E0EF2325-F612-E6B5-8FB4-725F9C2C3CBC}"/>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F338B123-D47D-578D-F090-5901401F8D2A}"/>
              </a:ext>
            </a:extLst>
          </p:cNvPr>
          <p:cNvSpPr/>
          <p:nvPr/>
        </p:nvSpPr>
        <p:spPr>
          <a:xfrm rot="-5051927">
            <a:off x="16027218" y="708772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A6EA1B3B-D993-9EED-5387-84ED79FC3F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993E52D1-5FB7-FE8A-A3AD-D7401C34BE36}"/>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 name="Group 2">
            <a:extLst>
              <a:ext uri="{FF2B5EF4-FFF2-40B4-BE49-F238E27FC236}">
                <a16:creationId xmlns:a16="http://schemas.microsoft.com/office/drawing/2014/main" id="{6F895723-F6F8-CAA3-CD77-03A051E2CC7E}"/>
              </a:ext>
            </a:extLst>
          </p:cNvPr>
          <p:cNvGrpSpPr/>
          <p:nvPr/>
        </p:nvGrpSpPr>
        <p:grpSpPr>
          <a:xfrm>
            <a:off x="457200" y="1485900"/>
            <a:ext cx="17830800" cy="8357654"/>
            <a:chOff x="0" y="0"/>
            <a:chExt cx="2272929" cy="1645889"/>
          </a:xfrm>
        </p:grpSpPr>
        <p:sp>
          <p:nvSpPr>
            <p:cNvPr id="3" name="Freeform 3">
              <a:extLst>
                <a:ext uri="{FF2B5EF4-FFF2-40B4-BE49-F238E27FC236}">
                  <a16:creationId xmlns:a16="http://schemas.microsoft.com/office/drawing/2014/main" id="{1CF06F22-8D25-81C7-EF34-ED2D353606F9}"/>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3898B300-365C-D3D8-EC60-801C1B51A2F0}"/>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9" name="TextBox 9">
            <a:extLst>
              <a:ext uri="{FF2B5EF4-FFF2-40B4-BE49-F238E27FC236}">
                <a16:creationId xmlns:a16="http://schemas.microsoft.com/office/drawing/2014/main" id="{D3B0E5FC-4C8E-D633-D37F-D119916197A6}"/>
              </a:ext>
            </a:extLst>
          </p:cNvPr>
          <p:cNvSpPr txBox="1"/>
          <p:nvPr/>
        </p:nvSpPr>
        <p:spPr>
          <a:xfrm>
            <a:off x="944880" y="1864630"/>
            <a:ext cx="17809015" cy="7386638"/>
          </a:xfrm>
          <a:prstGeom prst="rect">
            <a:avLst/>
          </a:prstGeom>
        </p:spPr>
        <p:txBody>
          <a:bodyPr wrap="square" lIns="0" tIns="0" rIns="0" bIns="0" rtlCol="0" anchor="t">
            <a:spAutoFit/>
          </a:bodyPr>
          <a:lstStyle/>
          <a:p>
            <a:r>
              <a:rPr lang="fr-FR" sz="4800" dirty="0"/>
              <a:t>Prenons un cas concret où une application envoie des notifications. Dans un code sans DI, nous aurions peut-être quelque chose comme ceci :</a:t>
            </a:r>
          </a:p>
          <a:p>
            <a:r>
              <a:rPr lang="fr-FR" sz="4800" dirty="0"/>
              <a:t>public class </a:t>
            </a:r>
            <a:r>
              <a:rPr lang="fr-FR" sz="4800" dirty="0" err="1"/>
              <a:t>NotificationService</a:t>
            </a:r>
            <a:r>
              <a:rPr lang="fr-FR" sz="4800" dirty="0"/>
              <a:t> {</a:t>
            </a:r>
            <a:br>
              <a:rPr lang="fr-FR" sz="4800" dirty="0"/>
            </a:br>
            <a:r>
              <a:rPr lang="fr-FR" sz="4800" dirty="0"/>
              <a:t>    </a:t>
            </a:r>
            <a:r>
              <a:rPr lang="fr-FR" sz="4800" dirty="0" err="1">
                <a:solidFill>
                  <a:srgbClr val="FF0000"/>
                </a:solidFill>
              </a:rPr>
              <a:t>private</a:t>
            </a:r>
            <a:r>
              <a:rPr lang="fr-FR" sz="4800" dirty="0">
                <a:solidFill>
                  <a:srgbClr val="FF0000"/>
                </a:solidFill>
              </a:rPr>
              <a:t> </a:t>
            </a:r>
            <a:r>
              <a:rPr lang="fr-FR" sz="4800" dirty="0" err="1">
                <a:solidFill>
                  <a:srgbClr val="FF0000"/>
                </a:solidFill>
              </a:rPr>
              <a:t>EmailService</a:t>
            </a:r>
            <a:r>
              <a:rPr lang="fr-FR" sz="4800" dirty="0">
                <a:solidFill>
                  <a:srgbClr val="FF0000"/>
                </a:solidFill>
              </a:rPr>
              <a:t> </a:t>
            </a:r>
            <a:r>
              <a:rPr lang="fr-FR" sz="4800" dirty="0" err="1">
                <a:solidFill>
                  <a:srgbClr val="FF0000"/>
                </a:solidFill>
              </a:rPr>
              <a:t>emailService</a:t>
            </a:r>
            <a:r>
              <a:rPr lang="fr-FR" sz="4800" dirty="0">
                <a:solidFill>
                  <a:srgbClr val="FF0000"/>
                </a:solidFill>
              </a:rPr>
              <a:t> = new </a:t>
            </a:r>
            <a:r>
              <a:rPr lang="fr-FR" sz="4800" dirty="0" err="1">
                <a:solidFill>
                  <a:srgbClr val="FF0000"/>
                </a:solidFill>
              </a:rPr>
              <a:t>EmailService</a:t>
            </a:r>
            <a:r>
              <a:rPr lang="fr-FR" sz="4800" dirty="0">
                <a:solidFill>
                  <a:srgbClr val="FF0000"/>
                </a:solidFill>
              </a:rPr>
              <a:t>();</a:t>
            </a:r>
          </a:p>
          <a:p>
            <a:br>
              <a:rPr lang="fr-FR" sz="4800" dirty="0"/>
            </a:br>
            <a:r>
              <a:rPr lang="fr-FR" sz="4800" dirty="0"/>
              <a:t>    public </a:t>
            </a:r>
            <a:r>
              <a:rPr lang="fr-FR" sz="4800" dirty="0" err="1"/>
              <a:t>void</a:t>
            </a:r>
            <a:r>
              <a:rPr lang="fr-FR" sz="4800" dirty="0"/>
              <a:t> </a:t>
            </a:r>
            <a:r>
              <a:rPr lang="fr-FR" sz="4800" dirty="0" err="1"/>
              <a:t>sendNotification</a:t>
            </a:r>
            <a:r>
              <a:rPr lang="fr-FR" sz="4800" dirty="0"/>
              <a:t>(String message) {</a:t>
            </a:r>
            <a:br>
              <a:rPr lang="fr-FR" sz="4800" dirty="0"/>
            </a:br>
            <a:r>
              <a:rPr lang="fr-FR" sz="4800" dirty="0"/>
              <a:t>        </a:t>
            </a:r>
            <a:r>
              <a:rPr lang="fr-FR" sz="4800" dirty="0" err="1"/>
              <a:t>emailService.sendEmail</a:t>
            </a:r>
            <a:r>
              <a:rPr lang="fr-FR" sz="4800" dirty="0"/>
              <a:t>(message);   </a:t>
            </a:r>
          </a:p>
          <a:p>
            <a:r>
              <a:rPr lang="fr-FR" sz="4800" dirty="0"/>
              <a:t> }</a:t>
            </a:r>
            <a:br>
              <a:rPr lang="fr-FR" sz="4800" dirty="0"/>
            </a:br>
            <a:r>
              <a:rPr lang="fr-FR" sz="4800" dirty="0"/>
              <a:t>}</a:t>
            </a:r>
          </a:p>
        </p:txBody>
      </p:sp>
      <p:sp>
        <p:nvSpPr>
          <p:cNvPr id="11" name="TextBox 11">
            <a:extLst>
              <a:ext uri="{FF2B5EF4-FFF2-40B4-BE49-F238E27FC236}">
                <a16:creationId xmlns:a16="http://schemas.microsoft.com/office/drawing/2014/main" id="{02E48364-92C4-7FD1-0A33-4F72904C96EA}"/>
              </a:ext>
            </a:extLst>
          </p:cNvPr>
          <p:cNvSpPr txBox="1"/>
          <p:nvPr/>
        </p:nvSpPr>
        <p:spPr>
          <a:xfrm>
            <a:off x="457200" y="720435"/>
            <a:ext cx="16992600" cy="757259"/>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DI(</a:t>
            </a:r>
            <a:r>
              <a:rPr lang="fr-FR" sz="4800" dirty="0">
                <a:solidFill>
                  <a:srgbClr val="000000"/>
                </a:solidFill>
                <a:latin typeface="Akzidenz-Grotesk"/>
              </a:rPr>
              <a:t>Exemple concret : DI vs Instanciation manuelle)</a:t>
            </a:r>
            <a:endParaRPr lang="en-US" sz="4800" dirty="0">
              <a:solidFill>
                <a:srgbClr val="000000"/>
              </a:solidFill>
              <a:latin typeface="Akzidenz-Grotesk"/>
              <a:sym typeface="Akzidenz-Grotesk"/>
            </a:endParaRPr>
          </a:p>
        </p:txBody>
      </p:sp>
    </p:spTree>
    <p:extLst>
      <p:ext uri="{BB962C8B-B14F-4D97-AF65-F5344CB8AC3E}">
        <p14:creationId xmlns:p14="http://schemas.microsoft.com/office/powerpoint/2010/main" val="1404542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25015B64-6DED-CB49-A60F-565FF89B92C0}"/>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FB3EFAF0-5ACD-A2D3-4D83-5E58965E633E}"/>
              </a:ext>
            </a:extLst>
          </p:cNvPr>
          <p:cNvSpPr/>
          <p:nvPr/>
        </p:nvSpPr>
        <p:spPr>
          <a:xfrm rot="-5051927">
            <a:off x="16027218" y="708772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5B7C2852-F98C-4031-81BF-BE536DC893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1905ED2D-45EB-176B-7476-9633E7719D23}"/>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 name="Group 2">
            <a:extLst>
              <a:ext uri="{FF2B5EF4-FFF2-40B4-BE49-F238E27FC236}">
                <a16:creationId xmlns:a16="http://schemas.microsoft.com/office/drawing/2014/main" id="{6A3A6B8A-1A8C-DB10-3EE9-2E0DBD386664}"/>
              </a:ext>
            </a:extLst>
          </p:cNvPr>
          <p:cNvGrpSpPr/>
          <p:nvPr/>
        </p:nvGrpSpPr>
        <p:grpSpPr>
          <a:xfrm>
            <a:off x="457200" y="1485900"/>
            <a:ext cx="17830800" cy="8357654"/>
            <a:chOff x="0" y="0"/>
            <a:chExt cx="2272929" cy="1645889"/>
          </a:xfrm>
        </p:grpSpPr>
        <p:sp>
          <p:nvSpPr>
            <p:cNvPr id="3" name="Freeform 3">
              <a:extLst>
                <a:ext uri="{FF2B5EF4-FFF2-40B4-BE49-F238E27FC236}">
                  <a16:creationId xmlns:a16="http://schemas.microsoft.com/office/drawing/2014/main" id="{D4E3CB20-F417-C484-9941-866D742DFD1C}"/>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B8BC25C4-AC63-A064-2646-212CB137DF0A}"/>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9" name="TextBox 9">
            <a:extLst>
              <a:ext uri="{FF2B5EF4-FFF2-40B4-BE49-F238E27FC236}">
                <a16:creationId xmlns:a16="http://schemas.microsoft.com/office/drawing/2014/main" id="{EF57271C-1C47-9589-BE06-5BF188C48B48}"/>
              </a:ext>
            </a:extLst>
          </p:cNvPr>
          <p:cNvSpPr txBox="1"/>
          <p:nvPr/>
        </p:nvSpPr>
        <p:spPr>
          <a:xfrm>
            <a:off x="944880" y="1864630"/>
            <a:ext cx="17809015" cy="6647974"/>
          </a:xfrm>
          <a:prstGeom prst="rect">
            <a:avLst/>
          </a:prstGeom>
        </p:spPr>
        <p:txBody>
          <a:bodyPr wrap="square" lIns="0" tIns="0" rIns="0" bIns="0" rtlCol="0" anchor="t">
            <a:spAutoFit/>
          </a:bodyPr>
          <a:lstStyle/>
          <a:p>
            <a:r>
              <a:rPr lang="fr-FR" sz="4800" dirty="0"/>
              <a:t>Le problème ici est que si nous voulons remplacer </a:t>
            </a:r>
            <a:r>
              <a:rPr lang="fr-FR" sz="4800" dirty="0" err="1"/>
              <a:t>EmailService</a:t>
            </a:r>
            <a:r>
              <a:rPr lang="fr-FR" sz="4800" dirty="0"/>
              <a:t> par un </a:t>
            </a:r>
            <a:r>
              <a:rPr lang="fr-FR" sz="4800" dirty="0" err="1"/>
              <a:t>SMSService</a:t>
            </a:r>
            <a:r>
              <a:rPr lang="fr-FR" sz="4800" dirty="0"/>
              <a:t>, il faut modifier le code de </a:t>
            </a:r>
            <a:r>
              <a:rPr lang="fr-FR" sz="4800" dirty="0" err="1"/>
              <a:t>NotificationService</a:t>
            </a:r>
            <a:r>
              <a:rPr lang="fr-FR" sz="4800" dirty="0"/>
              <a:t> :</a:t>
            </a:r>
          </a:p>
          <a:p>
            <a:r>
              <a:rPr lang="fr-FR" sz="4800" dirty="0"/>
              <a:t>public class </a:t>
            </a:r>
            <a:r>
              <a:rPr lang="fr-FR" sz="4800" dirty="0" err="1"/>
              <a:t>NotificationService</a:t>
            </a:r>
            <a:r>
              <a:rPr lang="fr-FR" sz="4800" dirty="0"/>
              <a:t> {</a:t>
            </a:r>
            <a:br>
              <a:rPr lang="fr-FR" sz="4800" dirty="0"/>
            </a:br>
            <a:r>
              <a:rPr lang="fr-FR" sz="4800" dirty="0"/>
              <a:t>    </a:t>
            </a:r>
            <a:r>
              <a:rPr lang="fr-FR" sz="4800" dirty="0" err="1">
                <a:solidFill>
                  <a:srgbClr val="FF0000"/>
                </a:solidFill>
              </a:rPr>
              <a:t>private</a:t>
            </a:r>
            <a:r>
              <a:rPr lang="fr-FR" sz="4800" dirty="0">
                <a:solidFill>
                  <a:srgbClr val="FF0000"/>
                </a:solidFill>
              </a:rPr>
              <a:t> </a:t>
            </a:r>
            <a:r>
              <a:rPr lang="fr-FR" sz="4800" dirty="0" err="1">
                <a:solidFill>
                  <a:srgbClr val="FF0000"/>
                </a:solidFill>
              </a:rPr>
              <a:t>SMSService</a:t>
            </a:r>
            <a:r>
              <a:rPr lang="fr-FR" sz="4800" dirty="0">
                <a:solidFill>
                  <a:srgbClr val="FF0000"/>
                </a:solidFill>
              </a:rPr>
              <a:t> </a:t>
            </a:r>
            <a:r>
              <a:rPr lang="fr-FR" sz="4800" dirty="0" err="1">
                <a:solidFill>
                  <a:srgbClr val="FF0000"/>
                </a:solidFill>
              </a:rPr>
              <a:t>smsService</a:t>
            </a:r>
            <a:r>
              <a:rPr lang="fr-FR" sz="4800" dirty="0">
                <a:solidFill>
                  <a:srgbClr val="FF0000"/>
                </a:solidFill>
              </a:rPr>
              <a:t> = new </a:t>
            </a:r>
            <a:r>
              <a:rPr lang="fr-FR" sz="4800" dirty="0" err="1">
                <a:solidFill>
                  <a:srgbClr val="FF0000"/>
                </a:solidFill>
              </a:rPr>
              <a:t>SMSService</a:t>
            </a:r>
            <a:r>
              <a:rPr lang="fr-FR" sz="4800" dirty="0">
                <a:solidFill>
                  <a:srgbClr val="FF0000"/>
                </a:solidFill>
              </a:rPr>
              <a:t>();</a:t>
            </a:r>
            <a:br>
              <a:rPr lang="fr-FR" sz="4800" dirty="0"/>
            </a:br>
            <a:r>
              <a:rPr lang="fr-FR" sz="4800" dirty="0"/>
              <a:t>    </a:t>
            </a:r>
            <a:br>
              <a:rPr lang="fr-FR" sz="4800" dirty="0"/>
            </a:br>
            <a:r>
              <a:rPr lang="fr-FR" sz="4800" dirty="0"/>
              <a:t>    public </a:t>
            </a:r>
            <a:r>
              <a:rPr lang="fr-FR" sz="4800" dirty="0" err="1"/>
              <a:t>void</a:t>
            </a:r>
            <a:r>
              <a:rPr lang="fr-FR" sz="4800" dirty="0"/>
              <a:t> </a:t>
            </a:r>
            <a:r>
              <a:rPr lang="fr-FR" sz="4800" dirty="0" err="1"/>
              <a:t>sendNotification</a:t>
            </a:r>
            <a:r>
              <a:rPr lang="fr-FR" sz="4800" dirty="0"/>
              <a:t>(String message) {</a:t>
            </a:r>
            <a:br>
              <a:rPr lang="fr-FR" sz="4800" dirty="0"/>
            </a:br>
            <a:r>
              <a:rPr lang="fr-FR" sz="4800" dirty="0"/>
              <a:t>        </a:t>
            </a:r>
            <a:r>
              <a:rPr lang="fr-FR" sz="4800" dirty="0" err="1"/>
              <a:t>smsService.sendSMS</a:t>
            </a:r>
            <a:r>
              <a:rPr lang="fr-FR" sz="4800" dirty="0"/>
              <a:t>(message);</a:t>
            </a:r>
            <a:br>
              <a:rPr lang="fr-FR" sz="4800" dirty="0"/>
            </a:br>
            <a:r>
              <a:rPr lang="fr-FR" sz="4800" dirty="0"/>
              <a:t>    }</a:t>
            </a:r>
            <a:br>
              <a:rPr lang="fr-FR" sz="4800" dirty="0"/>
            </a:br>
            <a:r>
              <a:rPr lang="fr-FR" sz="4800" dirty="0"/>
              <a:t>}</a:t>
            </a:r>
          </a:p>
        </p:txBody>
      </p:sp>
      <p:sp>
        <p:nvSpPr>
          <p:cNvPr id="11" name="TextBox 11">
            <a:extLst>
              <a:ext uri="{FF2B5EF4-FFF2-40B4-BE49-F238E27FC236}">
                <a16:creationId xmlns:a16="http://schemas.microsoft.com/office/drawing/2014/main" id="{04ED31CF-7098-78A6-16B1-01B2A950DCCD}"/>
              </a:ext>
            </a:extLst>
          </p:cNvPr>
          <p:cNvSpPr txBox="1"/>
          <p:nvPr/>
        </p:nvSpPr>
        <p:spPr>
          <a:xfrm>
            <a:off x="457200" y="720435"/>
            <a:ext cx="16992600" cy="757259"/>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DI(</a:t>
            </a:r>
            <a:r>
              <a:rPr lang="fr-FR" sz="4800" dirty="0">
                <a:solidFill>
                  <a:srgbClr val="000000"/>
                </a:solidFill>
                <a:latin typeface="Akzidenz-Grotesk"/>
              </a:rPr>
              <a:t>Exemple concret : DI vs Instanciation manuelle)</a:t>
            </a:r>
            <a:endParaRPr lang="en-US" sz="4800" dirty="0">
              <a:solidFill>
                <a:srgbClr val="000000"/>
              </a:solidFill>
              <a:latin typeface="Akzidenz-Grotesk"/>
              <a:sym typeface="Akzidenz-Grotesk"/>
            </a:endParaRPr>
          </a:p>
        </p:txBody>
      </p:sp>
    </p:spTree>
    <p:extLst>
      <p:ext uri="{BB962C8B-B14F-4D97-AF65-F5344CB8AC3E}">
        <p14:creationId xmlns:p14="http://schemas.microsoft.com/office/powerpoint/2010/main" val="2390786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8E7BBE98-DFDB-F221-6EF4-3DF5B66118CB}"/>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1C5B0ED0-BABB-A102-6CDB-9ACFEDC40E4B}"/>
              </a:ext>
            </a:extLst>
          </p:cNvPr>
          <p:cNvSpPr/>
          <p:nvPr/>
        </p:nvSpPr>
        <p:spPr>
          <a:xfrm rot="-5051927">
            <a:off x="16027218" y="708772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D0B32328-5473-E6E0-9719-9A55675762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A1E8C8CF-ED74-6E97-5A0D-978684627AAD}"/>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 name="Group 2">
            <a:extLst>
              <a:ext uri="{FF2B5EF4-FFF2-40B4-BE49-F238E27FC236}">
                <a16:creationId xmlns:a16="http://schemas.microsoft.com/office/drawing/2014/main" id="{A835D0B6-A81B-8CB7-7AEC-5EAC20C4450D}"/>
              </a:ext>
            </a:extLst>
          </p:cNvPr>
          <p:cNvGrpSpPr/>
          <p:nvPr/>
        </p:nvGrpSpPr>
        <p:grpSpPr>
          <a:xfrm>
            <a:off x="457200" y="1485900"/>
            <a:ext cx="17830800" cy="8357654"/>
            <a:chOff x="0" y="0"/>
            <a:chExt cx="2272929" cy="1645889"/>
          </a:xfrm>
        </p:grpSpPr>
        <p:sp>
          <p:nvSpPr>
            <p:cNvPr id="3" name="Freeform 3">
              <a:extLst>
                <a:ext uri="{FF2B5EF4-FFF2-40B4-BE49-F238E27FC236}">
                  <a16:creationId xmlns:a16="http://schemas.microsoft.com/office/drawing/2014/main" id="{5E7F701B-610C-7F50-ACB2-2032D91E77C6}"/>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FFBBF912-1A56-90A5-28CB-798501B0C90A}"/>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9" name="TextBox 9">
            <a:extLst>
              <a:ext uri="{FF2B5EF4-FFF2-40B4-BE49-F238E27FC236}">
                <a16:creationId xmlns:a16="http://schemas.microsoft.com/office/drawing/2014/main" id="{AA9E0549-F811-22C8-8146-E7414B5645CA}"/>
              </a:ext>
            </a:extLst>
          </p:cNvPr>
          <p:cNvSpPr txBox="1"/>
          <p:nvPr/>
        </p:nvSpPr>
        <p:spPr>
          <a:xfrm>
            <a:off x="944880" y="1864630"/>
            <a:ext cx="17809015" cy="8556188"/>
          </a:xfrm>
          <a:prstGeom prst="rect">
            <a:avLst/>
          </a:prstGeom>
        </p:spPr>
        <p:txBody>
          <a:bodyPr wrap="square" lIns="0" tIns="0" rIns="0" bIns="0" rtlCol="0" anchor="t">
            <a:spAutoFit/>
          </a:bodyPr>
          <a:lstStyle/>
          <a:p>
            <a:r>
              <a:rPr lang="fr-FR" sz="4400" dirty="0"/>
              <a:t>Cela crée un couplage fort entre </a:t>
            </a:r>
            <a:r>
              <a:rPr lang="fr-FR" sz="4400" dirty="0" err="1"/>
              <a:t>NotificationService</a:t>
            </a:r>
            <a:r>
              <a:rPr lang="fr-FR" sz="4400" dirty="0"/>
              <a:t> et le type de service utilisé (Email ou SMS). En utilisant l'injection de dépendance, nous pouvons injecter un </a:t>
            </a:r>
            <a:r>
              <a:rPr lang="fr-FR" sz="4400" dirty="0" err="1"/>
              <a:t>EmailService</a:t>
            </a:r>
            <a:r>
              <a:rPr lang="fr-FR" sz="4400" dirty="0"/>
              <a:t> ou un </a:t>
            </a:r>
            <a:r>
              <a:rPr lang="fr-FR" sz="4400" dirty="0" err="1"/>
              <a:t>SMSService</a:t>
            </a:r>
            <a:r>
              <a:rPr lang="fr-FR" sz="4400" dirty="0"/>
              <a:t> sans modifier </a:t>
            </a:r>
            <a:r>
              <a:rPr lang="fr-FR" sz="4400" dirty="0" err="1"/>
              <a:t>NotificationService</a:t>
            </a:r>
            <a:r>
              <a:rPr lang="fr-FR" sz="4400" dirty="0"/>
              <a:t> :</a:t>
            </a:r>
          </a:p>
          <a:p>
            <a:r>
              <a:rPr lang="fr-FR" sz="4400" dirty="0"/>
              <a:t>public class </a:t>
            </a:r>
            <a:r>
              <a:rPr lang="fr-FR" sz="4400" dirty="0" err="1"/>
              <a:t>NotificationService</a:t>
            </a:r>
            <a:r>
              <a:rPr lang="fr-FR" sz="4400" dirty="0"/>
              <a:t> {</a:t>
            </a:r>
            <a:br>
              <a:rPr lang="fr-FR" sz="4400" dirty="0"/>
            </a:br>
            <a:r>
              <a:rPr lang="fr-FR" sz="4400" dirty="0"/>
              <a:t>   </a:t>
            </a:r>
            <a:r>
              <a:rPr lang="fr-FR" sz="4400" dirty="0" err="1"/>
              <a:t>private</a:t>
            </a:r>
            <a:r>
              <a:rPr lang="fr-FR" sz="4400" dirty="0"/>
              <a:t> final </a:t>
            </a:r>
            <a:r>
              <a:rPr lang="fr-FR" sz="4400" dirty="0" err="1"/>
              <a:t>MessageService</a:t>
            </a:r>
            <a:r>
              <a:rPr lang="fr-FR" sz="4400" dirty="0"/>
              <a:t> </a:t>
            </a:r>
            <a:r>
              <a:rPr lang="fr-FR" sz="4400" dirty="0" err="1"/>
              <a:t>messageService</a:t>
            </a:r>
            <a:r>
              <a:rPr lang="fr-FR" sz="4400" dirty="0"/>
              <a:t>;  // </a:t>
            </a:r>
            <a:r>
              <a:rPr lang="fr-FR" sz="2800" dirty="0">
                <a:solidFill>
                  <a:srgbClr val="FF0000"/>
                </a:solidFill>
              </a:rPr>
              <a:t>Utilisation d'une interface ou d'une classe abstraite</a:t>
            </a:r>
          </a:p>
          <a:p>
            <a:r>
              <a:rPr lang="fr-FR" sz="4400" dirty="0"/>
              <a:t>public </a:t>
            </a:r>
            <a:r>
              <a:rPr lang="fr-FR" sz="4400" dirty="0" err="1"/>
              <a:t>NotificationService</a:t>
            </a:r>
            <a:r>
              <a:rPr lang="fr-FR" sz="4400" dirty="0"/>
              <a:t>(</a:t>
            </a:r>
            <a:r>
              <a:rPr lang="fr-FR" sz="4400" dirty="0" err="1"/>
              <a:t>MessageService</a:t>
            </a:r>
            <a:r>
              <a:rPr lang="fr-FR" sz="4400" dirty="0"/>
              <a:t> </a:t>
            </a:r>
            <a:r>
              <a:rPr lang="fr-FR" sz="4400" dirty="0" err="1"/>
              <a:t>messageService</a:t>
            </a:r>
            <a:r>
              <a:rPr lang="fr-FR" sz="4400" dirty="0"/>
              <a:t>) {</a:t>
            </a:r>
            <a:br>
              <a:rPr lang="fr-FR" sz="4400" dirty="0"/>
            </a:br>
            <a:r>
              <a:rPr lang="fr-FR" sz="4400" dirty="0"/>
              <a:t>        </a:t>
            </a:r>
            <a:r>
              <a:rPr lang="fr-FR" sz="4400" dirty="0" err="1"/>
              <a:t>this.messageService</a:t>
            </a:r>
            <a:r>
              <a:rPr lang="fr-FR" sz="4400" dirty="0"/>
              <a:t> = </a:t>
            </a:r>
            <a:r>
              <a:rPr lang="fr-FR" sz="4400" dirty="0" err="1"/>
              <a:t>messageService</a:t>
            </a:r>
            <a:r>
              <a:rPr lang="fr-FR" sz="4400" dirty="0"/>
              <a:t>;  // </a:t>
            </a:r>
            <a:r>
              <a:rPr lang="fr-FR" sz="4400" dirty="0">
                <a:solidFill>
                  <a:srgbClr val="FF0000"/>
                </a:solidFill>
              </a:rPr>
              <a:t>Injection de la dépendance</a:t>
            </a:r>
            <a:br>
              <a:rPr lang="fr-FR" sz="4400" dirty="0"/>
            </a:br>
            <a:r>
              <a:rPr lang="fr-FR" sz="4400" dirty="0"/>
              <a:t>    }   </a:t>
            </a:r>
            <a:br>
              <a:rPr lang="fr-FR" sz="4400" dirty="0"/>
            </a:br>
            <a:r>
              <a:rPr lang="fr-FR" sz="4400" dirty="0"/>
              <a:t>    public </a:t>
            </a:r>
            <a:r>
              <a:rPr lang="fr-FR" sz="4400" dirty="0" err="1"/>
              <a:t>void</a:t>
            </a:r>
            <a:r>
              <a:rPr lang="fr-FR" sz="4400" dirty="0"/>
              <a:t> </a:t>
            </a:r>
            <a:r>
              <a:rPr lang="fr-FR" sz="4400" dirty="0" err="1"/>
              <a:t>sendNotification</a:t>
            </a:r>
            <a:r>
              <a:rPr lang="fr-FR" sz="4400" dirty="0"/>
              <a:t>(String message) {</a:t>
            </a:r>
            <a:br>
              <a:rPr lang="fr-FR" sz="4400" dirty="0"/>
            </a:br>
            <a:r>
              <a:rPr lang="fr-FR" sz="4400" dirty="0"/>
              <a:t>        </a:t>
            </a:r>
            <a:r>
              <a:rPr lang="fr-FR" sz="4400" dirty="0" err="1"/>
              <a:t>messageService.sendMessage</a:t>
            </a:r>
            <a:r>
              <a:rPr lang="fr-FR" sz="4400" dirty="0"/>
              <a:t>(message);</a:t>
            </a:r>
            <a:br>
              <a:rPr lang="fr-FR" sz="4400" dirty="0"/>
            </a:br>
            <a:r>
              <a:rPr lang="fr-FR" sz="4400" dirty="0"/>
              <a:t>    }</a:t>
            </a:r>
            <a:br>
              <a:rPr lang="fr-FR" sz="4400" dirty="0"/>
            </a:br>
            <a:r>
              <a:rPr lang="fr-FR" sz="4400" dirty="0"/>
              <a:t>}</a:t>
            </a:r>
          </a:p>
        </p:txBody>
      </p:sp>
      <p:sp>
        <p:nvSpPr>
          <p:cNvPr id="11" name="TextBox 11">
            <a:extLst>
              <a:ext uri="{FF2B5EF4-FFF2-40B4-BE49-F238E27FC236}">
                <a16:creationId xmlns:a16="http://schemas.microsoft.com/office/drawing/2014/main" id="{DF7488FD-0D7B-CABC-12B7-9C2ECDFAE2E7}"/>
              </a:ext>
            </a:extLst>
          </p:cNvPr>
          <p:cNvSpPr txBox="1"/>
          <p:nvPr/>
        </p:nvSpPr>
        <p:spPr>
          <a:xfrm>
            <a:off x="457200" y="720435"/>
            <a:ext cx="16992600" cy="757259"/>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DI(</a:t>
            </a:r>
            <a:r>
              <a:rPr lang="fr-FR" sz="4800" dirty="0">
                <a:solidFill>
                  <a:srgbClr val="000000"/>
                </a:solidFill>
                <a:latin typeface="Akzidenz-Grotesk"/>
              </a:rPr>
              <a:t>Exemple concret : DI vs Instanciation manuelle)</a:t>
            </a:r>
            <a:endParaRPr lang="en-US" sz="4800" dirty="0">
              <a:solidFill>
                <a:srgbClr val="000000"/>
              </a:solidFill>
              <a:latin typeface="Akzidenz-Grotesk"/>
              <a:sym typeface="Akzidenz-Grotesk"/>
            </a:endParaRPr>
          </a:p>
        </p:txBody>
      </p:sp>
    </p:spTree>
    <p:extLst>
      <p:ext uri="{BB962C8B-B14F-4D97-AF65-F5344CB8AC3E}">
        <p14:creationId xmlns:p14="http://schemas.microsoft.com/office/powerpoint/2010/main" val="1683654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6F7634A3-A4AF-D348-C102-7C44B4973A6F}"/>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8D6B5EE5-AC3C-BC04-E2F4-5AFFEF6FA458}"/>
              </a:ext>
            </a:extLst>
          </p:cNvPr>
          <p:cNvSpPr/>
          <p:nvPr/>
        </p:nvSpPr>
        <p:spPr>
          <a:xfrm rot="-5051927">
            <a:off x="16027218" y="708772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B5B8A70E-088C-CB90-F5DD-B9D7A85269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568D73B4-F1C5-F374-B26D-C6C92C80BEC6}"/>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 name="Group 2">
            <a:extLst>
              <a:ext uri="{FF2B5EF4-FFF2-40B4-BE49-F238E27FC236}">
                <a16:creationId xmlns:a16="http://schemas.microsoft.com/office/drawing/2014/main" id="{0C7C50EC-4DE7-01F6-1966-A558B3F5D786}"/>
              </a:ext>
            </a:extLst>
          </p:cNvPr>
          <p:cNvGrpSpPr/>
          <p:nvPr/>
        </p:nvGrpSpPr>
        <p:grpSpPr>
          <a:xfrm>
            <a:off x="457200" y="1485900"/>
            <a:ext cx="17830800" cy="8357654"/>
            <a:chOff x="0" y="0"/>
            <a:chExt cx="2272929" cy="1645889"/>
          </a:xfrm>
        </p:grpSpPr>
        <p:sp>
          <p:nvSpPr>
            <p:cNvPr id="3" name="Freeform 3">
              <a:extLst>
                <a:ext uri="{FF2B5EF4-FFF2-40B4-BE49-F238E27FC236}">
                  <a16:creationId xmlns:a16="http://schemas.microsoft.com/office/drawing/2014/main" id="{1DDDA6BC-560B-75D3-421E-E1767F3CF64F}"/>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A4201B07-9B76-E0A2-C95B-875700D96E2E}"/>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9" name="TextBox 9">
            <a:extLst>
              <a:ext uri="{FF2B5EF4-FFF2-40B4-BE49-F238E27FC236}">
                <a16:creationId xmlns:a16="http://schemas.microsoft.com/office/drawing/2014/main" id="{264EFF9C-05C1-E0F2-4343-4E257C48943E}"/>
              </a:ext>
            </a:extLst>
          </p:cNvPr>
          <p:cNvSpPr txBox="1"/>
          <p:nvPr/>
        </p:nvSpPr>
        <p:spPr>
          <a:xfrm>
            <a:off x="944880" y="1864630"/>
            <a:ext cx="17809015" cy="3323987"/>
          </a:xfrm>
          <a:prstGeom prst="rect">
            <a:avLst/>
          </a:prstGeom>
        </p:spPr>
        <p:txBody>
          <a:bodyPr wrap="square" lIns="0" tIns="0" rIns="0" bIns="0" rtlCol="0" anchor="t">
            <a:spAutoFit/>
          </a:bodyPr>
          <a:lstStyle/>
          <a:p>
            <a:r>
              <a:rPr lang="fr-FR" sz="5400" b="1" dirty="0"/>
              <a:t>Maintenant, </a:t>
            </a:r>
            <a:r>
              <a:rPr lang="fr-FR" sz="5400" b="1" dirty="0" err="1"/>
              <a:t>NotificationService</a:t>
            </a:r>
            <a:r>
              <a:rPr lang="fr-FR" sz="5400" b="1" dirty="0"/>
              <a:t> est flexible et peut recevoir n'importe quel service qui implémente </a:t>
            </a:r>
            <a:r>
              <a:rPr lang="fr-FR" sz="5400" b="1" dirty="0" err="1"/>
              <a:t>MessageService</a:t>
            </a:r>
            <a:r>
              <a:rPr lang="fr-FR" sz="5400" b="1" dirty="0"/>
              <a:t>, que ce soit un email, un SMS, ou même un service de notification push.</a:t>
            </a:r>
          </a:p>
        </p:txBody>
      </p:sp>
      <p:sp>
        <p:nvSpPr>
          <p:cNvPr id="11" name="TextBox 11">
            <a:extLst>
              <a:ext uri="{FF2B5EF4-FFF2-40B4-BE49-F238E27FC236}">
                <a16:creationId xmlns:a16="http://schemas.microsoft.com/office/drawing/2014/main" id="{2596FAB5-E9BE-60ED-5F0C-1B7D3D542F7D}"/>
              </a:ext>
            </a:extLst>
          </p:cNvPr>
          <p:cNvSpPr txBox="1"/>
          <p:nvPr/>
        </p:nvSpPr>
        <p:spPr>
          <a:xfrm>
            <a:off x="457200" y="720435"/>
            <a:ext cx="16992600" cy="757259"/>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DI(</a:t>
            </a:r>
            <a:r>
              <a:rPr lang="fr-FR" sz="4800" dirty="0">
                <a:solidFill>
                  <a:srgbClr val="000000"/>
                </a:solidFill>
                <a:latin typeface="Akzidenz-Grotesk"/>
              </a:rPr>
              <a:t>Exemple concret : DI vs Instanciation manuelle)</a:t>
            </a:r>
            <a:endParaRPr lang="en-US" sz="4800" dirty="0">
              <a:solidFill>
                <a:srgbClr val="000000"/>
              </a:solidFill>
              <a:latin typeface="Akzidenz-Grotesk"/>
              <a:sym typeface="Akzidenz-Grotesk"/>
            </a:endParaRPr>
          </a:p>
        </p:txBody>
      </p:sp>
    </p:spTree>
    <p:extLst>
      <p:ext uri="{BB962C8B-B14F-4D97-AF65-F5344CB8AC3E}">
        <p14:creationId xmlns:p14="http://schemas.microsoft.com/office/powerpoint/2010/main" val="3392630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08A3A1CA-23B2-AAFC-CEA0-1C2CD3D3BFEA}"/>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C2EEB21B-5E7F-C07E-A736-BE82755ED952}"/>
              </a:ext>
            </a:extLst>
          </p:cNvPr>
          <p:cNvSpPr/>
          <p:nvPr/>
        </p:nvSpPr>
        <p:spPr>
          <a:xfrm rot="-5051927">
            <a:off x="16027218" y="708772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75D7B9C2-A821-44EC-EE2F-5C991FE197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05310F77-C5E1-828F-0311-AB11E1565B33}"/>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 name="Group 2">
            <a:extLst>
              <a:ext uri="{FF2B5EF4-FFF2-40B4-BE49-F238E27FC236}">
                <a16:creationId xmlns:a16="http://schemas.microsoft.com/office/drawing/2014/main" id="{DE036B05-FF6F-5AA3-6806-A894015907E3}"/>
              </a:ext>
            </a:extLst>
          </p:cNvPr>
          <p:cNvGrpSpPr/>
          <p:nvPr/>
        </p:nvGrpSpPr>
        <p:grpSpPr>
          <a:xfrm>
            <a:off x="457200" y="1485900"/>
            <a:ext cx="17830800" cy="8357654"/>
            <a:chOff x="0" y="0"/>
            <a:chExt cx="2272929" cy="1645889"/>
          </a:xfrm>
        </p:grpSpPr>
        <p:sp>
          <p:nvSpPr>
            <p:cNvPr id="3" name="Freeform 3">
              <a:extLst>
                <a:ext uri="{FF2B5EF4-FFF2-40B4-BE49-F238E27FC236}">
                  <a16:creationId xmlns:a16="http://schemas.microsoft.com/office/drawing/2014/main" id="{881D5319-1998-94CE-415D-616D2AE5E027}"/>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179D6BC3-5C3D-E191-B684-391509B2BDC0}"/>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9" name="TextBox 9">
            <a:extLst>
              <a:ext uri="{FF2B5EF4-FFF2-40B4-BE49-F238E27FC236}">
                <a16:creationId xmlns:a16="http://schemas.microsoft.com/office/drawing/2014/main" id="{938513B7-9379-B8A5-DAF7-66F61913EDFD}"/>
              </a:ext>
            </a:extLst>
          </p:cNvPr>
          <p:cNvSpPr txBox="1"/>
          <p:nvPr/>
        </p:nvSpPr>
        <p:spPr>
          <a:xfrm>
            <a:off x="944880" y="1864630"/>
            <a:ext cx="17809015" cy="3323987"/>
          </a:xfrm>
          <a:prstGeom prst="rect">
            <a:avLst/>
          </a:prstGeom>
        </p:spPr>
        <p:txBody>
          <a:bodyPr wrap="square" lIns="0" tIns="0" rIns="0" bIns="0" rtlCol="0" anchor="t">
            <a:spAutoFit/>
          </a:bodyPr>
          <a:lstStyle/>
          <a:p>
            <a:r>
              <a:rPr lang="fr-FR" sz="5400" dirty="0"/>
              <a:t>Dans </a:t>
            </a:r>
            <a:r>
              <a:rPr lang="fr-FR" sz="5400" b="1" dirty="0"/>
              <a:t>Spring Boot</a:t>
            </a:r>
            <a:r>
              <a:rPr lang="fr-FR" sz="5400" dirty="0"/>
              <a:t>, l’injection de dépendance est gérée par le conteneur </a:t>
            </a:r>
            <a:r>
              <a:rPr lang="fr-FR" sz="5400" dirty="0" err="1"/>
              <a:t>IoC</a:t>
            </a:r>
            <a:r>
              <a:rPr lang="fr-FR" sz="5400" dirty="0"/>
              <a:t> de Spring. Voici les trois méthodes principales d’injection de dépendances : par champ, par constructeur et par setter.</a:t>
            </a:r>
          </a:p>
        </p:txBody>
      </p:sp>
      <p:sp>
        <p:nvSpPr>
          <p:cNvPr id="11" name="TextBox 11">
            <a:extLst>
              <a:ext uri="{FF2B5EF4-FFF2-40B4-BE49-F238E27FC236}">
                <a16:creationId xmlns:a16="http://schemas.microsoft.com/office/drawing/2014/main" id="{E511C648-96E2-01B6-300B-51AC6A957A48}"/>
              </a:ext>
            </a:extLst>
          </p:cNvPr>
          <p:cNvSpPr txBox="1"/>
          <p:nvPr/>
        </p:nvSpPr>
        <p:spPr>
          <a:xfrm>
            <a:off x="457200" y="720435"/>
            <a:ext cx="16992600" cy="1461939"/>
          </a:xfrm>
          <a:prstGeom prst="rect">
            <a:avLst/>
          </a:prstGeom>
        </p:spPr>
        <p:txBody>
          <a:bodyPr wrap="square" lIns="0" tIns="0" rIns="0" bIns="0" rtlCol="0" anchor="t">
            <a:spAutoFit/>
          </a:bodyPr>
          <a:lstStyle/>
          <a:p>
            <a:pPr algn="ctr">
              <a:lnSpc>
                <a:spcPts val="5704"/>
              </a:lnSpc>
            </a:pPr>
            <a:r>
              <a:rPr lang="fr-FR" sz="4800" dirty="0">
                <a:solidFill>
                  <a:srgbClr val="000000"/>
                </a:solidFill>
                <a:latin typeface="Akzidenz-Grotesk"/>
              </a:rPr>
              <a:t>Différents types d’injection dans Spring Boot</a:t>
            </a:r>
          </a:p>
          <a:p>
            <a:pPr algn="ctr">
              <a:lnSpc>
                <a:spcPts val="5704"/>
              </a:lnSpc>
            </a:pPr>
            <a:endParaRPr lang="en-US" sz="4800" dirty="0">
              <a:solidFill>
                <a:srgbClr val="000000"/>
              </a:solidFill>
              <a:latin typeface="Akzidenz-Grotesk"/>
              <a:sym typeface="Akzidenz-Grotesk"/>
            </a:endParaRPr>
          </a:p>
        </p:txBody>
      </p:sp>
    </p:spTree>
    <p:extLst>
      <p:ext uri="{BB962C8B-B14F-4D97-AF65-F5344CB8AC3E}">
        <p14:creationId xmlns:p14="http://schemas.microsoft.com/office/powerpoint/2010/main" val="868351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B593E350-2754-6F55-511A-EEEF008F4B7F}"/>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1483B0A5-6802-08FB-B102-B178E1F29907}"/>
              </a:ext>
            </a:extLst>
          </p:cNvPr>
          <p:cNvSpPr/>
          <p:nvPr/>
        </p:nvSpPr>
        <p:spPr>
          <a:xfrm rot="-5051927">
            <a:off x="16027218" y="708772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58C9499A-29F2-805A-A933-BA605D28C4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C691F507-C883-4319-B216-2CD3ABC55CEF}"/>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 name="Group 2">
            <a:extLst>
              <a:ext uri="{FF2B5EF4-FFF2-40B4-BE49-F238E27FC236}">
                <a16:creationId xmlns:a16="http://schemas.microsoft.com/office/drawing/2014/main" id="{62ECD64B-1AFF-DD0E-BB2E-A7C5AA32A949}"/>
              </a:ext>
            </a:extLst>
          </p:cNvPr>
          <p:cNvGrpSpPr/>
          <p:nvPr/>
        </p:nvGrpSpPr>
        <p:grpSpPr>
          <a:xfrm>
            <a:off x="457200" y="1485900"/>
            <a:ext cx="17830800" cy="8357654"/>
            <a:chOff x="0" y="0"/>
            <a:chExt cx="2272929" cy="1645889"/>
          </a:xfrm>
        </p:grpSpPr>
        <p:sp>
          <p:nvSpPr>
            <p:cNvPr id="3" name="Freeform 3">
              <a:extLst>
                <a:ext uri="{FF2B5EF4-FFF2-40B4-BE49-F238E27FC236}">
                  <a16:creationId xmlns:a16="http://schemas.microsoft.com/office/drawing/2014/main" id="{5D44DD81-E01F-F576-C98C-FFF8BF0C8076}"/>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2E1B9FFF-26FF-7790-765B-55EBCA42D4EA}"/>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9" name="TextBox 9">
            <a:extLst>
              <a:ext uri="{FF2B5EF4-FFF2-40B4-BE49-F238E27FC236}">
                <a16:creationId xmlns:a16="http://schemas.microsoft.com/office/drawing/2014/main" id="{1793C04C-1C3F-4275-F917-E28C2FBDA44E}"/>
              </a:ext>
            </a:extLst>
          </p:cNvPr>
          <p:cNvSpPr txBox="1"/>
          <p:nvPr/>
        </p:nvSpPr>
        <p:spPr>
          <a:xfrm>
            <a:off x="944880" y="1864630"/>
            <a:ext cx="17809015" cy="8802410"/>
          </a:xfrm>
          <a:prstGeom prst="rect">
            <a:avLst/>
          </a:prstGeom>
        </p:spPr>
        <p:txBody>
          <a:bodyPr wrap="square" lIns="0" tIns="0" rIns="0" bIns="0" rtlCol="0" anchor="t">
            <a:spAutoFit/>
          </a:bodyPr>
          <a:lstStyle/>
          <a:p>
            <a:r>
              <a:rPr lang="fr-FR" sz="4400" b="1" dirty="0"/>
              <a:t>1. Injection par champ (Déconseillé)</a:t>
            </a:r>
            <a:endParaRPr lang="fr-FR" sz="4400" dirty="0"/>
          </a:p>
          <a:p>
            <a:r>
              <a:rPr lang="fr-FR" sz="4400" dirty="0"/>
              <a:t>L’injection par champ injecte directement la dépendance dans un champ privé de la classe. Bien que cela semble simple, cette méthode est déconseillée car elle compromet la testabilité et l’immutabilité.</a:t>
            </a:r>
          </a:p>
          <a:p>
            <a:r>
              <a:rPr lang="fr-FR" sz="4400" b="1" dirty="0"/>
              <a:t>Exemple :</a:t>
            </a:r>
            <a:endParaRPr lang="fr-FR" sz="4400" dirty="0"/>
          </a:p>
          <a:p>
            <a:r>
              <a:rPr lang="fr-FR" sz="4400" dirty="0"/>
              <a:t>@Component</a:t>
            </a:r>
            <a:br>
              <a:rPr lang="fr-FR" sz="4400" dirty="0"/>
            </a:br>
            <a:r>
              <a:rPr lang="fr-FR" sz="4400" dirty="0"/>
              <a:t>public class </a:t>
            </a:r>
            <a:r>
              <a:rPr lang="fr-FR" sz="4400" dirty="0" err="1"/>
              <a:t>NotificationService</a:t>
            </a:r>
            <a:r>
              <a:rPr lang="fr-FR" sz="4400" dirty="0"/>
              <a:t> {</a:t>
            </a:r>
            <a:br>
              <a:rPr lang="fr-FR" sz="4400" dirty="0"/>
            </a:br>
            <a:r>
              <a:rPr lang="fr-FR" sz="4400" dirty="0"/>
              <a:t>    @</a:t>
            </a:r>
            <a:r>
              <a:rPr lang="fr-FR" sz="4400" dirty="0" err="1"/>
              <a:t>Autowired</a:t>
            </a:r>
            <a:br>
              <a:rPr lang="fr-FR" sz="4400" dirty="0"/>
            </a:br>
            <a:r>
              <a:rPr lang="fr-FR" sz="4400" dirty="0"/>
              <a:t>    </a:t>
            </a:r>
            <a:r>
              <a:rPr lang="fr-FR" sz="4400" dirty="0" err="1"/>
              <a:t>private</a:t>
            </a:r>
            <a:r>
              <a:rPr lang="fr-FR" sz="4400" dirty="0"/>
              <a:t> </a:t>
            </a:r>
            <a:r>
              <a:rPr lang="fr-FR" sz="4400" dirty="0" err="1"/>
              <a:t>EmailService</a:t>
            </a:r>
            <a:r>
              <a:rPr lang="fr-FR" sz="4400" dirty="0"/>
              <a:t> </a:t>
            </a:r>
            <a:r>
              <a:rPr lang="fr-FR" sz="4400" dirty="0" err="1"/>
              <a:t>emailService</a:t>
            </a:r>
            <a:r>
              <a:rPr lang="fr-FR" sz="4400" dirty="0"/>
              <a:t>;</a:t>
            </a:r>
            <a:br>
              <a:rPr lang="fr-FR" sz="4400" dirty="0"/>
            </a:br>
            <a:r>
              <a:rPr lang="fr-FR" sz="4400" dirty="0"/>
              <a:t>    public </a:t>
            </a:r>
            <a:r>
              <a:rPr lang="fr-FR" sz="4400" dirty="0" err="1"/>
              <a:t>void</a:t>
            </a:r>
            <a:r>
              <a:rPr lang="fr-FR" sz="4400" dirty="0"/>
              <a:t> </a:t>
            </a:r>
            <a:r>
              <a:rPr lang="fr-FR" sz="4400" dirty="0" err="1"/>
              <a:t>sendNotification</a:t>
            </a:r>
            <a:r>
              <a:rPr lang="fr-FR" sz="4400" dirty="0"/>
              <a:t>(String message) {</a:t>
            </a:r>
            <a:br>
              <a:rPr lang="fr-FR" sz="4400" dirty="0"/>
            </a:br>
            <a:r>
              <a:rPr lang="fr-FR" sz="4400" dirty="0"/>
              <a:t>        </a:t>
            </a:r>
            <a:r>
              <a:rPr lang="fr-FR" sz="4400" dirty="0" err="1"/>
              <a:t>emailService.sendEmail</a:t>
            </a:r>
            <a:r>
              <a:rPr lang="fr-FR" sz="4400" dirty="0"/>
              <a:t>(message);</a:t>
            </a:r>
            <a:br>
              <a:rPr lang="fr-FR" sz="4400" dirty="0"/>
            </a:br>
            <a:r>
              <a:rPr lang="fr-FR" sz="4400" dirty="0"/>
              <a:t>    }</a:t>
            </a:r>
            <a:br>
              <a:rPr lang="fr-FR" sz="4400" dirty="0"/>
            </a:br>
            <a:r>
              <a:rPr lang="fr-FR" sz="4400" dirty="0"/>
              <a:t>}</a:t>
            </a:r>
          </a:p>
        </p:txBody>
      </p:sp>
      <p:sp>
        <p:nvSpPr>
          <p:cNvPr id="11" name="TextBox 11">
            <a:extLst>
              <a:ext uri="{FF2B5EF4-FFF2-40B4-BE49-F238E27FC236}">
                <a16:creationId xmlns:a16="http://schemas.microsoft.com/office/drawing/2014/main" id="{0E823EEE-FFFA-9156-0012-7C09554DE00F}"/>
              </a:ext>
            </a:extLst>
          </p:cNvPr>
          <p:cNvSpPr txBox="1"/>
          <p:nvPr/>
        </p:nvSpPr>
        <p:spPr>
          <a:xfrm>
            <a:off x="457200" y="720435"/>
            <a:ext cx="16992600" cy="1461939"/>
          </a:xfrm>
          <a:prstGeom prst="rect">
            <a:avLst/>
          </a:prstGeom>
        </p:spPr>
        <p:txBody>
          <a:bodyPr wrap="square" lIns="0" tIns="0" rIns="0" bIns="0" rtlCol="0" anchor="t">
            <a:spAutoFit/>
          </a:bodyPr>
          <a:lstStyle/>
          <a:p>
            <a:pPr algn="ctr">
              <a:lnSpc>
                <a:spcPts val="5704"/>
              </a:lnSpc>
            </a:pPr>
            <a:r>
              <a:rPr lang="fr-FR" sz="4800" dirty="0">
                <a:solidFill>
                  <a:srgbClr val="000000"/>
                </a:solidFill>
                <a:latin typeface="Akzidenz-Grotesk"/>
              </a:rPr>
              <a:t>Différents types d’injection dans Spring Boot</a:t>
            </a:r>
          </a:p>
          <a:p>
            <a:pPr algn="ctr">
              <a:lnSpc>
                <a:spcPts val="5704"/>
              </a:lnSpc>
            </a:pPr>
            <a:endParaRPr lang="en-US" sz="4800" dirty="0">
              <a:solidFill>
                <a:srgbClr val="000000"/>
              </a:solidFill>
              <a:latin typeface="Akzidenz-Grotesk"/>
              <a:sym typeface="Akzidenz-Grotesk"/>
            </a:endParaRPr>
          </a:p>
        </p:txBody>
      </p:sp>
    </p:spTree>
    <p:extLst>
      <p:ext uri="{BB962C8B-B14F-4D97-AF65-F5344CB8AC3E}">
        <p14:creationId xmlns:p14="http://schemas.microsoft.com/office/powerpoint/2010/main" val="4081005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3036CED8-0A4F-050F-DD61-C5E470DD882F}"/>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92103B2D-7718-35DC-4B95-1346E1785DB3}"/>
              </a:ext>
            </a:extLst>
          </p:cNvPr>
          <p:cNvSpPr/>
          <p:nvPr/>
        </p:nvSpPr>
        <p:spPr>
          <a:xfrm rot="-5051927">
            <a:off x="16027218" y="708772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EF75F900-0D6C-2BAD-C991-964CF26CA6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2EAEC42A-C7D1-F43D-0159-1D77D39D3975}"/>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 name="Group 2">
            <a:extLst>
              <a:ext uri="{FF2B5EF4-FFF2-40B4-BE49-F238E27FC236}">
                <a16:creationId xmlns:a16="http://schemas.microsoft.com/office/drawing/2014/main" id="{4E6F531B-0A1F-36BE-1806-E2ABFBC49AF0}"/>
              </a:ext>
            </a:extLst>
          </p:cNvPr>
          <p:cNvGrpSpPr/>
          <p:nvPr/>
        </p:nvGrpSpPr>
        <p:grpSpPr>
          <a:xfrm>
            <a:off x="457200" y="1485900"/>
            <a:ext cx="17830800" cy="8357654"/>
            <a:chOff x="0" y="0"/>
            <a:chExt cx="2272929" cy="1645889"/>
          </a:xfrm>
        </p:grpSpPr>
        <p:sp>
          <p:nvSpPr>
            <p:cNvPr id="3" name="Freeform 3">
              <a:extLst>
                <a:ext uri="{FF2B5EF4-FFF2-40B4-BE49-F238E27FC236}">
                  <a16:creationId xmlns:a16="http://schemas.microsoft.com/office/drawing/2014/main" id="{4C59E0D1-AB11-C64C-7A6A-76E2FEB913FE}"/>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6C364A72-64D7-66E1-0CCE-B9F8C26393D7}"/>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9" name="TextBox 9">
            <a:extLst>
              <a:ext uri="{FF2B5EF4-FFF2-40B4-BE49-F238E27FC236}">
                <a16:creationId xmlns:a16="http://schemas.microsoft.com/office/drawing/2014/main" id="{F0D12F16-B1BF-BA1F-E9BE-5C4D4A2475D2}"/>
              </a:ext>
            </a:extLst>
          </p:cNvPr>
          <p:cNvSpPr txBox="1"/>
          <p:nvPr/>
        </p:nvSpPr>
        <p:spPr>
          <a:xfrm>
            <a:off x="944880" y="1864630"/>
            <a:ext cx="17809015" cy="6093976"/>
          </a:xfrm>
          <a:prstGeom prst="rect">
            <a:avLst/>
          </a:prstGeom>
        </p:spPr>
        <p:txBody>
          <a:bodyPr wrap="square" lIns="0" tIns="0" rIns="0" bIns="0" rtlCol="0" anchor="t">
            <a:spAutoFit/>
          </a:bodyPr>
          <a:lstStyle/>
          <a:p>
            <a:pPr marL="742950" indent="-742950">
              <a:buAutoNum type="arabicPeriod"/>
            </a:pPr>
            <a:r>
              <a:rPr lang="fr-FR" sz="4400" b="1" dirty="0"/>
              <a:t>Injection par champ (Déconseillé)</a:t>
            </a:r>
          </a:p>
          <a:p>
            <a:endParaRPr lang="fr-FR" sz="4400" dirty="0"/>
          </a:p>
          <a:p>
            <a:r>
              <a:rPr lang="fr-FR" sz="4400" b="1" dirty="0"/>
              <a:t>Pourquoi l’éviter ?</a:t>
            </a:r>
            <a:endParaRPr lang="fr-FR" sz="4400" dirty="0"/>
          </a:p>
          <a:p>
            <a:pPr lvl="0"/>
            <a:r>
              <a:rPr lang="fr-FR" sz="4400" dirty="0"/>
              <a:t>Il est difficile de tester une telle classe, car les dépendances sont cachées dans des champs privés, ce qui complique l’injection de </a:t>
            </a:r>
            <a:r>
              <a:rPr lang="fr-FR" sz="4400" dirty="0" err="1"/>
              <a:t>mocks</a:t>
            </a:r>
            <a:r>
              <a:rPr lang="fr-FR" sz="4400" dirty="0"/>
              <a:t> dans les tests unitaires.</a:t>
            </a:r>
          </a:p>
          <a:p>
            <a:pPr lvl="0"/>
            <a:r>
              <a:rPr lang="fr-FR" sz="4400" dirty="0"/>
              <a:t>Cela compromet l’immutabilité puisque les dépendances peuvent être modifiées à tout moment.</a:t>
            </a:r>
          </a:p>
          <a:p>
            <a:endParaRPr lang="fr-FR" sz="4400" dirty="0"/>
          </a:p>
        </p:txBody>
      </p:sp>
      <p:sp>
        <p:nvSpPr>
          <p:cNvPr id="11" name="TextBox 11">
            <a:extLst>
              <a:ext uri="{FF2B5EF4-FFF2-40B4-BE49-F238E27FC236}">
                <a16:creationId xmlns:a16="http://schemas.microsoft.com/office/drawing/2014/main" id="{5A781A53-1065-37F6-3BD8-AFE318C15E77}"/>
              </a:ext>
            </a:extLst>
          </p:cNvPr>
          <p:cNvSpPr txBox="1"/>
          <p:nvPr/>
        </p:nvSpPr>
        <p:spPr>
          <a:xfrm>
            <a:off x="457200" y="720435"/>
            <a:ext cx="16992600" cy="1461939"/>
          </a:xfrm>
          <a:prstGeom prst="rect">
            <a:avLst/>
          </a:prstGeom>
        </p:spPr>
        <p:txBody>
          <a:bodyPr wrap="square" lIns="0" tIns="0" rIns="0" bIns="0" rtlCol="0" anchor="t">
            <a:spAutoFit/>
          </a:bodyPr>
          <a:lstStyle/>
          <a:p>
            <a:pPr algn="ctr">
              <a:lnSpc>
                <a:spcPts val="5704"/>
              </a:lnSpc>
            </a:pPr>
            <a:r>
              <a:rPr lang="fr-FR" sz="4800" dirty="0">
                <a:solidFill>
                  <a:srgbClr val="000000"/>
                </a:solidFill>
                <a:latin typeface="Akzidenz-Grotesk"/>
              </a:rPr>
              <a:t>Différents types d’injection dans Spring Boot</a:t>
            </a:r>
          </a:p>
          <a:p>
            <a:pPr algn="ctr">
              <a:lnSpc>
                <a:spcPts val="5704"/>
              </a:lnSpc>
            </a:pPr>
            <a:endParaRPr lang="en-US" sz="4800" dirty="0">
              <a:solidFill>
                <a:srgbClr val="000000"/>
              </a:solidFill>
              <a:latin typeface="Akzidenz-Grotesk"/>
              <a:sym typeface="Akzidenz-Grotesk"/>
            </a:endParaRPr>
          </a:p>
        </p:txBody>
      </p:sp>
    </p:spTree>
    <p:extLst>
      <p:ext uri="{BB962C8B-B14F-4D97-AF65-F5344CB8AC3E}">
        <p14:creationId xmlns:p14="http://schemas.microsoft.com/office/powerpoint/2010/main" val="337211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8496AECE-3C51-D45F-F70C-3F4091AFF1C6}"/>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24B234E5-62B3-179D-5DDD-276C3729C924}"/>
              </a:ext>
            </a:extLst>
          </p:cNvPr>
          <p:cNvSpPr/>
          <p:nvPr/>
        </p:nvSpPr>
        <p:spPr>
          <a:xfrm rot="-5051927">
            <a:off x="16027218" y="708772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BCED4D95-AA70-5145-AF73-CCF9F41AC1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FA58CDFA-45D1-1175-033C-20B376285E14}"/>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 name="Group 2">
            <a:extLst>
              <a:ext uri="{FF2B5EF4-FFF2-40B4-BE49-F238E27FC236}">
                <a16:creationId xmlns:a16="http://schemas.microsoft.com/office/drawing/2014/main" id="{2FFA6021-B3C9-7AE9-C8B2-A54BA75A5D8F}"/>
              </a:ext>
            </a:extLst>
          </p:cNvPr>
          <p:cNvGrpSpPr/>
          <p:nvPr/>
        </p:nvGrpSpPr>
        <p:grpSpPr>
          <a:xfrm>
            <a:off x="457200" y="1485900"/>
            <a:ext cx="17830800" cy="8357654"/>
            <a:chOff x="0" y="0"/>
            <a:chExt cx="2272929" cy="1645889"/>
          </a:xfrm>
        </p:grpSpPr>
        <p:sp>
          <p:nvSpPr>
            <p:cNvPr id="3" name="Freeform 3">
              <a:extLst>
                <a:ext uri="{FF2B5EF4-FFF2-40B4-BE49-F238E27FC236}">
                  <a16:creationId xmlns:a16="http://schemas.microsoft.com/office/drawing/2014/main" id="{7279AB4A-D138-4030-FA9B-67E1FC566EF1}"/>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5355EA39-005E-DC01-99A9-B58814F705B0}"/>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9" name="TextBox 9">
            <a:extLst>
              <a:ext uri="{FF2B5EF4-FFF2-40B4-BE49-F238E27FC236}">
                <a16:creationId xmlns:a16="http://schemas.microsoft.com/office/drawing/2014/main" id="{F591A0DC-3172-0B28-5F86-F70D7C07C612}"/>
              </a:ext>
            </a:extLst>
          </p:cNvPr>
          <p:cNvSpPr txBox="1"/>
          <p:nvPr/>
        </p:nvSpPr>
        <p:spPr>
          <a:xfrm>
            <a:off x="944880" y="1864630"/>
            <a:ext cx="17809015" cy="9233297"/>
          </a:xfrm>
          <a:prstGeom prst="rect">
            <a:avLst/>
          </a:prstGeom>
        </p:spPr>
        <p:txBody>
          <a:bodyPr wrap="square" lIns="0" tIns="0" rIns="0" bIns="0" rtlCol="0" anchor="t">
            <a:spAutoFit/>
          </a:bodyPr>
          <a:lstStyle/>
          <a:p>
            <a:r>
              <a:rPr lang="fr-FR" sz="4000" b="1" dirty="0"/>
              <a:t>2. Injection par constructeur (Recommandée)</a:t>
            </a:r>
            <a:endParaRPr lang="fr-FR" sz="4000" dirty="0"/>
          </a:p>
          <a:p>
            <a:r>
              <a:rPr lang="fr-FR" sz="4000" dirty="0"/>
              <a:t>L’injection par constructeur est la méthode la plus recommandée car elle garantit que toutes les dépendances sont fournies dès la création de l’objet et permet de tester facilement le code.</a:t>
            </a:r>
          </a:p>
          <a:p>
            <a:r>
              <a:rPr lang="fr-FR" sz="4000" b="1" dirty="0"/>
              <a:t>Exemple :</a:t>
            </a:r>
            <a:endParaRPr lang="fr-FR" sz="4000" dirty="0"/>
          </a:p>
          <a:p>
            <a:r>
              <a:rPr lang="fr-FR" sz="4000" dirty="0"/>
              <a:t>@Component</a:t>
            </a:r>
            <a:br>
              <a:rPr lang="fr-FR" sz="4000" dirty="0"/>
            </a:br>
            <a:r>
              <a:rPr lang="fr-FR" sz="4000" dirty="0"/>
              <a:t>public class </a:t>
            </a:r>
            <a:r>
              <a:rPr lang="fr-FR" sz="4000" dirty="0" err="1"/>
              <a:t>NotificationService</a:t>
            </a:r>
            <a:r>
              <a:rPr lang="fr-FR" sz="4000" dirty="0"/>
              <a:t> {</a:t>
            </a:r>
            <a:br>
              <a:rPr lang="fr-FR" sz="4000" dirty="0"/>
            </a:br>
            <a:r>
              <a:rPr lang="fr-FR" sz="4000" dirty="0"/>
              <a:t>    </a:t>
            </a:r>
            <a:r>
              <a:rPr lang="fr-FR" sz="4000" dirty="0" err="1"/>
              <a:t>private</a:t>
            </a:r>
            <a:r>
              <a:rPr lang="fr-FR" sz="4000" dirty="0"/>
              <a:t> final </a:t>
            </a:r>
            <a:r>
              <a:rPr lang="fr-FR" sz="4000" dirty="0" err="1"/>
              <a:t>MessageService</a:t>
            </a:r>
            <a:r>
              <a:rPr lang="fr-FR" sz="4000" dirty="0"/>
              <a:t> </a:t>
            </a:r>
            <a:r>
              <a:rPr lang="fr-FR" sz="4000" dirty="0" err="1"/>
              <a:t>messageService</a:t>
            </a:r>
            <a:r>
              <a:rPr lang="fr-FR" sz="4000" dirty="0"/>
              <a:t>;</a:t>
            </a:r>
            <a:br>
              <a:rPr lang="fr-FR" sz="4000" dirty="0"/>
            </a:br>
            <a:r>
              <a:rPr lang="fr-FR" sz="4000" dirty="0"/>
              <a:t>    @</a:t>
            </a:r>
            <a:r>
              <a:rPr lang="fr-FR" sz="4000" dirty="0" err="1"/>
              <a:t>Autowired</a:t>
            </a:r>
            <a:br>
              <a:rPr lang="fr-FR" sz="4000" dirty="0"/>
            </a:br>
            <a:r>
              <a:rPr lang="fr-FR" sz="4000" dirty="0"/>
              <a:t>    public </a:t>
            </a:r>
            <a:r>
              <a:rPr lang="fr-FR" sz="4000" dirty="0" err="1"/>
              <a:t>NotificationService</a:t>
            </a:r>
            <a:r>
              <a:rPr lang="fr-FR" sz="4000" dirty="0"/>
              <a:t>(</a:t>
            </a:r>
            <a:r>
              <a:rPr lang="fr-FR" sz="4000" dirty="0" err="1"/>
              <a:t>MessageService</a:t>
            </a:r>
            <a:r>
              <a:rPr lang="fr-FR" sz="4000" dirty="0"/>
              <a:t> </a:t>
            </a:r>
            <a:r>
              <a:rPr lang="fr-FR" sz="4000" dirty="0" err="1"/>
              <a:t>messageService</a:t>
            </a:r>
            <a:r>
              <a:rPr lang="fr-FR" sz="4000" dirty="0"/>
              <a:t>) {</a:t>
            </a:r>
            <a:br>
              <a:rPr lang="fr-FR" sz="4000" dirty="0"/>
            </a:br>
            <a:r>
              <a:rPr lang="fr-FR" sz="4000" dirty="0"/>
              <a:t>        </a:t>
            </a:r>
            <a:r>
              <a:rPr lang="fr-FR" sz="4000" dirty="0" err="1"/>
              <a:t>this.messageService</a:t>
            </a:r>
            <a:r>
              <a:rPr lang="fr-FR" sz="4000" dirty="0"/>
              <a:t> = </a:t>
            </a:r>
            <a:r>
              <a:rPr lang="fr-FR" sz="4000" dirty="0" err="1"/>
              <a:t>messageService</a:t>
            </a:r>
            <a:r>
              <a:rPr lang="fr-FR" sz="4000" dirty="0"/>
              <a:t>;</a:t>
            </a:r>
            <a:br>
              <a:rPr lang="fr-FR" sz="4000" dirty="0"/>
            </a:br>
            <a:r>
              <a:rPr lang="fr-FR" sz="4000" dirty="0"/>
              <a:t>    }    public </a:t>
            </a:r>
            <a:r>
              <a:rPr lang="fr-FR" sz="4000" dirty="0" err="1"/>
              <a:t>void</a:t>
            </a:r>
            <a:r>
              <a:rPr lang="fr-FR" sz="4000" dirty="0"/>
              <a:t> </a:t>
            </a:r>
            <a:r>
              <a:rPr lang="fr-FR" sz="4000" dirty="0" err="1"/>
              <a:t>sendNotification</a:t>
            </a:r>
            <a:r>
              <a:rPr lang="fr-FR" sz="4000" dirty="0"/>
              <a:t>(String message) {</a:t>
            </a:r>
            <a:br>
              <a:rPr lang="fr-FR" sz="4000" dirty="0"/>
            </a:br>
            <a:r>
              <a:rPr lang="fr-FR" sz="4000" dirty="0"/>
              <a:t>        </a:t>
            </a:r>
            <a:r>
              <a:rPr lang="fr-FR" sz="4000" dirty="0" err="1"/>
              <a:t>messageService.sendMessage</a:t>
            </a:r>
            <a:r>
              <a:rPr lang="fr-FR" sz="4000" dirty="0"/>
              <a:t>(message);</a:t>
            </a:r>
            <a:br>
              <a:rPr lang="fr-FR" sz="4000" dirty="0"/>
            </a:br>
            <a:r>
              <a:rPr lang="fr-FR" sz="4000" dirty="0"/>
              <a:t>    }</a:t>
            </a:r>
            <a:br>
              <a:rPr lang="fr-FR" sz="4000" dirty="0"/>
            </a:br>
            <a:r>
              <a:rPr lang="fr-FR" sz="4000" dirty="0"/>
              <a:t>}</a:t>
            </a:r>
          </a:p>
        </p:txBody>
      </p:sp>
      <p:sp>
        <p:nvSpPr>
          <p:cNvPr id="11" name="TextBox 11">
            <a:extLst>
              <a:ext uri="{FF2B5EF4-FFF2-40B4-BE49-F238E27FC236}">
                <a16:creationId xmlns:a16="http://schemas.microsoft.com/office/drawing/2014/main" id="{C37740F5-1480-A36F-09E8-FECF795B1075}"/>
              </a:ext>
            </a:extLst>
          </p:cNvPr>
          <p:cNvSpPr txBox="1"/>
          <p:nvPr/>
        </p:nvSpPr>
        <p:spPr>
          <a:xfrm>
            <a:off x="457200" y="720435"/>
            <a:ext cx="16992600" cy="1461939"/>
          </a:xfrm>
          <a:prstGeom prst="rect">
            <a:avLst/>
          </a:prstGeom>
        </p:spPr>
        <p:txBody>
          <a:bodyPr wrap="square" lIns="0" tIns="0" rIns="0" bIns="0" rtlCol="0" anchor="t">
            <a:spAutoFit/>
          </a:bodyPr>
          <a:lstStyle/>
          <a:p>
            <a:pPr algn="ctr">
              <a:lnSpc>
                <a:spcPts val="5704"/>
              </a:lnSpc>
            </a:pPr>
            <a:r>
              <a:rPr lang="fr-FR" sz="4800" dirty="0">
                <a:solidFill>
                  <a:srgbClr val="000000"/>
                </a:solidFill>
                <a:latin typeface="Akzidenz-Grotesk"/>
              </a:rPr>
              <a:t>Différents types d’injection dans Spring Boot</a:t>
            </a:r>
          </a:p>
          <a:p>
            <a:pPr algn="ctr">
              <a:lnSpc>
                <a:spcPts val="5704"/>
              </a:lnSpc>
            </a:pPr>
            <a:endParaRPr lang="en-US" sz="4800" dirty="0">
              <a:solidFill>
                <a:srgbClr val="000000"/>
              </a:solidFill>
              <a:latin typeface="Akzidenz-Grotesk"/>
              <a:sym typeface="Akzidenz-Grotesk"/>
            </a:endParaRPr>
          </a:p>
        </p:txBody>
      </p:sp>
    </p:spTree>
    <p:extLst>
      <p:ext uri="{BB962C8B-B14F-4D97-AF65-F5344CB8AC3E}">
        <p14:creationId xmlns:p14="http://schemas.microsoft.com/office/powerpoint/2010/main" val="2085731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CBA6AA7F-E152-1966-0002-112E68418AF3}"/>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AF61D33A-3A71-B3F6-0265-60DEE1212D06}"/>
              </a:ext>
            </a:extLst>
          </p:cNvPr>
          <p:cNvSpPr/>
          <p:nvPr/>
        </p:nvSpPr>
        <p:spPr>
          <a:xfrm rot="-5051927">
            <a:off x="16027218" y="708772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1D4FF825-3F54-71A3-8239-529E5C228D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08314BEC-BEEF-C0A6-8051-85170A7F3D0F}"/>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 name="Group 2">
            <a:extLst>
              <a:ext uri="{FF2B5EF4-FFF2-40B4-BE49-F238E27FC236}">
                <a16:creationId xmlns:a16="http://schemas.microsoft.com/office/drawing/2014/main" id="{7C297019-092C-2679-FD3A-BF574F35B5EC}"/>
              </a:ext>
            </a:extLst>
          </p:cNvPr>
          <p:cNvGrpSpPr/>
          <p:nvPr/>
        </p:nvGrpSpPr>
        <p:grpSpPr>
          <a:xfrm>
            <a:off x="457200" y="1485900"/>
            <a:ext cx="17830800" cy="8357654"/>
            <a:chOff x="0" y="0"/>
            <a:chExt cx="2272929" cy="1645889"/>
          </a:xfrm>
        </p:grpSpPr>
        <p:sp>
          <p:nvSpPr>
            <p:cNvPr id="3" name="Freeform 3">
              <a:extLst>
                <a:ext uri="{FF2B5EF4-FFF2-40B4-BE49-F238E27FC236}">
                  <a16:creationId xmlns:a16="http://schemas.microsoft.com/office/drawing/2014/main" id="{26CABC55-A164-D551-8C53-4FEC87D555C9}"/>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922D81AE-DEDB-3127-49E0-CDB64A9E5DCF}"/>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9" name="TextBox 9">
            <a:extLst>
              <a:ext uri="{FF2B5EF4-FFF2-40B4-BE49-F238E27FC236}">
                <a16:creationId xmlns:a16="http://schemas.microsoft.com/office/drawing/2014/main" id="{719D331F-951E-6943-3308-6A2194755637}"/>
              </a:ext>
            </a:extLst>
          </p:cNvPr>
          <p:cNvSpPr txBox="1"/>
          <p:nvPr/>
        </p:nvSpPr>
        <p:spPr>
          <a:xfrm>
            <a:off x="944880" y="1864630"/>
            <a:ext cx="17809015" cy="3385542"/>
          </a:xfrm>
          <a:prstGeom prst="rect">
            <a:avLst/>
          </a:prstGeom>
        </p:spPr>
        <p:txBody>
          <a:bodyPr wrap="square" lIns="0" tIns="0" rIns="0" bIns="0" rtlCol="0" anchor="t">
            <a:spAutoFit/>
          </a:bodyPr>
          <a:lstStyle/>
          <a:p>
            <a:r>
              <a:rPr lang="fr-FR" sz="4400" b="1" dirty="0"/>
              <a:t>2. Injection par constructeur (Recommandée)</a:t>
            </a:r>
            <a:endParaRPr lang="fr-FR" sz="4400" dirty="0"/>
          </a:p>
          <a:p>
            <a:r>
              <a:rPr lang="fr-FR" sz="4400" b="1" dirty="0"/>
              <a:t>Conditions d’utilisation :</a:t>
            </a:r>
            <a:r>
              <a:rPr lang="fr-FR" sz="4400" dirty="0"/>
              <a:t> Utilisez cette approche lorsque la dépendance est </a:t>
            </a:r>
            <a:r>
              <a:rPr lang="fr-FR" sz="4400" b="1" dirty="0"/>
              <a:t>obligatoire</a:t>
            </a:r>
            <a:r>
              <a:rPr lang="fr-FR" sz="4400" dirty="0"/>
              <a:t> pour le fonctionnement de la classe. L’injection par constructeur permet également de maintenir l’immutabilité de la classe.</a:t>
            </a:r>
          </a:p>
          <a:p>
            <a:endParaRPr lang="fr-FR" sz="4400" dirty="0"/>
          </a:p>
        </p:txBody>
      </p:sp>
      <p:sp>
        <p:nvSpPr>
          <p:cNvPr id="11" name="TextBox 11">
            <a:extLst>
              <a:ext uri="{FF2B5EF4-FFF2-40B4-BE49-F238E27FC236}">
                <a16:creationId xmlns:a16="http://schemas.microsoft.com/office/drawing/2014/main" id="{B9301E5F-7E30-F924-F327-326F3EDACB86}"/>
              </a:ext>
            </a:extLst>
          </p:cNvPr>
          <p:cNvSpPr txBox="1"/>
          <p:nvPr/>
        </p:nvSpPr>
        <p:spPr>
          <a:xfrm>
            <a:off x="457200" y="720435"/>
            <a:ext cx="16992600" cy="1461939"/>
          </a:xfrm>
          <a:prstGeom prst="rect">
            <a:avLst/>
          </a:prstGeom>
        </p:spPr>
        <p:txBody>
          <a:bodyPr wrap="square" lIns="0" tIns="0" rIns="0" bIns="0" rtlCol="0" anchor="t">
            <a:spAutoFit/>
          </a:bodyPr>
          <a:lstStyle/>
          <a:p>
            <a:pPr algn="ctr">
              <a:lnSpc>
                <a:spcPts val="5704"/>
              </a:lnSpc>
            </a:pPr>
            <a:r>
              <a:rPr lang="fr-FR" sz="4800" dirty="0">
                <a:solidFill>
                  <a:srgbClr val="000000"/>
                </a:solidFill>
                <a:latin typeface="Akzidenz-Grotesk"/>
              </a:rPr>
              <a:t>Différents types d’injection dans Spring Boot</a:t>
            </a:r>
          </a:p>
          <a:p>
            <a:pPr algn="ctr">
              <a:lnSpc>
                <a:spcPts val="5704"/>
              </a:lnSpc>
            </a:pPr>
            <a:endParaRPr lang="en-US" sz="4800" dirty="0">
              <a:solidFill>
                <a:srgbClr val="000000"/>
              </a:solidFill>
              <a:latin typeface="Akzidenz-Grotesk"/>
              <a:sym typeface="Akzidenz-Grotesk"/>
            </a:endParaRPr>
          </a:p>
        </p:txBody>
      </p:sp>
    </p:spTree>
    <p:extLst>
      <p:ext uri="{BB962C8B-B14F-4D97-AF65-F5344CB8AC3E}">
        <p14:creationId xmlns:p14="http://schemas.microsoft.com/office/powerpoint/2010/main" val="19302197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C615D541-E265-5D43-DF0E-FD6058F27B53}"/>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FE211920-A1C0-FC71-A0D4-2B8D19C1C461}"/>
              </a:ext>
            </a:extLst>
          </p:cNvPr>
          <p:cNvSpPr/>
          <p:nvPr/>
        </p:nvSpPr>
        <p:spPr>
          <a:xfrm rot="-5051927">
            <a:off x="16027218" y="708772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73EC59F0-78E8-B5C8-C7AF-5D003DF805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051B44A9-6B1D-8C55-0C98-B48CF9662C0A}"/>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 name="Group 2">
            <a:extLst>
              <a:ext uri="{FF2B5EF4-FFF2-40B4-BE49-F238E27FC236}">
                <a16:creationId xmlns:a16="http://schemas.microsoft.com/office/drawing/2014/main" id="{7D01A27E-99F1-B9FC-054B-C9C5330E2CF6}"/>
              </a:ext>
            </a:extLst>
          </p:cNvPr>
          <p:cNvGrpSpPr/>
          <p:nvPr/>
        </p:nvGrpSpPr>
        <p:grpSpPr>
          <a:xfrm>
            <a:off x="457200" y="1485900"/>
            <a:ext cx="17830800" cy="8357654"/>
            <a:chOff x="0" y="0"/>
            <a:chExt cx="2272929" cy="1645889"/>
          </a:xfrm>
        </p:grpSpPr>
        <p:sp>
          <p:nvSpPr>
            <p:cNvPr id="3" name="Freeform 3">
              <a:extLst>
                <a:ext uri="{FF2B5EF4-FFF2-40B4-BE49-F238E27FC236}">
                  <a16:creationId xmlns:a16="http://schemas.microsoft.com/office/drawing/2014/main" id="{A74DC605-9846-CD6C-2C5C-1D528B045F0B}"/>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9984DAE6-A1E5-1D6F-2AFD-8D4E42FFF40B}"/>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9" name="TextBox 9">
            <a:extLst>
              <a:ext uri="{FF2B5EF4-FFF2-40B4-BE49-F238E27FC236}">
                <a16:creationId xmlns:a16="http://schemas.microsoft.com/office/drawing/2014/main" id="{C2D2E065-793E-AF47-01F7-6275C030FD3F}"/>
              </a:ext>
            </a:extLst>
          </p:cNvPr>
          <p:cNvSpPr txBox="1"/>
          <p:nvPr/>
        </p:nvSpPr>
        <p:spPr>
          <a:xfrm>
            <a:off x="944880" y="1864630"/>
            <a:ext cx="17809015" cy="3385542"/>
          </a:xfrm>
          <a:prstGeom prst="rect">
            <a:avLst/>
          </a:prstGeom>
        </p:spPr>
        <p:txBody>
          <a:bodyPr wrap="square" lIns="0" tIns="0" rIns="0" bIns="0" rtlCol="0" anchor="t">
            <a:spAutoFit/>
          </a:bodyPr>
          <a:lstStyle/>
          <a:p>
            <a:r>
              <a:rPr lang="fr-FR" sz="4400" b="1" dirty="0"/>
              <a:t>2. Injection par constructeur (Recommandée)</a:t>
            </a:r>
            <a:endParaRPr lang="fr-FR" sz="4400" dirty="0"/>
          </a:p>
          <a:p>
            <a:r>
              <a:rPr lang="fr-FR" sz="4400" b="1" dirty="0"/>
              <a:t>Conditions d’utilisation :</a:t>
            </a:r>
            <a:r>
              <a:rPr lang="fr-FR" sz="4400" dirty="0"/>
              <a:t> Utilisez cette approche lorsque la dépendance est </a:t>
            </a:r>
            <a:r>
              <a:rPr lang="fr-FR" sz="4400" b="1" dirty="0"/>
              <a:t>obligatoire</a:t>
            </a:r>
            <a:r>
              <a:rPr lang="fr-FR" sz="4400" dirty="0"/>
              <a:t> pour le fonctionnement de la classe. L’injection par constructeur permet également de maintenir l’immutabilité de la classe.</a:t>
            </a:r>
          </a:p>
          <a:p>
            <a:endParaRPr lang="fr-FR" sz="4400" dirty="0"/>
          </a:p>
        </p:txBody>
      </p:sp>
      <p:sp>
        <p:nvSpPr>
          <p:cNvPr id="11" name="TextBox 11">
            <a:extLst>
              <a:ext uri="{FF2B5EF4-FFF2-40B4-BE49-F238E27FC236}">
                <a16:creationId xmlns:a16="http://schemas.microsoft.com/office/drawing/2014/main" id="{62B01902-AA74-6E1F-2821-30206EB8E435}"/>
              </a:ext>
            </a:extLst>
          </p:cNvPr>
          <p:cNvSpPr txBox="1"/>
          <p:nvPr/>
        </p:nvSpPr>
        <p:spPr>
          <a:xfrm>
            <a:off x="457200" y="720435"/>
            <a:ext cx="16992600" cy="1461939"/>
          </a:xfrm>
          <a:prstGeom prst="rect">
            <a:avLst/>
          </a:prstGeom>
        </p:spPr>
        <p:txBody>
          <a:bodyPr wrap="square" lIns="0" tIns="0" rIns="0" bIns="0" rtlCol="0" anchor="t">
            <a:spAutoFit/>
          </a:bodyPr>
          <a:lstStyle/>
          <a:p>
            <a:pPr algn="ctr">
              <a:lnSpc>
                <a:spcPts val="5704"/>
              </a:lnSpc>
            </a:pPr>
            <a:r>
              <a:rPr lang="fr-FR" sz="4800" dirty="0">
                <a:solidFill>
                  <a:srgbClr val="000000"/>
                </a:solidFill>
                <a:latin typeface="Akzidenz-Grotesk"/>
              </a:rPr>
              <a:t>Différents types d’injection dans Spring Boot</a:t>
            </a:r>
          </a:p>
          <a:p>
            <a:pPr algn="ctr">
              <a:lnSpc>
                <a:spcPts val="5704"/>
              </a:lnSpc>
            </a:pPr>
            <a:endParaRPr lang="en-US" sz="4800" dirty="0">
              <a:solidFill>
                <a:srgbClr val="000000"/>
              </a:solidFill>
              <a:latin typeface="Akzidenz-Grotesk"/>
              <a:sym typeface="Akzidenz-Grotesk"/>
            </a:endParaRPr>
          </a:p>
        </p:txBody>
      </p:sp>
    </p:spTree>
    <p:extLst>
      <p:ext uri="{BB962C8B-B14F-4D97-AF65-F5344CB8AC3E}">
        <p14:creationId xmlns:p14="http://schemas.microsoft.com/office/powerpoint/2010/main" val="1142578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D83504D5-72CB-5337-8605-1227D2C312CD}"/>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AF052B78-6676-0062-435F-9D2FE9AF723A}"/>
              </a:ext>
            </a:extLst>
          </p:cNvPr>
          <p:cNvSpPr/>
          <p:nvPr/>
        </p:nvSpPr>
        <p:spPr>
          <a:xfrm rot="-5051927">
            <a:off x="16027218" y="708772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071F0642-6D9C-B589-3FBB-98DA882254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30AE75E0-7E91-1089-2029-5F0558AFA77B}"/>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 name="Group 2">
            <a:extLst>
              <a:ext uri="{FF2B5EF4-FFF2-40B4-BE49-F238E27FC236}">
                <a16:creationId xmlns:a16="http://schemas.microsoft.com/office/drawing/2014/main" id="{2941C935-E2E7-3FF9-F605-FF76FF24A1E0}"/>
              </a:ext>
            </a:extLst>
          </p:cNvPr>
          <p:cNvGrpSpPr/>
          <p:nvPr/>
        </p:nvGrpSpPr>
        <p:grpSpPr>
          <a:xfrm>
            <a:off x="457200" y="1485900"/>
            <a:ext cx="17830800" cy="8357654"/>
            <a:chOff x="0" y="0"/>
            <a:chExt cx="2272929" cy="1645889"/>
          </a:xfrm>
        </p:grpSpPr>
        <p:sp>
          <p:nvSpPr>
            <p:cNvPr id="3" name="Freeform 3">
              <a:extLst>
                <a:ext uri="{FF2B5EF4-FFF2-40B4-BE49-F238E27FC236}">
                  <a16:creationId xmlns:a16="http://schemas.microsoft.com/office/drawing/2014/main" id="{5FB1FDB8-C533-3831-BBB3-EC6CB824E660}"/>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BCEA9713-EE81-44F7-4848-08AC87D069ED}"/>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9" name="TextBox 9">
            <a:extLst>
              <a:ext uri="{FF2B5EF4-FFF2-40B4-BE49-F238E27FC236}">
                <a16:creationId xmlns:a16="http://schemas.microsoft.com/office/drawing/2014/main" id="{1E1CF813-3240-5712-697C-131DE7428A03}"/>
              </a:ext>
            </a:extLst>
          </p:cNvPr>
          <p:cNvSpPr txBox="1"/>
          <p:nvPr/>
        </p:nvSpPr>
        <p:spPr>
          <a:xfrm>
            <a:off x="944880" y="1864630"/>
            <a:ext cx="17809015" cy="8125301"/>
          </a:xfrm>
          <a:prstGeom prst="rect">
            <a:avLst/>
          </a:prstGeom>
        </p:spPr>
        <p:txBody>
          <a:bodyPr wrap="square" lIns="0" tIns="0" rIns="0" bIns="0" rtlCol="0" anchor="t">
            <a:spAutoFit/>
          </a:bodyPr>
          <a:lstStyle/>
          <a:p>
            <a:r>
              <a:rPr lang="fr-FR" sz="4400" b="1" dirty="0"/>
              <a:t>3. Injection par setter</a:t>
            </a:r>
            <a:endParaRPr lang="fr-FR" sz="4400" dirty="0"/>
          </a:p>
          <a:p>
            <a:r>
              <a:rPr lang="fr-FR" sz="4400" dirty="0"/>
              <a:t>L’injection par setter permet d’injecter des dépendances optionnelles ou modifiables après la création de l’objet.</a:t>
            </a:r>
          </a:p>
          <a:p>
            <a:r>
              <a:rPr lang="fr-FR" sz="4400" b="1" dirty="0"/>
              <a:t>Exemple :</a:t>
            </a:r>
            <a:endParaRPr lang="fr-FR" sz="4400" dirty="0"/>
          </a:p>
          <a:p>
            <a:r>
              <a:rPr lang="fr-FR" sz="4400" dirty="0"/>
              <a:t>@Component</a:t>
            </a:r>
            <a:br>
              <a:rPr lang="fr-FR" sz="4400" dirty="0"/>
            </a:br>
            <a:r>
              <a:rPr lang="fr-FR" sz="4400" dirty="0"/>
              <a:t>public class </a:t>
            </a:r>
            <a:r>
              <a:rPr lang="fr-FR" sz="4400" dirty="0" err="1"/>
              <a:t>NotificationService</a:t>
            </a:r>
            <a:r>
              <a:rPr lang="fr-FR" sz="4400" dirty="0"/>
              <a:t> {</a:t>
            </a:r>
            <a:br>
              <a:rPr lang="fr-FR" sz="4400" dirty="0"/>
            </a:br>
            <a:r>
              <a:rPr lang="fr-FR" sz="4400" dirty="0"/>
              <a:t>    </a:t>
            </a:r>
            <a:r>
              <a:rPr lang="fr-FR" sz="4400" dirty="0" err="1"/>
              <a:t>private</a:t>
            </a:r>
            <a:r>
              <a:rPr lang="fr-FR" sz="4400" dirty="0"/>
              <a:t> </a:t>
            </a:r>
            <a:r>
              <a:rPr lang="fr-FR" sz="4400" dirty="0" err="1"/>
              <a:t>MessageService</a:t>
            </a:r>
            <a:r>
              <a:rPr lang="fr-FR" sz="4400" dirty="0"/>
              <a:t> </a:t>
            </a:r>
            <a:r>
              <a:rPr lang="fr-FR" sz="4400" dirty="0" err="1"/>
              <a:t>messageService</a:t>
            </a:r>
            <a:r>
              <a:rPr lang="fr-FR" sz="4400" dirty="0"/>
              <a:t>;</a:t>
            </a:r>
            <a:br>
              <a:rPr lang="fr-FR" sz="4400" dirty="0"/>
            </a:br>
            <a:r>
              <a:rPr lang="fr-FR" sz="4400" dirty="0"/>
              <a:t>    @</a:t>
            </a:r>
            <a:r>
              <a:rPr lang="fr-FR" sz="4400" dirty="0" err="1"/>
              <a:t>Autowired</a:t>
            </a:r>
            <a:br>
              <a:rPr lang="fr-FR" sz="4400" dirty="0"/>
            </a:br>
            <a:r>
              <a:rPr lang="fr-FR" sz="4400" dirty="0"/>
              <a:t>    public </a:t>
            </a:r>
            <a:r>
              <a:rPr lang="fr-FR" sz="4400" dirty="0" err="1"/>
              <a:t>void</a:t>
            </a:r>
            <a:r>
              <a:rPr lang="fr-FR" sz="4400" dirty="0"/>
              <a:t> </a:t>
            </a:r>
            <a:r>
              <a:rPr lang="fr-FR" sz="4400" dirty="0" err="1"/>
              <a:t>setMessageService</a:t>
            </a:r>
            <a:r>
              <a:rPr lang="fr-FR" sz="4400" dirty="0"/>
              <a:t>(</a:t>
            </a:r>
            <a:r>
              <a:rPr lang="fr-FR" sz="4400" dirty="0" err="1"/>
              <a:t>MessageService</a:t>
            </a:r>
            <a:r>
              <a:rPr lang="fr-FR" sz="4400" dirty="0"/>
              <a:t> </a:t>
            </a:r>
            <a:r>
              <a:rPr lang="fr-FR" sz="4400" dirty="0" err="1"/>
              <a:t>messageService</a:t>
            </a:r>
            <a:r>
              <a:rPr lang="fr-FR" sz="4400" dirty="0"/>
              <a:t>) {</a:t>
            </a:r>
            <a:br>
              <a:rPr lang="fr-FR" sz="4400" dirty="0"/>
            </a:br>
            <a:r>
              <a:rPr lang="fr-FR" sz="4400" dirty="0"/>
              <a:t>        </a:t>
            </a:r>
            <a:r>
              <a:rPr lang="fr-FR" sz="4400" dirty="0" err="1"/>
              <a:t>this.messageService</a:t>
            </a:r>
            <a:r>
              <a:rPr lang="fr-FR" sz="4400" dirty="0"/>
              <a:t> = </a:t>
            </a:r>
            <a:r>
              <a:rPr lang="fr-FR" sz="4400" dirty="0" err="1"/>
              <a:t>messageService</a:t>
            </a:r>
            <a:r>
              <a:rPr lang="fr-FR" sz="4400" dirty="0"/>
              <a:t>;</a:t>
            </a:r>
            <a:br>
              <a:rPr lang="fr-FR" sz="4400" dirty="0"/>
            </a:br>
            <a:r>
              <a:rPr lang="fr-FR" sz="4400" dirty="0"/>
              <a:t>    }</a:t>
            </a:r>
            <a:br>
              <a:rPr lang="fr-FR" sz="4400" dirty="0"/>
            </a:br>
            <a:r>
              <a:rPr lang="fr-FR" sz="4400" dirty="0"/>
              <a:t>    </a:t>
            </a:r>
          </a:p>
        </p:txBody>
      </p:sp>
      <p:sp>
        <p:nvSpPr>
          <p:cNvPr id="11" name="TextBox 11">
            <a:extLst>
              <a:ext uri="{FF2B5EF4-FFF2-40B4-BE49-F238E27FC236}">
                <a16:creationId xmlns:a16="http://schemas.microsoft.com/office/drawing/2014/main" id="{14B21595-4B2E-3DDE-4B7C-6CA2E860DEDF}"/>
              </a:ext>
            </a:extLst>
          </p:cNvPr>
          <p:cNvSpPr txBox="1"/>
          <p:nvPr/>
        </p:nvSpPr>
        <p:spPr>
          <a:xfrm>
            <a:off x="457200" y="720435"/>
            <a:ext cx="16992600" cy="1461939"/>
          </a:xfrm>
          <a:prstGeom prst="rect">
            <a:avLst/>
          </a:prstGeom>
        </p:spPr>
        <p:txBody>
          <a:bodyPr wrap="square" lIns="0" tIns="0" rIns="0" bIns="0" rtlCol="0" anchor="t">
            <a:spAutoFit/>
          </a:bodyPr>
          <a:lstStyle/>
          <a:p>
            <a:pPr algn="ctr">
              <a:lnSpc>
                <a:spcPts val="5704"/>
              </a:lnSpc>
            </a:pPr>
            <a:r>
              <a:rPr lang="fr-FR" sz="4800" dirty="0">
                <a:solidFill>
                  <a:srgbClr val="000000"/>
                </a:solidFill>
                <a:latin typeface="Akzidenz-Grotesk"/>
              </a:rPr>
              <a:t>Différents types d’injection dans Spring Boot</a:t>
            </a:r>
          </a:p>
          <a:p>
            <a:pPr algn="ctr">
              <a:lnSpc>
                <a:spcPts val="5704"/>
              </a:lnSpc>
            </a:pPr>
            <a:endParaRPr lang="en-US" sz="4800" dirty="0">
              <a:solidFill>
                <a:srgbClr val="000000"/>
              </a:solidFill>
              <a:latin typeface="Akzidenz-Grotesk"/>
              <a:sym typeface="Akzidenz-Grotesk"/>
            </a:endParaRPr>
          </a:p>
        </p:txBody>
      </p:sp>
    </p:spTree>
    <p:extLst>
      <p:ext uri="{BB962C8B-B14F-4D97-AF65-F5344CB8AC3E}">
        <p14:creationId xmlns:p14="http://schemas.microsoft.com/office/powerpoint/2010/main" val="244225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2E7C067C-6942-F645-8700-FD7B35BDBABB}"/>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8F92237A-F0D5-ED5D-9383-97A08F20F48B}"/>
              </a:ext>
            </a:extLst>
          </p:cNvPr>
          <p:cNvSpPr/>
          <p:nvPr/>
        </p:nvSpPr>
        <p:spPr>
          <a:xfrm rot="-5051927">
            <a:off x="16027218" y="708772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06376AA9-8EF6-4C52-C898-8B16A1B89F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3076E844-5671-C14A-3E0E-3BD1CF6EDFC0}"/>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 name="Group 2">
            <a:extLst>
              <a:ext uri="{FF2B5EF4-FFF2-40B4-BE49-F238E27FC236}">
                <a16:creationId xmlns:a16="http://schemas.microsoft.com/office/drawing/2014/main" id="{DDE883A0-9B06-AF8A-0ADE-0158F6463C54}"/>
              </a:ext>
            </a:extLst>
          </p:cNvPr>
          <p:cNvGrpSpPr/>
          <p:nvPr/>
        </p:nvGrpSpPr>
        <p:grpSpPr>
          <a:xfrm>
            <a:off x="457200" y="1485900"/>
            <a:ext cx="17830800" cy="8357654"/>
            <a:chOff x="0" y="0"/>
            <a:chExt cx="2272929" cy="1645889"/>
          </a:xfrm>
        </p:grpSpPr>
        <p:sp>
          <p:nvSpPr>
            <p:cNvPr id="3" name="Freeform 3">
              <a:extLst>
                <a:ext uri="{FF2B5EF4-FFF2-40B4-BE49-F238E27FC236}">
                  <a16:creationId xmlns:a16="http://schemas.microsoft.com/office/drawing/2014/main" id="{9E82FFF5-2E2E-E493-041B-B5ADEA008177}"/>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3C563C11-2DC1-9F83-D8FC-A59D58A594A0}"/>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9" name="TextBox 9">
            <a:extLst>
              <a:ext uri="{FF2B5EF4-FFF2-40B4-BE49-F238E27FC236}">
                <a16:creationId xmlns:a16="http://schemas.microsoft.com/office/drawing/2014/main" id="{1AFCA9E5-72AB-7104-9D8D-5C86CCCEFADE}"/>
              </a:ext>
            </a:extLst>
          </p:cNvPr>
          <p:cNvSpPr txBox="1"/>
          <p:nvPr/>
        </p:nvSpPr>
        <p:spPr>
          <a:xfrm>
            <a:off x="944880" y="1864630"/>
            <a:ext cx="17809015" cy="7448193"/>
          </a:xfrm>
          <a:prstGeom prst="rect">
            <a:avLst/>
          </a:prstGeom>
        </p:spPr>
        <p:txBody>
          <a:bodyPr wrap="square" lIns="0" tIns="0" rIns="0" bIns="0" rtlCol="0" anchor="t">
            <a:spAutoFit/>
          </a:bodyPr>
          <a:lstStyle/>
          <a:p>
            <a:r>
              <a:rPr lang="fr-FR" sz="4400" b="1" dirty="0"/>
              <a:t>3. Injection par setter</a:t>
            </a:r>
            <a:endParaRPr lang="fr-FR" sz="4400" dirty="0"/>
          </a:p>
          <a:p>
            <a:br>
              <a:rPr lang="fr-FR" sz="4400" dirty="0"/>
            </a:br>
            <a:r>
              <a:rPr lang="fr-FR" sz="4400" dirty="0"/>
              <a:t>    public </a:t>
            </a:r>
            <a:r>
              <a:rPr lang="fr-FR" sz="4400" dirty="0" err="1"/>
              <a:t>void</a:t>
            </a:r>
            <a:r>
              <a:rPr lang="fr-FR" sz="4400" dirty="0"/>
              <a:t> </a:t>
            </a:r>
            <a:r>
              <a:rPr lang="fr-FR" sz="4400" dirty="0" err="1"/>
              <a:t>sendNotification</a:t>
            </a:r>
            <a:r>
              <a:rPr lang="fr-FR" sz="4400" dirty="0"/>
              <a:t>(String message) {</a:t>
            </a:r>
            <a:br>
              <a:rPr lang="fr-FR" sz="4400" dirty="0"/>
            </a:br>
            <a:r>
              <a:rPr lang="fr-FR" sz="4400" dirty="0"/>
              <a:t>        </a:t>
            </a:r>
            <a:r>
              <a:rPr lang="fr-FR" sz="4400" dirty="0" err="1"/>
              <a:t>messageService.sendMessage</a:t>
            </a:r>
            <a:r>
              <a:rPr lang="fr-FR" sz="4400" dirty="0"/>
              <a:t>(message);</a:t>
            </a:r>
            <a:br>
              <a:rPr lang="fr-FR" sz="4400" dirty="0"/>
            </a:br>
            <a:r>
              <a:rPr lang="fr-FR" sz="4400" dirty="0"/>
              <a:t>    }</a:t>
            </a:r>
            <a:br>
              <a:rPr lang="fr-FR" sz="4400" dirty="0"/>
            </a:br>
            <a:r>
              <a:rPr lang="fr-FR" sz="4400" dirty="0"/>
              <a:t>}</a:t>
            </a:r>
          </a:p>
          <a:p>
            <a:r>
              <a:rPr lang="fr-FR" sz="4400" b="1" dirty="0"/>
              <a:t>Conditions d’utilisation :</a:t>
            </a:r>
            <a:r>
              <a:rPr lang="fr-FR" sz="4400" dirty="0"/>
              <a:t> Utilisez cette approche pour les dépendances </a:t>
            </a:r>
            <a:r>
              <a:rPr lang="fr-FR" sz="4400" b="1" dirty="0"/>
              <a:t>optionnelles</a:t>
            </a:r>
            <a:r>
              <a:rPr lang="fr-FR" sz="4400" dirty="0"/>
              <a:t> ou celles qui peuvent être modifiées après la création de l’objet. Cependant, elle est généralement moins utilisée car elle peut rendre la classe difficile à tester et plus difficile à lire.</a:t>
            </a:r>
          </a:p>
          <a:p>
            <a:endParaRPr lang="fr-FR" sz="4400" dirty="0"/>
          </a:p>
        </p:txBody>
      </p:sp>
      <p:sp>
        <p:nvSpPr>
          <p:cNvPr id="11" name="TextBox 11">
            <a:extLst>
              <a:ext uri="{FF2B5EF4-FFF2-40B4-BE49-F238E27FC236}">
                <a16:creationId xmlns:a16="http://schemas.microsoft.com/office/drawing/2014/main" id="{018213EB-3790-F578-E482-FBF738EC078B}"/>
              </a:ext>
            </a:extLst>
          </p:cNvPr>
          <p:cNvSpPr txBox="1"/>
          <p:nvPr/>
        </p:nvSpPr>
        <p:spPr>
          <a:xfrm>
            <a:off x="457200" y="720435"/>
            <a:ext cx="16992600" cy="1461939"/>
          </a:xfrm>
          <a:prstGeom prst="rect">
            <a:avLst/>
          </a:prstGeom>
        </p:spPr>
        <p:txBody>
          <a:bodyPr wrap="square" lIns="0" tIns="0" rIns="0" bIns="0" rtlCol="0" anchor="t">
            <a:spAutoFit/>
          </a:bodyPr>
          <a:lstStyle/>
          <a:p>
            <a:pPr algn="ctr">
              <a:lnSpc>
                <a:spcPts val="5704"/>
              </a:lnSpc>
            </a:pPr>
            <a:r>
              <a:rPr lang="fr-FR" sz="4800" dirty="0">
                <a:solidFill>
                  <a:srgbClr val="000000"/>
                </a:solidFill>
                <a:latin typeface="Akzidenz-Grotesk"/>
              </a:rPr>
              <a:t>Différents types d’injection dans Spring Boot</a:t>
            </a:r>
          </a:p>
          <a:p>
            <a:pPr algn="ctr">
              <a:lnSpc>
                <a:spcPts val="5704"/>
              </a:lnSpc>
            </a:pPr>
            <a:endParaRPr lang="en-US" sz="4800" dirty="0">
              <a:solidFill>
                <a:srgbClr val="000000"/>
              </a:solidFill>
              <a:latin typeface="Akzidenz-Grotesk"/>
              <a:sym typeface="Akzidenz-Grotesk"/>
            </a:endParaRPr>
          </a:p>
        </p:txBody>
      </p:sp>
    </p:spTree>
    <p:extLst>
      <p:ext uri="{BB962C8B-B14F-4D97-AF65-F5344CB8AC3E}">
        <p14:creationId xmlns:p14="http://schemas.microsoft.com/office/powerpoint/2010/main" val="33643102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11AA8D4F-1172-84B0-08CC-7F2FF669DD66}"/>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3939841D-C4E5-FB27-F2E6-D31C58C4FC97}"/>
              </a:ext>
            </a:extLst>
          </p:cNvPr>
          <p:cNvSpPr/>
          <p:nvPr/>
        </p:nvSpPr>
        <p:spPr>
          <a:xfrm rot="-5051927">
            <a:off x="16027218" y="708772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41DE2AC4-F6F0-730A-3B18-BD273A82E0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B9D7450E-709F-CAB5-DC5F-8D9E5B6383DB}"/>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 name="Group 2">
            <a:extLst>
              <a:ext uri="{FF2B5EF4-FFF2-40B4-BE49-F238E27FC236}">
                <a16:creationId xmlns:a16="http://schemas.microsoft.com/office/drawing/2014/main" id="{FD1339B7-22C8-5645-401B-F2A3C42C5F40}"/>
              </a:ext>
            </a:extLst>
          </p:cNvPr>
          <p:cNvGrpSpPr/>
          <p:nvPr/>
        </p:nvGrpSpPr>
        <p:grpSpPr>
          <a:xfrm>
            <a:off x="457200" y="1485900"/>
            <a:ext cx="17830800" cy="8357654"/>
            <a:chOff x="0" y="0"/>
            <a:chExt cx="2272929" cy="1645889"/>
          </a:xfrm>
        </p:grpSpPr>
        <p:sp>
          <p:nvSpPr>
            <p:cNvPr id="3" name="Freeform 3">
              <a:extLst>
                <a:ext uri="{FF2B5EF4-FFF2-40B4-BE49-F238E27FC236}">
                  <a16:creationId xmlns:a16="http://schemas.microsoft.com/office/drawing/2014/main" id="{6D63AC89-9BEE-C443-B6F1-9B7702DCAD98}"/>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B0AB448C-2136-C0B3-8256-A7155A7D5872}"/>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9" name="TextBox 9">
            <a:extLst>
              <a:ext uri="{FF2B5EF4-FFF2-40B4-BE49-F238E27FC236}">
                <a16:creationId xmlns:a16="http://schemas.microsoft.com/office/drawing/2014/main" id="{2C6BF2D2-1668-3846-1AA2-2CDD4CD80DAB}"/>
              </a:ext>
            </a:extLst>
          </p:cNvPr>
          <p:cNvSpPr txBox="1"/>
          <p:nvPr/>
        </p:nvSpPr>
        <p:spPr>
          <a:xfrm>
            <a:off x="944881" y="1864630"/>
            <a:ext cx="16504920" cy="5170646"/>
          </a:xfrm>
          <a:prstGeom prst="rect">
            <a:avLst/>
          </a:prstGeom>
        </p:spPr>
        <p:txBody>
          <a:bodyPr wrap="square" lIns="0" tIns="0" rIns="0" bIns="0" rtlCol="0" anchor="t">
            <a:spAutoFit/>
          </a:bodyPr>
          <a:lstStyle/>
          <a:p>
            <a:r>
              <a:rPr lang="fr-FR" sz="4800" b="1" dirty="0"/>
              <a:t>L’ injection de dépendance</a:t>
            </a:r>
            <a:r>
              <a:rPr lang="fr-FR" sz="4800" dirty="0"/>
              <a:t> est un concept clé pour créer des applications maintenables et testables. Dans </a:t>
            </a:r>
            <a:r>
              <a:rPr lang="fr-FR" sz="4800" b="1" dirty="0"/>
              <a:t>Spring Boot</a:t>
            </a:r>
            <a:r>
              <a:rPr lang="fr-FR" sz="4800" dirty="0"/>
              <a:t>, l’injection par constructeur est la méthode recommandée, car elle assure la clarté, l’immutabilité et la testabilité du code. Cependant, selon les besoins, l’injection par setter peut également être utile pour des dépendances optionnelles.</a:t>
            </a:r>
          </a:p>
          <a:p>
            <a:endParaRPr lang="fr-FR" sz="4800" dirty="0"/>
          </a:p>
        </p:txBody>
      </p:sp>
      <p:sp>
        <p:nvSpPr>
          <p:cNvPr id="11" name="TextBox 11">
            <a:extLst>
              <a:ext uri="{FF2B5EF4-FFF2-40B4-BE49-F238E27FC236}">
                <a16:creationId xmlns:a16="http://schemas.microsoft.com/office/drawing/2014/main" id="{473AAA37-24C5-2B9C-595A-1472FA77D99E}"/>
              </a:ext>
            </a:extLst>
          </p:cNvPr>
          <p:cNvSpPr txBox="1"/>
          <p:nvPr/>
        </p:nvSpPr>
        <p:spPr>
          <a:xfrm>
            <a:off x="457200" y="720435"/>
            <a:ext cx="16992600" cy="1461939"/>
          </a:xfrm>
          <a:prstGeom prst="rect">
            <a:avLst/>
          </a:prstGeom>
        </p:spPr>
        <p:txBody>
          <a:bodyPr wrap="square" lIns="0" tIns="0" rIns="0" bIns="0" rtlCol="0" anchor="t">
            <a:spAutoFit/>
          </a:bodyPr>
          <a:lstStyle/>
          <a:p>
            <a:pPr algn="ctr">
              <a:lnSpc>
                <a:spcPts val="5704"/>
              </a:lnSpc>
            </a:pPr>
            <a:r>
              <a:rPr lang="fr-FR" sz="4800" dirty="0">
                <a:solidFill>
                  <a:srgbClr val="000000"/>
                </a:solidFill>
                <a:latin typeface="Akzidenz-Grotesk"/>
              </a:rPr>
              <a:t>RESUME</a:t>
            </a:r>
          </a:p>
          <a:p>
            <a:pPr algn="ctr">
              <a:lnSpc>
                <a:spcPts val="5704"/>
              </a:lnSpc>
            </a:pPr>
            <a:endParaRPr lang="en-US" sz="4800" dirty="0">
              <a:solidFill>
                <a:srgbClr val="000000"/>
              </a:solidFill>
              <a:latin typeface="Akzidenz-Grotesk"/>
              <a:sym typeface="Akzidenz-Grotesk"/>
            </a:endParaRPr>
          </a:p>
        </p:txBody>
      </p:sp>
    </p:spTree>
    <p:extLst>
      <p:ext uri="{BB962C8B-B14F-4D97-AF65-F5344CB8AC3E}">
        <p14:creationId xmlns:p14="http://schemas.microsoft.com/office/powerpoint/2010/main" val="995200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A24A1B50-F490-BA01-01B9-D21FD67DFDA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25D8DE-CAD2-6CC0-44D4-B1DF57ED8A8E}"/>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62848A2F-8895-AE3A-656B-D4C9D6E15755}"/>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F7776C75-63FF-8F7E-B5A4-592D5EBAC50F}"/>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8C8852D9-E257-A60D-79A6-8593726CC507}"/>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7CF7C0B1-37D1-B037-4180-278D8640B3B7}"/>
              </a:ext>
            </a:extLst>
          </p:cNvPr>
          <p:cNvSpPr txBox="1"/>
          <p:nvPr/>
        </p:nvSpPr>
        <p:spPr>
          <a:xfrm>
            <a:off x="2824095" y="2334896"/>
            <a:ext cx="14473305" cy="6647974"/>
          </a:xfrm>
          <a:prstGeom prst="rect">
            <a:avLst/>
          </a:prstGeom>
        </p:spPr>
        <p:txBody>
          <a:bodyPr wrap="square" lIns="0" tIns="0" rIns="0" bIns="0" rtlCol="0" anchor="t">
            <a:spAutoFit/>
          </a:bodyPr>
          <a:lstStyle/>
          <a:p>
            <a:r>
              <a:rPr lang="fr-FR" sz="4800" dirty="0"/>
              <a:t>L’inversion de contrôle (</a:t>
            </a:r>
            <a:r>
              <a:rPr lang="fr-FR" sz="4800" dirty="0" err="1"/>
              <a:t>IoC</a:t>
            </a:r>
            <a:r>
              <a:rPr lang="fr-FR" sz="4800" dirty="0"/>
              <a:t> - </a:t>
            </a:r>
            <a:r>
              <a:rPr lang="fr-FR" sz="4800" i="1" dirty="0"/>
              <a:t>Inversion of control</a:t>
            </a:r>
            <a:r>
              <a:rPr lang="fr-FR" sz="4800" dirty="0"/>
              <a:t>), également appelée inversion de dépendance, se base sur la technique de l’injection de dépendance. Ce principe n’est pas propre au Spring Framework car il est utilisé fréquemment en programmation objet.</a:t>
            </a:r>
          </a:p>
          <a:p>
            <a:r>
              <a:rPr lang="fr-FR" sz="4800" dirty="0"/>
              <a:t>Un objet est très souvent dépendant d’autres objets pour assurer l’ensemble de ses services. En Java, une dépendance entre deux objets est simplement indiquée par la présence d’un attribut.</a:t>
            </a:r>
          </a:p>
        </p:txBody>
      </p:sp>
      <p:pic>
        <p:nvPicPr>
          <p:cNvPr id="1026" name="Picture 2" descr="universite-assane-seck-zig-5af59 - Wincom">
            <a:extLst>
              <a:ext uri="{FF2B5EF4-FFF2-40B4-BE49-F238E27FC236}">
                <a16:creationId xmlns:a16="http://schemas.microsoft.com/office/drawing/2014/main" id="{A6488248-4BF3-51F1-DF76-C32E990DA2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D7D37771-5C14-4493-3993-DC44819D19D4}"/>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C9BFB495-2CD4-E3DE-D40E-3539FE6A9849}"/>
              </a:ext>
            </a:extLst>
          </p:cNvPr>
          <p:cNvSpPr txBox="1"/>
          <p:nvPr/>
        </p:nvSpPr>
        <p:spPr>
          <a:xfrm>
            <a:off x="533400" y="720435"/>
            <a:ext cx="16992600" cy="651460"/>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L’INVERSION DE CONTRÔLE(IOC)</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3594834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9EFCF0F5-8407-2879-53F2-C6A02534584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0A97EA4-179E-2665-F1A4-25D825397DCF}"/>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24994AB7-D823-C583-780D-8B4E0743F2E9}"/>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BBA07166-D65D-1F3B-4CCA-7FBE4DCD2798}"/>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159915BF-DD25-012B-50ED-E07F3DC5BA0B}"/>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9C1930E4-F6B0-EA84-10F9-87C0C321E988}"/>
              </a:ext>
            </a:extLst>
          </p:cNvPr>
          <p:cNvSpPr txBox="1"/>
          <p:nvPr/>
        </p:nvSpPr>
        <p:spPr>
          <a:xfrm>
            <a:off x="2824095" y="2334896"/>
            <a:ext cx="14473305" cy="8125301"/>
          </a:xfrm>
          <a:prstGeom prst="rect">
            <a:avLst/>
          </a:prstGeom>
        </p:spPr>
        <p:txBody>
          <a:bodyPr wrap="square" lIns="0" tIns="0" rIns="0" bIns="0" rtlCol="0" anchor="t">
            <a:spAutoFit/>
          </a:bodyPr>
          <a:lstStyle/>
          <a:p>
            <a:r>
              <a:rPr lang="fr-FR" sz="4800" dirty="0"/>
              <a:t>Par exemple, une classe de type Voiture peut posséder un attribut de type Moteur :</a:t>
            </a:r>
          </a:p>
          <a:p>
            <a:r>
              <a:rPr lang="fr-FR" sz="4800" dirty="0"/>
              <a:t>public class Voiture {</a:t>
            </a:r>
          </a:p>
          <a:p>
            <a:r>
              <a:rPr lang="fr-FR" sz="4800" dirty="0"/>
              <a:t>   </a:t>
            </a:r>
            <a:r>
              <a:rPr lang="fr-FR" sz="4800" dirty="0" err="1"/>
              <a:t>private</a:t>
            </a:r>
            <a:r>
              <a:rPr lang="fr-FR" sz="4800" dirty="0"/>
              <a:t> Moteur moteur;</a:t>
            </a:r>
          </a:p>
          <a:p>
            <a:r>
              <a:rPr lang="fr-FR" sz="4800" dirty="0"/>
              <a:t>   // ...</a:t>
            </a:r>
          </a:p>
          <a:p>
            <a:r>
              <a:rPr lang="fr-FR" sz="4800" dirty="0"/>
              <a:t>}</a:t>
            </a:r>
          </a:p>
          <a:p>
            <a:r>
              <a:rPr lang="fr-FR" sz="4800" dirty="0"/>
              <a:t>Un objet de type Voiture a une dépendance avec un objet de type Moteur. Au final, une application orientée objet peut être perçue comme une myriade d’objets ayant des interdépendances les uns avec les autres.</a:t>
            </a:r>
          </a:p>
          <a:p>
            <a:endParaRPr lang="fr-FR" sz="4800" dirty="0"/>
          </a:p>
        </p:txBody>
      </p:sp>
      <p:pic>
        <p:nvPicPr>
          <p:cNvPr id="1026" name="Picture 2" descr="universite-assane-seck-zig-5af59 - Wincom">
            <a:extLst>
              <a:ext uri="{FF2B5EF4-FFF2-40B4-BE49-F238E27FC236}">
                <a16:creationId xmlns:a16="http://schemas.microsoft.com/office/drawing/2014/main" id="{B78AFD43-646F-D2FE-3AD9-8A1360353D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CA3BE831-4B6D-102D-0374-A09D5213A0F4}"/>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9E905A9B-85A8-19C2-4F01-1B150A5AC611}"/>
              </a:ext>
            </a:extLst>
          </p:cNvPr>
          <p:cNvSpPr txBox="1"/>
          <p:nvPr/>
        </p:nvSpPr>
        <p:spPr>
          <a:xfrm>
            <a:off x="533400" y="720435"/>
            <a:ext cx="16992600" cy="651460"/>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EXEMPLE (IOC)</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2911817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9B7CD356-EA88-13BA-9CF6-CF53119B48E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0C1B489-3A6A-B74B-0FBC-6466B02BB276}"/>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995327E9-A2C4-C855-DC7D-8F4550F7E26B}"/>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DDBAE85A-A315-889B-1539-5E85AE1B5C29}"/>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9355EB86-255B-BB9E-1041-2A522B9B8FED}"/>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97529F31-89A0-6FD4-2A11-EAAF62220285}"/>
              </a:ext>
            </a:extLst>
          </p:cNvPr>
          <p:cNvSpPr txBox="1"/>
          <p:nvPr/>
        </p:nvSpPr>
        <p:spPr>
          <a:xfrm>
            <a:off x="2145373" y="1628509"/>
            <a:ext cx="14473305" cy="9479518"/>
          </a:xfrm>
          <a:prstGeom prst="rect">
            <a:avLst/>
          </a:prstGeom>
        </p:spPr>
        <p:txBody>
          <a:bodyPr wrap="square" lIns="0" tIns="0" rIns="0" bIns="0" rtlCol="0" anchor="t">
            <a:spAutoFit/>
          </a:bodyPr>
          <a:lstStyle/>
          <a:p>
            <a:r>
              <a:rPr lang="fr-FR" sz="4400" dirty="0"/>
              <a:t>Le principe d’inversion de contrôle consiste à inverser le rapport entre un objet et l’objet dont il dépend. Si nous reprenons l’exemple ci-dessus, nous pouvons considérer que puisqu’un objet de type Voiture est dépendant d’un objet de type Moteur alors il peut créer ce dernier au moment de sa propre création.</a:t>
            </a:r>
          </a:p>
          <a:p>
            <a:r>
              <a:rPr lang="fr-FR" sz="4400" dirty="0"/>
              <a:t>public class Voiture {</a:t>
            </a:r>
          </a:p>
          <a:p>
            <a:r>
              <a:rPr lang="fr-FR" sz="4400" dirty="0"/>
              <a:t>   </a:t>
            </a:r>
            <a:r>
              <a:rPr lang="fr-FR" sz="4400" dirty="0" err="1"/>
              <a:t>private</a:t>
            </a:r>
            <a:r>
              <a:rPr lang="fr-FR" sz="4400" dirty="0"/>
              <a:t> Moteur moteur;</a:t>
            </a:r>
          </a:p>
          <a:p>
            <a:r>
              <a:rPr lang="fr-FR" sz="4400" dirty="0"/>
              <a:t>   public Voiture() {</a:t>
            </a:r>
          </a:p>
          <a:p>
            <a:r>
              <a:rPr lang="fr-FR" sz="4400" dirty="0"/>
              <a:t>    </a:t>
            </a:r>
            <a:r>
              <a:rPr lang="fr-FR" sz="4400" dirty="0" err="1"/>
              <a:t>this.moteur</a:t>
            </a:r>
            <a:r>
              <a:rPr lang="fr-FR" sz="4400" dirty="0"/>
              <a:t> = new Moteur();</a:t>
            </a:r>
          </a:p>
          <a:p>
            <a:r>
              <a:rPr lang="fr-FR" sz="4400" dirty="0"/>
              <a:t>  }</a:t>
            </a:r>
          </a:p>
          <a:p>
            <a:r>
              <a:rPr lang="fr-FR" sz="4400" dirty="0"/>
              <a:t>   // ...</a:t>
            </a:r>
          </a:p>
          <a:p>
            <a:r>
              <a:rPr lang="fr-FR" sz="4400" dirty="0"/>
              <a:t> }</a:t>
            </a:r>
          </a:p>
          <a:p>
            <a:endParaRPr lang="fr-FR" sz="4400" dirty="0"/>
          </a:p>
        </p:txBody>
      </p:sp>
      <p:pic>
        <p:nvPicPr>
          <p:cNvPr id="1026" name="Picture 2" descr="universite-assane-seck-zig-5af59 - Wincom">
            <a:extLst>
              <a:ext uri="{FF2B5EF4-FFF2-40B4-BE49-F238E27FC236}">
                <a16:creationId xmlns:a16="http://schemas.microsoft.com/office/drawing/2014/main" id="{11BF0253-35A9-6F33-01BB-7F6039B0BD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185C7068-BD56-F342-E3E6-E06A478B006E}"/>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A36931DE-F0CC-711A-B316-577150F728FE}"/>
              </a:ext>
            </a:extLst>
          </p:cNvPr>
          <p:cNvSpPr txBox="1"/>
          <p:nvPr/>
        </p:nvSpPr>
        <p:spPr>
          <a:xfrm>
            <a:off x="533400" y="720435"/>
            <a:ext cx="16992600" cy="651460"/>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EXEMPLE (IOC)</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831893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434E7037-1C41-FD67-A28B-D0CA2A81017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76D36E9-0AE7-E02D-68EB-2EDDD0FEFC3B}"/>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26E671B2-87CE-C96F-26CB-F1AD40927DAA}"/>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F21FCC48-A4AC-F60A-C3C7-11165BBC4B06}"/>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677A119C-462F-F397-940F-76CC7E88A6FA}"/>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5AFA2E4B-9C17-9AD7-32AF-594D02129446}"/>
              </a:ext>
            </a:extLst>
          </p:cNvPr>
          <p:cNvSpPr txBox="1"/>
          <p:nvPr/>
        </p:nvSpPr>
        <p:spPr>
          <a:xfrm>
            <a:off x="2145373" y="1628509"/>
            <a:ext cx="14473305" cy="9479518"/>
          </a:xfrm>
          <a:prstGeom prst="rect">
            <a:avLst/>
          </a:prstGeom>
        </p:spPr>
        <p:txBody>
          <a:bodyPr wrap="square" lIns="0" tIns="0" rIns="0" bIns="0" rtlCol="0" anchor="t">
            <a:spAutoFit/>
          </a:bodyPr>
          <a:lstStyle/>
          <a:p>
            <a:r>
              <a:rPr lang="fr-FR" sz="4400" dirty="0"/>
              <a:t>Le principe d’inversion de contrôle consiste à inverser le rapport entre un objet et l’objet dont il dépend. Si nous reprenons l’exemple ci-dessus, nous pouvons considérer que puisqu’un objet de type Voiture est dépendant d’un objet de type Moteur alors il peut créer ce dernier au moment de sa propre création.</a:t>
            </a:r>
          </a:p>
          <a:p>
            <a:r>
              <a:rPr lang="fr-FR" sz="4400" dirty="0"/>
              <a:t>public class Voiture {</a:t>
            </a:r>
          </a:p>
          <a:p>
            <a:r>
              <a:rPr lang="fr-FR" sz="4400" dirty="0"/>
              <a:t>   </a:t>
            </a:r>
            <a:r>
              <a:rPr lang="fr-FR" sz="4400" dirty="0" err="1"/>
              <a:t>private</a:t>
            </a:r>
            <a:r>
              <a:rPr lang="fr-FR" sz="4400" dirty="0"/>
              <a:t> Moteur moteur;</a:t>
            </a:r>
          </a:p>
          <a:p>
            <a:r>
              <a:rPr lang="fr-FR" sz="4400" dirty="0"/>
              <a:t>   public Voiture() {</a:t>
            </a:r>
          </a:p>
          <a:p>
            <a:r>
              <a:rPr lang="fr-FR" sz="4400" dirty="0"/>
              <a:t>    </a:t>
            </a:r>
            <a:r>
              <a:rPr lang="fr-FR" sz="4400" dirty="0" err="1"/>
              <a:t>this.moteur</a:t>
            </a:r>
            <a:r>
              <a:rPr lang="fr-FR" sz="4400" dirty="0"/>
              <a:t> = new Moteur();</a:t>
            </a:r>
          </a:p>
          <a:p>
            <a:r>
              <a:rPr lang="fr-FR" sz="4400" dirty="0"/>
              <a:t>  }</a:t>
            </a:r>
          </a:p>
          <a:p>
            <a:r>
              <a:rPr lang="fr-FR" sz="4400" dirty="0"/>
              <a:t>   // ...</a:t>
            </a:r>
          </a:p>
          <a:p>
            <a:r>
              <a:rPr lang="fr-FR" sz="4400" dirty="0"/>
              <a:t> }</a:t>
            </a:r>
          </a:p>
          <a:p>
            <a:endParaRPr lang="fr-FR" sz="4400" dirty="0"/>
          </a:p>
        </p:txBody>
      </p:sp>
      <p:pic>
        <p:nvPicPr>
          <p:cNvPr id="1026" name="Picture 2" descr="universite-assane-seck-zig-5af59 - Wincom">
            <a:extLst>
              <a:ext uri="{FF2B5EF4-FFF2-40B4-BE49-F238E27FC236}">
                <a16:creationId xmlns:a16="http://schemas.microsoft.com/office/drawing/2014/main" id="{424D4D49-D8A5-CAD7-A9EA-36AEEDC471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126A6541-3879-9FB3-B1F7-5195EFD23E61}"/>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DCFDAD90-5C61-8A1C-6EDA-11FE06F4D2D9}"/>
              </a:ext>
            </a:extLst>
          </p:cNvPr>
          <p:cNvSpPr txBox="1"/>
          <p:nvPr/>
        </p:nvSpPr>
        <p:spPr>
          <a:xfrm>
            <a:off x="533400" y="720435"/>
            <a:ext cx="16992600" cy="651460"/>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EXEMPLE (IOC)</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1532355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67AD6552-E85F-FD8E-7989-700828910F8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7C0AA2F-47EA-A41D-28EF-7FD07E7ADE1C}"/>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D5FD1DF4-8AB0-463E-B509-9D4EF3947790}"/>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F9F7D46A-01D3-6D96-CE02-C28222EB3935}"/>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590394BF-0B1B-3FDA-2458-F88FA9EA930B}"/>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32600F45-2992-E32D-4CA6-C330859C6DD4}"/>
              </a:ext>
            </a:extLst>
          </p:cNvPr>
          <p:cNvSpPr txBox="1"/>
          <p:nvPr/>
        </p:nvSpPr>
        <p:spPr>
          <a:xfrm>
            <a:off x="2145373" y="1628509"/>
            <a:ext cx="14473305" cy="8802410"/>
          </a:xfrm>
          <a:prstGeom prst="rect">
            <a:avLst/>
          </a:prstGeom>
        </p:spPr>
        <p:txBody>
          <a:bodyPr wrap="square" lIns="0" tIns="0" rIns="0" bIns="0" rtlCol="0" anchor="t">
            <a:spAutoFit/>
          </a:bodyPr>
          <a:lstStyle/>
          <a:p>
            <a:r>
              <a:rPr lang="fr-FR" sz="4400" dirty="0"/>
              <a:t>Cette implémentation n’est cependant pas sans conséquence car elle introduit un </a:t>
            </a:r>
            <a:r>
              <a:rPr lang="fr-FR" sz="4400" i="1" dirty="0"/>
              <a:t>couplage</a:t>
            </a:r>
            <a:r>
              <a:rPr lang="fr-FR" sz="4400" dirty="0"/>
              <a:t> très fort entre les classes Voiture et Moteur. En effet, non seulement la classe Voiture est dépendante de la classe Moteur mais surtout, elle crée elle-même l’objet de type Moteur. En architecture logicielle, on constate souvent qu’une classe dépendante d’une autre n’est pas nécessairement la mieux placée pour créer l’objet dont elle dépend. Il peut y avoir des raisons très diverses pour cela. Par exemple :</a:t>
            </a:r>
          </a:p>
          <a:p>
            <a:pPr marL="571500" lvl="0" indent="-571500">
              <a:buFont typeface="Arial" panose="020B0604020202020204" pitchFamily="34" charset="0"/>
              <a:buChar char="•"/>
            </a:pPr>
            <a:r>
              <a:rPr lang="fr-FR" sz="4400" dirty="0"/>
              <a:t>La classe Moteur pourrait avoir besoin de paramètres de constructeur que la classe Voiture n’a pas nécessairement à connaître.</a:t>
            </a:r>
          </a:p>
          <a:p>
            <a:endParaRPr lang="fr-FR" sz="4400" dirty="0"/>
          </a:p>
        </p:txBody>
      </p:sp>
      <p:pic>
        <p:nvPicPr>
          <p:cNvPr id="1026" name="Picture 2" descr="universite-assane-seck-zig-5af59 - Wincom">
            <a:extLst>
              <a:ext uri="{FF2B5EF4-FFF2-40B4-BE49-F238E27FC236}">
                <a16:creationId xmlns:a16="http://schemas.microsoft.com/office/drawing/2014/main" id="{8FBE6C92-8B9A-DF81-37FC-E6A5B677A3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9B8DB102-6AC3-89E8-818B-754C7227EA23}"/>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612123E0-7EDA-38BA-EA06-6D270154FBB3}"/>
              </a:ext>
            </a:extLst>
          </p:cNvPr>
          <p:cNvSpPr txBox="1"/>
          <p:nvPr/>
        </p:nvSpPr>
        <p:spPr>
          <a:xfrm>
            <a:off x="533400" y="720435"/>
            <a:ext cx="16992600" cy="651460"/>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EXEMPLE (IOC)</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21796669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7AED6C66-249C-6729-E17B-AC956AB8E94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53DAB75-94D5-999A-B18C-B1D1003F1C95}"/>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550989CA-389D-0178-21BE-01B2B384DC9A}"/>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8871891A-AB7D-9E6F-0FBD-8B6223CD09AB}"/>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A220A811-4092-0ADB-2AC9-CF1304E69209}"/>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A3425E7F-0F4E-99D6-0C79-C9FF0DD559F2}"/>
              </a:ext>
            </a:extLst>
          </p:cNvPr>
          <p:cNvSpPr txBox="1"/>
          <p:nvPr/>
        </p:nvSpPr>
        <p:spPr>
          <a:xfrm>
            <a:off x="2145373" y="1628509"/>
            <a:ext cx="14473305" cy="8125301"/>
          </a:xfrm>
          <a:prstGeom prst="rect">
            <a:avLst/>
          </a:prstGeom>
        </p:spPr>
        <p:txBody>
          <a:bodyPr wrap="square" lIns="0" tIns="0" rIns="0" bIns="0" rtlCol="0" anchor="t">
            <a:spAutoFit/>
          </a:bodyPr>
          <a:lstStyle/>
          <a:p>
            <a:pPr marL="571500" lvl="0" indent="-571500">
              <a:buFont typeface="Arial" panose="020B0604020202020204" pitchFamily="34" charset="0"/>
              <a:buChar char="•"/>
            </a:pPr>
            <a:r>
              <a:rPr lang="fr-FR" sz="4400" dirty="0"/>
              <a:t>Il peut exister une hiérarchie d’héritage de la classe Moteur. Par exemple, les classes </a:t>
            </a:r>
            <a:r>
              <a:rPr lang="fr-FR" sz="4400" dirty="0" err="1"/>
              <a:t>MoteurEssence</a:t>
            </a:r>
            <a:r>
              <a:rPr lang="fr-FR" sz="4400" dirty="0"/>
              <a:t>, </a:t>
            </a:r>
            <a:r>
              <a:rPr lang="fr-FR" sz="4400" dirty="0" err="1"/>
              <a:t>MoteurElectrique</a:t>
            </a:r>
            <a:r>
              <a:rPr lang="fr-FR" sz="4400" dirty="0"/>
              <a:t>, </a:t>
            </a:r>
            <a:r>
              <a:rPr lang="fr-FR" sz="4400" dirty="0" err="1"/>
              <a:t>MoteurHybride</a:t>
            </a:r>
            <a:r>
              <a:rPr lang="fr-FR" sz="4400" dirty="0"/>
              <a:t> pourraient toutes hériter de la classe Moteur. Si la classe Voiture crée l’objet de type Moteur alors il faudra choisir une fois pour toute dans la classe Voiture le type réel du moteur.</a:t>
            </a:r>
          </a:p>
          <a:p>
            <a:pPr marL="571500" lvl="0" indent="-571500">
              <a:buFont typeface="Arial" panose="020B0604020202020204" pitchFamily="34" charset="0"/>
              <a:buChar char="•"/>
            </a:pPr>
            <a:r>
              <a:rPr lang="fr-FR" sz="4400" dirty="0"/>
              <a:t>La classe Moteur pourrait être une interface. Donc il pourrait s’agir d’une pure abstraction. Si la classe Voiture crée l’objet implémentant cette interface, alors on perd tout intérêt à travailler à partir d’une abstraction telle que les interfaces.</a:t>
            </a:r>
          </a:p>
          <a:p>
            <a:endParaRPr lang="fr-FR" sz="4400" dirty="0"/>
          </a:p>
          <a:p>
            <a:endParaRPr lang="fr-FR" sz="4400" dirty="0"/>
          </a:p>
        </p:txBody>
      </p:sp>
      <p:pic>
        <p:nvPicPr>
          <p:cNvPr id="1026" name="Picture 2" descr="universite-assane-seck-zig-5af59 - Wincom">
            <a:extLst>
              <a:ext uri="{FF2B5EF4-FFF2-40B4-BE49-F238E27FC236}">
                <a16:creationId xmlns:a16="http://schemas.microsoft.com/office/drawing/2014/main" id="{41EF7B26-D74A-467A-0B7B-9C1103DA83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30337A21-A993-932B-545B-18EDF80A07AA}"/>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9D682433-4521-BC96-7E3C-9B206B331F6E}"/>
              </a:ext>
            </a:extLst>
          </p:cNvPr>
          <p:cNvSpPr txBox="1"/>
          <p:nvPr/>
        </p:nvSpPr>
        <p:spPr>
          <a:xfrm>
            <a:off x="533400" y="720435"/>
            <a:ext cx="16992600" cy="651460"/>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EXEMPLE (IOC)</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2516148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D142BFED-DABC-A115-774D-F21BB004F21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B0CA1B1-0169-3192-0AAE-88AE1AE2FF76}"/>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A6B36161-4CD4-6D82-661A-F29ACFEF5BF2}"/>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4E1DACE7-5B7F-890D-F6BE-EA2830F448C7}"/>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8663A819-BBD3-944B-7531-8D36798DD569}"/>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F7A88474-EA15-7843-EA97-EB55F413C409}"/>
              </a:ext>
            </a:extLst>
          </p:cNvPr>
          <p:cNvSpPr txBox="1"/>
          <p:nvPr/>
        </p:nvSpPr>
        <p:spPr>
          <a:xfrm>
            <a:off x="2145373" y="1628509"/>
            <a:ext cx="14473305" cy="11079956"/>
          </a:xfrm>
          <a:prstGeom prst="rect">
            <a:avLst/>
          </a:prstGeom>
        </p:spPr>
        <p:txBody>
          <a:bodyPr wrap="square" lIns="0" tIns="0" rIns="0" bIns="0" rtlCol="0" anchor="t">
            <a:spAutoFit/>
          </a:bodyPr>
          <a:lstStyle/>
          <a:p>
            <a:r>
              <a:rPr lang="fr-FR" sz="4800" dirty="0"/>
              <a:t>Pour améliorer notre implémentation, nous pouvons avoir recours à l’inversion de contrôle en partant du principe que la classe Voiture ne devrait pas être responsable de la création d’un objet d’un type Moteur. Pour cela, nous pouvons passer un objet de type Moteur comme argument du constructeur. On parle alors d’injection de dépendance par constructeur :</a:t>
            </a:r>
          </a:p>
          <a:p>
            <a:r>
              <a:rPr lang="fr-FR" sz="4800" dirty="0"/>
              <a:t>public class Voiture {</a:t>
            </a:r>
          </a:p>
          <a:p>
            <a:r>
              <a:rPr lang="fr-FR" sz="4800" dirty="0"/>
              <a:t>   </a:t>
            </a:r>
            <a:r>
              <a:rPr lang="fr-FR" sz="4800" dirty="0" err="1"/>
              <a:t>private</a:t>
            </a:r>
            <a:r>
              <a:rPr lang="fr-FR" sz="4800" dirty="0"/>
              <a:t> Moteur moteur;</a:t>
            </a:r>
          </a:p>
          <a:p>
            <a:r>
              <a:rPr lang="fr-FR" sz="4800" dirty="0"/>
              <a:t>   public Voiture(Moteur moteur) {</a:t>
            </a:r>
          </a:p>
          <a:p>
            <a:r>
              <a:rPr lang="fr-FR" sz="4800" dirty="0"/>
              <a:t>    </a:t>
            </a:r>
            <a:r>
              <a:rPr lang="fr-FR" sz="4800" dirty="0" err="1"/>
              <a:t>this.moteur</a:t>
            </a:r>
            <a:r>
              <a:rPr lang="fr-FR" sz="4800" dirty="0"/>
              <a:t> = moteur;</a:t>
            </a:r>
          </a:p>
          <a:p>
            <a:r>
              <a:rPr lang="fr-FR" sz="4800" dirty="0"/>
              <a:t>  }</a:t>
            </a:r>
          </a:p>
          <a:p>
            <a:r>
              <a:rPr lang="fr-FR" sz="4800" dirty="0"/>
              <a:t>   // ...</a:t>
            </a:r>
          </a:p>
          <a:p>
            <a:r>
              <a:rPr lang="fr-FR" sz="4800" dirty="0"/>
              <a:t> }</a:t>
            </a:r>
          </a:p>
          <a:p>
            <a:endParaRPr lang="fr-FR" sz="4800" dirty="0"/>
          </a:p>
        </p:txBody>
      </p:sp>
      <p:pic>
        <p:nvPicPr>
          <p:cNvPr id="1026" name="Picture 2" descr="universite-assane-seck-zig-5af59 - Wincom">
            <a:extLst>
              <a:ext uri="{FF2B5EF4-FFF2-40B4-BE49-F238E27FC236}">
                <a16:creationId xmlns:a16="http://schemas.microsoft.com/office/drawing/2014/main" id="{F6D41005-29BC-DD4A-8577-A8CF92A48A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CC5286A4-7938-CF5C-465C-BFE10CA0788F}"/>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C76D07C8-50D7-383B-9918-0189DD0F4477}"/>
              </a:ext>
            </a:extLst>
          </p:cNvPr>
          <p:cNvSpPr txBox="1"/>
          <p:nvPr/>
        </p:nvSpPr>
        <p:spPr>
          <a:xfrm>
            <a:off x="533400" y="720435"/>
            <a:ext cx="16992600" cy="651460"/>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EXEMPLE (IOC)</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42115281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73114428-F5F1-619D-87D8-D74E0310112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B303648-1C24-DDE7-738B-8853BC957905}"/>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0063D134-2F7F-8A31-13D8-DE412F341059}"/>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1F00E8AF-F3AE-D1E3-FFC9-8C20E22C9F2E}"/>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C1800BF9-8575-C513-9D60-1F864E9F5F7D}"/>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4B3D31D1-28DE-F703-A43C-BFB91B1839C7}"/>
              </a:ext>
            </a:extLst>
          </p:cNvPr>
          <p:cNvSpPr txBox="1"/>
          <p:nvPr/>
        </p:nvSpPr>
        <p:spPr>
          <a:xfrm>
            <a:off x="2145373" y="1628509"/>
            <a:ext cx="14473305" cy="6093976"/>
          </a:xfrm>
          <a:prstGeom prst="rect">
            <a:avLst/>
          </a:prstGeom>
        </p:spPr>
        <p:txBody>
          <a:bodyPr wrap="square" lIns="0" tIns="0" rIns="0" bIns="0" rtlCol="0" anchor="t">
            <a:spAutoFit/>
          </a:bodyPr>
          <a:lstStyle/>
          <a:p>
            <a:r>
              <a:rPr lang="fr-FR" sz="4400" dirty="0"/>
              <a:t>Nous avons déplacé la responsabilité de création de l’objet de type Moteur en dehors de la classe Voiture. Nous pouvons maintenant créer facilement des voitures utilisant des moteurs de type différent :</a:t>
            </a:r>
          </a:p>
          <a:p>
            <a:r>
              <a:rPr lang="fr-FR" sz="4400" dirty="0"/>
              <a:t>Voiture </a:t>
            </a:r>
            <a:r>
              <a:rPr lang="fr-FR" sz="4400" dirty="0" err="1"/>
              <a:t>voitureEssence</a:t>
            </a:r>
            <a:r>
              <a:rPr lang="fr-FR" sz="4400" dirty="0"/>
              <a:t> = new Voiture(new </a:t>
            </a:r>
            <a:r>
              <a:rPr lang="fr-FR" sz="4400" dirty="0" err="1"/>
              <a:t>MoteurEssence</a:t>
            </a:r>
            <a:r>
              <a:rPr lang="fr-FR" sz="4400" dirty="0"/>
              <a:t>());</a:t>
            </a:r>
          </a:p>
          <a:p>
            <a:r>
              <a:rPr lang="fr-FR" sz="4400" dirty="0"/>
              <a:t>Voiture </a:t>
            </a:r>
            <a:r>
              <a:rPr lang="fr-FR" sz="4400" dirty="0" err="1"/>
              <a:t>voitureElectrique</a:t>
            </a:r>
            <a:r>
              <a:rPr lang="fr-FR" sz="4400" dirty="0"/>
              <a:t> = new Voiture(new </a:t>
            </a:r>
            <a:r>
              <a:rPr lang="fr-FR" sz="4400" dirty="0" err="1"/>
              <a:t>MoteurEssence</a:t>
            </a:r>
            <a:r>
              <a:rPr lang="fr-FR" sz="4400" dirty="0"/>
              <a:t>());</a:t>
            </a:r>
          </a:p>
          <a:p>
            <a:r>
              <a:rPr lang="fr-FR" sz="4400" dirty="0"/>
              <a:t>Voiture </a:t>
            </a:r>
            <a:r>
              <a:rPr lang="fr-FR" sz="4400" dirty="0" err="1"/>
              <a:t>voitureHybride</a:t>
            </a:r>
            <a:r>
              <a:rPr lang="fr-FR" sz="4400" dirty="0"/>
              <a:t> = new Voiture(new </a:t>
            </a:r>
            <a:r>
              <a:rPr lang="fr-FR" sz="4400" dirty="0" err="1"/>
              <a:t>MoteurHybride</a:t>
            </a:r>
            <a:r>
              <a:rPr lang="fr-FR" sz="4400" dirty="0"/>
              <a:t>());</a:t>
            </a:r>
          </a:p>
          <a:p>
            <a:endParaRPr lang="fr-FR" sz="4400" dirty="0"/>
          </a:p>
          <a:p>
            <a:endParaRPr lang="fr-FR" sz="4400" dirty="0"/>
          </a:p>
        </p:txBody>
      </p:sp>
      <p:pic>
        <p:nvPicPr>
          <p:cNvPr id="1026" name="Picture 2" descr="universite-assane-seck-zig-5af59 - Wincom">
            <a:extLst>
              <a:ext uri="{FF2B5EF4-FFF2-40B4-BE49-F238E27FC236}">
                <a16:creationId xmlns:a16="http://schemas.microsoft.com/office/drawing/2014/main" id="{1868A158-1F26-E744-0C84-03EE2D1967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34A2B967-2B07-2686-E53A-CF0482338DEB}"/>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AB9B2ADE-A124-CF60-7CB5-12ABAE087336}"/>
              </a:ext>
            </a:extLst>
          </p:cNvPr>
          <p:cNvSpPr txBox="1"/>
          <p:nvPr/>
        </p:nvSpPr>
        <p:spPr>
          <a:xfrm>
            <a:off x="533400" y="720435"/>
            <a:ext cx="16992600" cy="651460"/>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EXEMPLE (IOC)</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14061090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57227AFA-E259-2212-1E5F-26FF0796361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2D6DE5-60C1-6CE1-58A2-08C93BB5D630}"/>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FA592F07-0273-57D0-CDD0-DF50CF21D455}"/>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7FFB14AD-562B-1F07-74FB-F70741F62A6B}"/>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7142EDB4-1F7E-A635-883F-8B2CA22FCA88}"/>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4B16E6DF-9E6D-B09D-1328-50DF216D17C1}"/>
              </a:ext>
            </a:extLst>
          </p:cNvPr>
          <p:cNvSpPr txBox="1"/>
          <p:nvPr/>
        </p:nvSpPr>
        <p:spPr>
          <a:xfrm>
            <a:off x="2145373" y="1628509"/>
            <a:ext cx="14473305" cy="10833735"/>
          </a:xfrm>
          <a:prstGeom prst="rect">
            <a:avLst/>
          </a:prstGeom>
        </p:spPr>
        <p:txBody>
          <a:bodyPr wrap="square" lIns="0" tIns="0" rIns="0" bIns="0" rtlCol="0" anchor="t">
            <a:spAutoFit/>
          </a:bodyPr>
          <a:lstStyle/>
          <a:p>
            <a:r>
              <a:rPr lang="fr-FR" sz="4400" dirty="0"/>
              <a:t>Nous pouvons également créer une méthode setter pour positionner un objet de type Moteur dans la classe Voiture. On parle alors d’injection de dépendance par setter :</a:t>
            </a:r>
          </a:p>
          <a:p>
            <a:r>
              <a:rPr lang="fr-FR" sz="4400" dirty="0"/>
              <a:t>public class Voiture {</a:t>
            </a:r>
          </a:p>
          <a:p>
            <a:r>
              <a:rPr lang="fr-FR" sz="4400" dirty="0"/>
              <a:t>   </a:t>
            </a:r>
            <a:r>
              <a:rPr lang="fr-FR" sz="4400" dirty="0" err="1"/>
              <a:t>private</a:t>
            </a:r>
            <a:r>
              <a:rPr lang="fr-FR" sz="4400" dirty="0"/>
              <a:t> Moteur moteur;</a:t>
            </a:r>
          </a:p>
          <a:p>
            <a:r>
              <a:rPr lang="fr-FR" sz="4400" dirty="0"/>
              <a:t>   public </a:t>
            </a:r>
            <a:r>
              <a:rPr lang="fr-FR" sz="4400" dirty="0" err="1"/>
              <a:t>void</a:t>
            </a:r>
            <a:r>
              <a:rPr lang="fr-FR" sz="4400" dirty="0"/>
              <a:t> </a:t>
            </a:r>
            <a:r>
              <a:rPr lang="fr-FR" sz="4400" dirty="0" err="1"/>
              <a:t>setMoteur</a:t>
            </a:r>
            <a:r>
              <a:rPr lang="fr-FR" sz="4400" dirty="0"/>
              <a:t>(Moteur moteur) {</a:t>
            </a:r>
          </a:p>
          <a:p>
            <a:r>
              <a:rPr lang="fr-FR" sz="4400" dirty="0"/>
              <a:t>    </a:t>
            </a:r>
            <a:r>
              <a:rPr lang="fr-FR" sz="4400" dirty="0" err="1"/>
              <a:t>this.moteur</a:t>
            </a:r>
            <a:r>
              <a:rPr lang="fr-FR" sz="4400" dirty="0"/>
              <a:t> = moteur;</a:t>
            </a:r>
          </a:p>
          <a:p>
            <a:r>
              <a:rPr lang="fr-FR" sz="4400" dirty="0"/>
              <a:t>  }</a:t>
            </a:r>
          </a:p>
          <a:p>
            <a:r>
              <a:rPr lang="fr-FR" sz="4400" dirty="0"/>
              <a:t>   // ...</a:t>
            </a:r>
          </a:p>
          <a:p>
            <a:r>
              <a:rPr lang="fr-FR" sz="4400" dirty="0"/>
              <a:t> }</a:t>
            </a:r>
          </a:p>
          <a:p>
            <a:r>
              <a:rPr lang="fr-FR" sz="4400" dirty="0"/>
              <a:t>Comme précédemment, nous avons déplacé la responsabilité de création de l’objet en dehors de la classe Voiture :</a:t>
            </a:r>
          </a:p>
          <a:p>
            <a:r>
              <a:rPr lang="fr-FR" sz="4400" dirty="0"/>
              <a:t>Voiture voiture = new Voiture();</a:t>
            </a:r>
          </a:p>
          <a:p>
            <a:r>
              <a:rPr lang="fr-FR" sz="4400" dirty="0" err="1"/>
              <a:t>voiture.setMoteur</a:t>
            </a:r>
            <a:r>
              <a:rPr lang="fr-FR" sz="4400" dirty="0"/>
              <a:t>(new </a:t>
            </a:r>
            <a:r>
              <a:rPr lang="fr-FR" sz="4400" dirty="0" err="1"/>
              <a:t>MoteurEssence</a:t>
            </a:r>
            <a:r>
              <a:rPr lang="fr-FR" sz="4400" dirty="0"/>
              <a:t>());</a:t>
            </a:r>
          </a:p>
          <a:p>
            <a:endParaRPr lang="fr-FR" sz="4400" dirty="0"/>
          </a:p>
          <a:p>
            <a:endParaRPr lang="fr-FR" sz="4400" dirty="0"/>
          </a:p>
        </p:txBody>
      </p:sp>
      <p:pic>
        <p:nvPicPr>
          <p:cNvPr id="1026" name="Picture 2" descr="universite-assane-seck-zig-5af59 - Wincom">
            <a:extLst>
              <a:ext uri="{FF2B5EF4-FFF2-40B4-BE49-F238E27FC236}">
                <a16:creationId xmlns:a16="http://schemas.microsoft.com/office/drawing/2014/main" id="{7D8769C4-917E-9A79-1BF8-505847A854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8E2DD26F-BC4C-3F8A-A316-954CED01B8ED}"/>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C9497EDF-3CF8-9DD5-C9EB-C7508AB744D9}"/>
              </a:ext>
            </a:extLst>
          </p:cNvPr>
          <p:cNvSpPr txBox="1"/>
          <p:nvPr/>
        </p:nvSpPr>
        <p:spPr>
          <a:xfrm>
            <a:off x="533400" y="720435"/>
            <a:ext cx="16992600" cy="651460"/>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EXEMPLE (IOC)</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25747559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0AF35381-E22A-0234-D354-2F6F512FACE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EFA8E32-822C-8759-1ABE-53A77992D819}"/>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742ED17C-1B78-CCA2-C7B6-170BE8F0A327}"/>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104A902D-1164-F66F-D50E-4614079EDE08}"/>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5077317A-584B-DD2F-B4B2-6AC937121E04}"/>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0B980590-C220-2BE6-2F29-A9677CC99C20}"/>
              </a:ext>
            </a:extLst>
          </p:cNvPr>
          <p:cNvSpPr txBox="1"/>
          <p:nvPr/>
        </p:nvSpPr>
        <p:spPr>
          <a:xfrm>
            <a:off x="2145373" y="1628509"/>
            <a:ext cx="14473305" cy="8125301"/>
          </a:xfrm>
          <a:prstGeom prst="rect">
            <a:avLst/>
          </a:prstGeom>
        </p:spPr>
        <p:txBody>
          <a:bodyPr wrap="square" lIns="0" tIns="0" rIns="0" bIns="0" rtlCol="0" anchor="t">
            <a:spAutoFit/>
          </a:bodyPr>
          <a:lstStyle/>
          <a:p>
            <a:r>
              <a:rPr lang="fr-FR" sz="4800" dirty="0"/>
              <a:t>Note</a:t>
            </a:r>
          </a:p>
          <a:p>
            <a:r>
              <a:rPr lang="fr-FR" sz="4800" dirty="0"/>
              <a:t>Même si du point de vue de la dépendance d’injection, les deux mécanismes conduisent au même résultat, la dépendance d’injection par constructeur à une sémantique plus forte. Cela traduit que l’objet a besoin de cette dépendance pour fonctionner correctement. L’injection par </a:t>
            </a:r>
            <a:r>
              <a:rPr lang="fr-FR" sz="4800" i="1" dirty="0"/>
              <a:t>setter</a:t>
            </a:r>
            <a:r>
              <a:rPr lang="fr-FR" sz="4800" dirty="0"/>
              <a:t> permet de modifier la dépendance durant la vie de l’objet. Bien évidemment, il est possible d’utiliser les deux mécanismes au sein d’une même classe.</a:t>
            </a:r>
          </a:p>
          <a:p>
            <a:endParaRPr lang="fr-FR" sz="4800" dirty="0"/>
          </a:p>
          <a:p>
            <a:endParaRPr lang="fr-FR" sz="4800" dirty="0"/>
          </a:p>
        </p:txBody>
      </p:sp>
      <p:pic>
        <p:nvPicPr>
          <p:cNvPr id="1026" name="Picture 2" descr="universite-assane-seck-zig-5af59 - Wincom">
            <a:extLst>
              <a:ext uri="{FF2B5EF4-FFF2-40B4-BE49-F238E27FC236}">
                <a16:creationId xmlns:a16="http://schemas.microsoft.com/office/drawing/2014/main" id="{A949685B-7455-F18E-B174-B647EEEF88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033D27BE-8E7D-C73C-2B01-B6416DBBE0D1}"/>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A83C83FD-D682-E40C-66DD-F3AD27814323}"/>
              </a:ext>
            </a:extLst>
          </p:cNvPr>
          <p:cNvSpPr txBox="1"/>
          <p:nvPr/>
        </p:nvSpPr>
        <p:spPr>
          <a:xfrm>
            <a:off x="533400" y="720435"/>
            <a:ext cx="16992600" cy="651460"/>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EXEMPLE (IOC)</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40973481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B6ED55DC-7B48-1868-B830-5E0C0AB9E91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DF0B321-FB99-13CC-8304-22C186B07C36}"/>
              </a:ext>
            </a:extLst>
          </p:cNvPr>
          <p:cNvGrpSpPr/>
          <p:nvPr/>
        </p:nvGrpSpPr>
        <p:grpSpPr>
          <a:xfrm>
            <a:off x="1806012" y="1379222"/>
            <a:ext cx="15152028" cy="9867310"/>
            <a:chOff x="0" y="0"/>
            <a:chExt cx="2272929" cy="1645889"/>
          </a:xfrm>
        </p:grpSpPr>
        <p:sp>
          <p:nvSpPr>
            <p:cNvPr id="3" name="Freeform 3">
              <a:extLst>
                <a:ext uri="{FF2B5EF4-FFF2-40B4-BE49-F238E27FC236}">
                  <a16:creationId xmlns:a16="http://schemas.microsoft.com/office/drawing/2014/main" id="{F873ED8A-0D4E-AB0F-DDBA-7698FE8087BA}"/>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8D15CCF5-4BAA-02F1-9731-52C27BBB49C0}"/>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dirty="0"/>
            </a:p>
          </p:txBody>
        </p:sp>
      </p:grpSp>
      <p:sp>
        <p:nvSpPr>
          <p:cNvPr id="5" name="Freeform 5">
            <a:extLst>
              <a:ext uri="{FF2B5EF4-FFF2-40B4-BE49-F238E27FC236}">
                <a16:creationId xmlns:a16="http://schemas.microsoft.com/office/drawing/2014/main" id="{1EB31A7E-F534-3CCF-4F20-5FC0CB17BFB3}"/>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436DC141-0B81-C2FB-2C18-1261ED4E86A4}"/>
              </a:ext>
            </a:extLst>
          </p:cNvPr>
          <p:cNvSpPr txBox="1"/>
          <p:nvPr/>
        </p:nvSpPr>
        <p:spPr>
          <a:xfrm>
            <a:off x="2145373" y="1628509"/>
            <a:ext cx="14473305" cy="6647974"/>
          </a:xfrm>
          <a:prstGeom prst="rect">
            <a:avLst/>
          </a:prstGeom>
        </p:spPr>
        <p:txBody>
          <a:bodyPr wrap="square" lIns="0" tIns="0" rIns="0" bIns="0" rtlCol="0" anchor="t">
            <a:spAutoFit/>
          </a:bodyPr>
          <a:lstStyle/>
          <a:p>
            <a:r>
              <a:rPr lang="fr-FR" sz="4800" dirty="0"/>
              <a:t>Pour fonctionner, l’inversion de contrôle implique l’existence d’un composant supplémentaire. Dans l’exemple que nous avons pris précédemment, un code tiers est responsable de créer une instance de la classe Moteur, une instance de la classe Voiture et de créer la dépendance soit par injection au constructeur soit par appel de la méthode </a:t>
            </a:r>
            <a:r>
              <a:rPr lang="fr-FR" sz="4800" i="1" dirty="0"/>
              <a:t>setter</a:t>
            </a:r>
            <a:r>
              <a:rPr lang="fr-FR" sz="4800" dirty="0"/>
              <a:t>.</a:t>
            </a:r>
          </a:p>
          <a:p>
            <a:endParaRPr lang="fr-FR" sz="4800" dirty="0"/>
          </a:p>
          <a:p>
            <a:endParaRPr lang="fr-FR" sz="4800" dirty="0"/>
          </a:p>
        </p:txBody>
      </p:sp>
      <p:pic>
        <p:nvPicPr>
          <p:cNvPr id="1026" name="Picture 2" descr="universite-assane-seck-zig-5af59 - Wincom">
            <a:extLst>
              <a:ext uri="{FF2B5EF4-FFF2-40B4-BE49-F238E27FC236}">
                <a16:creationId xmlns:a16="http://schemas.microsoft.com/office/drawing/2014/main" id="{A8EC8174-0C88-F88E-3ACD-93B4DD2123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1D318122-22A0-492E-ADF5-AF36DE619AD2}"/>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B8FBF1D6-2D28-061F-5FB0-7B16C0514559}"/>
              </a:ext>
            </a:extLst>
          </p:cNvPr>
          <p:cNvSpPr txBox="1"/>
          <p:nvPr/>
        </p:nvSpPr>
        <p:spPr>
          <a:xfrm>
            <a:off x="609600" y="720435"/>
            <a:ext cx="16992600" cy="1241365"/>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NOTION DE CONTENEUR(</a:t>
            </a:r>
            <a:r>
              <a:rPr lang="fr-FR" sz="6000" dirty="0" err="1">
                <a:solidFill>
                  <a:srgbClr val="000000"/>
                </a:solidFill>
                <a:latin typeface="Akzidenz-Grotesk"/>
              </a:rPr>
              <a:t>IoC</a:t>
            </a:r>
            <a:r>
              <a:rPr lang="fr-FR" sz="6000" dirty="0">
                <a:solidFill>
                  <a:srgbClr val="000000"/>
                </a:solidFill>
                <a:latin typeface="Akzidenz-Grotesk"/>
              </a:rPr>
              <a:t>)</a:t>
            </a:r>
          </a:p>
          <a:p>
            <a:pPr>
              <a:lnSpc>
                <a:spcPts val="4622"/>
              </a:lnSpc>
            </a:pP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37766375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10F0FD82-16DE-BF3C-15B2-383EA5E2B32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4D8A304-3B29-0959-39F1-057561CC381A}"/>
              </a:ext>
            </a:extLst>
          </p:cNvPr>
          <p:cNvGrpSpPr/>
          <p:nvPr/>
        </p:nvGrpSpPr>
        <p:grpSpPr>
          <a:xfrm>
            <a:off x="1806012" y="1379222"/>
            <a:ext cx="15152028" cy="9867310"/>
            <a:chOff x="0" y="0"/>
            <a:chExt cx="2272929" cy="1645889"/>
          </a:xfrm>
        </p:grpSpPr>
        <p:sp>
          <p:nvSpPr>
            <p:cNvPr id="3" name="Freeform 3">
              <a:extLst>
                <a:ext uri="{FF2B5EF4-FFF2-40B4-BE49-F238E27FC236}">
                  <a16:creationId xmlns:a16="http://schemas.microsoft.com/office/drawing/2014/main" id="{58D3884B-C462-E6DF-28F2-D27BC9E4CC5F}"/>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FEC17DF8-FF73-C41D-1329-0BB04BFCD3A1}"/>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dirty="0"/>
            </a:p>
          </p:txBody>
        </p:sp>
      </p:grpSp>
      <p:sp>
        <p:nvSpPr>
          <p:cNvPr id="5" name="Freeform 5">
            <a:extLst>
              <a:ext uri="{FF2B5EF4-FFF2-40B4-BE49-F238E27FC236}">
                <a16:creationId xmlns:a16="http://schemas.microsoft.com/office/drawing/2014/main" id="{C4A412B3-1FB5-7054-2817-63F0D81DFCAE}"/>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5091778F-2C22-B6F0-F001-71C1C3605AC0}"/>
              </a:ext>
            </a:extLst>
          </p:cNvPr>
          <p:cNvSpPr txBox="1"/>
          <p:nvPr/>
        </p:nvSpPr>
        <p:spPr>
          <a:xfrm>
            <a:off x="2145373" y="1628509"/>
            <a:ext cx="14473305" cy="9602629"/>
          </a:xfrm>
          <a:prstGeom prst="rect">
            <a:avLst/>
          </a:prstGeom>
        </p:spPr>
        <p:txBody>
          <a:bodyPr wrap="square" lIns="0" tIns="0" rIns="0" bIns="0" rtlCol="0" anchor="t">
            <a:spAutoFit/>
          </a:bodyPr>
          <a:lstStyle/>
          <a:p>
            <a:r>
              <a:rPr lang="fr-FR" sz="4800" dirty="0"/>
              <a:t>La construction des objets de notre application va être déléguée à ce composant que l’on appelle un conteneur </a:t>
            </a:r>
            <a:r>
              <a:rPr lang="fr-FR" sz="4800" dirty="0" err="1"/>
              <a:t>IoC</a:t>
            </a:r>
            <a:r>
              <a:rPr lang="fr-FR" sz="4800" dirty="0"/>
              <a:t> (</a:t>
            </a:r>
            <a:r>
              <a:rPr lang="fr-FR" sz="4800" i="1" dirty="0" err="1"/>
              <a:t>IoC</a:t>
            </a:r>
            <a:r>
              <a:rPr lang="fr-FR" sz="4800" i="1" dirty="0"/>
              <a:t> container</a:t>
            </a:r>
            <a:r>
              <a:rPr lang="fr-FR" sz="4800" dirty="0"/>
              <a:t>). De ce point de vue, le Spring Framework fournit avant tout un conteneur </a:t>
            </a:r>
            <a:r>
              <a:rPr lang="fr-FR" sz="4800" dirty="0" err="1"/>
              <a:t>IoC</a:t>
            </a:r>
            <a:r>
              <a:rPr lang="fr-FR" sz="4800" dirty="0"/>
              <a:t>. On pourrait dire que le Spring Framework sert principalement à créer des objets à notre place et à s’assurer que les dépendances entre eux sont correctement créées. De manière plus triviale, lorsqu’on utilise un conteneur </a:t>
            </a:r>
            <a:r>
              <a:rPr lang="fr-FR" sz="4800" dirty="0" err="1"/>
              <a:t>IoC</a:t>
            </a:r>
            <a:r>
              <a:rPr lang="fr-FR" sz="4800" dirty="0"/>
              <a:t>, nous limitons dans notre code l’usage du mot-clé new car nous laissons le conteneur créer les objets qui définissent l’architecture de l’application.</a:t>
            </a:r>
          </a:p>
          <a:p>
            <a:endParaRPr lang="fr-FR" sz="4800" dirty="0"/>
          </a:p>
          <a:p>
            <a:endParaRPr lang="fr-FR" sz="4800" dirty="0"/>
          </a:p>
        </p:txBody>
      </p:sp>
      <p:pic>
        <p:nvPicPr>
          <p:cNvPr id="1026" name="Picture 2" descr="universite-assane-seck-zig-5af59 - Wincom">
            <a:extLst>
              <a:ext uri="{FF2B5EF4-FFF2-40B4-BE49-F238E27FC236}">
                <a16:creationId xmlns:a16="http://schemas.microsoft.com/office/drawing/2014/main" id="{AA613165-75BF-41CE-D21E-DFE15CC2D9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99485F5E-1318-FE5E-E46A-3048CD3CF76B}"/>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E9A4DDEC-6C08-C491-5EB0-6D095BC93548}"/>
              </a:ext>
            </a:extLst>
          </p:cNvPr>
          <p:cNvSpPr txBox="1"/>
          <p:nvPr/>
        </p:nvSpPr>
        <p:spPr>
          <a:xfrm>
            <a:off x="609600" y="720435"/>
            <a:ext cx="16992600" cy="1241365"/>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NOTION DE CONTENEUR(</a:t>
            </a:r>
            <a:r>
              <a:rPr lang="fr-FR" sz="6000" dirty="0" err="1">
                <a:solidFill>
                  <a:srgbClr val="000000"/>
                </a:solidFill>
                <a:latin typeface="Akzidenz-Grotesk"/>
              </a:rPr>
              <a:t>IoC</a:t>
            </a:r>
            <a:r>
              <a:rPr lang="fr-FR" sz="6000" dirty="0">
                <a:solidFill>
                  <a:srgbClr val="000000"/>
                </a:solidFill>
                <a:latin typeface="Akzidenz-Grotesk"/>
              </a:rPr>
              <a:t>)</a:t>
            </a:r>
          </a:p>
          <a:p>
            <a:pPr>
              <a:lnSpc>
                <a:spcPts val="4622"/>
              </a:lnSpc>
            </a:pP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30752496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B4399A21-07E4-ADF6-99BF-E9A9A9CFD18B}"/>
            </a:ext>
          </a:extLst>
        </p:cNvPr>
        <p:cNvGrpSpPr/>
        <p:nvPr/>
      </p:nvGrpSpPr>
      <p:grpSpPr>
        <a:xfrm>
          <a:off x="0" y="0"/>
          <a:ext cx="0" cy="0"/>
          <a:chOff x="0" y="0"/>
          <a:chExt cx="0" cy="0"/>
        </a:xfrm>
      </p:grpSpPr>
      <p:pic>
        <p:nvPicPr>
          <p:cNvPr id="1026" name="Picture 2" descr="universite-assane-seck-zig-5af59 - Wincom">
            <a:extLst>
              <a:ext uri="{FF2B5EF4-FFF2-40B4-BE49-F238E27FC236}">
                <a16:creationId xmlns:a16="http://schemas.microsoft.com/office/drawing/2014/main" id="{BC5B93BE-4455-8587-724B-7E07DE1137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2">
            <a:extLst>
              <a:ext uri="{FF2B5EF4-FFF2-40B4-BE49-F238E27FC236}">
                <a16:creationId xmlns:a16="http://schemas.microsoft.com/office/drawing/2014/main" id="{A8364BFD-9534-C7C9-548F-FC6938B108FB}"/>
              </a:ext>
            </a:extLst>
          </p:cNvPr>
          <p:cNvGrpSpPr/>
          <p:nvPr/>
        </p:nvGrpSpPr>
        <p:grpSpPr>
          <a:xfrm>
            <a:off x="-8695" y="1008300"/>
            <a:ext cx="18647215" cy="10093992"/>
            <a:chOff x="0" y="-76200"/>
            <a:chExt cx="2272929" cy="1742654"/>
          </a:xfrm>
        </p:grpSpPr>
        <p:sp>
          <p:nvSpPr>
            <p:cNvPr id="3" name="Freeform 3">
              <a:extLst>
                <a:ext uri="{FF2B5EF4-FFF2-40B4-BE49-F238E27FC236}">
                  <a16:creationId xmlns:a16="http://schemas.microsoft.com/office/drawing/2014/main" id="{28E0B9F9-17F3-8C76-9592-2706F5448D9D}"/>
                </a:ext>
              </a:extLst>
            </p:cNvPr>
            <p:cNvSpPr/>
            <p:nvPr/>
          </p:nvSpPr>
          <p:spPr>
            <a:xfrm>
              <a:off x="75341" y="20565"/>
              <a:ext cx="210390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EB63B480-BEA5-4302-8BE9-BE7976FD6D78}"/>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BC59EA22-335C-C8DC-F0D2-26D3CFC0DEE8}"/>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a:extLst>
              <a:ext uri="{FF2B5EF4-FFF2-40B4-BE49-F238E27FC236}">
                <a16:creationId xmlns:a16="http://schemas.microsoft.com/office/drawing/2014/main" id="{5F8A964E-BD49-E073-7089-14DE9C2A0225}"/>
              </a:ext>
            </a:extLst>
          </p:cNvPr>
          <p:cNvSpPr txBox="1"/>
          <p:nvPr/>
        </p:nvSpPr>
        <p:spPr>
          <a:xfrm>
            <a:off x="993026" y="1568793"/>
            <a:ext cx="16806753" cy="8125301"/>
          </a:xfrm>
          <a:prstGeom prst="rect">
            <a:avLst/>
          </a:prstGeom>
        </p:spPr>
        <p:txBody>
          <a:bodyPr wrap="square" lIns="0" tIns="0" rIns="0" bIns="0" rtlCol="0" anchor="t">
            <a:spAutoFit/>
          </a:bodyPr>
          <a:lstStyle/>
          <a:p>
            <a:endParaRPr lang="fr-FR" sz="4800" dirty="0"/>
          </a:p>
          <a:p>
            <a:r>
              <a:rPr lang="fr-FR" sz="4800" dirty="0"/>
              <a:t>L’injection de dépendance est souvent confondue avec l’</a:t>
            </a:r>
            <a:r>
              <a:rPr lang="fr-FR" sz="4800" b="1" dirty="0"/>
              <a:t>inversion de contrôle</a:t>
            </a:r>
            <a:r>
              <a:rPr lang="fr-FR" sz="4800" dirty="0"/>
              <a:t> (</a:t>
            </a:r>
            <a:r>
              <a:rPr lang="fr-FR" sz="4800" dirty="0" err="1"/>
              <a:t>IoC</a:t>
            </a:r>
            <a:r>
              <a:rPr lang="fr-FR" sz="4800" dirty="0"/>
              <a:t>), mais ces deux concepts ne sont pas identiques. L’inversion de contrôle est un principe plus large selon lequel un cadre (</a:t>
            </a:r>
            <a:r>
              <a:rPr lang="fr-FR" sz="4800" dirty="0" err="1"/>
              <a:t>framework</a:t>
            </a:r>
            <a:r>
              <a:rPr lang="fr-FR" sz="4800" dirty="0"/>
              <a:t>) ou un conteneur prend le contrôle du flux d’exécution d’une application. La DI est une forme spécifique </a:t>
            </a:r>
            <a:r>
              <a:rPr lang="fr-FR" sz="4800" dirty="0" err="1"/>
              <a:t>d’IoC</a:t>
            </a:r>
            <a:r>
              <a:rPr lang="fr-FR" sz="4800" dirty="0"/>
              <a:t>.</a:t>
            </a:r>
          </a:p>
          <a:p>
            <a:r>
              <a:rPr lang="fr-FR" sz="4800" b="1" dirty="0"/>
              <a:t>Inversion de contrôle (</a:t>
            </a:r>
            <a:r>
              <a:rPr lang="fr-FR" sz="4800" b="1" dirty="0" err="1"/>
              <a:t>IoC</a:t>
            </a:r>
            <a:r>
              <a:rPr lang="fr-FR" sz="4800" b="1" dirty="0"/>
              <a:t>) :</a:t>
            </a:r>
            <a:endParaRPr lang="fr-FR" sz="4800" dirty="0"/>
          </a:p>
          <a:p>
            <a:r>
              <a:rPr lang="fr-FR" sz="4800" dirty="0" err="1"/>
              <a:t>IoC</a:t>
            </a:r>
            <a:r>
              <a:rPr lang="fr-FR" sz="4800" dirty="0"/>
              <a:t> signifie que la logique métier d’une application n’est plus en charge de la création et de la gestion des objets dont elle a besoin. C’est le conteneur </a:t>
            </a:r>
            <a:r>
              <a:rPr lang="fr-FR" sz="4800" dirty="0" err="1"/>
              <a:t>IoC</a:t>
            </a:r>
            <a:r>
              <a:rPr lang="fr-FR" sz="4800" dirty="0"/>
              <a:t>, tel que celui de </a:t>
            </a:r>
            <a:r>
              <a:rPr lang="fr-FR" sz="4800" b="1" dirty="0"/>
              <a:t>Spring</a:t>
            </a:r>
            <a:r>
              <a:rPr lang="fr-FR" sz="4800" dirty="0"/>
              <a:t>, qui s’occupe de ces responsabilités.</a:t>
            </a:r>
          </a:p>
        </p:txBody>
      </p:sp>
      <p:sp>
        <p:nvSpPr>
          <p:cNvPr id="8" name="Freeform 8">
            <a:extLst>
              <a:ext uri="{FF2B5EF4-FFF2-40B4-BE49-F238E27FC236}">
                <a16:creationId xmlns:a16="http://schemas.microsoft.com/office/drawing/2014/main" id="{208E8618-8795-B7F0-EED4-2ADF1A5034F8}"/>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CFD20A30-E9F5-2BC8-4050-F0AB7E489027}"/>
              </a:ext>
            </a:extLst>
          </p:cNvPr>
          <p:cNvSpPr txBox="1"/>
          <p:nvPr/>
        </p:nvSpPr>
        <p:spPr>
          <a:xfrm>
            <a:off x="-159140" y="264187"/>
            <a:ext cx="17939234" cy="730969"/>
          </a:xfrm>
          <a:prstGeom prst="rect">
            <a:avLst/>
          </a:prstGeom>
        </p:spPr>
        <p:txBody>
          <a:bodyPr wrap="square" lIns="0" tIns="0" rIns="0" bIns="0" rtlCol="0" anchor="t">
            <a:spAutoFit/>
          </a:bodyPr>
          <a:lstStyle/>
          <a:p>
            <a:pPr algn="ctr">
              <a:lnSpc>
                <a:spcPts val="5704"/>
              </a:lnSpc>
            </a:pPr>
            <a:r>
              <a:rPr lang="fr-FR" sz="4800" kern="0" dirty="0">
                <a:latin typeface="Times New Roman" panose="02020603050405020304" pitchFamily="18" charset="0"/>
              </a:rPr>
              <a:t>EN RESUME</a:t>
            </a:r>
            <a:endParaRPr lang="en-US" sz="4800" kern="0" dirty="0">
              <a:latin typeface="Times New Roman" panose="02020603050405020304" pitchFamily="18" charset="0"/>
              <a:sym typeface="Akzidenz-Grotesk"/>
            </a:endParaRPr>
          </a:p>
        </p:txBody>
      </p:sp>
    </p:spTree>
    <p:extLst>
      <p:ext uri="{BB962C8B-B14F-4D97-AF65-F5344CB8AC3E}">
        <p14:creationId xmlns:p14="http://schemas.microsoft.com/office/powerpoint/2010/main" val="40187835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6622DD5F-C6A5-9E4C-4B53-1253D2D10A17}"/>
            </a:ext>
          </a:extLst>
        </p:cNvPr>
        <p:cNvGrpSpPr/>
        <p:nvPr/>
      </p:nvGrpSpPr>
      <p:grpSpPr>
        <a:xfrm>
          <a:off x="0" y="0"/>
          <a:ext cx="0" cy="0"/>
          <a:chOff x="0" y="0"/>
          <a:chExt cx="0" cy="0"/>
        </a:xfrm>
      </p:grpSpPr>
      <p:pic>
        <p:nvPicPr>
          <p:cNvPr id="1026" name="Picture 2" descr="universite-assane-seck-zig-5af59 - Wincom">
            <a:extLst>
              <a:ext uri="{FF2B5EF4-FFF2-40B4-BE49-F238E27FC236}">
                <a16:creationId xmlns:a16="http://schemas.microsoft.com/office/drawing/2014/main" id="{62EB5D02-4EED-A41D-A57E-34810097CB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2">
            <a:extLst>
              <a:ext uri="{FF2B5EF4-FFF2-40B4-BE49-F238E27FC236}">
                <a16:creationId xmlns:a16="http://schemas.microsoft.com/office/drawing/2014/main" id="{160612B4-F9D7-B7AC-CF28-3738B853D287}"/>
              </a:ext>
            </a:extLst>
          </p:cNvPr>
          <p:cNvGrpSpPr/>
          <p:nvPr/>
        </p:nvGrpSpPr>
        <p:grpSpPr>
          <a:xfrm>
            <a:off x="-8695" y="1008300"/>
            <a:ext cx="18647215" cy="10093992"/>
            <a:chOff x="0" y="-76200"/>
            <a:chExt cx="2272929" cy="1742654"/>
          </a:xfrm>
        </p:grpSpPr>
        <p:sp>
          <p:nvSpPr>
            <p:cNvPr id="3" name="Freeform 3">
              <a:extLst>
                <a:ext uri="{FF2B5EF4-FFF2-40B4-BE49-F238E27FC236}">
                  <a16:creationId xmlns:a16="http://schemas.microsoft.com/office/drawing/2014/main" id="{75EEBD10-DD2E-17E7-CBFA-27B9F55C0B6A}"/>
                </a:ext>
              </a:extLst>
            </p:cNvPr>
            <p:cNvSpPr/>
            <p:nvPr/>
          </p:nvSpPr>
          <p:spPr>
            <a:xfrm>
              <a:off x="75341" y="20565"/>
              <a:ext cx="210390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421CF6F0-8E85-BFBD-AC7F-567BE199D9DE}"/>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8157E84D-D40C-5949-1D8E-D496AFD5D4BE}"/>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a:extLst>
              <a:ext uri="{FF2B5EF4-FFF2-40B4-BE49-F238E27FC236}">
                <a16:creationId xmlns:a16="http://schemas.microsoft.com/office/drawing/2014/main" id="{84845C32-7D42-5BC3-5833-BDCE950AE9DE}"/>
              </a:ext>
            </a:extLst>
          </p:cNvPr>
          <p:cNvSpPr txBox="1"/>
          <p:nvPr/>
        </p:nvSpPr>
        <p:spPr>
          <a:xfrm>
            <a:off x="993026" y="1568793"/>
            <a:ext cx="16806753" cy="5170646"/>
          </a:xfrm>
          <a:prstGeom prst="rect">
            <a:avLst/>
          </a:prstGeom>
        </p:spPr>
        <p:txBody>
          <a:bodyPr wrap="square" lIns="0" tIns="0" rIns="0" bIns="0" rtlCol="0" anchor="t">
            <a:spAutoFit/>
          </a:bodyPr>
          <a:lstStyle/>
          <a:p>
            <a:endParaRPr lang="fr-FR" sz="4800" dirty="0"/>
          </a:p>
          <a:p>
            <a:r>
              <a:rPr lang="fr-FR" sz="4800" b="1" dirty="0"/>
              <a:t>DI vs </a:t>
            </a:r>
            <a:r>
              <a:rPr lang="fr-FR" sz="4800" b="1" dirty="0" err="1"/>
              <a:t>IoC</a:t>
            </a:r>
            <a:r>
              <a:rPr lang="fr-FR" sz="4800" b="1" dirty="0"/>
              <a:t> :</a:t>
            </a:r>
            <a:endParaRPr lang="fr-FR" sz="4800" dirty="0"/>
          </a:p>
          <a:p>
            <a:pPr lvl="0"/>
            <a:r>
              <a:rPr lang="fr-FR" sz="4800" dirty="0" err="1"/>
              <a:t>L’</a:t>
            </a:r>
            <a:r>
              <a:rPr lang="fr-FR" sz="4800" b="1" dirty="0" err="1"/>
              <a:t>IoC</a:t>
            </a:r>
            <a:r>
              <a:rPr lang="fr-FR" sz="4800" dirty="0"/>
              <a:t> est un principe général qui déplace le contrôle de la création et de la gestion des objets à un cadre (comme Spring).</a:t>
            </a:r>
          </a:p>
          <a:p>
            <a:pPr lvl="0"/>
            <a:r>
              <a:rPr lang="fr-FR" sz="4800" dirty="0"/>
              <a:t>La </a:t>
            </a:r>
            <a:r>
              <a:rPr lang="fr-FR" sz="4800" b="1" dirty="0"/>
              <a:t>DI</a:t>
            </a:r>
            <a:r>
              <a:rPr lang="fr-FR" sz="4800" dirty="0"/>
              <a:t> est une technique spécifique qui permet de fournir des dépendances à une classe à l’exécution, au lieu qu’elle ne les crée elle-même.</a:t>
            </a:r>
          </a:p>
        </p:txBody>
      </p:sp>
      <p:sp>
        <p:nvSpPr>
          <p:cNvPr id="8" name="Freeform 8">
            <a:extLst>
              <a:ext uri="{FF2B5EF4-FFF2-40B4-BE49-F238E27FC236}">
                <a16:creationId xmlns:a16="http://schemas.microsoft.com/office/drawing/2014/main" id="{9BC1B1ED-C068-36AA-2B1B-C527F2CC1DB1}"/>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75AAA890-EC8D-1C8C-8D9A-89770FB40F9C}"/>
              </a:ext>
            </a:extLst>
          </p:cNvPr>
          <p:cNvSpPr txBox="1"/>
          <p:nvPr/>
        </p:nvSpPr>
        <p:spPr>
          <a:xfrm>
            <a:off x="-159140" y="264187"/>
            <a:ext cx="17939234" cy="730969"/>
          </a:xfrm>
          <a:prstGeom prst="rect">
            <a:avLst/>
          </a:prstGeom>
        </p:spPr>
        <p:txBody>
          <a:bodyPr wrap="square" lIns="0" tIns="0" rIns="0" bIns="0" rtlCol="0" anchor="t">
            <a:spAutoFit/>
          </a:bodyPr>
          <a:lstStyle/>
          <a:p>
            <a:pPr algn="ctr">
              <a:lnSpc>
                <a:spcPts val="5704"/>
              </a:lnSpc>
            </a:pPr>
            <a:r>
              <a:rPr lang="fr-FR" sz="4800" kern="0" dirty="0">
                <a:latin typeface="Times New Roman" panose="02020603050405020304" pitchFamily="18" charset="0"/>
              </a:rPr>
              <a:t>EN RESUME</a:t>
            </a:r>
            <a:endParaRPr lang="en-US" sz="4800" kern="0" dirty="0">
              <a:latin typeface="Times New Roman" panose="02020603050405020304" pitchFamily="18" charset="0"/>
              <a:sym typeface="Akzidenz-Grotesk"/>
            </a:endParaRPr>
          </a:p>
        </p:txBody>
      </p:sp>
    </p:spTree>
    <p:extLst>
      <p:ext uri="{BB962C8B-B14F-4D97-AF65-F5344CB8AC3E}">
        <p14:creationId xmlns:p14="http://schemas.microsoft.com/office/powerpoint/2010/main" val="40301221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C6311920-132D-9766-94FA-76E328BCAE22}"/>
            </a:ext>
          </a:extLst>
        </p:cNvPr>
        <p:cNvGrpSpPr/>
        <p:nvPr/>
      </p:nvGrpSpPr>
      <p:grpSpPr>
        <a:xfrm>
          <a:off x="0" y="0"/>
          <a:ext cx="0" cy="0"/>
          <a:chOff x="0" y="0"/>
          <a:chExt cx="0" cy="0"/>
        </a:xfrm>
      </p:grpSpPr>
      <p:sp>
        <p:nvSpPr>
          <p:cNvPr id="21" name="Freeform 4">
            <a:extLst>
              <a:ext uri="{FF2B5EF4-FFF2-40B4-BE49-F238E27FC236}">
                <a16:creationId xmlns:a16="http://schemas.microsoft.com/office/drawing/2014/main" id="{7CED2294-752D-8F3E-E705-49F048C6DF3C}"/>
              </a:ext>
            </a:extLst>
          </p:cNvPr>
          <p:cNvSpPr/>
          <p:nvPr/>
        </p:nvSpPr>
        <p:spPr>
          <a:xfrm rot="4303617">
            <a:off x="324784" y="1212141"/>
            <a:ext cx="3833334" cy="2776856"/>
          </a:xfrm>
          <a:custGeom>
            <a:avLst/>
            <a:gdLst/>
            <a:ahLst/>
            <a:cxnLst/>
            <a:rect l="l" t="t" r="r" b="b"/>
            <a:pathLst>
              <a:path w="7085164" h="6325897">
                <a:moveTo>
                  <a:pt x="0" y="0"/>
                </a:moveTo>
                <a:lnTo>
                  <a:pt x="7085164" y="0"/>
                </a:lnTo>
                <a:lnTo>
                  <a:pt x="7085164" y="6325897"/>
                </a:lnTo>
                <a:lnTo>
                  <a:pt x="0" y="63258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2" name="TextBox 8">
            <a:extLst>
              <a:ext uri="{FF2B5EF4-FFF2-40B4-BE49-F238E27FC236}">
                <a16:creationId xmlns:a16="http://schemas.microsoft.com/office/drawing/2014/main" id="{DFC837B6-EB9B-4C60-5B99-9A538796A854}"/>
              </a:ext>
            </a:extLst>
          </p:cNvPr>
          <p:cNvSpPr txBox="1"/>
          <p:nvPr/>
        </p:nvSpPr>
        <p:spPr>
          <a:xfrm>
            <a:off x="7947926" y="2429523"/>
            <a:ext cx="4266282" cy="835887"/>
          </a:xfrm>
          <a:prstGeom prst="rect">
            <a:avLst/>
          </a:prstGeom>
        </p:spPr>
        <p:txBody>
          <a:bodyPr lIns="0" tIns="0" rIns="0" bIns="0" rtlCol="0" anchor="t">
            <a:spAutoFit/>
          </a:bodyPr>
          <a:lstStyle/>
          <a:p>
            <a:pPr algn="ctr">
              <a:lnSpc>
                <a:spcPts val="6251"/>
              </a:lnSpc>
            </a:pPr>
            <a:r>
              <a:rPr lang="en-US" sz="6069" b="1" dirty="0">
                <a:solidFill>
                  <a:srgbClr val="000000"/>
                </a:solidFill>
                <a:latin typeface="Neue Machina Ultra-Bold"/>
                <a:ea typeface="Neue Machina Ultra-Bold"/>
                <a:cs typeface="Neue Machina Ultra-Bold"/>
                <a:sym typeface="Neue Machina Ultra-Bold"/>
              </a:rPr>
              <a:t>MERCI</a:t>
            </a:r>
          </a:p>
        </p:txBody>
      </p:sp>
      <p:sp>
        <p:nvSpPr>
          <p:cNvPr id="23" name="Freeform 18">
            <a:extLst>
              <a:ext uri="{FF2B5EF4-FFF2-40B4-BE49-F238E27FC236}">
                <a16:creationId xmlns:a16="http://schemas.microsoft.com/office/drawing/2014/main" id="{F1DF4ED8-1C24-350C-7596-AD18DA2EB20B}"/>
              </a:ext>
            </a:extLst>
          </p:cNvPr>
          <p:cNvSpPr/>
          <p:nvPr/>
        </p:nvSpPr>
        <p:spPr>
          <a:xfrm rot="2807232">
            <a:off x="11897451" y="352843"/>
            <a:ext cx="6236818" cy="8416774"/>
          </a:xfrm>
          <a:custGeom>
            <a:avLst/>
            <a:gdLst/>
            <a:ahLst/>
            <a:cxnLst/>
            <a:rect l="l" t="t" r="r" b="b"/>
            <a:pathLst>
              <a:path w="9505647" h="7669422">
                <a:moveTo>
                  <a:pt x="0" y="0"/>
                </a:moveTo>
                <a:lnTo>
                  <a:pt x="9505647" y="0"/>
                </a:lnTo>
                <a:lnTo>
                  <a:pt x="9505647" y="7669422"/>
                </a:lnTo>
                <a:lnTo>
                  <a:pt x="0" y="766942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4" name="Group 2">
            <a:extLst>
              <a:ext uri="{FF2B5EF4-FFF2-40B4-BE49-F238E27FC236}">
                <a16:creationId xmlns:a16="http://schemas.microsoft.com/office/drawing/2014/main" id="{2A6F2A5E-A32F-5029-D1D4-892823878A9A}"/>
              </a:ext>
            </a:extLst>
          </p:cNvPr>
          <p:cNvGrpSpPr/>
          <p:nvPr/>
        </p:nvGrpSpPr>
        <p:grpSpPr>
          <a:xfrm>
            <a:off x="4670867" y="3955250"/>
            <a:ext cx="10820400" cy="3050066"/>
            <a:chOff x="0" y="0"/>
            <a:chExt cx="2272929" cy="1645889"/>
          </a:xfrm>
        </p:grpSpPr>
        <p:sp>
          <p:nvSpPr>
            <p:cNvPr id="25" name="TextBox 4">
              <a:extLst>
                <a:ext uri="{FF2B5EF4-FFF2-40B4-BE49-F238E27FC236}">
                  <a16:creationId xmlns:a16="http://schemas.microsoft.com/office/drawing/2014/main" id="{4D1FAC6A-062E-3798-72F0-E6748EEC6735}"/>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sp>
          <p:nvSpPr>
            <p:cNvPr id="26" name="Freeform 3">
              <a:extLst>
                <a:ext uri="{FF2B5EF4-FFF2-40B4-BE49-F238E27FC236}">
                  <a16:creationId xmlns:a16="http://schemas.microsoft.com/office/drawing/2014/main" id="{9F5274E9-FC9B-80C5-80AF-6FAC23EC96C8}"/>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grpSp>
      <p:pic>
        <p:nvPicPr>
          <p:cNvPr id="27" name="Picture 2" descr="universite-assane-seck-zig-5af59 - Wincom">
            <a:extLst>
              <a:ext uri="{FF2B5EF4-FFF2-40B4-BE49-F238E27FC236}">
                <a16:creationId xmlns:a16="http://schemas.microsoft.com/office/drawing/2014/main" id="{65D6DB2E-4459-A196-EBC6-B45AA6F879B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385" y="4700887"/>
            <a:ext cx="1273615" cy="2525413"/>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9">
            <a:extLst>
              <a:ext uri="{FF2B5EF4-FFF2-40B4-BE49-F238E27FC236}">
                <a16:creationId xmlns:a16="http://schemas.microsoft.com/office/drawing/2014/main" id="{1839AE76-7EFC-7C88-91B9-D0D9FA00FED8}"/>
              </a:ext>
            </a:extLst>
          </p:cNvPr>
          <p:cNvSpPr txBox="1"/>
          <p:nvPr/>
        </p:nvSpPr>
        <p:spPr>
          <a:xfrm>
            <a:off x="5486696" y="4855919"/>
            <a:ext cx="8228427" cy="738664"/>
          </a:xfrm>
          <a:prstGeom prst="rect">
            <a:avLst/>
          </a:prstGeom>
        </p:spPr>
        <p:txBody>
          <a:bodyPr wrap="square" lIns="0" tIns="0" rIns="0" bIns="0" rtlCol="0" anchor="t">
            <a:spAutoFit/>
          </a:bodyPr>
          <a:lstStyle/>
          <a:p>
            <a:pPr lvl="1"/>
            <a:r>
              <a:rPr lang="fr-FR" sz="4800" b="1" dirty="0"/>
              <a:t>POUR LA PROCHAINE ETAPE</a:t>
            </a:r>
            <a:endParaRPr lang="en-US" sz="2602" dirty="0">
              <a:solidFill>
                <a:srgbClr val="000000"/>
              </a:solidFill>
              <a:latin typeface="Akzidenz-Grotesk"/>
              <a:ea typeface="Akzidenz-Grotesk"/>
              <a:cs typeface="Akzidenz-Grotesk"/>
              <a:sym typeface="Akzidenz-Grotesk"/>
            </a:endParaRPr>
          </a:p>
        </p:txBody>
      </p:sp>
    </p:spTree>
    <p:extLst>
      <p:ext uri="{BB962C8B-B14F-4D97-AF65-F5344CB8AC3E}">
        <p14:creationId xmlns:p14="http://schemas.microsoft.com/office/powerpoint/2010/main" val="512290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1793</TotalTime>
  <Words>2712</Words>
  <Application>Microsoft Macintosh PowerPoint</Application>
  <PresentationFormat>Personnalisé</PresentationFormat>
  <Paragraphs>201</Paragraphs>
  <Slides>38</Slides>
  <Notes>38</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38</vt:i4>
      </vt:variant>
    </vt:vector>
  </HeadingPairs>
  <TitlesOfParts>
    <vt:vector size="45" baseType="lpstr">
      <vt:lpstr>Arial</vt:lpstr>
      <vt:lpstr>Neue Machina Ultra-Bold</vt:lpstr>
      <vt:lpstr>Times New Roman</vt:lpstr>
      <vt:lpstr>Bookman Old Style</vt:lpstr>
      <vt:lpstr>Akzidenz-Grotesk</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Entreprise Présentation  Minimaliste Organique Noir Beige </dc:title>
  <cp:lastModifiedBy>Microsoft Office User</cp:lastModifiedBy>
  <cp:revision>15</cp:revision>
  <dcterms:created xsi:type="dcterms:W3CDTF">2006-08-16T00:00:00Z</dcterms:created>
  <dcterms:modified xsi:type="dcterms:W3CDTF">2025-10-23T19:01:12Z</dcterms:modified>
  <dc:identifier>DAGyTjyv83I</dc:identifier>
</cp:coreProperties>
</file>