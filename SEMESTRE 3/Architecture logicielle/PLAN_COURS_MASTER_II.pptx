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79" r:id="rId5"/>
    <p:sldId id="277" r:id="rId6"/>
    <p:sldId id="278" r:id="rId7"/>
    <p:sldId id="280" r:id="rId8"/>
    <p:sldId id="271" r:id="rId9"/>
  </p:sldIdLst>
  <p:sldSz cx="18288000" cy="10287000"/>
  <p:notesSz cx="6858000" cy="9144000"/>
  <p:embeddedFontLst>
    <p:embeddedFont>
      <p:font typeface="Akzidenz-Grotesk" panose="02000503030000020003" pitchFamily="2" charset="77"/>
      <p:regular r:id="rId11"/>
    </p:embeddedFont>
    <p:embeddedFont>
      <p:font typeface="Bookman Old Style" panose="02050604050505020204" pitchFamily="18" charset="0"/>
      <p:regular r:id="rId12"/>
      <p:bold r:id="rId13"/>
      <p:italic r:id="rId14"/>
      <p:boldItalic r:id="rId15"/>
    </p:embeddedFont>
    <p:embeddedFont>
      <p:font typeface="Neue Machina Ultra-Bold" pitchFamily="2" charset="77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630" autoAdjust="0"/>
    <p:restoredTop sz="84517" autoAdjust="0"/>
  </p:normalViewPr>
  <p:slideViewPr>
    <p:cSldViewPr>
      <p:cViewPr varScale="1">
        <p:scale>
          <a:sx n="42" d="100"/>
          <a:sy n="42" d="100"/>
        </p:scale>
        <p:origin x="1176" y="3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5A1AD-6EE0-7B47-843F-7A2A6B89B1E6}" type="datetimeFigureOut">
              <a:rPr lang="fr-FR" smtClean="0"/>
              <a:t>14/10/2025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5923D-B6A3-304B-9A38-4C678B2931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1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5923D-B6A3-304B-9A38-4C678B2931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596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b="1" dirty="0"/>
              <a:t>composants logiciels</a:t>
            </a:r>
            <a:r>
              <a:rPr lang="fr-FR" dirty="0"/>
              <a:t> sont les </a:t>
            </a:r>
            <a:r>
              <a:rPr lang="fr-FR" b="1" dirty="0"/>
              <a:t>éléments de base d’un système informatique</a:t>
            </a:r>
            <a:r>
              <a:rPr lang="fr-FR" dirty="0"/>
              <a:t>. Ils représentent des </a:t>
            </a:r>
            <a:r>
              <a:rPr lang="fr-FR" b="1" dirty="0"/>
              <a:t>modules indépendants</a:t>
            </a:r>
            <a:r>
              <a:rPr lang="fr-FR" dirty="0"/>
              <a:t> qui interagissent entre eux pour exécuter les différentes fonctions d’un logiciel ou d’une application.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5923D-B6A3-304B-9A38-4C678B29316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116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6C7C-F873-9565-65C9-97483134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047F989-9FB9-75E7-6EB1-279FE6305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F68DD6-DFE2-1BB7-08AF-CDA09F7F4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40E398-739F-B674-7210-552D5DE16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5923D-B6A3-304B-9A38-4C678B29316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479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24C9D-1ADD-F25D-C446-6DFC82965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B8A3A70-08B7-D53A-4184-F570ED587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36A2F6C-6EF7-BECA-84DE-57E1BB0B3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</a:t>
            </a:r>
            <a:r>
              <a:rPr lang="fr-FR" b="1" dirty="0"/>
              <a:t>architecture orientée services (SOA)</a:t>
            </a:r>
            <a:r>
              <a:rPr lang="fr-FR" dirty="0"/>
              <a:t> est un </a:t>
            </a:r>
            <a:r>
              <a:rPr lang="fr-FR" b="1" dirty="0"/>
              <a:t>modèle d’organisation des systèmes informatiques</a:t>
            </a:r>
            <a:r>
              <a:rPr lang="fr-FR" dirty="0"/>
              <a:t> où les </a:t>
            </a:r>
            <a:r>
              <a:rPr lang="fr-FR" b="1" dirty="0"/>
              <a:t>fonctionnalités</a:t>
            </a:r>
            <a:r>
              <a:rPr lang="fr-FR" dirty="0"/>
              <a:t> d’un logiciel sont divisées en </a:t>
            </a:r>
            <a:r>
              <a:rPr lang="fr-FR" b="1" dirty="0"/>
              <a:t>services indépendants</a:t>
            </a:r>
            <a:r>
              <a:rPr lang="fr-FR" dirty="0"/>
              <a:t>, accessibles via un </a:t>
            </a:r>
            <a:r>
              <a:rPr lang="fr-FR" b="1" dirty="0"/>
              <a:t>réseau</a:t>
            </a:r>
            <a:r>
              <a:rPr lang="fr-FR" dirty="0"/>
              <a:t> (souvent Internet ou un intranet).</a:t>
            </a:r>
          </a:p>
          <a:p>
            <a:endParaRPr lang="fr-FR" dirty="0"/>
          </a:p>
          <a:p>
            <a:r>
              <a:rPr lang="fr-FR" dirty="0"/>
              <a:t>En d’autres termes, la SOA permet à différentes applications (même développées dans des technologies différentes) de </a:t>
            </a:r>
            <a:r>
              <a:rPr lang="fr-FR" b="1" dirty="0"/>
              <a:t>communiquer et collaborer</a:t>
            </a:r>
            <a:r>
              <a:rPr lang="fr-FR" dirty="0"/>
              <a:t> en échangeant des </a:t>
            </a:r>
            <a:r>
              <a:rPr lang="fr-FR" b="1" dirty="0"/>
              <a:t>services standardisés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0CE2C1-417A-3B73-4A6D-21903B170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5923D-B6A3-304B-9A38-4C678B29316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508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9C349-F0B1-FE6E-7F59-B2D3A9CD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31479E6-B2F4-237A-3C2F-948D1A2B5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B210C11-3A5C-BC91-D52F-1BC9E2361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C0789D-5929-AD37-28A8-58CE7481C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5923D-B6A3-304B-9A38-4C678B29316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937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EEF78-EF0F-2825-3476-7F5E7690F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358F7C-A64A-246E-321B-E342F98F7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BF6CD28-443D-E356-139C-025BF4005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CE4536-E712-C8D2-D14E-9D221A0A3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5923D-B6A3-304B-9A38-4C678B29316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070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adiedhiou@minfinances.sn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60485">
            <a:off x="13419555" y="4654397"/>
            <a:ext cx="6728545" cy="6403217"/>
          </a:xfrm>
          <a:custGeom>
            <a:avLst/>
            <a:gdLst/>
            <a:ahLst/>
            <a:cxnLst/>
            <a:rect l="l" t="t" r="r" b="b"/>
            <a:pathLst>
              <a:path w="6728545" h="6403217">
                <a:moveTo>
                  <a:pt x="0" y="0"/>
                </a:moveTo>
                <a:lnTo>
                  <a:pt x="6728545" y="0"/>
                </a:lnTo>
                <a:lnTo>
                  <a:pt x="6728545" y="6403217"/>
                </a:lnTo>
                <a:lnTo>
                  <a:pt x="0" y="64032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206933">
            <a:off x="-3150744" y="2201181"/>
            <a:ext cx="6500754" cy="5382013"/>
          </a:xfrm>
          <a:custGeom>
            <a:avLst/>
            <a:gdLst/>
            <a:ahLst/>
            <a:cxnLst/>
            <a:rect l="l" t="t" r="r" b="b"/>
            <a:pathLst>
              <a:path w="11239071" h="9067998">
                <a:moveTo>
                  <a:pt x="0" y="0"/>
                </a:moveTo>
                <a:lnTo>
                  <a:pt x="11239072" y="0"/>
                </a:lnTo>
                <a:lnTo>
                  <a:pt x="11239072" y="9067998"/>
                </a:lnTo>
                <a:lnTo>
                  <a:pt x="0" y="9067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B8E9F45-7D01-9F6D-7D80-866080113CC6}"/>
              </a:ext>
            </a:extLst>
          </p:cNvPr>
          <p:cNvSpPr txBox="1"/>
          <p:nvPr/>
        </p:nvSpPr>
        <p:spPr>
          <a:xfrm>
            <a:off x="17961429" y="762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047904F-81CC-A405-EF0E-B76490125E08}"/>
              </a:ext>
            </a:extLst>
          </p:cNvPr>
          <p:cNvSpPr txBox="1"/>
          <p:nvPr/>
        </p:nvSpPr>
        <p:spPr>
          <a:xfrm>
            <a:off x="10938933" y="6468533"/>
            <a:ext cx="18473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2050" name="Picture 2" descr="universite-assane-seck-zig-5af59 - Wincom">
            <a:extLst>
              <a:ext uri="{FF2B5EF4-FFF2-40B4-BE49-F238E27FC236}">
                <a16:creationId xmlns:a16="http://schemas.microsoft.com/office/drawing/2014/main" id="{A255569F-0375-0A6D-DEF0-0A925C8AB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100" y="249824"/>
            <a:ext cx="2857500" cy="226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7F7887DD-84C3-2BEF-B170-A1F052916EDF}"/>
              </a:ext>
            </a:extLst>
          </p:cNvPr>
          <p:cNvGrpSpPr/>
          <p:nvPr/>
        </p:nvGrpSpPr>
        <p:grpSpPr>
          <a:xfrm>
            <a:off x="1761135" y="2650986"/>
            <a:ext cx="15379236" cy="1520389"/>
            <a:chOff x="2901042" y="6662557"/>
            <a:chExt cx="12230100" cy="2214744"/>
          </a:xfrm>
        </p:grpSpPr>
        <p:grpSp>
          <p:nvGrpSpPr>
            <p:cNvPr id="14" name="Group 3">
              <a:extLst>
                <a:ext uri="{FF2B5EF4-FFF2-40B4-BE49-F238E27FC236}">
                  <a16:creationId xmlns:a16="http://schemas.microsoft.com/office/drawing/2014/main" id="{EB33083E-116D-E687-A394-314A2A452345}"/>
                </a:ext>
              </a:extLst>
            </p:cNvPr>
            <p:cNvGrpSpPr/>
            <p:nvPr/>
          </p:nvGrpSpPr>
          <p:grpSpPr>
            <a:xfrm>
              <a:off x="3048000" y="6662557"/>
              <a:ext cx="12083142" cy="2214744"/>
              <a:chOff x="0" y="-38100"/>
              <a:chExt cx="2842321" cy="787881"/>
            </a:xfrm>
          </p:grpSpPr>
          <p:sp>
            <p:nvSpPr>
              <p:cNvPr id="15" name="Freeform 4">
                <a:extLst>
                  <a:ext uri="{FF2B5EF4-FFF2-40B4-BE49-F238E27FC236}">
                    <a16:creationId xmlns:a16="http://schemas.microsoft.com/office/drawing/2014/main" id="{1855057B-3B6E-A032-C269-F77B01F3269D}"/>
                  </a:ext>
                </a:extLst>
              </p:cNvPr>
              <p:cNvSpPr/>
              <p:nvPr/>
            </p:nvSpPr>
            <p:spPr>
              <a:xfrm>
                <a:off x="0" y="0"/>
                <a:ext cx="2842321" cy="749781"/>
              </a:xfrm>
              <a:custGeom>
                <a:avLst/>
                <a:gdLst/>
                <a:ahLst/>
                <a:cxnLst/>
                <a:rect l="l" t="t" r="r" b="b"/>
                <a:pathLst>
                  <a:path w="2419814" h="749781">
                    <a:moveTo>
                      <a:pt x="0" y="0"/>
                    </a:moveTo>
                    <a:lnTo>
                      <a:pt x="2419814" y="0"/>
                    </a:lnTo>
                    <a:lnTo>
                      <a:pt x="2419814" y="749781"/>
                    </a:lnTo>
                    <a:lnTo>
                      <a:pt x="0" y="749781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fr-FR" dirty="0"/>
              </a:p>
            </p:txBody>
          </p:sp>
          <p:sp>
            <p:nvSpPr>
              <p:cNvPr id="16" name="TextBox 5">
                <a:extLst>
                  <a:ext uri="{FF2B5EF4-FFF2-40B4-BE49-F238E27FC236}">
                    <a16:creationId xmlns:a16="http://schemas.microsoft.com/office/drawing/2014/main" id="{6DD19ECB-8B4E-31A5-5865-20224CCC232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419814" cy="787881"/>
              </a:xfrm>
              <a:prstGeom prst="rect">
                <a:avLst/>
              </a:prstGeom>
            </p:spPr>
            <p:txBody>
              <a:bodyPr lIns="57533" tIns="57533" rIns="57533" bIns="57533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3557DFD5-F6B4-2288-FFE0-5CCAA794AA63}"/>
                </a:ext>
              </a:extLst>
            </p:cNvPr>
            <p:cNvSpPr txBox="1"/>
            <p:nvPr/>
          </p:nvSpPr>
          <p:spPr>
            <a:xfrm>
              <a:off x="2901042" y="7011197"/>
              <a:ext cx="11887200" cy="16927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631"/>
                </a:lnSpc>
              </a:pPr>
              <a:r>
                <a:rPr lang="en-US" sz="6438" b="1" dirty="0">
                  <a:solidFill>
                    <a:srgbClr val="000000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ARCHITECTURE LOGICIELLE</a:t>
              </a:r>
            </a:p>
          </p:txBody>
        </p:sp>
      </p:grpSp>
      <p:sp>
        <p:nvSpPr>
          <p:cNvPr id="23" name="TextBox 5">
            <a:extLst>
              <a:ext uri="{FF2B5EF4-FFF2-40B4-BE49-F238E27FC236}">
                <a16:creationId xmlns:a16="http://schemas.microsoft.com/office/drawing/2014/main" id="{6ACA09AA-BBDD-E610-8D43-8C66A7F76967}"/>
              </a:ext>
            </a:extLst>
          </p:cNvPr>
          <p:cNvSpPr txBox="1"/>
          <p:nvPr/>
        </p:nvSpPr>
        <p:spPr>
          <a:xfrm>
            <a:off x="2969804" y="2255956"/>
            <a:ext cx="12954000" cy="3387954"/>
          </a:xfrm>
          <a:prstGeom prst="rect">
            <a:avLst/>
          </a:prstGeom>
        </p:spPr>
        <p:txBody>
          <a:bodyPr lIns="57533" tIns="57533" rIns="57533" bIns="57533" rtlCol="0" anchor="ctr"/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endParaRPr/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059A1F6A-B22B-24A4-4DD5-C0E58979BB5C}"/>
              </a:ext>
            </a:extLst>
          </p:cNvPr>
          <p:cNvSpPr txBox="1"/>
          <p:nvPr/>
        </p:nvSpPr>
        <p:spPr>
          <a:xfrm>
            <a:off x="8441374" y="5421271"/>
            <a:ext cx="10506320" cy="1638084"/>
          </a:xfrm>
          <a:prstGeom prst="rect">
            <a:avLst/>
          </a:prstGeom>
        </p:spPr>
        <p:txBody>
          <a:bodyPr lIns="57533" tIns="57533" rIns="57533" bIns="57533" rtlCol="0" anchor="ctr"/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endParaRPr sz="3200"/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1D3BFD90-31DE-1CA0-ADA5-658F469EDE17}"/>
              </a:ext>
            </a:extLst>
          </p:cNvPr>
          <p:cNvSpPr txBox="1"/>
          <p:nvPr/>
        </p:nvSpPr>
        <p:spPr>
          <a:xfrm>
            <a:off x="152401" y="5506402"/>
            <a:ext cx="10134600" cy="736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31"/>
              </a:lnSpc>
            </a:pPr>
            <a:r>
              <a:rPr lang="fr-FR" sz="3200" b="1" dirty="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Année académique : 2025-2026</a:t>
            </a:r>
            <a:endParaRPr lang="en-US" sz="3200" b="1" dirty="0">
              <a:solidFill>
                <a:srgbClr val="000000"/>
              </a:solidFill>
              <a:latin typeface="Neue Machina Ultra-Bold"/>
              <a:ea typeface="Neue Machina Ultra-Bold"/>
              <a:cs typeface="Neue Machina Ultra-Bold"/>
              <a:sym typeface="Neue Machina Ultra-Bold"/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27147F7E-A2D5-58D1-7C0F-D897757BC7A4}"/>
              </a:ext>
            </a:extLst>
          </p:cNvPr>
          <p:cNvSpPr txBox="1"/>
          <p:nvPr/>
        </p:nvSpPr>
        <p:spPr>
          <a:xfrm>
            <a:off x="1089336" y="6277257"/>
            <a:ext cx="8433613" cy="736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31"/>
              </a:lnSpc>
            </a:pPr>
            <a:r>
              <a:rPr lang="fr-FR" sz="3200" b="1" dirty="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Enseignent : Alassane DIEDHIOU</a:t>
            </a:r>
            <a:endParaRPr lang="en-US" sz="3200" b="1" dirty="0">
              <a:solidFill>
                <a:srgbClr val="000000"/>
              </a:solidFill>
              <a:latin typeface="Neue Machina Ultra-Bold"/>
              <a:ea typeface="Neue Machina Ultra-Bold"/>
              <a:cs typeface="Neue Machina Ultra-Bold"/>
              <a:sym typeface="Neue Machina Ultra-Bold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BDF95C37-0367-7C2E-B0F7-6838E7EBEF04}"/>
              </a:ext>
            </a:extLst>
          </p:cNvPr>
          <p:cNvSpPr txBox="1"/>
          <p:nvPr/>
        </p:nvSpPr>
        <p:spPr>
          <a:xfrm>
            <a:off x="9550400" y="6629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AFF3145B-F668-2934-29F3-BA515C210D1A}"/>
              </a:ext>
            </a:extLst>
          </p:cNvPr>
          <p:cNvSpPr txBox="1"/>
          <p:nvPr/>
        </p:nvSpPr>
        <p:spPr>
          <a:xfrm>
            <a:off x="164693" y="7119713"/>
            <a:ext cx="10506320" cy="1582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31"/>
              </a:lnSpc>
            </a:pPr>
            <a:r>
              <a:rPr lang="fr-FR" sz="3200" b="1" dirty="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Mail : </a:t>
            </a:r>
            <a:r>
              <a:rPr lang="fr-FR" sz="3200" b="1" dirty="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  <a:hlinkClick r:id="rId8"/>
              </a:rPr>
              <a:t>adiedhiou@minfinances.sn</a:t>
            </a:r>
            <a:r>
              <a:rPr lang="fr-FR" sz="3200" b="1" dirty="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.</a:t>
            </a:r>
          </a:p>
          <a:p>
            <a:pPr algn="ctr">
              <a:lnSpc>
                <a:spcPts val="6631"/>
              </a:lnSpc>
            </a:pPr>
            <a:endParaRPr lang="en-US" sz="3200" b="1" dirty="0">
              <a:solidFill>
                <a:srgbClr val="000000"/>
              </a:solidFill>
              <a:latin typeface="Neue Machina Ultra-Bold"/>
              <a:ea typeface="Neue Machina Ultra-Bold"/>
              <a:cs typeface="Neue Machina Ultra-Bold"/>
              <a:sym typeface="Neue Machina Ultra-Bold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027CA10-FD63-E248-D5A8-61DDBCDBC2D4}"/>
              </a:ext>
            </a:extLst>
          </p:cNvPr>
          <p:cNvSpPr txBox="1"/>
          <p:nvPr/>
        </p:nvSpPr>
        <p:spPr>
          <a:xfrm>
            <a:off x="1971775" y="4211490"/>
            <a:ext cx="12992007" cy="1032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87295" marR="2028825" indent="-768985">
              <a:lnSpc>
                <a:spcPct val="200000"/>
              </a:lnSpc>
              <a:spcBef>
                <a:spcPts val="450"/>
              </a:spcBef>
              <a:buNone/>
            </a:pPr>
            <a:r>
              <a:rPr lang="fr-FR" sz="3600" b="1" dirty="0">
                <a:effectLst/>
                <a:latin typeface="Bookman Old Style" panose="020506040505050202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Université Assane Seck de Ziguinchor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8260" y="1688302"/>
            <a:ext cx="14922638" cy="6634612"/>
            <a:chOff x="0" y="0"/>
            <a:chExt cx="2375755" cy="22300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5755" cy="2230087"/>
            </a:xfrm>
            <a:custGeom>
              <a:avLst/>
              <a:gdLst/>
              <a:ahLst/>
              <a:cxnLst/>
              <a:rect l="l" t="t" r="r" b="b"/>
              <a:pathLst>
                <a:path w="2375755" h="2230087">
                  <a:moveTo>
                    <a:pt x="0" y="0"/>
                  </a:moveTo>
                  <a:lnTo>
                    <a:pt x="2375755" y="0"/>
                  </a:lnTo>
                  <a:lnTo>
                    <a:pt x="2375755" y="2230087"/>
                  </a:lnTo>
                  <a:lnTo>
                    <a:pt x="0" y="2230087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75755" cy="2268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934702">
            <a:off x="-593981" y="91279"/>
            <a:ext cx="4383276" cy="4391725"/>
          </a:xfrm>
          <a:custGeom>
            <a:avLst/>
            <a:gdLst/>
            <a:ahLst/>
            <a:cxnLst/>
            <a:rect l="l" t="t" r="r" b="b"/>
            <a:pathLst>
              <a:path w="6320501" h="4391725">
                <a:moveTo>
                  <a:pt x="0" y="0"/>
                </a:moveTo>
                <a:lnTo>
                  <a:pt x="6320502" y="0"/>
                </a:lnTo>
                <a:lnTo>
                  <a:pt x="6320502" y="4391725"/>
                </a:lnTo>
                <a:lnTo>
                  <a:pt x="0" y="439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432302" y="3800761"/>
            <a:ext cx="11893298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2"/>
              </a:lnSpc>
            </a:pPr>
            <a:r>
              <a:rPr lang="fr-FR" sz="3600" dirty="0"/>
              <a:t>LES NOTIONS ET FONDEMENTS DE L’ARCHITECTURE LOGICIELLE </a:t>
            </a:r>
            <a:endParaRPr lang="en-US" sz="3600" dirty="0">
              <a:sym typeface="Akzidenz-Grotesk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556821" y="3786269"/>
            <a:ext cx="759130" cy="660419"/>
            <a:chOff x="0" y="-79801"/>
            <a:chExt cx="611475" cy="68993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611475" cy="610136"/>
              <a:chOff x="0" y="0"/>
              <a:chExt cx="900098" cy="89812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00098" cy="898127"/>
              </a:xfrm>
              <a:custGeom>
                <a:avLst/>
                <a:gdLst/>
                <a:ahLst/>
                <a:cxnLst/>
                <a:rect l="l" t="t" r="r" b="b"/>
                <a:pathLst>
                  <a:path w="900098" h="898127">
                    <a:moveTo>
                      <a:pt x="450049" y="0"/>
                    </a:moveTo>
                    <a:cubicBezTo>
                      <a:pt x="201494" y="0"/>
                      <a:pt x="0" y="201053"/>
                      <a:pt x="0" y="449064"/>
                    </a:cubicBezTo>
                    <a:cubicBezTo>
                      <a:pt x="0" y="697075"/>
                      <a:pt x="201494" y="898127"/>
                      <a:pt x="450049" y="898127"/>
                    </a:cubicBezTo>
                    <a:cubicBezTo>
                      <a:pt x="698604" y="898127"/>
                      <a:pt x="900098" y="697075"/>
                      <a:pt x="900098" y="449064"/>
                    </a:cubicBezTo>
                    <a:cubicBezTo>
                      <a:pt x="900098" y="20105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fr-FR" dirty="0">
                  <a:ln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ln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4384" y="7999"/>
                <a:ext cx="731330" cy="805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52544" y="-79801"/>
              <a:ext cx="306388" cy="333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42"/>
                </a:lnSpc>
              </a:pPr>
              <a:r>
                <a:rPr lang="en-US" sz="3101" dirty="0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1</a:t>
              </a:r>
            </a:p>
          </p:txBody>
        </p:sp>
      </p:grpSp>
      <p:sp>
        <p:nvSpPr>
          <p:cNvPr id="62" name="ZoneTexte 61">
            <a:extLst>
              <a:ext uri="{FF2B5EF4-FFF2-40B4-BE49-F238E27FC236}">
                <a16:creationId xmlns:a16="http://schemas.microsoft.com/office/drawing/2014/main" id="{B260E1D1-E371-37A4-922C-BDE71584821F}"/>
              </a:ext>
            </a:extLst>
          </p:cNvPr>
          <p:cNvSpPr txBox="1"/>
          <p:nvPr/>
        </p:nvSpPr>
        <p:spPr>
          <a:xfrm>
            <a:off x="17308286" y="4288971"/>
            <a:ext cx="184731" cy="36933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25155DC8-3077-0F39-369C-E8EAA97905F0}"/>
              </a:ext>
            </a:extLst>
          </p:cNvPr>
          <p:cNvGrpSpPr/>
          <p:nvPr/>
        </p:nvGrpSpPr>
        <p:grpSpPr>
          <a:xfrm>
            <a:off x="2669870" y="1538173"/>
            <a:ext cx="13335000" cy="1365100"/>
            <a:chOff x="2667000" y="2521349"/>
            <a:chExt cx="13335000" cy="3387954"/>
          </a:xfrm>
        </p:grpSpPr>
        <p:grpSp>
          <p:nvGrpSpPr>
            <p:cNvPr id="50" name="Group 3">
              <a:extLst>
                <a:ext uri="{FF2B5EF4-FFF2-40B4-BE49-F238E27FC236}">
                  <a16:creationId xmlns:a16="http://schemas.microsoft.com/office/drawing/2014/main" id="{6323B86C-A718-FAB5-D441-C4A06D1AAB03}"/>
                </a:ext>
              </a:extLst>
            </p:cNvPr>
            <p:cNvGrpSpPr/>
            <p:nvPr/>
          </p:nvGrpSpPr>
          <p:grpSpPr>
            <a:xfrm>
              <a:off x="2667000" y="2521349"/>
              <a:ext cx="13335000" cy="3387954"/>
              <a:chOff x="0" y="-38100"/>
              <a:chExt cx="2490985" cy="787881"/>
            </a:xfrm>
          </p:grpSpPr>
          <p:sp>
            <p:nvSpPr>
              <p:cNvPr id="52" name="Freeform 4">
                <a:extLst>
                  <a:ext uri="{FF2B5EF4-FFF2-40B4-BE49-F238E27FC236}">
                    <a16:creationId xmlns:a16="http://schemas.microsoft.com/office/drawing/2014/main" id="{BC3D8E1B-4D4C-7391-87BB-BBE918ED1E1A}"/>
                  </a:ext>
                </a:extLst>
              </p:cNvPr>
              <p:cNvSpPr/>
              <p:nvPr/>
            </p:nvSpPr>
            <p:spPr>
              <a:xfrm>
                <a:off x="71171" y="0"/>
                <a:ext cx="2419814" cy="749781"/>
              </a:xfrm>
              <a:custGeom>
                <a:avLst/>
                <a:gdLst/>
                <a:ahLst/>
                <a:cxnLst/>
                <a:rect l="l" t="t" r="r" b="b"/>
                <a:pathLst>
                  <a:path w="2419814" h="749781">
                    <a:moveTo>
                      <a:pt x="0" y="0"/>
                    </a:moveTo>
                    <a:lnTo>
                      <a:pt x="2419814" y="0"/>
                    </a:lnTo>
                    <a:lnTo>
                      <a:pt x="2419814" y="749781"/>
                    </a:lnTo>
                    <a:lnTo>
                      <a:pt x="0" y="749781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3" name="TextBox 5">
                <a:extLst>
                  <a:ext uri="{FF2B5EF4-FFF2-40B4-BE49-F238E27FC236}">
                    <a16:creationId xmlns:a16="http://schemas.microsoft.com/office/drawing/2014/main" id="{4006DBA3-267C-0238-DA1E-D49957285FA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419814" cy="787881"/>
              </a:xfrm>
              <a:prstGeom prst="rect">
                <a:avLst/>
              </a:prstGeom>
            </p:spPr>
            <p:txBody>
              <a:bodyPr lIns="57533" tIns="57533" rIns="57533" bIns="57533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1" name="TextBox 7">
              <a:extLst>
                <a:ext uri="{FF2B5EF4-FFF2-40B4-BE49-F238E27FC236}">
                  <a16:creationId xmlns:a16="http://schemas.microsoft.com/office/drawing/2014/main" id="{5FB26268-5C2A-3DFC-B24E-287361A1A03A}"/>
                </a:ext>
              </a:extLst>
            </p:cNvPr>
            <p:cNvSpPr txBox="1"/>
            <p:nvPr/>
          </p:nvSpPr>
          <p:spPr>
            <a:xfrm>
              <a:off x="3200400" y="3578395"/>
              <a:ext cx="11887200" cy="8463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631"/>
                </a:lnSpc>
              </a:pPr>
              <a:r>
                <a:rPr lang="fr-FR" sz="6438" b="1" dirty="0">
                  <a:solidFill>
                    <a:srgbClr val="000000"/>
                  </a:solidFill>
                  <a:latin typeface="Neue Machina Ultra-Bold"/>
                </a:rPr>
                <a:t>PLAN DU COURS</a:t>
              </a:r>
              <a:endParaRPr lang="en-US" sz="6438" b="1" dirty="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endParaRPr>
            </a:p>
          </p:txBody>
        </p:sp>
      </p:grpSp>
      <p:pic>
        <p:nvPicPr>
          <p:cNvPr id="54" name="Picture 2" descr="universite-assane-seck-zig-5af59 - Wincom">
            <a:extLst>
              <a:ext uri="{FF2B5EF4-FFF2-40B4-BE49-F238E27FC236}">
                <a16:creationId xmlns:a16="http://schemas.microsoft.com/office/drawing/2014/main" id="{307DB7D0-BE13-0572-81CB-9DA503331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100" y="249824"/>
            <a:ext cx="2857500" cy="118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" name="Group 11">
            <a:extLst>
              <a:ext uri="{FF2B5EF4-FFF2-40B4-BE49-F238E27FC236}">
                <a16:creationId xmlns:a16="http://schemas.microsoft.com/office/drawing/2014/main" id="{0C6742BF-B9BE-3082-552E-490ADF1D5ED4}"/>
              </a:ext>
            </a:extLst>
          </p:cNvPr>
          <p:cNvGrpSpPr/>
          <p:nvPr/>
        </p:nvGrpSpPr>
        <p:grpSpPr>
          <a:xfrm>
            <a:off x="1676035" y="4787881"/>
            <a:ext cx="616793" cy="605667"/>
            <a:chOff x="57325" y="-79801"/>
            <a:chExt cx="496823" cy="632738"/>
          </a:xfrm>
        </p:grpSpPr>
        <p:sp>
          <p:nvSpPr>
            <p:cNvPr id="63" name="TextBox 14">
              <a:extLst>
                <a:ext uri="{FF2B5EF4-FFF2-40B4-BE49-F238E27FC236}">
                  <a16:creationId xmlns:a16="http://schemas.microsoft.com/office/drawing/2014/main" id="{C8F755BC-EDD1-3406-BED3-5C9BB8553305}"/>
                </a:ext>
              </a:extLst>
            </p:cNvPr>
            <p:cNvSpPr txBox="1"/>
            <p:nvPr/>
          </p:nvSpPr>
          <p:spPr>
            <a:xfrm>
              <a:off x="57325" y="5435"/>
              <a:ext cx="496823" cy="547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  <p:sp>
          <p:nvSpPr>
            <p:cNvPr id="60" name="TextBox 15">
              <a:extLst>
                <a:ext uri="{FF2B5EF4-FFF2-40B4-BE49-F238E27FC236}">
                  <a16:creationId xmlns:a16="http://schemas.microsoft.com/office/drawing/2014/main" id="{D222C82E-B363-BA7F-D9E1-55C94DCE5C96}"/>
                </a:ext>
              </a:extLst>
            </p:cNvPr>
            <p:cNvSpPr txBox="1"/>
            <p:nvPr/>
          </p:nvSpPr>
          <p:spPr>
            <a:xfrm>
              <a:off x="152544" y="-79801"/>
              <a:ext cx="306388" cy="333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42"/>
                </a:lnSpc>
              </a:pPr>
              <a:r>
                <a:rPr lang="en-US" sz="3101" dirty="0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1</a:t>
              </a:r>
            </a:p>
          </p:txBody>
        </p:sp>
      </p:grpSp>
      <p:sp>
        <p:nvSpPr>
          <p:cNvPr id="64" name="TextBox 7">
            <a:extLst>
              <a:ext uri="{FF2B5EF4-FFF2-40B4-BE49-F238E27FC236}">
                <a16:creationId xmlns:a16="http://schemas.microsoft.com/office/drawing/2014/main" id="{A71BE11F-B577-47BC-7177-3D3B66833AB1}"/>
              </a:ext>
            </a:extLst>
          </p:cNvPr>
          <p:cNvSpPr txBox="1"/>
          <p:nvPr/>
        </p:nvSpPr>
        <p:spPr>
          <a:xfrm>
            <a:off x="2584702" y="5143500"/>
            <a:ext cx="7930898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2"/>
              </a:lnSpc>
            </a:pPr>
            <a:r>
              <a:rPr lang="fr-FR" sz="3600" dirty="0"/>
              <a:t>LES ARCHITECTURES MONOLITHIQUES</a:t>
            </a:r>
            <a:endParaRPr lang="en-US" sz="3600" dirty="0">
              <a:sym typeface="Akzidenz-Grotesk"/>
            </a:endParaRPr>
          </a:p>
        </p:txBody>
      </p:sp>
      <p:grpSp>
        <p:nvGrpSpPr>
          <p:cNvPr id="65" name="Group 11">
            <a:extLst>
              <a:ext uri="{FF2B5EF4-FFF2-40B4-BE49-F238E27FC236}">
                <a16:creationId xmlns:a16="http://schemas.microsoft.com/office/drawing/2014/main" id="{B7376CC8-99C3-642F-2E29-415B72C30612}"/>
              </a:ext>
            </a:extLst>
          </p:cNvPr>
          <p:cNvGrpSpPr/>
          <p:nvPr/>
        </p:nvGrpSpPr>
        <p:grpSpPr>
          <a:xfrm>
            <a:off x="1524000" y="5168881"/>
            <a:ext cx="759130" cy="660419"/>
            <a:chOff x="0" y="-79801"/>
            <a:chExt cx="611475" cy="689937"/>
          </a:xfrm>
        </p:grpSpPr>
        <p:grpSp>
          <p:nvGrpSpPr>
            <p:cNvPr id="66" name="Group 12">
              <a:extLst>
                <a:ext uri="{FF2B5EF4-FFF2-40B4-BE49-F238E27FC236}">
                  <a16:creationId xmlns:a16="http://schemas.microsoft.com/office/drawing/2014/main" id="{A5BDC16F-A3FE-CA36-A0EA-3A512435AD9E}"/>
                </a:ext>
              </a:extLst>
            </p:cNvPr>
            <p:cNvGrpSpPr/>
            <p:nvPr/>
          </p:nvGrpSpPr>
          <p:grpSpPr>
            <a:xfrm>
              <a:off x="0" y="0"/>
              <a:ext cx="611475" cy="610136"/>
              <a:chOff x="0" y="0"/>
              <a:chExt cx="900098" cy="898127"/>
            </a:xfrm>
          </p:grpSpPr>
          <p:sp>
            <p:nvSpPr>
              <p:cNvPr id="68" name="Freeform 13">
                <a:extLst>
                  <a:ext uri="{FF2B5EF4-FFF2-40B4-BE49-F238E27FC236}">
                    <a16:creationId xmlns:a16="http://schemas.microsoft.com/office/drawing/2014/main" id="{269F3F44-F952-7700-E02A-75DE30A00464}"/>
                  </a:ext>
                </a:extLst>
              </p:cNvPr>
              <p:cNvSpPr/>
              <p:nvPr/>
            </p:nvSpPr>
            <p:spPr>
              <a:xfrm>
                <a:off x="0" y="0"/>
                <a:ext cx="900098" cy="898127"/>
              </a:xfrm>
              <a:custGeom>
                <a:avLst/>
                <a:gdLst/>
                <a:ahLst/>
                <a:cxnLst/>
                <a:rect l="l" t="t" r="r" b="b"/>
                <a:pathLst>
                  <a:path w="900098" h="898127">
                    <a:moveTo>
                      <a:pt x="450049" y="0"/>
                    </a:moveTo>
                    <a:cubicBezTo>
                      <a:pt x="201494" y="0"/>
                      <a:pt x="0" y="201053"/>
                      <a:pt x="0" y="449064"/>
                    </a:cubicBezTo>
                    <a:cubicBezTo>
                      <a:pt x="0" y="697075"/>
                      <a:pt x="201494" y="898127"/>
                      <a:pt x="450049" y="898127"/>
                    </a:cubicBezTo>
                    <a:cubicBezTo>
                      <a:pt x="698604" y="898127"/>
                      <a:pt x="900098" y="697075"/>
                      <a:pt x="900098" y="449064"/>
                    </a:cubicBezTo>
                    <a:cubicBezTo>
                      <a:pt x="900098" y="20105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fr-FR" dirty="0">
                  <a:ln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ln>
                </a:endParaRPr>
              </a:p>
            </p:txBody>
          </p:sp>
          <p:sp>
            <p:nvSpPr>
              <p:cNvPr id="69" name="TextBox 14">
                <a:extLst>
                  <a:ext uri="{FF2B5EF4-FFF2-40B4-BE49-F238E27FC236}">
                    <a16:creationId xmlns:a16="http://schemas.microsoft.com/office/drawing/2014/main" id="{E40A9A9B-5F10-603D-AF6A-DF032F43E383}"/>
                  </a:ext>
                </a:extLst>
              </p:cNvPr>
              <p:cNvSpPr txBox="1"/>
              <p:nvPr/>
            </p:nvSpPr>
            <p:spPr>
              <a:xfrm>
                <a:off x="84384" y="7999"/>
                <a:ext cx="731330" cy="805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67" name="TextBox 15">
              <a:extLst>
                <a:ext uri="{FF2B5EF4-FFF2-40B4-BE49-F238E27FC236}">
                  <a16:creationId xmlns:a16="http://schemas.microsoft.com/office/drawing/2014/main" id="{C303BC4A-3E2A-1953-4EAB-93E0E86B8EF8}"/>
                </a:ext>
              </a:extLst>
            </p:cNvPr>
            <p:cNvSpPr txBox="1"/>
            <p:nvPr/>
          </p:nvSpPr>
          <p:spPr>
            <a:xfrm>
              <a:off x="152544" y="-79801"/>
              <a:ext cx="306388" cy="544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42"/>
                </a:lnSpc>
              </a:pPr>
              <a:r>
                <a:rPr lang="en-US" sz="3101" dirty="0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2</a:t>
              </a:r>
            </a:p>
          </p:txBody>
        </p:sp>
      </p:grpSp>
      <p:sp>
        <p:nvSpPr>
          <p:cNvPr id="70" name="TextBox 7">
            <a:extLst>
              <a:ext uri="{FF2B5EF4-FFF2-40B4-BE49-F238E27FC236}">
                <a16:creationId xmlns:a16="http://schemas.microsoft.com/office/drawing/2014/main" id="{1670976E-9AC5-BAB4-3904-5F4BB57D2684}"/>
              </a:ext>
            </a:extLst>
          </p:cNvPr>
          <p:cNvSpPr txBox="1"/>
          <p:nvPr/>
        </p:nvSpPr>
        <p:spPr>
          <a:xfrm>
            <a:off x="2737102" y="6453392"/>
            <a:ext cx="8540498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2"/>
              </a:lnSpc>
            </a:pPr>
            <a:r>
              <a:rPr lang="fr-FR" sz="3600" dirty="0"/>
              <a:t>LES ARCHITECTURES MICROSERVICES</a:t>
            </a:r>
            <a:endParaRPr lang="en-US" sz="3600" dirty="0">
              <a:sym typeface="Akzidenz-Grotesk"/>
            </a:endParaRPr>
          </a:p>
        </p:txBody>
      </p:sp>
      <p:grpSp>
        <p:nvGrpSpPr>
          <p:cNvPr id="71" name="Group 11">
            <a:extLst>
              <a:ext uri="{FF2B5EF4-FFF2-40B4-BE49-F238E27FC236}">
                <a16:creationId xmlns:a16="http://schemas.microsoft.com/office/drawing/2014/main" id="{B57DE52D-7A43-A7EE-9713-FA111E7406E8}"/>
              </a:ext>
            </a:extLst>
          </p:cNvPr>
          <p:cNvGrpSpPr/>
          <p:nvPr/>
        </p:nvGrpSpPr>
        <p:grpSpPr>
          <a:xfrm>
            <a:off x="1524000" y="6438900"/>
            <a:ext cx="759130" cy="660419"/>
            <a:chOff x="0" y="-79801"/>
            <a:chExt cx="611475" cy="689937"/>
          </a:xfrm>
        </p:grpSpPr>
        <p:grpSp>
          <p:nvGrpSpPr>
            <p:cNvPr id="72" name="Group 12">
              <a:extLst>
                <a:ext uri="{FF2B5EF4-FFF2-40B4-BE49-F238E27FC236}">
                  <a16:creationId xmlns:a16="http://schemas.microsoft.com/office/drawing/2014/main" id="{8CEC30BB-EB89-160F-BC9A-D4144390F82D}"/>
                </a:ext>
              </a:extLst>
            </p:cNvPr>
            <p:cNvGrpSpPr/>
            <p:nvPr/>
          </p:nvGrpSpPr>
          <p:grpSpPr>
            <a:xfrm>
              <a:off x="0" y="0"/>
              <a:ext cx="611475" cy="610136"/>
              <a:chOff x="0" y="0"/>
              <a:chExt cx="900098" cy="898127"/>
            </a:xfrm>
          </p:grpSpPr>
          <p:sp>
            <p:nvSpPr>
              <p:cNvPr id="74" name="Freeform 13">
                <a:extLst>
                  <a:ext uri="{FF2B5EF4-FFF2-40B4-BE49-F238E27FC236}">
                    <a16:creationId xmlns:a16="http://schemas.microsoft.com/office/drawing/2014/main" id="{EC662A05-105F-EA95-F9B8-F59031CD60B5}"/>
                  </a:ext>
                </a:extLst>
              </p:cNvPr>
              <p:cNvSpPr/>
              <p:nvPr/>
            </p:nvSpPr>
            <p:spPr>
              <a:xfrm>
                <a:off x="0" y="0"/>
                <a:ext cx="900098" cy="898127"/>
              </a:xfrm>
              <a:custGeom>
                <a:avLst/>
                <a:gdLst/>
                <a:ahLst/>
                <a:cxnLst/>
                <a:rect l="l" t="t" r="r" b="b"/>
                <a:pathLst>
                  <a:path w="900098" h="898127">
                    <a:moveTo>
                      <a:pt x="450049" y="0"/>
                    </a:moveTo>
                    <a:cubicBezTo>
                      <a:pt x="201494" y="0"/>
                      <a:pt x="0" y="201053"/>
                      <a:pt x="0" y="449064"/>
                    </a:cubicBezTo>
                    <a:cubicBezTo>
                      <a:pt x="0" y="697075"/>
                      <a:pt x="201494" y="898127"/>
                      <a:pt x="450049" y="898127"/>
                    </a:cubicBezTo>
                    <a:cubicBezTo>
                      <a:pt x="698604" y="898127"/>
                      <a:pt x="900098" y="697075"/>
                      <a:pt x="900098" y="449064"/>
                    </a:cubicBezTo>
                    <a:cubicBezTo>
                      <a:pt x="900098" y="20105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fr-FR" dirty="0">
                  <a:ln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ln>
                </a:endParaRPr>
              </a:p>
            </p:txBody>
          </p:sp>
          <p:sp>
            <p:nvSpPr>
              <p:cNvPr id="75" name="TextBox 14">
                <a:extLst>
                  <a:ext uri="{FF2B5EF4-FFF2-40B4-BE49-F238E27FC236}">
                    <a16:creationId xmlns:a16="http://schemas.microsoft.com/office/drawing/2014/main" id="{4B8E46D6-70C5-ACE5-FC4D-782AE7847A6B}"/>
                  </a:ext>
                </a:extLst>
              </p:cNvPr>
              <p:cNvSpPr txBox="1"/>
              <p:nvPr/>
            </p:nvSpPr>
            <p:spPr>
              <a:xfrm>
                <a:off x="84384" y="7999"/>
                <a:ext cx="731330" cy="805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73" name="TextBox 15">
              <a:extLst>
                <a:ext uri="{FF2B5EF4-FFF2-40B4-BE49-F238E27FC236}">
                  <a16:creationId xmlns:a16="http://schemas.microsoft.com/office/drawing/2014/main" id="{ADFC0415-AA33-1AB8-6E5C-BDB0AAE3F025}"/>
                </a:ext>
              </a:extLst>
            </p:cNvPr>
            <p:cNvSpPr txBox="1"/>
            <p:nvPr/>
          </p:nvSpPr>
          <p:spPr>
            <a:xfrm>
              <a:off x="152544" y="-79801"/>
              <a:ext cx="306388" cy="5448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42"/>
                </a:lnSpc>
              </a:pPr>
              <a:r>
                <a:rPr lang="en-US" sz="3101" dirty="0">
                  <a:solidFill>
                    <a:srgbClr val="FFFFFF"/>
                  </a:solidFill>
                  <a:latin typeface="Akzidenz-Grotesk"/>
                  <a:ea typeface="Akzidenz-Grotesk"/>
                  <a:cs typeface="Akzidenz-Grotesk"/>
                  <a:sym typeface="Akzidenz-Grotesk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8592" y="1668243"/>
            <a:ext cx="18422233" cy="8769877"/>
            <a:chOff x="0" y="0"/>
            <a:chExt cx="2272929" cy="1645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2929" cy="1645889"/>
            </a:xfrm>
            <a:custGeom>
              <a:avLst/>
              <a:gdLst/>
              <a:ahLst/>
              <a:cxnLst/>
              <a:rect l="l" t="t" r="r" b="b"/>
              <a:pathLst>
                <a:path w="2272929" h="1645889">
                  <a:moveTo>
                    <a:pt x="0" y="0"/>
                  </a:moveTo>
                  <a:lnTo>
                    <a:pt x="2272929" y="0"/>
                  </a:lnTo>
                  <a:lnTo>
                    <a:pt x="2272929" y="1645889"/>
                  </a:lnTo>
                  <a:lnTo>
                    <a:pt x="0" y="164588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2272929" cy="1722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051927">
            <a:off x="-177875" y="-1260134"/>
            <a:ext cx="3607162" cy="4243810"/>
          </a:xfrm>
          <a:custGeom>
            <a:avLst/>
            <a:gdLst/>
            <a:ahLst/>
            <a:cxnLst/>
            <a:rect l="l" t="t" r="r" b="b"/>
            <a:pathLst>
              <a:path w="7536633" h="6080767">
                <a:moveTo>
                  <a:pt x="0" y="0"/>
                </a:moveTo>
                <a:lnTo>
                  <a:pt x="7536634" y="0"/>
                </a:lnTo>
                <a:lnTo>
                  <a:pt x="7536634" y="6080767"/>
                </a:lnTo>
                <a:lnTo>
                  <a:pt x="0" y="6080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universite-assane-seck-zig-5af59 - Wincom">
            <a:extLst>
              <a:ext uri="{FF2B5EF4-FFF2-40B4-BE49-F238E27FC236}">
                <a16:creationId xmlns:a16="http://schemas.microsoft.com/office/drawing/2014/main" id="{4A5214F0-E0D9-DB48-A3CA-C443A0BAA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5" y="2922887"/>
            <a:ext cx="1273615" cy="252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 8"/>
          <p:cNvSpPr/>
          <p:nvPr/>
        </p:nvSpPr>
        <p:spPr>
          <a:xfrm rot="6308718">
            <a:off x="15472604" y="1731834"/>
            <a:ext cx="5198311" cy="4641244"/>
          </a:xfrm>
          <a:custGeom>
            <a:avLst/>
            <a:gdLst/>
            <a:ahLst/>
            <a:cxnLst/>
            <a:rect l="l" t="t" r="r" b="b"/>
            <a:pathLst>
              <a:path w="5198311" h="4641244">
                <a:moveTo>
                  <a:pt x="0" y="0"/>
                </a:moveTo>
                <a:lnTo>
                  <a:pt x="5198310" y="0"/>
                </a:lnTo>
                <a:lnTo>
                  <a:pt x="5198310" y="4641244"/>
                </a:lnTo>
                <a:lnTo>
                  <a:pt x="0" y="46412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45A32C8-E28B-DC7E-0566-9633172FEF6D}"/>
              </a:ext>
            </a:extLst>
          </p:cNvPr>
          <p:cNvSpPr txBox="1"/>
          <p:nvPr/>
        </p:nvSpPr>
        <p:spPr>
          <a:xfrm>
            <a:off x="457200" y="720435"/>
            <a:ext cx="1699260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04"/>
              </a:lnSpc>
            </a:pPr>
            <a:r>
              <a:rPr lang="fr-FR" sz="4800" b="1" dirty="0"/>
              <a:t>OBJECTIFS DU COURS</a:t>
            </a:r>
            <a:endParaRPr lang="en-US" sz="4800" b="1" dirty="0">
              <a:solidFill>
                <a:srgbClr val="000000"/>
              </a:solidFill>
              <a:latin typeface="Neue Machina Ultra-Bold"/>
              <a:ea typeface="Neue Machina Ultra-Bold"/>
              <a:cs typeface="Neue Machina Ultra-Bold"/>
              <a:sym typeface="Neue Machina Ultra-Bold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AA77DD66-E620-8908-186F-A9C55E29C136}"/>
              </a:ext>
            </a:extLst>
          </p:cNvPr>
          <p:cNvSpPr txBox="1"/>
          <p:nvPr/>
        </p:nvSpPr>
        <p:spPr>
          <a:xfrm>
            <a:off x="1317185" y="2342733"/>
            <a:ext cx="17123215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fr-FR" sz="2800" b="1" dirty="0"/>
              <a:t>   A L’ISSUE DE CE COURS L’ETUDIANT SERA CAPABLE DE </a:t>
            </a:r>
            <a:r>
              <a:rPr lang="fr-FR" b="1" dirty="0"/>
              <a:t>:</a:t>
            </a:r>
          </a:p>
          <a:p>
            <a:pPr lvl="0"/>
            <a:endParaRPr lang="fr-FR" sz="4800" b="1" dirty="0"/>
          </a:p>
          <a:p>
            <a:pPr marL="571500" lvl="0" indent="-571500">
              <a:buFont typeface="Wingdings" pitchFamily="2" charset="2"/>
              <a:buChar char="Ø"/>
            </a:pPr>
            <a:r>
              <a:rPr lang="fr-FR" sz="3600" dirty="0"/>
              <a:t> CONNAITRE LES NOTIONS ET FONDEMENTS DE L’ARCHITECTURE LOGICIELLE ;</a:t>
            </a:r>
          </a:p>
          <a:p>
            <a:pPr marL="571500" lvl="0" indent="-571500">
              <a:buFont typeface="Wingdings" pitchFamily="2" charset="2"/>
              <a:buChar char="Ø"/>
            </a:pPr>
            <a:r>
              <a:rPr lang="fr-FR" sz="3600" dirty="0"/>
              <a:t>CONNAITRE LES COMPOSANTS LOGICIELS ;</a:t>
            </a:r>
          </a:p>
          <a:p>
            <a:pPr marL="571500" lvl="0" indent="-571500">
              <a:buFont typeface="Wingdings" pitchFamily="2" charset="2"/>
              <a:buChar char="Ø"/>
            </a:pPr>
            <a:r>
              <a:rPr lang="fr-FR" sz="3600" dirty="0"/>
              <a:t>D’ORGANISER LES ELEMENTS DANS LES GRANDES FAMILLES DE COMPOSANTS : INFRASTRUCTURE, BASE DE DONNEES, FRAMEWORK LOGICIEL;</a:t>
            </a:r>
          </a:p>
          <a:p>
            <a:pPr marL="571500" lvl="0" indent="-571500">
              <a:buFont typeface="Wingdings" pitchFamily="2" charset="2"/>
              <a:buChar char="Ø"/>
            </a:pPr>
            <a:r>
              <a:rPr lang="fr-FR" sz="3600" dirty="0"/>
              <a:t>SAVOIR ET DE DECRIRE LES DIFFERENTS STYLES D’ARCHITECTURE LOGICIELLE ;</a:t>
            </a:r>
          </a:p>
          <a:p>
            <a:pPr marL="571500" lvl="0" indent="-571500">
              <a:buFont typeface="Wingdings" pitchFamily="2" charset="2"/>
              <a:buChar char="Ø"/>
            </a:pPr>
            <a:r>
              <a:rPr lang="fr-FR" sz="3600" dirty="0"/>
              <a:t>APPREHENDER DES ARCHITECTURES LOGICIELLES EVOLUEES TELLES QUE CELLE DES ARCHITECTURE MICROSERVICES ;</a:t>
            </a:r>
          </a:p>
          <a:p>
            <a:pPr marL="571500" lvl="0" indent="-571500">
              <a:buFont typeface="Wingdings" pitchFamily="2" charset="2"/>
              <a:buChar char="Ø"/>
            </a:pPr>
            <a:r>
              <a:rPr lang="fr-FR" sz="3600" dirty="0"/>
              <a:t>DE CONNAITRE LES AVANTAGE ET LES INCONVENANT D’UN MODEL D’ARCHITECTURE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9187ED-898F-3B68-1231-EC2DDDCB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3D0F86-AF5B-D362-8346-AF1941A4149E}"/>
              </a:ext>
            </a:extLst>
          </p:cNvPr>
          <p:cNvGrpSpPr/>
          <p:nvPr/>
        </p:nvGrpSpPr>
        <p:grpSpPr>
          <a:xfrm>
            <a:off x="1447800" y="1929346"/>
            <a:ext cx="16002000" cy="6566954"/>
            <a:chOff x="0" y="0"/>
            <a:chExt cx="2272929" cy="164588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353C736-9714-51D7-C84C-AA38EDC84EE9}"/>
                </a:ext>
              </a:extLst>
            </p:cNvPr>
            <p:cNvSpPr/>
            <p:nvPr/>
          </p:nvSpPr>
          <p:spPr>
            <a:xfrm>
              <a:off x="0" y="0"/>
              <a:ext cx="2272929" cy="1645889"/>
            </a:xfrm>
            <a:custGeom>
              <a:avLst/>
              <a:gdLst/>
              <a:ahLst/>
              <a:cxnLst/>
              <a:rect l="l" t="t" r="r" b="b"/>
              <a:pathLst>
                <a:path w="2272929" h="1645889">
                  <a:moveTo>
                    <a:pt x="0" y="0"/>
                  </a:moveTo>
                  <a:lnTo>
                    <a:pt x="2272929" y="0"/>
                  </a:lnTo>
                  <a:lnTo>
                    <a:pt x="2272929" y="1645889"/>
                  </a:lnTo>
                  <a:lnTo>
                    <a:pt x="0" y="164588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1094E29-10BE-6DC6-FE12-E560833E3CFF}"/>
                </a:ext>
              </a:extLst>
            </p:cNvPr>
            <p:cNvSpPr txBox="1"/>
            <p:nvPr/>
          </p:nvSpPr>
          <p:spPr>
            <a:xfrm>
              <a:off x="0" y="-76200"/>
              <a:ext cx="2272929" cy="1722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D4FC9EE-C8A7-5699-F46C-48012E1DD702}"/>
              </a:ext>
            </a:extLst>
          </p:cNvPr>
          <p:cNvSpPr/>
          <p:nvPr/>
        </p:nvSpPr>
        <p:spPr>
          <a:xfrm rot="-5051927">
            <a:off x="16186958" y="6365130"/>
            <a:ext cx="3607162" cy="4243810"/>
          </a:xfrm>
          <a:custGeom>
            <a:avLst/>
            <a:gdLst/>
            <a:ahLst/>
            <a:cxnLst/>
            <a:rect l="l" t="t" r="r" b="b"/>
            <a:pathLst>
              <a:path w="7536633" h="6080767">
                <a:moveTo>
                  <a:pt x="0" y="0"/>
                </a:moveTo>
                <a:lnTo>
                  <a:pt x="7536634" y="0"/>
                </a:lnTo>
                <a:lnTo>
                  <a:pt x="7536634" y="6080767"/>
                </a:lnTo>
                <a:lnTo>
                  <a:pt x="0" y="6080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universite-assane-seck-zig-5af59 - Wincom">
            <a:extLst>
              <a:ext uri="{FF2B5EF4-FFF2-40B4-BE49-F238E27FC236}">
                <a16:creationId xmlns:a16="http://schemas.microsoft.com/office/drawing/2014/main" id="{A9520C52-9129-B763-B64B-D5802B813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5" y="2922887"/>
            <a:ext cx="1273615" cy="252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5BC56107-12E3-DFEE-2798-11E28D4BE43F}"/>
              </a:ext>
            </a:extLst>
          </p:cNvPr>
          <p:cNvSpPr/>
          <p:nvPr/>
        </p:nvSpPr>
        <p:spPr>
          <a:xfrm rot="6308718">
            <a:off x="13348590" y="4157592"/>
            <a:ext cx="5198311" cy="4641244"/>
          </a:xfrm>
          <a:custGeom>
            <a:avLst/>
            <a:gdLst/>
            <a:ahLst/>
            <a:cxnLst/>
            <a:rect l="l" t="t" r="r" b="b"/>
            <a:pathLst>
              <a:path w="5198311" h="4641244">
                <a:moveTo>
                  <a:pt x="0" y="0"/>
                </a:moveTo>
                <a:lnTo>
                  <a:pt x="5198310" y="0"/>
                </a:lnTo>
                <a:lnTo>
                  <a:pt x="5198310" y="4641244"/>
                </a:lnTo>
                <a:lnTo>
                  <a:pt x="0" y="46412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F54C8A3-73A1-F2AC-CBAB-08B5C86654F0}"/>
              </a:ext>
            </a:extLst>
          </p:cNvPr>
          <p:cNvSpPr txBox="1"/>
          <p:nvPr/>
        </p:nvSpPr>
        <p:spPr>
          <a:xfrm>
            <a:off x="457200" y="720435"/>
            <a:ext cx="1699260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04"/>
              </a:lnSpc>
            </a:pPr>
            <a:r>
              <a:rPr lang="fr-FR" sz="4800" b="1" dirty="0"/>
              <a:t>LES NOTIONS ET FONDEMENTS DE L’ARCHITECTURE LOGICIELLE</a:t>
            </a:r>
            <a:endParaRPr lang="en-US" sz="4800" b="1" dirty="0">
              <a:solidFill>
                <a:srgbClr val="000000"/>
              </a:solidFill>
              <a:latin typeface="Neue Machina Ultra-Bold"/>
              <a:ea typeface="Neue Machina Ultra-Bold"/>
              <a:cs typeface="Neue Machina Ultra-Bold"/>
              <a:sym typeface="Neue Machina Ultra-Bold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1F70B615-9F22-6BF5-40CD-F240DBAAF8D9}"/>
              </a:ext>
            </a:extLst>
          </p:cNvPr>
          <p:cNvSpPr txBox="1"/>
          <p:nvPr/>
        </p:nvSpPr>
        <p:spPr>
          <a:xfrm>
            <a:off x="1464527" y="2389990"/>
            <a:ext cx="15375673" cy="5699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fr-FR" sz="4800" b="1" dirty="0"/>
              <a:t>CHAPITRE	1 : </a:t>
            </a:r>
            <a:r>
              <a:rPr lang="fr-FR" sz="4800" dirty="0"/>
              <a:t>PRESENTATION GENERALE	DE L’ARCHITECTURE</a:t>
            </a:r>
          </a:p>
          <a:p>
            <a:pPr lvl="0"/>
            <a:r>
              <a:rPr lang="fr-FR" sz="4800" dirty="0"/>
              <a:t>                         LOGICIELLE ;</a:t>
            </a:r>
          </a:p>
          <a:p>
            <a:pPr lvl="0"/>
            <a:r>
              <a:rPr lang="fr-FR" sz="4800" b="1" dirty="0"/>
              <a:t>CHAPITRE 2  :  </a:t>
            </a:r>
            <a:r>
              <a:rPr lang="fr-FR" sz="4800" dirty="0"/>
              <a:t>COMPOSANTS LOGICIELS ;</a:t>
            </a:r>
          </a:p>
          <a:p>
            <a:pPr lvl="0"/>
            <a:endParaRPr lang="fr-FR" sz="4800" dirty="0"/>
          </a:p>
          <a:p>
            <a:pPr lvl="0"/>
            <a:r>
              <a:rPr lang="fr-FR" sz="4800" b="1" dirty="0"/>
              <a:t>CHAPITRE	3 :	</a:t>
            </a:r>
            <a:r>
              <a:rPr lang="fr-FR" sz="4800" dirty="0"/>
              <a:t>STYLES	D’ARCHITECTURE LOGICIELLE ;</a:t>
            </a:r>
          </a:p>
          <a:p>
            <a:pPr>
              <a:lnSpc>
                <a:spcPct val="150000"/>
              </a:lnSpc>
            </a:pPr>
            <a:endParaRPr lang="en-US" sz="4800" dirty="0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just">
              <a:lnSpc>
                <a:spcPts val="3642"/>
              </a:lnSpc>
            </a:pPr>
            <a:endParaRPr lang="en-US" sz="2602" dirty="0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just">
              <a:lnSpc>
                <a:spcPts val="3642"/>
              </a:lnSpc>
            </a:pPr>
            <a:endParaRPr lang="en-US" sz="2602" dirty="0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</p:spTree>
    <p:extLst>
      <p:ext uri="{BB962C8B-B14F-4D97-AF65-F5344CB8AC3E}">
        <p14:creationId xmlns:p14="http://schemas.microsoft.com/office/powerpoint/2010/main" val="507421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13893-1E65-EB56-0EDF-7438BC08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887569-00C2-85E2-27BB-7482DE215A55}"/>
              </a:ext>
            </a:extLst>
          </p:cNvPr>
          <p:cNvGrpSpPr/>
          <p:nvPr/>
        </p:nvGrpSpPr>
        <p:grpSpPr>
          <a:xfrm>
            <a:off x="1447800" y="1929346"/>
            <a:ext cx="16002000" cy="6566954"/>
            <a:chOff x="0" y="0"/>
            <a:chExt cx="2272929" cy="164588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D1CF5D-1BC7-359A-94CD-01F7A0313261}"/>
                </a:ext>
              </a:extLst>
            </p:cNvPr>
            <p:cNvSpPr/>
            <p:nvPr/>
          </p:nvSpPr>
          <p:spPr>
            <a:xfrm>
              <a:off x="0" y="0"/>
              <a:ext cx="2272929" cy="1645889"/>
            </a:xfrm>
            <a:custGeom>
              <a:avLst/>
              <a:gdLst/>
              <a:ahLst/>
              <a:cxnLst/>
              <a:rect l="l" t="t" r="r" b="b"/>
              <a:pathLst>
                <a:path w="2272929" h="1645889">
                  <a:moveTo>
                    <a:pt x="0" y="0"/>
                  </a:moveTo>
                  <a:lnTo>
                    <a:pt x="2272929" y="0"/>
                  </a:lnTo>
                  <a:lnTo>
                    <a:pt x="2272929" y="1645889"/>
                  </a:lnTo>
                  <a:lnTo>
                    <a:pt x="0" y="164588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703894B-BFEF-1C87-0463-994A3876CA96}"/>
                </a:ext>
              </a:extLst>
            </p:cNvPr>
            <p:cNvSpPr txBox="1"/>
            <p:nvPr/>
          </p:nvSpPr>
          <p:spPr>
            <a:xfrm>
              <a:off x="0" y="-76200"/>
              <a:ext cx="2272929" cy="1722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2D6CD6F-50D1-2BCF-E893-EE2A6459F7D1}"/>
              </a:ext>
            </a:extLst>
          </p:cNvPr>
          <p:cNvSpPr/>
          <p:nvPr/>
        </p:nvSpPr>
        <p:spPr>
          <a:xfrm rot="-5051927">
            <a:off x="13369609" y="5792415"/>
            <a:ext cx="3607162" cy="4243810"/>
          </a:xfrm>
          <a:custGeom>
            <a:avLst/>
            <a:gdLst/>
            <a:ahLst/>
            <a:cxnLst/>
            <a:rect l="l" t="t" r="r" b="b"/>
            <a:pathLst>
              <a:path w="7536633" h="6080767">
                <a:moveTo>
                  <a:pt x="0" y="0"/>
                </a:moveTo>
                <a:lnTo>
                  <a:pt x="7536634" y="0"/>
                </a:lnTo>
                <a:lnTo>
                  <a:pt x="7536634" y="6080767"/>
                </a:lnTo>
                <a:lnTo>
                  <a:pt x="0" y="6080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universite-assane-seck-zig-5af59 - Wincom">
            <a:extLst>
              <a:ext uri="{FF2B5EF4-FFF2-40B4-BE49-F238E27FC236}">
                <a16:creationId xmlns:a16="http://schemas.microsoft.com/office/drawing/2014/main" id="{4D510EC8-54B3-81D9-2E9A-7BE56ED8E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5" y="2922887"/>
            <a:ext cx="1273615" cy="252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FBF8AABA-68C8-2914-22D8-B1FD9B1CAAC5}"/>
              </a:ext>
            </a:extLst>
          </p:cNvPr>
          <p:cNvSpPr/>
          <p:nvPr/>
        </p:nvSpPr>
        <p:spPr>
          <a:xfrm rot="6308718">
            <a:off x="-1105497" y="742235"/>
            <a:ext cx="3311792" cy="1574694"/>
          </a:xfrm>
          <a:custGeom>
            <a:avLst/>
            <a:gdLst/>
            <a:ahLst/>
            <a:cxnLst/>
            <a:rect l="l" t="t" r="r" b="b"/>
            <a:pathLst>
              <a:path w="5198311" h="4641244">
                <a:moveTo>
                  <a:pt x="0" y="0"/>
                </a:moveTo>
                <a:lnTo>
                  <a:pt x="5198310" y="0"/>
                </a:lnTo>
                <a:lnTo>
                  <a:pt x="5198310" y="4641244"/>
                </a:lnTo>
                <a:lnTo>
                  <a:pt x="0" y="46412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120FE2F-4811-DC36-8545-BB36CD28DE91}"/>
              </a:ext>
            </a:extLst>
          </p:cNvPr>
          <p:cNvSpPr txBox="1"/>
          <p:nvPr/>
        </p:nvSpPr>
        <p:spPr>
          <a:xfrm>
            <a:off x="457200" y="720435"/>
            <a:ext cx="1699260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04"/>
              </a:lnSpc>
            </a:pPr>
            <a:r>
              <a:rPr lang="fr-FR" sz="4800" b="1" dirty="0"/>
              <a:t>LES ARCHITECTURES MONOLITHIQUES</a:t>
            </a:r>
            <a:endParaRPr lang="en-US" sz="4800" b="1" dirty="0">
              <a:sym typeface="Akzidenz-Grotesk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66B3F3DB-413F-6D19-996E-E70C75AF7CD9}"/>
              </a:ext>
            </a:extLst>
          </p:cNvPr>
          <p:cNvSpPr txBox="1"/>
          <p:nvPr/>
        </p:nvSpPr>
        <p:spPr>
          <a:xfrm>
            <a:off x="1464528" y="2705100"/>
            <a:ext cx="15070872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fr-FR" sz="4800" b="1" dirty="0"/>
              <a:t>CHAPITRE 1 : </a:t>
            </a:r>
            <a:r>
              <a:rPr lang="fr-FR" sz="4800" dirty="0"/>
              <a:t>ARCHITECTURE MVC AVEC SPRING BOOT ; </a:t>
            </a:r>
          </a:p>
          <a:p>
            <a:pPr lvl="0"/>
            <a:endParaRPr lang="fr-FR" sz="4800" b="1" dirty="0"/>
          </a:p>
          <a:p>
            <a:pPr lvl="0"/>
            <a:r>
              <a:rPr lang="fr-FR" sz="4800" b="1" dirty="0"/>
              <a:t>    CHAPITRE 2 : </a:t>
            </a:r>
            <a:r>
              <a:rPr lang="fr-FR" sz="4800" dirty="0"/>
              <a:t>SOA	(SERVICE-ORIENTED ARCHITECTURE);</a:t>
            </a:r>
          </a:p>
          <a:p>
            <a:pPr lvl="0"/>
            <a:endParaRPr lang="fr-FR" sz="4800" dirty="0"/>
          </a:p>
          <a:p>
            <a:pPr lvl="0"/>
            <a:r>
              <a:rPr lang="fr-FR" sz="4800" b="1" dirty="0"/>
              <a:t>    CHAPITRE 3 : </a:t>
            </a:r>
            <a:r>
              <a:rPr lang="fr-FR" sz="4800" dirty="0"/>
              <a:t>STYLES D’ARCHITECTURE LOGICIELLE ;</a:t>
            </a:r>
            <a:endParaRPr lang="en-US" sz="2602" dirty="0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</p:spTree>
    <p:extLst>
      <p:ext uri="{BB962C8B-B14F-4D97-AF65-F5344CB8AC3E}">
        <p14:creationId xmlns:p14="http://schemas.microsoft.com/office/powerpoint/2010/main" val="3094861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3A763-A829-3DBA-A233-1658C47F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337CC9-976A-A686-947B-76AB5C0DBAEF}"/>
              </a:ext>
            </a:extLst>
          </p:cNvPr>
          <p:cNvGrpSpPr/>
          <p:nvPr/>
        </p:nvGrpSpPr>
        <p:grpSpPr>
          <a:xfrm>
            <a:off x="1447800" y="1929346"/>
            <a:ext cx="16002000" cy="6566954"/>
            <a:chOff x="0" y="0"/>
            <a:chExt cx="2272929" cy="164588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164BEB-7526-B8B6-33C5-35FCDE9F8E59}"/>
                </a:ext>
              </a:extLst>
            </p:cNvPr>
            <p:cNvSpPr/>
            <p:nvPr/>
          </p:nvSpPr>
          <p:spPr>
            <a:xfrm>
              <a:off x="0" y="0"/>
              <a:ext cx="2272929" cy="1645889"/>
            </a:xfrm>
            <a:custGeom>
              <a:avLst/>
              <a:gdLst/>
              <a:ahLst/>
              <a:cxnLst/>
              <a:rect l="l" t="t" r="r" b="b"/>
              <a:pathLst>
                <a:path w="2272929" h="1645889">
                  <a:moveTo>
                    <a:pt x="0" y="0"/>
                  </a:moveTo>
                  <a:lnTo>
                    <a:pt x="2272929" y="0"/>
                  </a:lnTo>
                  <a:lnTo>
                    <a:pt x="2272929" y="1645889"/>
                  </a:lnTo>
                  <a:lnTo>
                    <a:pt x="0" y="164588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73632FB-016A-D603-F300-E3791F662F61}"/>
                </a:ext>
              </a:extLst>
            </p:cNvPr>
            <p:cNvSpPr txBox="1"/>
            <p:nvPr/>
          </p:nvSpPr>
          <p:spPr>
            <a:xfrm>
              <a:off x="0" y="-76200"/>
              <a:ext cx="2272929" cy="1722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F30CD38-B6FB-8086-B9A2-BA34617F15A7}"/>
              </a:ext>
            </a:extLst>
          </p:cNvPr>
          <p:cNvSpPr/>
          <p:nvPr/>
        </p:nvSpPr>
        <p:spPr>
          <a:xfrm rot="-5051927">
            <a:off x="13694755" y="5347915"/>
            <a:ext cx="3607162" cy="4243810"/>
          </a:xfrm>
          <a:custGeom>
            <a:avLst/>
            <a:gdLst/>
            <a:ahLst/>
            <a:cxnLst/>
            <a:rect l="l" t="t" r="r" b="b"/>
            <a:pathLst>
              <a:path w="7536633" h="6080767">
                <a:moveTo>
                  <a:pt x="0" y="0"/>
                </a:moveTo>
                <a:lnTo>
                  <a:pt x="7536634" y="0"/>
                </a:lnTo>
                <a:lnTo>
                  <a:pt x="7536634" y="6080767"/>
                </a:lnTo>
                <a:lnTo>
                  <a:pt x="0" y="6080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universite-assane-seck-zig-5af59 - Wincom">
            <a:extLst>
              <a:ext uri="{FF2B5EF4-FFF2-40B4-BE49-F238E27FC236}">
                <a16:creationId xmlns:a16="http://schemas.microsoft.com/office/drawing/2014/main" id="{B206D315-55D7-EFFC-5875-C3DE2DE55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5" y="2922887"/>
            <a:ext cx="1273615" cy="252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777286E4-F74C-59DD-C9CF-0FEA3C6922B0}"/>
              </a:ext>
            </a:extLst>
          </p:cNvPr>
          <p:cNvSpPr/>
          <p:nvPr/>
        </p:nvSpPr>
        <p:spPr>
          <a:xfrm rot="6308718">
            <a:off x="-463264" y="837968"/>
            <a:ext cx="3311792" cy="1574694"/>
          </a:xfrm>
          <a:custGeom>
            <a:avLst/>
            <a:gdLst/>
            <a:ahLst/>
            <a:cxnLst/>
            <a:rect l="l" t="t" r="r" b="b"/>
            <a:pathLst>
              <a:path w="5198311" h="4641244">
                <a:moveTo>
                  <a:pt x="0" y="0"/>
                </a:moveTo>
                <a:lnTo>
                  <a:pt x="5198310" y="0"/>
                </a:lnTo>
                <a:lnTo>
                  <a:pt x="5198310" y="4641244"/>
                </a:lnTo>
                <a:lnTo>
                  <a:pt x="0" y="46412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CA833D0-F180-6FA5-3FA5-BD8181BA7C64}"/>
              </a:ext>
            </a:extLst>
          </p:cNvPr>
          <p:cNvSpPr txBox="1"/>
          <p:nvPr/>
        </p:nvSpPr>
        <p:spPr>
          <a:xfrm>
            <a:off x="457200" y="720435"/>
            <a:ext cx="1699260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04"/>
              </a:lnSpc>
            </a:pPr>
            <a:r>
              <a:rPr lang="fr-FR" sz="4800" b="1" dirty="0"/>
              <a:t>LES ARCHITECTURES MICROSERVICES</a:t>
            </a:r>
            <a:endParaRPr lang="en-US" sz="4800" b="1" dirty="0">
              <a:sym typeface="Akzidenz-Grotesk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5A6C250E-46DE-6F7A-1515-A410902535F3}"/>
              </a:ext>
            </a:extLst>
          </p:cNvPr>
          <p:cNvSpPr txBox="1"/>
          <p:nvPr/>
        </p:nvSpPr>
        <p:spPr>
          <a:xfrm>
            <a:off x="2408663" y="3752515"/>
            <a:ext cx="13089673" cy="339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fr-FR" sz="4800" b="1" dirty="0"/>
              <a:t>CHAPITRE 1 : </a:t>
            </a:r>
            <a:r>
              <a:rPr lang="fr-FR" sz="4800" dirty="0"/>
              <a:t>LES MICROSERVICES ; </a:t>
            </a:r>
          </a:p>
          <a:p>
            <a:pPr lvl="0"/>
            <a:endParaRPr lang="fr-FR" sz="4800" b="1" dirty="0"/>
          </a:p>
          <a:p>
            <a:pPr lvl="0"/>
            <a:r>
              <a:rPr lang="fr-FR" sz="4800" b="1" dirty="0"/>
              <a:t>    CHAPITRE 2 : </a:t>
            </a:r>
            <a:r>
              <a:rPr lang="fr-FR" sz="4800" dirty="0"/>
              <a:t>APPLICATIONS MICROSERVICES ;</a:t>
            </a:r>
          </a:p>
          <a:p>
            <a:pPr lvl="0"/>
            <a:endParaRPr lang="fr-FR" sz="4800" dirty="0"/>
          </a:p>
          <a:p>
            <a:pPr algn="just">
              <a:lnSpc>
                <a:spcPts val="3642"/>
              </a:lnSpc>
            </a:pPr>
            <a:endParaRPr lang="en-US" sz="2602" dirty="0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</p:spTree>
    <p:extLst>
      <p:ext uri="{BB962C8B-B14F-4D97-AF65-F5344CB8AC3E}">
        <p14:creationId xmlns:p14="http://schemas.microsoft.com/office/powerpoint/2010/main" val="2906854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467A2-B354-3AB9-8468-6CED76C1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97FA39-0B0B-E524-7A56-6ED903FEE341}"/>
              </a:ext>
            </a:extLst>
          </p:cNvPr>
          <p:cNvGrpSpPr/>
          <p:nvPr/>
        </p:nvGrpSpPr>
        <p:grpSpPr>
          <a:xfrm>
            <a:off x="1447800" y="1929346"/>
            <a:ext cx="16002000" cy="8090954"/>
            <a:chOff x="0" y="0"/>
            <a:chExt cx="2272929" cy="164588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5B80596-F9C7-3E7C-D0E5-4E6D13132182}"/>
                </a:ext>
              </a:extLst>
            </p:cNvPr>
            <p:cNvSpPr/>
            <p:nvPr/>
          </p:nvSpPr>
          <p:spPr>
            <a:xfrm>
              <a:off x="0" y="0"/>
              <a:ext cx="2272929" cy="1645889"/>
            </a:xfrm>
            <a:custGeom>
              <a:avLst/>
              <a:gdLst/>
              <a:ahLst/>
              <a:cxnLst/>
              <a:rect l="l" t="t" r="r" b="b"/>
              <a:pathLst>
                <a:path w="2272929" h="1645889">
                  <a:moveTo>
                    <a:pt x="0" y="0"/>
                  </a:moveTo>
                  <a:lnTo>
                    <a:pt x="2272929" y="0"/>
                  </a:lnTo>
                  <a:lnTo>
                    <a:pt x="2272929" y="1645889"/>
                  </a:lnTo>
                  <a:lnTo>
                    <a:pt x="0" y="164588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2B7D77C-1A54-87E0-0D01-C4EE3F9DE33C}"/>
                </a:ext>
              </a:extLst>
            </p:cNvPr>
            <p:cNvSpPr txBox="1"/>
            <p:nvPr/>
          </p:nvSpPr>
          <p:spPr>
            <a:xfrm>
              <a:off x="0" y="-76200"/>
              <a:ext cx="2272929" cy="1722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CA0084C-9669-6ABA-C817-02E0E9617804}"/>
              </a:ext>
            </a:extLst>
          </p:cNvPr>
          <p:cNvSpPr/>
          <p:nvPr/>
        </p:nvSpPr>
        <p:spPr>
          <a:xfrm rot="-5051927">
            <a:off x="13694755" y="5347915"/>
            <a:ext cx="3607162" cy="4243810"/>
          </a:xfrm>
          <a:custGeom>
            <a:avLst/>
            <a:gdLst/>
            <a:ahLst/>
            <a:cxnLst/>
            <a:rect l="l" t="t" r="r" b="b"/>
            <a:pathLst>
              <a:path w="7536633" h="6080767">
                <a:moveTo>
                  <a:pt x="0" y="0"/>
                </a:moveTo>
                <a:lnTo>
                  <a:pt x="7536634" y="0"/>
                </a:lnTo>
                <a:lnTo>
                  <a:pt x="7536634" y="6080767"/>
                </a:lnTo>
                <a:lnTo>
                  <a:pt x="0" y="6080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1026" name="Picture 2" descr="universite-assane-seck-zig-5af59 - Wincom">
            <a:extLst>
              <a:ext uri="{FF2B5EF4-FFF2-40B4-BE49-F238E27FC236}">
                <a16:creationId xmlns:a16="http://schemas.microsoft.com/office/drawing/2014/main" id="{AF418C3D-5B23-AB2B-65CE-7428FC917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5" y="2922887"/>
            <a:ext cx="1273615" cy="252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EBB694DC-E0C0-45FD-5801-187F489EC6DD}"/>
              </a:ext>
            </a:extLst>
          </p:cNvPr>
          <p:cNvSpPr/>
          <p:nvPr/>
        </p:nvSpPr>
        <p:spPr>
          <a:xfrm rot="6308718">
            <a:off x="-463264" y="837968"/>
            <a:ext cx="3311792" cy="1574694"/>
          </a:xfrm>
          <a:custGeom>
            <a:avLst/>
            <a:gdLst/>
            <a:ahLst/>
            <a:cxnLst/>
            <a:rect l="l" t="t" r="r" b="b"/>
            <a:pathLst>
              <a:path w="5198311" h="4641244">
                <a:moveTo>
                  <a:pt x="0" y="0"/>
                </a:moveTo>
                <a:lnTo>
                  <a:pt x="5198310" y="0"/>
                </a:lnTo>
                <a:lnTo>
                  <a:pt x="5198310" y="4641244"/>
                </a:lnTo>
                <a:lnTo>
                  <a:pt x="0" y="46412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083BAA6-1AB0-39B9-AE50-62BFC8D08B61}"/>
              </a:ext>
            </a:extLst>
          </p:cNvPr>
          <p:cNvSpPr txBox="1"/>
          <p:nvPr/>
        </p:nvSpPr>
        <p:spPr>
          <a:xfrm>
            <a:off x="457200" y="720435"/>
            <a:ext cx="1699260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04"/>
              </a:lnSpc>
            </a:pPr>
            <a:r>
              <a:rPr lang="fr-FR" sz="4800" b="1" dirty="0"/>
              <a:t>LES ARCHITECTURES MICROSERVICES</a:t>
            </a:r>
            <a:endParaRPr lang="en-US" sz="4800" b="1" dirty="0">
              <a:sym typeface="Akzidenz-Grotesk"/>
            </a:endParaRPr>
          </a:p>
        </p:txBody>
      </p:sp>
      <p:pic>
        <p:nvPicPr>
          <p:cNvPr id="7" name="image1.jpeg">
            <a:extLst>
              <a:ext uri="{FF2B5EF4-FFF2-40B4-BE49-F238E27FC236}">
                <a16:creationId xmlns:a16="http://schemas.microsoft.com/office/drawing/2014/main" id="{330F87C1-14AD-7B85-BCE1-E25597EDAC1A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200400" y="2350613"/>
            <a:ext cx="10942060" cy="71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0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4303617">
            <a:off x="-2476369" y="1537938"/>
            <a:ext cx="7085164" cy="6325897"/>
          </a:xfrm>
          <a:custGeom>
            <a:avLst/>
            <a:gdLst/>
            <a:ahLst/>
            <a:cxnLst/>
            <a:rect l="l" t="t" r="r" b="b"/>
            <a:pathLst>
              <a:path w="7085164" h="6325897">
                <a:moveTo>
                  <a:pt x="0" y="0"/>
                </a:moveTo>
                <a:lnTo>
                  <a:pt x="7085164" y="0"/>
                </a:lnTo>
                <a:lnTo>
                  <a:pt x="7085164" y="6325897"/>
                </a:lnTo>
                <a:lnTo>
                  <a:pt x="0" y="6325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947926" y="2429523"/>
            <a:ext cx="4266282" cy="835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1"/>
              </a:lnSpc>
            </a:pPr>
            <a:r>
              <a:rPr lang="en-US" sz="6069" b="1" dirty="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MERCI</a:t>
            </a:r>
          </a:p>
        </p:txBody>
      </p:sp>
      <p:sp>
        <p:nvSpPr>
          <p:cNvPr id="18" name="Freeform 18"/>
          <p:cNvSpPr/>
          <p:nvPr/>
        </p:nvSpPr>
        <p:spPr>
          <a:xfrm rot="2807232">
            <a:off x="11897451" y="352843"/>
            <a:ext cx="6236818" cy="8416774"/>
          </a:xfrm>
          <a:custGeom>
            <a:avLst/>
            <a:gdLst/>
            <a:ahLst/>
            <a:cxnLst/>
            <a:rect l="l" t="t" r="r" b="b"/>
            <a:pathLst>
              <a:path w="9505647" h="7669422">
                <a:moveTo>
                  <a:pt x="0" y="0"/>
                </a:moveTo>
                <a:lnTo>
                  <a:pt x="9505647" y="0"/>
                </a:lnTo>
                <a:lnTo>
                  <a:pt x="9505647" y="7669422"/>
                </a:lnTo>
                <a:lnTo>
                  <a:pt x="0" y="76694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2">
            <a:extLst>
              <a:ext uri="{FF2B5EF4-FFF2-40B4-BE49-F238E27FC236}">
                <a16:creationId xmlns:a16="http://schemas.microsoft.com/office/drawing/2014/main" id="{35F85ACD-1867-1850-3E58-7C88BD52D478}"/>
              </a:ext>
            </a:extLst>
          </p:cNvPr>
          <p:cNvGrpSpPr/>
          <p:nvPr/>
        </p:nvGrpSpPr>
        <p:grpSpPr>
          <a:xfrm>
            <a:off x="4670867" y="3955250"/>
            <a:ext cx="10820400" cy="3050066"/>
            <a:chOff x="0" y="0"/>
            <a:chExt cx="2272929" cy="1645889"/>
          </a:xfrm>
        </p:grpSpPr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69C8DA2C-1882-970D-6505-56FBD245475F}"/>
                </a:ext>
              </a:extLst>
            </p:cNvPr>
            <p:cNvSpPr txBox="1"/>
            <p:nvPr/>
          </p:nvSpPr>
          <p:spPr>
            <a:xfrm>
              <a:off x="0" y="-76200"/>
              <a:ext cx="2272929" cy="1722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A183FFE7-5DD2-2801-C9E5-99E4DF866233}"/>
                </a:ext>
              </a:extLst>
            </p:cNvPr>
            <p:cNvSpPr/>
            <p:nvPr/>
          </p:nvSpPr>
          <p:spPr>
            <a:xfrm>
              <a:off x="0" y="0"/>
              <a:ext cx="2272929" cy="1645889"/>
            </a:xfrm>
            <a:custGeom>
              <a:avLst/>
              <a:gdLst/>
              <a:ahLst/>
              <a:cxnLst/>
              <a:rect l="l" t="t" r="r" b="b"/>
              <a:pathLst>
                <a:path w="2272929" h="1645889">
                  <a:moveTo>
                    <a:pt x="0" y="0"/>
                  </a:moveTo>
                  <a:lnTo>
                    <a:pt x="2272929" y="0"/>
                  </a:lnTo>
                  <a:lnTo>
                    <a:pt x="2272929" y="1645889"/>
                  </a:lnTo>
                  <a:lnTo>
                    <a:pt x="0" y="164588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pic>
        <p:nvPicPr>
          <p:cNvPr id="22" name="Picture 2" descr="universite-assane-seck-zig-5af59 - Wincom">
            <a:extLst>
              <a:ext uri="{FF2B5EF4-FFF2-40B4-BE49-F238E27FC236}">
                <a16:creationId xmlns:a16="http://schemas.microsoft.com/office/drawing/2014/main" id="{714F6927-12AC-9DF5-40B4-6FEB8C76C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85" y="4700887"/>
            <a:ext cx="1273615" cy="252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9">
            <a:extLst>
              <a:ext uri="{FF2B5EF4-FFF2-40B4-BE49-F238E27FC236}">
                <a16:creationId xmlns:a16="http://schemas.microsoft.com/office/drawing/2014/main" id="{AEF18292-431F-E074-F9B3-9D6764CBE239}"/>
              </a:ext>
            </a:extLst>
          </p:cNvPr>
          <p:cNvSpPr txBox="1"/>
          <p:nvPr/>
        </p:nvSpPr>
        <p:spPr>
          <a:xfrm>
            <a:off x="5486696" y="4855919"/>
            <a:ext cx="822842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/>
            <a:r>
              <a:rPr lang="fr-FR" sz="4800" b="1" dirty="0"/>
              <a:t>POUR LA PROCHAINE ETAPE</a:t>
            </a:r>
            <a:endParaRPr lang="en-US" sz="2602" dirty="0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1163</TotalTime>
  <Words>313</Words>
  <Application>Microsoft Macintosh PowerPoint</Application>
  <PresentationFormat>Personnalisé</PresentationFormat>
  <Paragraphs>52</Paragraphs>
  <Slides>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Neue Machina Ultra-Bold</vt:lpstr>
      <vt:lpstr>Arial</vt:lpstr>
      <vt:lpstr>Bookman Old Style</vt:lpstr>
      <vt:lpstr>Akzidenz-Grotesk</vt:lpstr>
      <vt:lpstr>Calibri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Entreprise Présentation  Minimaliste Organique Noir Beige </dc:title>
  <cp:lastModifiedBy>Microsoft Office User</cp:lastModifiedBy>
  <cp:revision>10</cp:revision>
  <dcterms:created xsi:type="dcterms:W3CDTF">2006-08-16T00:00:00Z</dcterms:created>
  <dcterms:modified xsi:type="dcterms:W3CDTF">2025-10-14T19:03:17Z</dcterms:modified>
  <dc:identifier>DAGyTjyv83I</dc:identifier>
</cp:coreProperties>
</file>