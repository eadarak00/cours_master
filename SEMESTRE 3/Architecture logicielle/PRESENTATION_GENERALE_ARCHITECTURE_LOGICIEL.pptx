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4"/>
  </p:notesMasterIdLst>
  <p:sldIdLst>
    <p:sldId id="256" r:id="rId2"/>
    <p:sldId id="257" r:id="rId3"/>
    <p:sldId id="258" r:id="rId4"/>
    <p:sldId id="259" r:id="rId5"/>
    <p:sldId id="272" r:id="rId6"/>
    <p:sldId id="275" r:id="rId7"/>
    <p:sldId id="273" r:id="rId8"/>
    <p:sldId id="276" r:id="rId9"/>
    <p:sldId id="277" r:id="rId10"/>
    <p:sldId id="278" r:id="rId11"/>
    <p:sldId id="279" r:id="rId12"/>
    <p:sldId id="280" r:id="rId13"/>
    <p:sldId id="281" r:id="rId14"/>
    <p:sldId id="282" r:id="rId15"/>
    <p:sldId id="283" r:id="rId16"/>
    <p:sldId id="284" r:id="rId17"/>
    <p:sldId id="285" r:id="rId18"/>
    <p:sldId id="287" r:id="rId19"/>
    <p:sldId id="286" r:id="rId20"/>
    <p:sldId id="288" r:id="rId21"/>
    <p:sldId id="290" r:id="rId22"/>
    <p:sldId id="291" r:id="rId23"/>
  </p:sldIdLst>
  <p:sldSz cx="18288000" cy="10287000"/>
  <p:notesSz cx="6858000" cy="9144000"/>
  <p:embeddedFontLst>
    <p:embeddedFont>
      <p:font typeface="Akzidenz-Grotesk" panose="02000503030000020003" pitchFamily="2" charset="77"/>
      <p:regular r:id="rId25"/>
    </p:embeddedFont>
    <p:embeddedFont>
      <p:font typeface="Neue Machina Ultra-Bold" pitchFamily="2" charset="77"/>
      <p:regular r:id="rId26"/>
      <p:bold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3592" autoAdjust="0"/>
    <p:restoredTop sz="94181" autoAdjust="0"/>
  </p:normalViewPr>
  <p:slideViewPr>
    <p:cSldViewPr>
      <p:cViewPr varScale="1">
        <p:scale>
          <a:sx n="30" d="100"/>
          <a:sy n="30" d="100"/>
        </p:scale>
        <p:origin x="232" y="8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C5A1AD-6EE0-7B47-843F-7A2A6B89B1E6}" type="datetimeFigureOut">
              <a:rPr lang="fr-FR" smtClean="0"/>
              <a:t>16/10/2025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B5923D-B6A3-304B-9A38-4C678B293161}" type="slidenum">
              <a:rPr lang="fr-FR" smtClean="0"/>
              <a:t>‹N°›</a:t>
            </a:fld>
            <a:endParaRPr lang="fr-FR"/>
          </a:p>
        </p:txBody>
      </p:sp>
    </p:spTree>
    <p:extLst>
      <p:ext uri="{BB962C8B-B14F-4D97-AF65-F5344CB8AC3E}">
        <p14:creationId xmlns:p14="http://schemas.microsoft.com/office/powerpoint/2010/main" val="2068117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8B5923D-B6A3-304B-9A38-4C678B293161}" type="slidenum">
              <a:rPr lang="fr-FR" smtClean="0"/>
              <a:t>1</a:t>
            </a:fld>
            <a:endParaRPr lang="fr-FR"/>
          </a:p>
        </p:txBody>
      </p:sp>
    </p:spTree>
    <p:extLst>
      <p:ext uri="{BB962C8B-B14F-4D97-AF65-F5344CB8AC3E}">
        <p14:creationId xmlns:p14="http://schemas.microsoft.com/office/powerpoint/2010/main" val="1600596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8B5923D-B6A3-304B-9A38-4C678B293161}" type="slidenum">
              <a:rPr lang="fr-FR" smtClean="0"/>
              <a:t>2</a:t>
            </a:fld>
            <a:endParaRPr lang="fr-FR"/>
          </a:p>
        </p:txBody>
      </p:sp>
    </p:spTree>
    <p:extLst>
      <p:ext uri="{BB962C8B-B14F-4D97-AF65-F5344CB8AC3E}">
        <p14:creationId xmlns:p14="http://schemas.microsoft.com/office/powerpoint/2010/main" val="7945349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8B5923D-B6A3-304B-9A38-4C678B293161}" type="slidenum">
              <a:rPr lang="fr-FR" smtClean="0"/>
              <a:t>3</a:t>
            </a:fld>
            <a:endParaRPr lang="fr-FR"/>
          </a:p>
        </p:txBody>
      </p:sp>
    </p:spTree>
    <p:extLst>
      <p:ext uri="{BB962C8B-B14F-4D97-AF65-F5344CB8AC3E}">
        <p14:creationId xmlns:p14="http://schemas.microsoft.com/office/powerpoint/2010/main" val="6338931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8B5923D-B6A3-304B-9A38-4C678B293161}" type="slidenum">
              <a:rPr lang="fr-FR" smtClean="0"/>
              <a:t>4</a:t>
            </a:fld>
            <a:endParaRPr lang="fr-FR"/>
          </a:p>
        </p:txBody>
      </p:sp>
    </p:spTree>
    <p:extLst>
      <p:ext uri="{BB962C8B-B14F-4D97-AF65-F5344CB8AC3E}">
        <p14:creationId xmlns:p14="http://schemas.microsoft.com/office/powerpoint/2010/main" val="4501160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2E821-D4E3-B104-3FA1-9CF96E7AAB4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6028EE0-8195-43BD-E2F5-D02AF07C02B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D1F7505-C643-670B-4947-A4A3E127D85F}"/>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439DB42-8359-1283-9891-3F6093426CEF}"/>
              </a:ext>
            </a:extLst>
          </p:cNvPr>
          <p:cNvSpPr>
            <a:spLocks noGrp="1"/>
          </p:cNvSpPr>
          <p:nvPr>
            <p:ph type="sldNum" sz="quarter" idx="5"/>
          </p:nvPr>
        </p:nvSpPr>
        <p:spPr/>
        <p:txBody>
          <a:bodyPr/>
          <a:lstStyle/>
          <a:p>
            <a:fld id="{98B5923D-B6A3-304B-9A38-4C678B293161}" type="slidenum">
              <a:rPr lang="fr-FR" smtClean="0"/>
              <a:t>5</a:t>
            </a:fld>
            <a:endParaRPr lang="fr-FR"/>
          </a:p>
        </p:txBody>
      </p:sp>
    </p:spTree>
    <p:extLst>
      <p:ext uri="{BB962C8B-B14F-4D97-AF65-F5344CB8AC3E}">
        <p14:creationId xmlns:p14="http://schemas.microsoft.com/office/powerpoint/2010/main" val="20790960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86EF4-BD5D-43B2-BB4D-218ECC02531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4FC91D-1781-7D61-3F7D-078BA3BB9CD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AF90E0F-AB4E-C77A-42AA-67B960CD5E3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2DA9C28-F2CE-F3D7-A6A9-BB73A5A80D09}"/>
              </a:ext>
            </a:extLst>
          </p:cNvPr>
          <p:cNvSpPr>
            <a:spLocks noGrp="1"/>
          </p:cNvSpPr>
          <p:nvPr>
            <p:ph type="sldNum" sz="quarter" idx="5"/>
          </p:nvPr>
        </p:nvSpPr>
        <p:spPr/>
        <p:txBody>
          <a:bodyPr/>
          <a:lstStyle/>
          <a:p>
            <a:fld id="{98B5923D-B6A3-304B-9A38-4C678B293161}" type="slidenum">
              <a:rPr lang="fr-FR" smtClean="0"/>
              <a:t>6</a:t>
            </a:fld>
            <a:endParaRPr lang="fr-FR"/>
          </a:p>
        </p:txBody>
      </p:sp>
    </p:spTree>
    <p:extLst>
      <p:ext uri="{BB962C8B-B14F-4D97-AF65-F5344CB8AC3E}">
        <p14:creationId xmlns:p14="http://schemas.microsoft.com/office/powerpoint/2010/main" val="23193723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F9139-8EC8-6944-1F35-96A793F486D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C5999A0-965B-DAD1-EE8D-80620953484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E6AAD51-1816-170A-2580-0A4B1AAF671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4E892DD-2A13-010A-CC6B-01BF6F98E049}"/>
              </a:ext>
            </a:extLst>
          </p:cNvPr>
          <p:cNvSpPr>
            <a:spLocks noGrp="1"/>
          </p:cNvSpPr>
          <p:nvPr>
            <p:ph type="sldNum" sz="quarter" idx="5"/>
          </p:nvPr>
        </p:nvSpPr>
        <p:spPr/>
        <p:txBody>
          <a:bodyPr/>
          <a:lstStyle/>
          <a:p>
            <a:fld id="{98B5923D-B6A3-304B-9A38-4C678B293161}" type="slidenum">
              <a:rPr lang="fr-FR" smtClean="0"/>
              <a:t>7</a:t>
            </a:fld>
            <a:endParaRPr lang="fr-FR"/>
          </a:p>
        </p:txBody>
      </p:sp>
    </p:spTree>
    <p:extLst>
      <p:ext uri="{BB962C8B-B14F-4D97-AF65-F5344CB8AC3E}">
        <p14:creationId xmlns:p14="http://schemas.microsoft.com/office/powerpoint/2010/main" val="20923023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1B82B-C732-38D1-D02D-9D75C6FB1EB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23F8E2A-5C08-1011-D95B-78D21AFFD17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E9FE8D5-199C-6DB2-46BF-A0AC215858D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715215A-0A7B-EFA5-2B6B-2E038AD66814}"/>
              </a:ext>
            </a:extLst>
          </p:cNvPr>
          <p:cNvSpPr>
            <a:spLocks noGrp="1"/>
          </p:cNvSpPr>
          <p:nvPr>
            <p:ph type="sldNum" sz="quarter" idx="5"/>
          </p:nvPr>
        </p:nvSpPr>
        <p:spPr/>
        <p:txBody>
          <a:bodyPr/>
          <a:lstStyle/>
          <a:p>
            <a:fld id="{98B5923D-B6A3-304B-9A38-4C678B293161}" type="slidenum">
              <a:rPr lang="fr-FR" smtClean="0"/>
              <a:t>8</a:t>
            </a:fld>
            <a:endParaRPr lang="fr-FR"/>
          </a:p>
        </p:txBody>
      </p:sp>
    </p:spTree>
    <p:extLst>
      <p:ext uri="{BB962C8B-B14F-4D97-AF65-F5344CB8AC3E}">
        <p14:creationId xmlns:p14="http://schemas.microsoft.com/office/powerpoint/2010/main" val="4022502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9879B-5593-DEE0-2D93-61A256A02BF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FC4C42D-6153-D786-D885-83BA21B0308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C808D3F-6CA4-737A-F7F9-A422F1502C5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A7456A1-D98C-0E2E-7A34-D2155EBBE5B6}"/>
              </a:ext>
            </a:extLst>
          </p:cNvPr>
          <p:cNvSpPr>
            <a:spLocks noGrp="1"/>
          </p:cNvSpPr>
          <p:nvPr>
            <p:ph type="sldNum" sz="quarter" idx="5"/>
          </p:nvPr>
        </p:nvSpPr>
        <p:spPr/>
        <p:txBody>
          <a:bodyPr/>
          <a:lstStyle/>
          <a:p>
            <a:fld id="{98B5923D-B6A3-304B-9A38-4C678B293161}" type="slidenum">
              <a:rPr lang="fr-FR" smtClean="0"/>
              <a:t>9</a:t>
            </a:fld>
            <a:endParaRPr lang="fr-FR"/>
          </a:p>
        </p:txBody>
      </p:sp>
    </p:spTree>
    <p:extLst>
      <p:ext uri="{BB962C8B-B14F-4D97-AF65-F5344CB8AC3E}">
        <p14:creationId xmlns:p14="http://schemas.microsoft.com/office/powerpoint/2010/main" val="37970551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C755F-FE98-1B65-37A8-EF89D98E4F9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547436F-FC35-4FFB-62B1-8D63082520A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9C2074D-5809-274C-4E30-05842DCA1F4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D85037E-F7B6-D3FF-BCFA-F54F6363BE18}"/>
              </a:ext>
            </a:extLst>
          </p:cNvPr>
          <p:cNvSpPr>
            <a:spLocks noGrp="1"/>
          </p:cNvSpPr>
          <p:nvPr>
            <p:ph type="sldNum" sz="quarter" idx="5"/>
          </p:nvPr>
        </p:nvSpPr>
        <p:spPr/>
        <p:txBody>
          <a:bodyPr/>
          <a:lstStyle/>
          <a:p>
            <a:fld id="{98B5923D-B6A3-304B-9A38-4C678B293161}" type="slidenum">
              <a:rPr lang="fr-FR" smtClean="0"/>
              <a:t>10</a:t>
            </a:fld>
            <a:endParaRPr lang="fr-FR"/>
          </a:p>
        </p:txBody>
      </p:sp>
    </p:spTree>
    <p:extLst>
      <p:ext uri="{BB962C8B-B14F-4D97-AF65-F5344CB8AC3E}">
        <p14:creationId xmlns:p14="http://schemas.microsoft.com/office/powerpoint/2010/main" val="11987440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4DC5D-BD99-F8EF-7103-680A3A6C23E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92B7FBE-101B-E92A-544D-146CC0013B7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1119C50-0630-CE07-4792-C429B605A12E}"/>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5C5639D-C430-D4F5-4D5A-55180D07DA18}"/>
              </a:ext>
            </a:extLst>
          </p:cNvPr>
          <p:cNvSpPr>
            <a:spLocks noGrp="1"/>
          </p:cNvSpPr>
          <p:nvPr>
            <p:ph type="sldNum" sz="quarter" idx="5"/>
          </p:nvPr>
        </p:nvSpPr>
        <p:spPr/>
        <p:txBody>
          <a:bodyPr/>
          <a:lstStyle/>
          <a:p>
            <a:fld id="{98B5923D-B6A3-304B-9A38-4C678B293161}" type="slidenum">
              <a:rPr lang="fr-FR" smtClean="0"/>
              <a:t>11</a:t>
            </a:fld>
            <a:endParaRPr lang="fr-FR"/>
          </a:p>
        </p:txBody>
      </p:sp>
    </p:spTree>
    <p:extLst>
      <p:ext uri="{BB962C8B-B14F-4D97-AF65-F5344CB8AC3E}">
        <p14:creationId xmlns:p14="http://schemas.microsoft.com/office/powerpoint/2010/main" val="7945283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6035F-BA85-0848-B06E-8DDADABEAD2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04B48A7-D0DA-F978-9281-F9B93912C50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8E4083C-4ACA-4785-0B2B-73D496176DE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BBC49B69-3189-5EEA-EA32-760C792F077A}"/>
              </a:ext>
            </a:extLst>
          </p:cNvPr>
          <p:cNvSpPr>
            <a:spLocks noGrp="1"/>
          </p:cNvSpPr>
          <p:nvPr>
            <p:ph type="sldNum" sz="quarter" idx="5"/>
          </p:nvPr>
        </p:nvSpPr>
        <p:spPr/>
        <p:txBody>
          <a:bodyPr/>
          <a:lstStyle/>
          <a:p>
            <a:fld id="{98B5923D-B6A3-304B-9A38-4C678B293161}" type="slidenum">
              <a:rPr lang="fr-FR" smtClean="0"/>
              <a:t>12</a:t>
            </a:fld>
            <a:endParaRPr lang="fr-FR"/>
          </a:p>
        </p:txBody>
      </p:sp>
    </p:spTree>
    <p:extLst>
      <p:ext uri="{BB962C8B-B14F-4D97-AF65-F5344CB8AC3E}">
        <p14:creationId xmlns:p14="http://schemas.microsoft.com/office/powerpoint/2010/main" val="38553125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4E4D1-B0F2-A518-6FE3-BE2C3D15EDB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20B7F31-A4C9-6A67-B348-62CD0FB655B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5A4A07A-D882-392A-A44A-9A6A0DD27845}"/>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962CBEA-9454-BF6B-C96A-371729541D4E}"/>
              </a:ext>
            </a:extLst>
          </p:cNvPr>
          <p:cNvSpPr>
            <a:spLocks noGrp="1"/>
          </p:cNvSpPr>
          <p:nvPr>
            <p:ph type="sldNum" sz="quarter" idx="5"/>
          </p:nvPr>
        </p:nvSpPr>
        <p:spPr/>
        <p:txBody>
          <a:bodyPr/>
          <a:lstStyle/>
          <a:p>
            <a:fld id="{98B5923D-B6A3-304B-9A38-4C678B293161}" type="slidenum">
              <a:rPr lang="fr-FR" smtClean="0"/>
              <a:t>13</a:t>
            </a:fld>
            <a:endParaRPr lang="fr-FR"/>
          </a:p>
        </p:txBody>
      </p:sp>
    </p:spTree>
    <p:extLst>
      <p:ext uri="{BB962C8B-B14F-4D97-AF65-F5344CB8AC3E}">
        <p14:creationId xmlns:p14="http://schemas.microsoft.com/office/powerpoint/2010/main" val="20069524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D4686-E46D-29F6-DAC2-D4BB38E733E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E8BB27E-7F5B-3E7C-6A2C-C7D1ADB4E83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7565D53-AE8D-63DE-0F69-3DF2CAE8B3B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98B0595-ADD3-109D-102D-6FABFB1CF40C}"/>
              </a:ext>
            </a:extLst>
          </p:cNvPr>
          <p:cNvSpPr>
            <a:spLocks noGrp="1"/>
          </p:cNvSpPr>
          <p:nvPr>
            <p:ph type="sldNum" sz="quarter" idx="5"/>
          </p:nvPr>
        </p:nvSpPr>
        <p:spPr/>
        <p:txBody>
          <a:bodyPr/>
          <a:lstStyle/>
          <a:p>
            <a:fld id="{98B5923D-B6A3-304B-9A38-4C678B293161}" type="slidenum">
              <a:rPr lang="fr-FR" smtClean="0"/>
              <a:t>14</a:t>
            </a:fld>
            <a:endParaRPr lang="fr-FR"/>
          </a:p>
        </p:txBody>
      </p:sp>
    </p:spTree>
    <p:extLst>
      <p:ext uri="{BB962C8B-B14F-4D97-AF65-F5344CB8AC3E}">
        <p14:creationId xmlns:p14="http://schemas.microsoft.com/office/powerpoint/2010/main" val="8765340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4AA5D-BCA7-148B-FE0A-75232042EBB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6F750B8-64A6-1948-B55F-6FB0538DA6C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4239CBD-BD53-00BD-3490-D0035BE9B7A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299E847-AA19-886D-97C7-0F813D9742CD}"/>
              </a:ext>
            </a:extLst>
          </p:cNvPr>
          <p:cNvSpPr>
            <a:spLocks noGrp="1"/>
          </p:cNvSpPr>
          <p:nvPr>
            <p:ph type="sldNum" sz="quarter" idx="5"/>
          </p:nvPr>
        </p:nvSpPr>
        <p:spPr/>
        <p:txBody>
          <a:bodyPr/>
          <a:lstStyle/>
          <a:p>
            <a:fld id="{98B5923D-B6A3-304B-9A38-4C678B293161}" type="slidenum">
              <a:rPr lang="fr-FR" smtClean="0"/>
              <a:t>15</a:t>
            </a:fld>
            <a:endParaRPr lang="fr-FR"/>
          </a:p>
        </p:txBody>
      </p:sp>
    </p:spTree>
    <p:extLst>
      <p:ext uri="{BB962C8B-B14F-4D97-AF65-F5344CB8AC3E}">
        <p14:creationId xmlns:p14="http://schemas.microsoft.com/office/powerpoint/2010/main" val="11042847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AA131-202D-776D-38F6-FE09469F496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B9F5BCE-2D7D-2984-F95C-651FD6DF0CD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E5CB651-FC4E-728E-068E-08424BC73FFE}"/>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005A03A-C87E-1C63-E8A7-535533B268A6}"/>
              </a:ext>
            </a:extLst>
          </p:cNvPr>
          <p:cNvSpPr>
            <a:spLocks noGrp="1"/>
          </p:cNvSpPr>
          <p:nvPr>
            <p:ph type="sldNum" sz="quarter" idx="5"/>
          </p:nvPr>
        </p:nvSpPr>
        <p:spPr/>
        <p:txBody>
          <a:bodyPr/>
          <a:lstStyle/>
          <a:p>
            <a:fld id="{98B5923D-B6A3-304B-9A38-4C678B293161}" type="slidenum">
              <a:rPr lang="fr-FR" smtClean="0"/>
              <a:t>16</a:t>
            </a:fld>
            <a:endParaRPr lang="fr-FR"/>
          </a:p>
        </p:txBody>
      </p:sp>
    </p:spTree>
    <p:extLst>
      <p:ext uri="{BB962C8B-B14F-4D97-AF65-F5344CB8AC3E}">
        <p14:creationId xmlns:p14="http://schemas.microsoft.com/office/powerpoint/2010/main" val="39681067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268E1-7C3D-A572-86B3-2764F51520C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1F6C57E-0E97-E7AE-5785-D73A8877917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BC049C3-799F-2BE1-5327-3C550A78A9E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8CB52CD-A7D7-FBF9-73B7-761218CA8BF3}"/>
              </a:ext>
            </a:extLst>
          </p:cNvPr>
          <p:cNvSpPr>
            <a:spLocks noGrp="1"/>
          </p:cNvSpPr>
          <p:nvPr>
            <p:ph type="sldNum" sz="quarter" idx="5"/>
          </p:nvPr>
        </p:nvSpPr>
        <p:spPr/>
        <p:txBody>
          <a:bodyPr/>
          <a:lstStyle/>
          <a:p>
            <a:fld id="{98B5923D-B6A3-304B-9A38-4C678B293161}" type="slidenum">
              <a:rPr lang="fr-FR" smtClean="0"/>
              <a:t>17</a:t>
            </a:fld>
            <a:endParaRPr lang="fr-FR"/>
          </a:p>
        </p:txBody>
      </p:sp>
    </p:spTree>
    <p:extLst>
      <p:ext uri="{BB962C8B-B14F-4D97-AF65-F5344CB8AC3E}">
        <p14:creationId xmlns:p14="http://schemas.microsoft.com/office/powerpoint/2010/main" val="2797629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3860B-5710-76EA-057E-8A933A6594B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CBF57B7-4153-54AC-D3D9-AA5F9EEF6F4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DEBEF33-4A64-7BEC-D49E-5A05868D333E}"/>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806124E-CA1C-2AE5-8BA9-AC397399A4C5}"/>
              </a:ext>
            </a:extLst>
          </p:cNvPr>
          <p:cNvSpPr>
            <a:spLocks noGrp="1"/>
          </p:cNvSpPr>
          <p:nvPr>
            <p:ph type="sldNum" sz="quarter" idx="5"/>
          </p:nvPr>
        </p:nvSpPr>
        <p:spPr/>
        <p:txBody>
          <a:bodyPr/>
          <a:lstStyle/>
          <a:p>
            <a:fld id="{98B5923D-B6A3-304B-9A38-4C678B293161}" type="slidenum">
              <a:rPr lang="fr-FR" smtClean="0"/>
              <a:t>18</a:t>
            </a:fld>
            <a:endParaRPr lang="fr-FR"/>
          </a:p>
        </p:txBody>
      </p:sp>
    </p:spTree>
    <p:extLst>
      <p:ext uri="{BB962C8B-B14F-4D97-AF65-F5344CB8AC3E}">
        <p14:creationId xmlns:p14="http://schemas.microsoft.com/office/powerpoint/2010/main" val="14373265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B3352-8B9D-8143-70A5-7FD10E0CA15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DB051F1-20DD-2779-C35D-22CBB4B2788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BBE7A67-B1E0-3BD6-90EA-967B605C30DC}"/>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7C0F356-84D3-1914-15D7-5F7792091D9B}"/>
              </a:ext>
            </a:extLst>
          </p:cNvPr>
          <p:cNvSpPr>
            <a:spLocks noGrp="1"/>
          </p:cNvSpPr>
          <p:nvPr>
            <p:ph type="sldNum" sz="quarter" idx="5"/>
          </p:nvPr>
        </p:nvSpPr>
        <p:spPr/>
        <p:txBody>
          <a:bodyPr/>
          <a:lstStyle/>
          <a:p>
            <a:fld id="{98B5923D-B6A3-304B-9A38-4C678B293161}" type="slidenum">
              <a:rPr lang="fr-FR" smtClean="0"/>
              <a:t>19</a:t>
            </a:fld>
            <a:endParaRPr lang="fr-FR"/>
          </a:p>
        </p:txBody>
      </p:sp>
    </p:spTree>
    <p:extLst>
      <p:ext uri="{BB962C8B-B14F-4D97-AF65-F5344CB8AC3E}">
        <p14:creationId xmlns:p14="http://schemas.microsoft.com/office/powerpoint/2010/main" val="29084310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82A4C-D098-C9F7-F8A8-C2AA92427C8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17EFA4E-C9FF-DE65-CA15-366FF13F9C9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9E14310-D9BD-EC02-A788-878D0EE473BF}"/>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B0A6A878-6ED1-8817-0C4B-1FAE23A09EE3}"/>
              </a:ext>
            </a:extLst>
          </p:cNvPr>
          <p:cNvSpPr>
            <a:spLocks noGrp="1"/>
          </p:cNvSpPr>
          <p:nvPr>
            <p:ph type="sldNum" sz="quarter" idx="5"/>
          </p:nvPr>
        </p:nvSpPr>
        <p:spPr/>
        <p:txBody>
          <a:bodyPr/>
          <a:lstStyle/>
          <a:p>
            <a:fld id="{98B5923D-B6A3-304B-9A38-4C678B293161}" type="slidenum">
              <a:rPr lang="fr-FR" smtClean="0"/>
              <a:t>20</a:t>
            </a:fld>
            <a:endParaRPr lang="fr-FR"/>
          </a:p>
        </p:txBody>
      </p:sp>
    </p:spTree>
    <p:extLst>
      <p:ext uri="{BB962C8B-B14F-4D97-AF65-F5344CB8AC3E}">
        <p14:creationId xmlns:p14="http://schemas.microsoft.com/office/powerpoint/2010/main" val="10659459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9DC16-666C-D729-B8C5-A24B7908FE2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3A8CBEF-7780-8C8D-3BF6-845CF3FFF2B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D0C5DFD-DDD0-186B-F624-9E3EE6FDA2F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BB8A964-A81D-661E-185E-FDD830B5D5DB}"/>
              </a:ext>
            </a:extLst>
          </p:cNvPr>
          <p:cNvSpPr>
            <a:spLocks noGrp="1"/>
          </p:cNvSpPr>
          <p:nvPr>
            <p:ph type="sldNum" sz="quarter" idx="5"/>
          </p:nvPr>
        </p:nvSpPr>
        <p:spPr/>
        <p:txBody>
          <a:bodyPr/>
          <a:lstStyle/>
          <a:p>
            <a:fld id="{98B5923D-B6A3-304B-9A38-4C678B293161}" type="slidenum">
              <a:rPr lang="fr-FR" smtClean="0"/>
              <a:t>21</a:t>
            </a:fld>
            <a:endParaRPr lang="fr-FR"/>
          </a:p>
        </p:txBody>
      </p:sp>
    </p:spTree>
    <p:extLst>
      <p:ext uri="{BB962C8B-B14F-4D97-AF65-F5344CB8AC3E}">
        <p14:creationId xmlns:p14="http://schemas.microsoft.com/office/powerpoint/2010/main" val="152655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4981E-4A59-A290-99BF-DE6B79E5A5D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1079566-AC1A-26CE-E2DC-58267E759B6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72FC41B-952E-4FB7-7A00-E3C4881D1CB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B53A123-B277-E44D-8852-EA24D3391C42}"/>
              </a:ext>
            </a:extLst>
          </p:cNvPr>
          <p:cNvSpPr>
            <a:spLocks noGrp="1"/>
          </p:cNvSpPr>
          <p:nvPr>
            <p:ph type="sldNum" sz="quarter" idx="5"/>
          </p:nvPr>
        </p:nvSpPr>
        <p:spPr/>
        <p:txBody>
          <a:bodyPr/>
          <a:lstStyle/>
          <a:p>
            <a:fld id="{98B5923D-B6A3-304B-9A38-4C678B293161}" type="slidenum">
              <a:rPr lang="fr-FR" smtClean="0"/>
              <a:t>22</a:t>
            </a:fld>
            <a:endParaRPr lang="fr-FR"/>
          </a:p>
        </p:txBody>
      </p:sp>
    </p:spTree>
    <p:extLst>
      <p:ext uri="{BB962C8B-B14F-4D97-AF65-F5344CB8AC3E}">
        <p14:creationId xmlns:p14="http://schemas.microsoft.com/office/powerpoint/2010/main" val="14097804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10/16/25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10/16/25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10/16/25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jpe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jpe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jpe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jpe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sv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jpe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sv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jpeg"/><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sv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jpeg"/><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sv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jpe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sv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jpe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sv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jpeg"/><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sv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jpeg"/><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sv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jpeg"/><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sv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jpeg"/><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sv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jpeg"/><Relationship Id="rId4" Type="http://schemas.openxmlformats.org/officeDocument/2006/relationships/image" Target="../media/image4.sv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sv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jpeg"/><Relationship Id="rId4" Type="http://schemas.openxmlformats.org/officeDocument/2006/relationships/image" Target="../media/image4.svg"/></Relationships>
</file>

<file path=ppt/slides/_rels/slide1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png"/><Relationship Id="rId7" Type="http://schemas.openxmlformats.org/officeDocument/2006/relationships/image" Target="../media/image9.sv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jpeg"/><Relationship Id="rId4" Type="http://schemas.openxmlformats.org/officeDocument/2006/relationships/image" Target="../media/image4.sv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sv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jpeg"/><Relationship Id="rId4" Type="http://schemas.openxmlformats.org/officeDocument/2006/relationships/image" Target="../media/image4.sv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sv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jpeg"/><Relationship Id="rId4" Type="http://schemas.openxmlformats.org/officeDocument/2006/relationships/image" Target="../media/image4.sv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5.jpe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9.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2" name="Freeform 2"/>
          <p:cNvSpPr/>
          <p:nvPr/>
        </p:nvSpPr>
        <p:spPr>
          <a:xfrm rot="-7160485">
            <a:off x="13419555" y="4654397"/>
            <a:ext cx="6728545" cy="6403217"/>
          </a:xfrm>
          <a:custGeom>
            <a:avLst/>
            <a:gdLst/>
            <a:ahLst/>
            <a:cxnLst/>
            <a:rect l="l" t="t" r="r" b="b"/>
            <a:pathLst>
              <a:path w="6728545" h="6403217">
                <a:moveTo>
                  <a:pt x="0" y="0"/>
                </a:moveTo>
                <a:lnTo>
                  <a:pt x="6728545" y="0"/>
                </a:lnTo>
                <a:lnTo>
                  <a:pt x="6728545" y="6403217"/>
                </a:lnTo>
                <a:lnTo>
                  <a:pt x="0" y="640321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rot="3206933">
            <a:off x="-4984565" y="1515579"/>
            <a:ext cx="11239071" cy="9067998"/>
          </a:xfrm>
          <a:custGeom>
            <a:avLst/>
            <a:gdLst/>
            <a:ahLst/>
            <a:cxnLst/>
            <a:rect l="l" t="t" r="r" b="b"/>
            <a:pathLst>
              <a:path w="11239071" h="9067998">
                <a:moveTo>
                  <a:pt x="0" y="0"/>
                </a:moveTo>
                <a:lnTo>
                  <a:pt x="11239072" y="0"/>
                </a:lnTo>
                <a:lnTo>
                  <a:pt x="11239072" y="9067998"/>
                </a:lnTo>
                <a:lnTo>
                  <a:pt x="0" y="906799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26" name="Groupe 25">
            <a:extLst>
              <a:ext uri="{FF2B5EF4-FFF2-40B4-BE49-F238E27FC236}">
                <a16:creationId xmlns:a16="http://schemas.microsoft.com/office/drawing/2014/main" id="{A65BB422-34D2-1C65-8F73-237BCC571C5E}"/>
              </a:ext>
            </a:extLst>
          </p:cNvPr>
          <p:cNvGrpSpPr/>
          <p:nvPr/>
        </p:nvGrpSpPr>
        <p:grpSpPr>
          <a:xfrm>
            <a:off x="1761136" y="5293679"/>
            <a:ext cx="15379234" cy="3387954"/>
            <a:chOff x="2063940" y="2521349"/>
            <a:chExt cx="15379234" cy="3387954"/>
          </a:xfrm>
        </p:grpSpPr>
        <p:grpSp>
          <p:nvGrpSpPr>
            <p:cNvPr id="3" name="Group 3"/>
            <p:cNvGrpSpPr/>
            <p:nvPr/>
          </p:nvGrpSpPr>
          <p:grpSpPr>
            <a:xfrm>
              <a:off x="2063940" y="2521349"/>
              <a:ext cx="15379234" cy="3387954"/>
              <a:chOff x="-112652" y="-38100"/>
              <a:chExt cx="2872849" cy="787881"/>
            </a:xfrm>
          </p:grpSpPr>
          <p:sp>
            <p:nvSpPr>
              <p:cNvPr id="4" name="Freeform 4"/>
              <p:cNvSpPr/>
              <p:nvPr/>
            </p:nvSpPr>
            <p:spPr>
              <a:xfrm>
                <a:off x="-112652" y="0"/>
                <a:ext cx="2872849" cy="749781"/>
              </a:xfrm>
              <a:custGeom>
                <a:avLst/>
                <a:gdLst/>
                <a:ahLst/>
                <a:cxnLst/>
                <a:rect l="l" t="t" r="r" b="b"/>
                <a:pathLst>
                  <a:path w="2419814" h="749781">
                    <a:moveTo>
                      <a:pt x="0" y="0"/>
                    </a:moveTo>
                    <a:lnTo>
                      <a:pt x="2419814" y="0"/>
                    </a:lnTo>
                    <a:lnTo>
                      <a:pt x="2419814" y="749781"/>
                    </a:lnTo>
                    <a:lnTo>
                      <a:pt x="0" y="749781"/>
                    </a:lnTo>
                    <a:close/>
                  </a:path>
                </a:pathLst>
              </a:custGeom>
              <a:solidFill>
                <a:srgbClr val="FFFFFF"/>
              </a:solidFill>
              <a:ln w="28575" cap="sq">
                <a:solidFill>
                  <a:srgbClr val="000000"/>
                </a:solidFill>
                <a:prstDash val="solid"/>
                <a:miter/>
              </a:ln>
            </p:spPr>
            <p:txBody>
              <a:bodyPr/>
              <a:lstStyle/>
              <a:p>
                <a:endParaRPr lang="fr-FR" dirty="0"/>
              </a:p>
            </p:txBody>
          </p:sp>
          <p:sp>
            <p:nvSpPr>
              <p:cNvPr id="5" name="TextBox 5"/>
              <p:cNvSpPr txBox="1"/>
              <p:nvPr/>
            </p:nvSpPr>
            <p:spPr>
              <a:xfrm>
                <a:off x="0" y="-38100"/>
                <a:ext cx="2419814" cy="787881"/>
              </a:xfrm>
              <a:prstGeom prst="rect">
                <a:avLst/>
              </a:prstGeom>
            </p:spPr>
            <p:txBody>
              <a:bodyPr lIns="57533" tIns="57533" rIns="57533" bIns="57533" rtlCol="0" anchor="ctr"/>
              <a:lstStyle/>
              <a:p>
                <a:pPr algn="ctr">
                  <a:lnSpc>
                    <a:spcPts val="2660"/>
                  </a:lnSpc>
                  <a:spcBef>
                    <a:spcPct val="0"/>
                  </a:spcBef>
                </a:pPr>
                <a:endParaRPr/>
              </a:p>
            </p:txBody>
          </p:sp>
        </p:grpSp>
        <p:sp>
          <p:nvSpPr>
            <p:cNvPr id="7" name="TextBox 7"/>
            <p:cNvSpPr txBox="1"/>
            <p:nvPr/>
          </p:nvSpPr>
          <p:spPr>
            <a:xfrm>
              <a:off x="3200400" y="3578395"/>
              <a:ext cx="14242774" cy="1845698"/>
            </a:xfrm>
            <a:prstGeom prst="rect">
              <a:avLst/>
            </a:prstGeom>
          </p:spPr>
          <p:txBody>
            <a:bodyPr wrap="square" lIns="0" tIns="0" rIns="0" bIns="0" rtlCol="0" anchor="t">
              <a:spAutoFit/>
            </a:bodyPr>
            <a:lstStyle/>
            <a:p>
              <a:pPr>
                <a:lnSpc>
                  <a:spcPts val="4622"/>
                </a:lnSpc>
              </a:pPr>
              <a:r>
                <a:rPr lang="fr-FR" sz="6600" b="1" dirty="0"/>
                <a:t>LES NOTIONS ET FONDEMENTS DE</a:t>
              </a:r>
            </a:p>
            <a:p>
              <a:pPr>
                <a:lnSpc>
                  <a:spcPts val="4622"/>
                </a:lnSpc>
              </a:pPr>
              <a:r>
                <a:rPr lang="fr-FR" sz="6600" b="1" dirty="0"/>
                <a:t> </a:t>
              </a:r>
            </a:p>
            <a:p>
              <a:pPr>
                <a:lnSpc>
                  <a:spcPts val="4622"/>
                </a:lnSpc>
              </a:pPr>
              <a:r>
                <a:rPr lang="fr-FR" sz="6600" b="1" dirty="0"/>
                <a:t>      L’ARCHITECTURE LOGICIELLE </a:t>
              </a:r>
              <a:endParaRPr lang="en-US" sz="6600" b="1" dirty="0">
                <a:sym typeface="Akzidenz-Grotesk"/>
              </a:endParaRPr>
            </a:p>
          </p:txBody>
        </p:sp>
      </p:grpSp>
      <p:sp>
        <p:nvSpPr>
          <p:cNvPr id="12" name="ZoneTexte 11">
            <a:extLst>
              <a:ext uri="{FF2B5EF4-FFF2-40B4-BE49-F238E27FC236}">
                <a16:creationId xmlns:a16="http://schemas.microsoft.com/office/drawing/2014/main" id="{FB8E9F45-7D01-9F6D-7D80-866080113CC6}"/>
              </a:ext>
            </a:extLst>
          </p:cNvPr>
          <p:cNvSpPr txBox="1"/>
          <p:nvPr/>
        </p:nvSpPr>
        <p:spPr>
          <a:xfrm>
            <a:off x="17961429" y="762000"/>
            <a:ext cx="184731" cy="369332"/>
          </a:xfrm>
          <a:prstGeom prst="rect">
            <a:avLst/>
          </a:prstGeom>
          <a:noFill/>
        </p:spPr>
        <p:txBody>
          <a:bodyPr wrap="none" rtlCol="0">
            <a:spAutoFit/>
          </a:bodyPr>
          <a:lstStyle/>
          <a:p>
            <a:endParaRPr lang="fr-FR" dirty="0"/>
          </a:p>
        </p:txBody>
      </p:sp>
      <p:sp>
        <p:nvSpPr>
          <p:cNvPr id="13" name="ZoneTexte 12">
            <a:extLst>
              <a:ext uri="{FF2B5EF4-FFF2-40B4-BE49-F238E27FC236}">
                <a16:creationId xmlns:a16="http://schemas.microsoft.com/office/drawing/2014/main" id="{B047904F-81CC-A405-EF0E-B76490125E08}"/>
              </a:ext>
            </a:extLst>
          </p:cNvPr>
          <p:cNvSpPr txBox="1"/>
          <p:nvPr/>
        </p:nvSpPr>
        <p:spPr>
          <a:xfrm>
            <a:off x="10938933" y="6468533"/>
            <a:ext cx="184731" cy="369332"/>
          </a:xfrm>
          <a:prstGeom prst="rect">
            <a:avLst/>
          </a:prstGeom>
          <a:solidFill>
            <a:schemeClr val="accent3">
              <a:lumMod val="40000"/>
              <a:lumOff val="60000"/>
            </a:schemeClr>
          </a:solidFill>
        </p:spPr>
        <p:txBody>
          <a:bodyPr wrap="none" rtlCol="0">
            <a:spAutoFit/>
          </a:bodyPr>
          <a:lstStyle/>
          <a:p>
            <a:endParaRPr lang="fr-FR" dirty="0"/>
          </a:p>
        </p:txBody>
      </p:sp>
      <p:pic>
        <p:nvPicPr>
          <p:cNvPr id="2050" name="Picture 2" descr="universite-assane-seck-zig-5af59 - Wincom">
            <a:extLst>
              <a:ext uri="{FF2B5EF4-FFF2-40B4-BE49-F238E27FC236}">
                <a16:creationId xmlns:a16="http://schemas.microsoft.com/office/drawing/2014/main" id="{A255569F-0375-0A6D-DEF0-0A925C8ABC0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20100" y="249824"/>
            <a:ext cx="2857500" cy="2266082"/>
          </a:xfrm>
          <a:prstGeom prst="rect">
            <a:avLst/>
          </a:prstGeom>
          <a:noFill/>
          <a:extLst>
            <a:ext uri="{909E8E84-426E-40DD-AFC4-6F175D3DCCD1}">
              <a14:hiddenFill xmlns:a14="http://schemas.microsoft.com/office/drawing/2010/main">
                <a:solidFill>
                  <a:srgbClr val="FFFFFF"/>
                </a:solidFill>
              </a14:hiddenFill>
            </a:ext>
          </a:extLst>
        </p:spPr>
      </p:pic>
      <p:grpSp>
        <p:nvGrpSpPr>
          <p:cNvPr id="27" name="Groupe 26">
            <a:extLst>
              <a:ext uri="{FF2B5EF4-FFF2-40B4-BE49-F238E27FC236}">
                <a16:creationId xmlns:a16="http://schemas.microsoft.com/office/drawing/2014/main" id="{7F7887DD-84C3-2BEF-B170-A1F052916EDF}"/>
              </a:ext>
            </a:extLst>
          </p:cNvPr>
          <p:cNvGrpSpPr/>
          <p:nvPr/>
        </p:nvGrpSpPr>
        <p:grpSpPr>
          <a:xfrm>
            <a:off x="1761135" y="2650986"/>
            <a:ext cx="15379236" cy="2214744"/>
            <a:chOff x="2901042" y="6662557"/>
            <a:chExt cx="12230100" cy="2214744"/>
          </a:xfrm>
        </p:grpSpPr>
        <p:grpSp>
          <p:nvGrpSpPr>
            <p:cNvPr id="14" name="Group 3">
              <a:extLst>
                <a:ext uri="{FF2B5EF4-FFF2-40B4-BE49-F238E27FC236}">
                  <a16:creationId xmlns:a16="http://schemas.microsoft.com/office/drawing/2014/main" id="{EB33083E-116D-E687-A394-314A2A452345}"/>
                </a:ext>
              </a:extLst>
            </p:cNvPr>
            <p:cNvGrpSpPr/>
            <p:nvPr/>
          </p:nvGrpSpPr>
          <p:grpSpPr>
            <a:xfrm>
              <a:off x="3048000" y="6662557"/>
              <a:ext cx="12083142" cy="2214744"/>
              <a:chOff x="0" y="-38100"/>
              <a:chExt cx="2842321" cy="787881"/>
            </a:xfrm>
          </p:grpSpPr>
          <p:sp>
            <p:nvSpPr>
              <p:cNvPr id="15" name="Freeform 4">
                <a:extLst>
                  <a:ext uri="{FF2B5EF4-FFF2-40B4-BE49-F238E27FC236}">
                    <a16:creationId xmlns:a16="http://schemas.microsoft.com/office/drawing/2014/main" id="{1855057B-3B6E-A032-C269-F77B01F3269D}"/>
                  </a:ext>
                </a:extLst>
              </p:cNvPr>
              <p:cNvSpPr/>
              <p:nvPr/>
            </p:nvSpPr>
            <p:spPr>
              <a:xfrm>
                <a:off x="0" y="0"/>
                <a:ext cx="2842321" cy="749781"/>
              </a:xfrm>
              <a:custGeom>
                <a:avLst/>
                <a:gdLst/>
                <a:ahLst/>
                <a:cxnLst/>
                <a:rect l="l" t="t" r="r" b="b"/>
                <a:pathLst>
                  <a:path w="2419814" h="749781">
                    <a:moveTo>
                      <a:pt x="0" y="0"/>
                    </a:moveTo>
                    <a:lnTo>
                      <a:pt x="2419814" y="0"/>
                    </a:lnTo>
                    <a:lnTo>
                      <a:pt x="2419814" y="749781"/>
                    </a:lnTo>
                    <a:lnTo>
                      <a:pt x="0" y="749781"/>
                    </a:lnTo>
                    <a:close/>
                  </a:path>
                </a:pathLst>
              </a:custGeom>
              <a:solidFill>
                <a:srgbClr val="FFFFFF"/>
              </a:solidFill>
              <a:ln w="28575" cap="sq">
                <a:solidFill>
                  <a:srgbClr val="000000"/>
                </a:solidFill>
                <a:prstDash val="solid"/>
                <a:miter/>
              </a:ln>
            </p:spPr>
            <p:txBody>
              <a:bodyPr/>
              <a:lstStyle/>
              <a:p>
                <a:endParaRPr lang="fr-FR" dirty="0"/>
              </a:p>
            </p:txBody>
          </p:sp>
          <p:sp>
            <p:nvSpPr>
              <p:cNvPr id="16" name="TextBox 5">
                <a:extLst>
                  <a:ext uri="{FF2B5EF4-FFF2-40B4-BE49-F238E27FC236}">
                    <a16:creationId xmlns:a16="http://schemas.microsoft.com/office/drawing/2014/main" id="{6DD19ECB-8B4E-31A5-5865-20224CCC2324}"/>
                  </a:ext>
                </a:extLst>
              </p:cNvPr>
              <p:cNvSpPr txBox="1"/>
              <p:nvPr/>
            </p:nvSpPr>
            <p:spPr>
              <a:xfrm>
                <a:off x="0" y="-38100"/>
                <a:ext cx="2419814" cy="787881"/>
              </a:xfrm>
              <a:prstGeom prst="rect">
                <a:avLst/>
              </a:prstGeom>
            </p:spPr>
            <p:txBody>
              <a:bodyPr lIns="57533" tIns="57533" rIns="57533" bIns="57533" rtlCol="0" anchor="ctr"/>
              <a:lstStyle/>
              <a:p>
                <a:pPr algn="ctr">
                  <a:lnSpc>
                    <a:spcPts val="2660"/>
                  </a:lnSpc>
                  <a:spcBef>
                    <a:spcPct val="0"/>
                  </a:spcBef>
                </a:pPr>
                <a:endParaRPr/>
              </a:p>
            </p:txBody>
          </p:sp>
        </p:grpSp>
        <p:sp>
          <p:nvSpPr>
            <p:cNvPr id="20" name="TextBox 7">
              <a:extLst>
                <a:ext uri="{FF2B5EF4-FFF2-40B4-BE49-F238E27FC236}">
                  <a16:creationId xmlns:a16="http://schemas.microsoft.com/office/drawing/2014/main" id="{3557DFD5-F6B4-2288-FFE0-5CCAA794AA63}"/>
                </a:ext>
              </a:extLst>
            </p:cNvPr>
            <p:cNvSpPr txBox="1"/>
            <p:nvPr/>
          </p:nvSpPr>
          <p:spPr>
            <a:xfrm>
              <a:off x="2901042" y="7011197"/>
              <a:ext cx="11887200" cy="1692771"/>
            </a:xfrm>
            <a:prstGeom prst="rect">
              <a:avLst/>
            </a:prstGeom>
          </p:spPr>
          <p:txBody>
            <a:bodyPr wrap="square" lIns="0" tIns="0" rIns="0" bIns="0" rtlCol="0" anchor="t">
              <a:spAutoFit/>
            </a:bodyPr>
            <a:lstStyle/>
            <a:p>
              <a:pPr algn="ctr">
                <a:lnSpc>
                  <a:spcPts val="6631"/>
                </a:lnSpc>
              </a:pPr>
              <a:r>
                <a:rPr lang="en-US" sz="6438" b="1" dirty="0">
                  <a:solidFill>
                    <a:srgbClr val="000000"/>
                  </a:solidFill>
                  <a:latin typeface="Neue Machina Ultra-Bold"/>
                  <a:ea typeface="Neue Machina Ultra-Bold"/>
                  <a:cs typeface="Neue Machina Ultra-Bold"/>
                  <a:sym typeface="Neue Machina Ultra-Bold"/>
                </a:rPr>
                <a:t>ARCHITECTURE LOGICIELLE</a:t>
              </a:r>
            </a:p>
          </p:txBody>
        </p:sp>
      </p:grpSp>
      <p:sp>
        <p:nvSpPr>
          <p:cNvPr id="23" name="TextBox 5">
            <a:extLst>
              <a:ext uri="{FF2B5EF4-FFF2-40B4-BE49-F238E27FC236}">
                <a16:creationId xmlns:a16="http://schemas.microsoft.com/office/drawing/2014/main" id="{6ACA09AA-BBDD-E610-8D43-8C66A7F76967}"/>
              </a:ext>
            </a:extLst>
          </p:cNvPr>
          <p:cNvSpPr txBox="1"/>
          <p:nvPr/>
        </p:nvSpPr>
        <p:spPr>
          <a:xfrm>
            <a:off x="2969804" y="2255956"/>
            <a:ext cx="12954000" cy="3387954"/>
          </a:xfrm>
          <a:prstGeom prst="rect">
            <a:avLst/>
          </a:prstGeom>
        </p:spPr>
        <p:txBody>
          <a:bodyPr lIns="57533" tIns="57533" rIns="57533" bIns="57533" rtlCol="0" anchor="ctr"/>
          <a:lstStyle/>
          <a:p>
            <a:pPr algn="ctr">
              <a:lnSpc>
                <a:spcPts val="2660"/>
              </a:lnSpc>
              <a:spcBef>
                <a:spcPct val="0"/>
              </a:spcBef>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grpSp>
        <p:nvGrpSpPr>
          <p:cNvPr id="2" name="Group 2"/>
          <p:cNvGrpSpPr/>
          <p:nvPr/>
        </p:nvGrpSpPr>
        <p:grpSpPr>
          <a:xfrm>
            <a:off x="1677453" y="2260420"/>
            <a:ext cx="14922638" cy="8467362"/>
            <a:chOff x="0" y="0"/>
            <a:chExt cx="2375755" cy="2230087"/>
          </a:xfrm>
        </p:grpSpPr>
        <p:sp>
          <p:nvSpPr>
            <p:cNvPr id="3" name="Freeform 3"/>
            <p:cNvSpPr/>
            <p:nvPr/>
          </p:nvSpPr>
          <p:spPr>
            <a:xfrm>
              <a:off x="0" y="0"/>
              <a:ext cx="2375755" cy="2230087"/>
            </a:xfrm>
            <a:custGeom>
              <a:avLst/>
              <a:gdLst/>
              <a:ahLst/>
              <a:cxnLst/>
              <a:rect l="l" t="t" r="r" b="b"/>
              <a:pathLst>
                <a:path w="2375755" h="2230087">
                  <a:moveTo>
                    <a:pt x="0" y="0"/>
                  </a:moveTo>
                  <a:lnTo>
                    <a:pt x="2375755" y="0"/>
                  </a:lnTo>
                  <a:lnTo>
                    <a:pt x="2375755" y="2230087"/>
                  </a:lnTo>
                  <a:lnTo>
                    <a:pt x="0" y="2230087"/>
                  </a:lnTo>
                  <a:close/>
                </a:path>
              </a:pathLst>
            </a:custGeom>
            <a:solidFill>
              <a:srgbClr val="FFFFFF"/>
            </a:solidFill>
            <a:ln w="9525" cap="sq">
              <a:solidFill>
                <a:srgbClr val="000000"/>
              </a:solidFill>
              <a:prstDash val="solid"/>
              <a:miter/>
            </a:ln>
          </p:spPr>
          <p:txBody>
            <a:bodyPr/>
            <a:lstStyle/>
            <a:p>
              <a:endParaRPr lang="fr-FR" dirty="0"/>
            </a:p>
          </p:txBody>
        </p:sp>
        <p:sp>
          <p:nvSpPr>
            <p:cNvPr id="4" name="TextBox 4"/>
            <p:cNvSpPr txBox="1"/>
            <p:nvPr/>
          </p:nvSpPr>
          <p:spPr>
            <a:xfrm>
              <a:off x="0" y="-38100"/>
              <a:ext cx="2375755" cy="2268187"/>
            </a:xfrm>
            <a:prstGeom prst="rect">
              <a:avLst/>
            </a:prstGeom>
          </p:spPr>
          <p:txBody>
            <a:bodyPr lIns="50800" tIns="50800" rIns="50800" bIns="50800" rtlCol="0" anchor="ctr"/>
            <a:lstStyle/>
            <a:p>
              <a:pPr algn="ctr">
                <a:lnSpc>
                  <a:spcPts val="2348"/>
                </a:lnSpc>
              </a:pPr>
              <a:endParaRPr/>
            </a:p>
          </p:txBody>
        </p:sp>
      </p:grpSp>
      <p:sp>
        <p:nvSpPr>
          <p:cNvPr id="5" name="Freeform 5"/>
          <p:cNvSpPr/>
          <p:nvPr/>
        </p:nvSpPr>
        <p:spPr>
          <a:xfrm rot="-1934702">
            <a:off x="-1209965" y="1041389"/>
            <a:ext cx="6320501" cy="4391725"/>
          </a:xfrm>
          <a:custGeom>
            <a:avLst/>
            <a:gdLst/>
            <a:ahLst/>
            <a:cxnLst/>
            <a:rect l="l" t="t" r="r" b="b"/>
            <a:pathLst>
              <a:path w="6320501" h="4391725">
                <a:moveTo>
                  <a:pt x="0" y="0"/>
                </a:moveTo>
                <a:lnTo>
                  <a:pt x="6320502" y="0"/>
                </a:lnTo>
                <a:lnTo>
                  <a:pt x="6320502" y="4391725"/>
                </a:lnTo>
                <a:lnTo>
                  <a:pt x="0" y="439172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5257800" y="622019"/>
            <a:ext cx="6819588" cy="954078"/>
          </a:xfrm>
          <a:prstGeom prst="rect">
            <a:avLst/>
          </a:prstGeom>
        </p:spPr>
        <p:txBody>
          <a:bodyPr lIns="0" tIns="0" rIns="0" bIns="0" rtlCol="0" anchor="t">
            <a:spAutoFit/>
          </a:bodyPr>
          <a:lstStyle/>
          <a:p>
            <a:pPr algn="ctr">
              <a:lnSpc>
                <a:spcPts val="7361"/>
              </a:lnSpc>
            </a:pPr>
            <a:r>
              <a:rPr lang="en-US" sz="6457" b="1" dirty="0">
                <a:solidFill>
                  <a:srgbClr val="000000"/>
                </a:solidFill>
                <a:latin typeface="Neue Machina Ultra-Bold"/>
                <a:ea typeface="Neue Machina Ultra-Bold"/>
                <a:cs typeface="Neue Machina Ultra-Bold"/>
                <a:sym typeface="Neue Machina Ultra-Bold"/>
              </a:rPr>
              <a:t>SOMMAIRE</a:t>
            </a:r>
          </a:p>
        </p:txBody>
      </p:sp>
      <p:sp>
        <p:nvSpPr>
          <p:cNvPr id="7" name="TextBox 7"/>
          <p:cNvSpPr txBox="1"/>
          <p:nvPr/>
        </p:nvSpPr>
        <p:spPr>
          <a:xfrm>
            <a:off x="4814560" y="3622584"/>
            <a:ext cx="10680287" cy="557460"/>
          </a:xfrm>
          <a:prstGeom prst="rect">
            <a:avLst/>
          </a:prstGeom>
        </p:spPr>
        <p:txBody>
          <a:bodyPr wrap="square" lIns="0" tIns="0" rIns="0" bIns="0" rtlCol="0" anchor="t">
            <a:spAutoFit/>
          </a:bodyPr>
          <a:lstStyle/>
          <a:p>
            <a:pPr>
              <a:lnSpc>
                <a:spcPts val="4622"/>
              </a:lnSpc>
            </a:pPr>
            <a:r>
              <a:rPr lang="fr-FR" sz="3302" dirty="0">
                <a:solidFill>
                  <a:srgbClr val="000000"/>
                </a:solidFill>
                <a:latin typeface="Akzidenz-Grotesk"/>
              </a:rPr>
              <a:t>DEFINITION DE L’ARCHITECURE LOGICIEL</a:t>
            </a:r>
            <a:endParaRPr lang="en-US" sz="3302" dirty="0">
              <a:solidFill>
                <a:srgbClr val="000000"/>
              </a:solidFill>
              <a:latin typeface="Akzidenz-Grotesk"/>
              <a:sym typeface="Akzidenz-Grotesk"/>
            </a:endParaRPr>
          </a:p>
        </p:txBody>
      </p:sp>
      <p:sp>
        <p:nvSpPr>
          <p:cNvPr id="8" name="TextBox 8"/>
          <p:cNvSpPr txBox="1"/>
          <p:nvPr/>
        </p:nvSpPr>
        <p:spPr>
          <a:xfrm>
            <a:off x="2819400" y="4433640"/>
            <a:ext cx="8981144" cy="557460"/>
          </a:xfrm>
          <a:prstGeom prst="rect">
            <a:avLst/>
          </a:prstGeom>
        </p:spPr>
        <p:txBody>
          <a:bodyPr wrap="square" lIns="0" tIns="0" rIns="0" bIns="0" rtlCol="0" anchor="t">
            <a:spAutoFit/>
          </a:bodyPr>
          <a:lstStyle/>
          <a:p>
            <a:pPr>
              <a:lnSpc>
                <a:spcPts val="4622"/>
              </a:lnSpc>
            </a:pPr>
            <a:r>
              <a:rPr lang="fr-FR" sz="3302" dirty="0">
                <a:solidFill>
                  <a:srgbClr val="000000"/>
                </a:solidFill>
                <a:latin typeface="Akzidenz-Grotesk"/>
              </a:rPr>
              <a:t>OBJECTIF DE L’ARCHIRECTURE LOGICIEL</a:t>
            </a:r>
            <a:endParaRPr lang="en-US" sz="3302" dirty="0">
              <a:solidFill>
                <a:srgbClr val="000000"/>
              </a:solidFill>
              <a:latin typeface="Akzidenz-Grotesk"/>
              <a:sym typeface="Akzidenz-Grotesk"/>
            </a:endParaRPr>
          </a:p>
        </p:txBody>
      </p:sp>
      <p:grpSp>
        <p:nvGrpSpPr>
          <p:cNvPr id="11" name="Group 11"/>
          <p:cNvGrpSpPr/>
          <p:nvPr/>
        </p:nvGrpSpPr>
        <p:grpSpPr>
          <a:xfrm>
            <a:off x="3946712" y="3597663"/>
            <a:ext cx="458606" cy="521553"/>
            <a:chOff x="0" y="-79801"/>
            <a:chExt cx="611475" cy="695404"/>
          </a:xfrm>
        </p:grpSpPr>
        <p:grpSp>
          <p:nvGrpSpPr>
            <p:cNvPr id="12" name="Group 12"/>
            <p:cNvGrpSpPr/>
            <p:nvPr/>
          </p:nvGrpSpPr>
          <p:grpSpPr>
            <a:xfrm>
              <a:off x="0" y="0"/>
              <a:ext cx="611475" cy="610136"/>
              <a:chOff x="0" y="0"/>
              <a:chExt cx="900098" cy="898127"/>
            </a:xfrm>
          </p:grpSpPr>
          <p:sp>
            <p:nvSpPr>
              <p:cNvPr id="13" name="Freeform 13"/>
              <p:cNvSpPr/>
              <p:nvPr/>
            </p:nvSpPr>
            <p:spPr>
              <a:xfrm>
                <a:off x="0" y="0"/>
                <a:ext cx="900098" cy="898127"/>
              </a:xfrm>
              <a:custGeom>
                <a:avLst/>
                <a:gdLst/>
                <a:ahLst/>
                <a:cxnLst/>
                <a:rect l="l" t="t" r="r" b="b"/>
                <a:pathLst>
                  <a:path w="900098" h="898127">
                    <a:moveTo>
                      <a:pt x="450049" y="0"/>
                    </a:moveTo>
                    <a:cubicBezTo>
                      <a:pt x="201494" y="0"/>
                      <a:pt x="0" y="201053"/>
                      <a:pt x="0" y="449064"/>
                    </a:cubicBezTo>
                    <a:cubicBezTo>
                      <a:pt x="0" y="697075"/>
                      <a:pt x="201494" y="898127"/>
                      <a:pt x="450049" y="898127"/>
                    </a:cubicBezTo>
                    <a:cubicBezTo>
                      <a:pt x="698604" y="898127"/>
                      <a:pt x="900098" y="697075"/>
                      <a:pt x="900098" y="449064"/>
                    </a:cubicBezTo>
                    <a:cubicBezTo>
                      <a:pt x="900098" y="201053"/>
                      <a:pt x="698604" y="0"/>
                      <a:pt x="450049" y="0"/>
                    </a:cubicBezTo>
                    <a:close/>
                  </a:path>
                </a:pathLst>
              </a:custGeom>
              <a:solidFill>
                <a:srgbClr val="000000"/>
              </a:solidFill>
            </p:spPr>
          </p:sp>
          <p:sp>
            <p:nvSpPr>
              <p:cNvPr id="14" name="TextBox 14"/>
              <p:cNvSpPr txBox="1"/>
              <p:nvPr/>
            </p:nvSpPr>
            <p:spPr>
              <a:xfrm>
                <a:off x="84384" y="7999"/>
                <a:ext cx="731330" cy="805929"/>
              </a:xfrm>
              <a:prstGeom prst="rect">
                <a:avLst/>
              </a:prstGeom>
            </p:spPr>
            <p:txBody>
              <a:bodyPr lIns="50800" tIns="50800" rIns="50800" bIns="50800" rtlCol="0" anchor="ctr"/>
              <a:lstStyle/>
              <a:p>
                <a:pPr algn="ctr">
                  <a:lnSpc>
                    <a:spcPts val="2660"/>
                  </a:lnSpc>
                </a:pPr>
                <a:endParaRPr/>
              </a:p>
            </p:txBody>
          </p:sp>
        </p:grpSp>
        <p:sp>
          <p:nvSpPr>
            <p:cNvPr id="15" name="TextBox 15"/>
            <p:cNvSpPr txBox="1"/>
            <p:nvPr/>
          </p:nvSpPr>
          <p:spPr>
            <a:xfrm>
              <a:off x="152544" y="-79801"/>
              <a:ext cx="306388" cy="695404"/>
            </a:xfrm>
            <a:prstGeom prst="rect">
              <a:avLst/>
            </a:prstGeom>
          </p:spPr>
          <p:txBody>
            <a:bodyPr lIns="0" tIns="0" rIns="0" bIns="0" rtlCol="0" anchor="t">
              <a:spAutoFit/>
            </a:bodyPr>
            <a:lstStyle/>
            <a:p>
              <a:pPr algn="ctr">
                <a:lnSpc>
                  <a:spcPts val="4342"/>
                </a:lnSpc>
              </a:pPr>
              <a:r>
                <a:rPr lang="en-US" sz="3101" dirty="0">
                  <a:solidFill>
                    <a:srgbClr val="FFFFFF"/>
                  </a:solidFill>
                  <a:latin typeface="Akzidenz-Grotesk"/>
                  <a:ea typeface="Akzidenz-Grotesk"/>
                  <a:cs typeface="Akzidenz-Grotesk"/>
                  <a:sym typeface="Akzidenz-Grotesk"/>
                </a:rPr>
                <a:t>1</a:t>
              </a:r>
            </a:p>
          </p:txBody>
        </p:sp>
      </p:grpSp>
      <p:grpSp>
        <p:nvGrpSpPr>
          <p:cNvPr id="19" name="Group 19"/>
          <p:cNvGrpSpPr/>
          <p:nvPr/>
        </p:nvGrpSpPr>
        <p:grpSpPr>
          <a:xfrm>
            <a:off x="2133600" y="4469547"/>
            <a:ext cx="458606" cy="521553"/>
            <a:chOff x="0" y="-79801"/>
            <a:chExt cx="611475" cy="695404"/>
          </a:xfrm>
        </p:grpSpPr>
        <p:grpSp>
          <p:nvGrpSpPr>
            <p:cNvPr id="20" name="Group 20"/>
            <p:cNvGrpSpPr/>
            <p:nvPr/>
          </p:nvGrpSpPr>
          <p:grpSpPr>
            <a:xfrm>
              <a:off x="0" y="0"/>
              <a:ext cx="611475" cy="610136"/>
              <a:chOff x="0" y="0"/>
              <a:chExt cx="900098" cy="898127"/>
            </a:xfrm>
          </p:grpSpPr>
          <p:sp>
            <p:nvSpPr>
              <p:cNvPr id="21" name="Freeform 21"/>
              <p:cNvSpPr/>
              <p:nvPr/>
            </p:nvSpPr>
            <p:spPr>
              <a:xfrm>
                <a:off x="0" y="0"/>
                <a:ext cx="900098" cy="898127"/>
              </a:xfrm>
              <a:custGeom>
                <a:avLst/>
                <a:gdLst/>
                <a:ahLst/>
                <a:cxnLst/>
                <a:rect l="l" t="t" r="r" b="b"/>
                <a:pathLst>
                  <a:path w="900098" h="898127">
                    <a:moveTo>
                      <a:pt x="450049" y="0"/>
                    </a:moveTo>
                    <a:cubicBezTo>
                      <a:pt x="201494" y="0"/>
                      <a:pt x="0" y="201053"/>
                      <a:pt x="0" y="449064"/>
                    </a:cubicBezTo>
                    <a:cubicBezTo>
                      <a:pt x="0" y="697075"/>
                      <a:pt x="201494" y="898127"/>
                      <a:pt x="450049" y="898127"/>
                    </a:cubicBezTo>
                    <a:cubicBezTo>
                      <a:pt x="698604" y="898127"/>
                      <a:pt x="900098" y="697075"/>
                      <a:pt x="900098" y="449064"/>
                    </a:cubicBezTo>
                    <a:cubicBezTo>
                      <a:pt x="900098" y="201053"/>
                      <a:pt x="698604" y="0"/>
                      <a:pt x="450049" y="0"/>
                    </a:cubicBezTo>
                    <a:close/>
                  </a:path>
                </a:pathLst>
              </a:custGeom>
              <a:solidFill>
                <a:srgbClr val="000000"/>
              </a:solidFill>
            </p:spPr>
          </p:sp>
          <p:sp>
            <p:nvSpPr>
              <p:cNvPr id="22" name="TextBox 22"/>
              <p:cNvSpPr txBox="1"/>
              <p:nvPr/>
            </p:nvSpPr>
            <p:spPr>
              <a:xfrm>
                <a:off x="84384" y="7999"/>
                <a:ext cx="731330" cy="805929"/>
              </a:xfrm>
              <a:prstGeom prst="rect">
                <a:avLst/>
              </a:prstGeom>
            </p:spPr>
            <p:txBody>
              <a:bodyPr lIns="50800" tIns="50800" rIns="50800" bIns="50800" rtlCol="0" anchor="ctr"/>
              <a:lstStyle/>
              <a:p>
                <a:pPr algn="ctr">
                  <a:lnSpc>
                    <a:spcPts val="2660"/>
                  </a:lnSpc>
                </a:pPr>
                <a:endParaRPr/>
              </a:p>
            </p:txBody>
          </p:sp>
        </p:grpSp>
        <p:sp>
          <p:nvSpPr>
            <p:cNvPr id="23" name="TextBox 23"/>
            <p:cNvSpPr txBox="1"/>
            <p:nvPr/>
          </p:nvSpPr>
          <p:spPr>
            <a:xfrm>
              <a:off x="152544" y="-79801"/>
              <a:ext cx="306388" cy="695404"/>
            </a:xfrm>
            <a:prstGeom prst="rect">
              <a:avLst/>
            </a:prstGeom>
          </p:spPr>
          <p:txBody>
            <a:bodyPr lIns="0" tIns="0" rIns="0" bIns="0" rtlCol="0" anchor="t">
              <a:spAutoFit/>
            </a:bodyPr>
            <a:lstStyle/>
            <a:p>
              <a:pPr algn="ctr">
                <a:lnSpc>
                  <a:spcPts val="4342"/>
                </a:lnSpc>
              </a:pPr>
              <a:r>
                <a:rPr lang="en-US" sz="3101" dirty="0">
                  <a:solidFill>
                    <a:srgbClr val="FFFFFF"/>
                  </a:solidFill>
                  <a:latin typeface="Akzidenz-Grotesk"/>
                  <a:ea typeface="Akzidenz-Grotesk"/>
                  <a:cs typeface="Akzidenz-Grotesk"/>
                  <a:sym typeface="Akzidenz-Grotesk"/>
                </a:rPr>
                <a:t>2</a:t>
              </a:r>
            </a:p>
          </p:txBody>
        </p:sp>
      </p:grpSp>
      <p:grpSp>
        <p:nvGrpSpPr>
          <p:cNvPr id="24" name="Group 24"/>
          <p:cNvGrpSpPr/>
          <p:nvPr/>
        </p:nvGrpSpPr>
        <p:grpSpPr>
          <a:xfrm>
            <a:off x="2132194" y="5079147"/>
            <a:ext cx="458606" cy="521553"/>
            <a:chOff x="0" y="-79801"/>
            <a:chExt cx="611475" cy="695404"/>
          </a:xfrm>
        </p:grpSpPr>
        <p:grpSp>
          <p:nvGrpSpPr>
            <p:cNvPr id="25" name="Group 25"/>
            <p:cNvGrpSpPr/>
            <p:nvPr/>
          </p:nvGrpSpPr>
          <p:grpSpPr>
            <a:xfrm>
              <a:off x="0" y="0"/>
              <a:ext cx="611475" cy="610136"/>
              <a:chOff x="0" y="0"/>
              <a:chExt cx="900098" cy="898127"/>
            </a:xfrm>
          </p:grpSpPr>
          <p:sp>
            <p:nvSpPr>
              <p:cNvPr id="26" name="Freeform 26"/>
              <p:cNvSpPr/>
              <p:nvPr/>
            </p:nvSpPr>
            <p:spPr>
              <a:xfrm>
                <a:off x="0" y="0"/>
                <a:ext cx="900098" cy="898127"/>
              </a:xfrm>
              <a:custGeom>
                <a:avLst/>
                <a:gdLst/>
                <a:ahLst/>
                <a:cxnLst/>
                <a:rect l="l" t="t" r="r" b="b"/>
                <a:pathLst>
                  <a:path w="900098" h="898127">
                    <a:moveTo>
                      <a:pt x="450049" y="0"/>
                    </a:moveTo>
                    <a:cubicBezTo>
                      <a:pt x="201494" y="0"/>
                      <a:pt x="0" y="201053"/>
                      <a:pt x="0" y="449064"/>
                    </a:cubicBezTo>
                    <a:cubicBezTo>
                      <a:pt x="0" y="697075"/>
                      <a:pt x="201494" y="898127"/>
                      <a:pt x="450049" y="898127"/>
                    </a:cubicBezTo>
                    <a:cubicBezTo>
                      <a:pt x="698604" y="898127"/>
                      <a:pt x="900098" y="697075"/>
                      <a:pt x="900098" y="449064"/>
                    </a:cubicBezTo>
                    <a:cubicBezTo>
                      <a:pt x="900098" y="201053"/>
                      <a:pt x="698604" y="0"/>
                      <a:pt x="450049" y="0"/>
                    </a:cubicBezTo>
                    <a:close/>
                  </a:path>
                </a:pathLst>
              </a:custGeom>
              <a:solidFill>
                <a:srgbClr val="000000"/>
              </a:solidFill>
            </p:spPr>
          </p:sp>
          <p:sp>
            <p:nvSpPr>
              <p:cNvPr id="27" name="TextBox 27"/>
              <p:cNvSpPr txBox="1"/>
              <p:nvPr/>
            </p:nvSpPr>
            <p:spPr>
              <a:xfrm>
                <a:off x="84384" y="7999"/>
                <a:ext cx="731330" cy="805929"/>
              </a:xfrm>
              <a:prstGeom prst="rect">
                <a:avLst/>
              </a:prstGeom>
            </p:spPr>
            <p:txBody>
              <a:bodyPr lIns="50800" tIns="50800" rIns="50800" bIns="50800" rtlCol="0" anchor="ctr"/>
              <a:lstStyle/>
              <a:p>
                <a:pPr algn="ctr">
                  <a:lnSpc>
                    <a:spcPts val="2660"/>
                  </a:lnSpc>
                </a:pPr>
                <a:endParaRPr/>
              </a:p>
            </p:txBody>
          </p:sp>
        </p:grpSp>
        <p:sp>
          <p:nvSpPr>
            <p:cNvPr id="28" name="TextBox 28"/>
            <p:cNvSpPr txBox="1"/>
            <p:nvPr/>
          </p:nvSpPr>
          <p:spPr>
            <a:xfrm>
              <a:off x="152544" y="-79801"/>
              <a:ext cx="306388" cy="695404"/>
            </a:xfrm>
            <a:prstGeom prst="rect">
              <a:avLst/>
            </a:prstGeom>
          </p:spPr>
          <p:txBody>
            <a:bodyPr lIns="0" tIns="0" rIns="0" bIns="0" rtlCol="0" anchor="t">
              <a:spAutoFit/>
            </a:bodyPr>
            <a:lstStyle/>
            <a:p>
              <a:pPr algn="ctr">
                <a:lnSpc>
                  <a:spcPts val="4342"/>
                </a:lnSpc>
              </a:pPr>
              <a:r>
                <a:rPr lang="en-US" sz="3101" dirty="0">
                  <a:solidFill>
                    <a:srgbClr val="FFFFFF"/>
                  </a:solidFill>
                  <a:latin typeface="Akzidenz-Grotesk"/>
                  <a:ea typeface="Akzidenz-Grotesk"/>
                  <a:cs typeface="Akzidenz-Grotesk"/>
                  <a:sym typeface="Akzidenz-Grotesk"/>
                </a:rPr>
                <a:t>3</a:t>
              </a:r>
            </a:p>
          </p:txBody>
        </p:sp>
      </p:grpSp>
      <p:grpSp>
        <p:nvGrpSpPr>
          <p:cNvPr id="29" name="Group 29"/>
          <p:cNvGrpSpPr/>
          <p:nvPr/>
        </p:nvGrpSpPr>
        <p:grpSpPr>
          <a:xfrm>
            <a:off x="2132194" y="5688747"/>
            <a:ext cx="458606" cy="521553"/>
            <a:chOff x="0" y="-79801"/>
            <a:chExt cx="611475" cy="695404"/>
          </a:xfrm>
        </p:grpSpPr>
        <p:grpSp>
          <p:nvGrpSpPr>
            <p:cNvPr id="30" name="Group 30"/>
            <p:cNvGrpSpPr/>
            <p:nvPr/>
          </p:nvGrpSpPr>
          <p:grpSpPr>
            <a:xfrm>
              <a:off x="0" y="0"/>
              <a:ext cx="611475" cy="610136"/>
              <a:chOff x="0" y="0"/>
              <a:chExt cx="900098" cy="898127"/>
            </a:xfrm>
          </p:grpSpPr>
          <p:sp>
            <p:nvSpPr>
              <p:cNvPr id="31" name="Freeform 31"/>
              <p:cNvSpPr/>
              <p:nvPr/>
            </p:nvSpPr>
            <p:spPr>
              <a:xfrm>
                <a:off x="0" y="0"/>
                <a:ext cx="900098" cy="898127"/>
              </a:xfrm>
              <a:custGeom>
                <a:avLst/>
                <a:gdLst/>
                <a:ahLst/>
                <a:cxnLst/>
                <a:rect l="l" t="t" r="r" b="b"/>
                <a:pathLst>
                  <a:path w="900098" h="898127">
                    <a:moveTo>
                      <a:pt x="450049" y="0"/>
                    </a:moveTo>
                    <a:cubicBezTo>
                      <a:pt x="201494" y="0"/>
                      <a:pt x="0" y="201053"/>
                      <a:pt x="0" y="449064"/>
                    </a:cubicBezTo>
                    <a:cubicBezTo>
                      <a:pt x="0" y="697075"/>
                      <a:pt x="201494" y="898127"/>
                      <a:pt x="450049" y="898127"/>
                    </a:cubicBezTo>
                    <a:cubicBezTo>
                      <a:pt x="698604" y="898127"/>
                      <a:pt x="900098" y="697075"/>
                      <a:pt x="900098" y="449064"/>
                    </a:cubicBezTo>
                    <a:cubicBezTo>
                      <a:pt x="900098" y="201053"/>
                      <a:pt x="698604" y="0"/>
                      <a:pt x="450049" y="0"/>
                    </a:cubicBezTo>
                    <a:close/>
                  </a:path>
                </a:pathLst>
              </a:custGeom>
              <a:solidFill>
                <a:srgbClr val="000000"/>
              </a:solidFill>
            </p:spPr>
          </p:sp>
          <p:sp>
            <p:nvSpPr>
              <p:cNvPr id="32" name="TextBox 32"/>
              <p:cNvSpPr txBox="1"/>
              <p:nvPr/>
            </p:nvSpPr>
            <p:spPr>
              <a:xfrm>
                <a:off x="84384" y="7999"/>
                <a:ext cx="731330" cy="805929"/>
              </a:xfrm>
              <a:prstGeom prst="rect">
                <a:avLst/>
              </a:prstGeom>
            </p:spPr>
            <p:txBody>
              <a:bodyPr lIns="50800" tIns="50800" rIns="50800" bIns="50800" rtlCol="0" anchor="ctr"/>
              <a:lstStyle/>
              <a:p>
                <a:pPr algn="ctr">
                  <a:lnSpc>
                    <a:spcPts val="2660"/>
                  </a:lnSpc>
                </a:pPr>
                <a:endParaRPr/>
              </a:p>
            </p:txBody>
          </p:sp>
        </p:grpSp>
        <p:sp>
          <p:nvSpPr>
            <p:cNvPr id="33" name="TextBox 33"/>
            <p:cNvSpPr txBox="1"/>
            <p:nvPr/>
          </p:nvSpPr>
          <p:spPr>
            <a:xfrm>
              <a:off x="152544" y="-79801"/>
              <a:ext cx="306388" cy="695404"/>
            </a:xfrm>
            <a:prstGeom prst="rect">
              <a:avLst/>
            </a:prstGeom>
          </p:spPr>
          <p:txBody>
            <a:bodyPr lIns="0" tIns="0" rIns="0" bIns="0" rtlCol="0" anchor="t">
              <a:spAutoFit/>
            </a:bodyPr>
            <a:lstStyle/>
            <a:p>
              <a:pPr algn="ctr">
                <a:lnSpc>
                  <a:spcPts val="4342"/>
                </a:lnSpc>
              </a:pPr>
              <a:r>
                <a:rPr lang="en-US" sz="3101" dirty="0">
                  <a:solidFill>
                    <a:srgbClr val="FFFFFF"/>
                  </a:solidFill>
                  <a:latin typeface="Akzidenz-Grotesk"/>
                  <a:ea typeface="Akzidenz-Grotesk"/>
                  <a:cs typeface="Akzidenz-Grotesk"/>
                  <a:sym typeface="Akzidenz-Grotesk"/>
                </a:rPr>
                <a:t>4</a:t>
              </a:r>
            </a:p>
          </p:txBody>
        </p:sp>
      </p:grpSp>
      <p:grpSp>
        <p:nvGrpSpPr>
          <p:cNvPr id="34" name="Group 34"/>
          <p:cNvGrpSpPr/>
          <p:nvPr/>
        </p:nvGrpSpPr>
        <p:grpSpPr>
          <a:xfrm>
            <a:off x="2132194" y="6298347"/>
            <a:ext cx="458606" cy="521553"/>
            <a:chOff x="0" y="-79801"/>
            <a:chExt cx="611475" cy="695405"/>
          </a:xfrm>
        </p:grpSpPr>
        <p:grpSp>
          <p:nvGrpSpPr>
            <p:cNvPr id="35" name="Group 35"/>
            <p:cNvGrpSpPr/>
            <p:nvPr/>
          </p:nvGrpSpPr>
          <p:grpSpPr>
            <a:xfrm>
              <a:off x="0" y="0"/>
              <a:ext cx="611475" cy="610136"/>
              <a:chOff x="0" y="0"/>
              <a:chExt cx="900098" cy="898127"/>
            </a:xfrm>
          </p:grpSpPr>
          <p:sp>
            <p:nvSpPr>
              <p:cNvPr id="36" name="Freeform 36"/>
              <p:cNvSpPr/>
              <p:nvPr/>
            </p:nvSpPr>
            <p:spPr>
              <a:xfrm>
                <a:off x="0" y="0"/>
                <a:ext cx="900098" cy="898127"/>
              </a:xfrm>
              <a:custGeom>
                <a:avLst/>
                <a:gdLst/>
                <a:ahLst/>
                <a:cxnLst/>
                <a:rect l="l" t="t" r="r" b="b"/>
                <a:pathLst>
                  <a:path w="900098" h="898127">
                    <a:moveTo>
                      <a:pt x="450049" y="0"/>
                    </a:moveTo>
                    <a:cubicBezTo>
                      <a:pt x="201494" y="0"/>
                      <a:pt x="0" y="201053"/>
                      <a:pt x="0" y="449064"/>
                    </a:cubicBezTo>
                    <a:cubicBezTo>
                      <a:pt x="0" y="697075"/>
                      <a:pt x="201494" y="898127"/>
                      <a:pt x="450049" y="898127"/>
                    </a:cubicBezTo>
                    <a:cubicBezTo>
                      <a:pt x="698604" y="898127"/>
                      <a:pt x="900098" y="697075"/>
                      <a:pt x="900098" y="449064"/>
                    </a:cubicBezTo>
                    <a:cubicBezTo>
                      <a:pt x="900098" y="201053"/>
                      <a:pt x="698604" y="0"/>
                      <a:pt x="450049" y="0"/>
                    </a:cubicBezTo>
                    <a:close/>
                  </a:path>
                </a:pathLst>
              </a:custGeom>
              <a:solidFill>
                <a:srgbClr val="000000"/>
              </a:solidFill>
            </p:spPr>
          </p:sp>
          <p:sp>
            <p:nvSpPr>
              <p:cNvPr id="37" name="TextBox 37"/>
              <p:cNvSpPr txBox="1"/>
              <p:nvPr/>
            </p:nvSpPr>
            <p:spPr>
              <a:xfrm>
                <a:off x="84384" y="7999"/>
                <a:ext cx="731330" cy="805929"/>
              </a:xfrm>
              <a:prstGeom prst="rect">
                <a:avLst/>
              </a:prstGeom>
            </p:spPr>
            <p:txBody>
              <a:bodyPr lIns="50800" tIns="50800" rIns="50800" bIns="50800" rtlCol="0" anchor="ctr"/>
              <a:lstStyle/>
              <a:p>
                <a:pPr algn="ctr">
                  <a:lnSpc>
                    <a:spcPts val="2660"/>
                  </a:lnSpc>
                </a:pPr>
                <a:endParaRPr/>
              </a:p>
            </p:txBody>
          </p:sp>
        </p:grpSp>
        <p:sp>
          <p:nvSpPr>
            <p:cNvPr id="38" name="TextBox 38"/>
            <p:cNvSpPr txBox="1"/>
            <p:nvPr/>
          </p:nvSpPr>
          <p:spPr>
            <a:xfrm>
              <a:off x="152544" y="-79801"/>
              <a:ext cx="306388" cy="695405"/>
            </a:xfrm>
            <a:prstGeom prst="rect">
              <a:avLst/>
            </a:prstGeom>
          </p:spPr>
          <p:txBody>
            <a:bodyPr lIns="0" tIns="0" rIns="0" bIns="0" rtlCol="0" anchor="t">
              <a:spAutoFit/>
            </a:bodyPr>
            <a:lstStyle/>
            <a:p>
              <a:pPr algn="ctr">
                <a:lnSpc>
                  <a:spcPts val="4342"/>
                </a:lnSpc>
              </a:pPr>
              <a:r>
                <a:rPr lang="en-US" sz="3101" dirty="0">
                  <a:solidFill>
                    <a:srgbClr val="FFFFFF"/>
                  </a:solidFill>
                  <a:latin typeface="Akzidenz-Grotesk"/>
                  <a:ea typeface="Akzidenz-Grotesk"/>
                  <a:cs typeface="Akzidenz-Grotesk"/>
                  <a:sym typeface="Akzidenz-Grotesk"/>
                </a:rPr>
                <a:t>5</a:t>
              </a:r>
            </a:p>
          </p:txBody>
        </p:sp>
      </p:grpSp>
      <p:grpSp>
        <p:nvGrpSpPr>
          <p:cNvPr id="39" name="Group 39"/>
          <p:cNvGrpSpPr/>
          <p:nvPr/>
        </p:nvGrpSpPr>
        <p:grpSpPr>
          <a:xfrm>
            <a:off x="2004865" y="6971739"/>
            <a:ext cx="814535" cy="533961"/>
            <a:chOff x="0" y="-101813"/>
            <a:chExt cx="1086046" cy="711949"/>
          </a:xfrm>
        </p:grpSpPr>
        <p:grpSp>
          <p:nvGrpSpPr>
            <p:cNvPr id="40" name="Group 40"/>
            <p:cNvGrpSpPr/>
            <p:nvPr/>
          </p:nvGrpSpPr>
          <p:grpSpPr>
            <a:xfrm>
              <a:off x="237286" y="0"/>
              <a:ext cx="611475" cy="610136"/>
              <a:chOff x="0" y="0"/>
              <a:chExt cx="900098" cy="898127"/>
            </a:xfrm>
          </p:grpSpPr>
          <p:sp>
            <p:nvSpPr>
              <p:cNvPr id="41" name="Freeform 41"/>
              <p:cNvSpPr/>
              <p:nvPr/>
            </p:nvSpPr>
            <p:spPr>
              <a:xfrm>
                <a:off x="0" y="0"/>
                <a:ext cx="900098" cy="898127"/>
              </a:xfrm>
              <a:custGeom>
                <a:avLst/>
                <a:gdLst/>
                <a:ahLst/>
                <a:cxnLst/>
                <a:rect l="l" t="t" r="r" b="b"/>
                <a:pathLst>
                  <a:path w="900098" h="898127">
                    <a:moveTo>
                      <a:pt x="450049" y="0"/>
                    </a:moveTo>
                    <a:cubicBezTo>
                      <a:pt x="201494" y="0"/>
                      <a:pt x="0" y="201053"/>
                      <a:pt x="0" y="449064"/>
                    </a:cubicBezTo>
                    <a:cubicBezTo>
                      <a:pt x="0" y="697075"/>
                      <a:pt x="201494" y="898127"/>
                      <a:pt x="450049" y="898127"/>
                    </a:cubicBezTo>
                    <a:cubicBezTo>
                      <a:pt x="698604" y="898127"/>
                      <a:pt x="900098" y="697075"/>
                      <a:pt x="900098" y="449064"/>
                    </a:cubicBezTo>
                    <a:cubicBezTo>
                      <a:pt x="900098" y="201053"/>
                      <a:pt x="698604" y="0"/>
                      <a:pt x="450049" y="0"/>
                    </a:cubicBezTo>
                    <a:close/>
                  </a:path>
                </a:pathLst>
              </a:custGeom>
              <a:solidFill>
                <a:srgbClr val="000000"/>
              </a:solidFill>
            </p:spPr>
          </p:sp>
          <p:sp>
            <p:nvSpPr>
              <p:cNvPr id="42" name="TextBox 42"/>
              <p:cNvSpPr txBox="1"/>
              <p:nvPr/>
            </p:nvSpPr>
            <p:spPr>
              <a:xfrm>
                <a:off x="84384" y="7999"/>
                <a:ext cx="731330" cy="805929"/>
              </a:xfrm>
              <a:prstGeom prst="rect">
                <a:avLst/>
              </a:prstGeom>
            </p:spPr>
            <p:txBody>
              <a:bodyPr lIns="50800" tIns="50800" rIns="50800" bIns="50800" rtlCol="0" anchor="ctr"/>
              <a:lstStyle/>
              <a:p>
                <a:pPr algn="ctr">
                  <a:lnSpc>
                    <a:spcPts val="2660"/>
                  </a:lnSpc>
                </a:pPr>
                <a:endParaRPr/>
              </a:p>
            </p:txBody>
          </p:sp>
        </p:grpSp>
        <p:sp>
          <p:nvSpPr>
            <p:cNvPr id="43" name="TextBox 43"/>
            <p:cNvSpPr txBox="1"/>
            <p:nvPr/>
          </p:nvSpPr>
          <p:spPr>
            <a:xfrm>
              <a:off x="0" y="-101813"/>
              <a:ext cx="1086046" cy="678050"/>
            </a:xfrm>
            <a:prstGeom prst="rect">
              <a:avLst/>
            </a:prstGeom>
          </p:spPr>
          <p:txBody>
            <a:bodyPr lIns="0" tIns="0" rIns="0" bIns="0" rtlCol="0" anchor="t">
              <a:spAutoFit/>
            </a:bodyPr>
            <a:lstStyle/>
            <a:p>
              <a:pPr algn="ctr">
                <a:lnSpc>
                  <a:spcPts val="4202"/>
                </a:lnSpc>
              </a:pPr>
              <a:r>
                <a:rPr lang="en-US" sz="3001" spc="-489" dirty="0">
                  <a:solidFill>
                    <a:srgbClr val="FFFFFF"/>
                  </a:solidFill>
                  <a:latin typeface="Akzidenz-Grotesk"/>
                  <a:ea typeface="Akzidenz-Grotesk"/>
                  <a:cs typeface="Akzidenz-Grotesk"/>
                  <a:sym typeface="Akzidenz-Grotesk"/>
                </a:rPr>
                <a:t>6</a:t>
              </a:r>
            </a:p>
          </p:txBody>
        </p:sp>
      </p:grpSp>
      <p:grpSp>
        <p:nvGrpSpPr>
          <p:cNvPr id="44" name="Group 44"/>
          <p:cNvGrpSpPr/>
          <p:nvPr/>
        </p:nvGrpSpPr>
        <p:grpSpPr>
          <a:xfrm>
            <a:off x="1981200" y="7581338"/>
            <a:ext cx="814535" cy="533962"/>
            <a:chOff x="-1" y="-101813"/>
            <a:chExt cx="1086045" cy="711949"/>
          </a:xfrm>
        </p:grpSpPr>
        <p:grpSp>
          <p:nvGrpSpPr>
            <p:cNvPr id="45" name="Group 45"/>
            <p:cNvGrpSpPr/>
            <p:nvPr/>
          </p:nvGrpSpPr>
          <p:grpSpPr>
            <a:xfrm>
              <a:off x="237286" y="0"/>
              <a:ext cx="611475" cy="610136"/>
              <a:chOff x="0" y="0"/>
              <a:chExt cx="900098" cy="898127"/>
            </a:xfrm>
          </p:grpSpPr>
          <p:sp>
            <p:nvSpPr>
              <p:cNvPr id="46" name="Freeform 46"/>
              <p:cNvSpPr/>
              <p:nvPr/>
            </p:nvSpPr>
            <p:spPr>
              <a:xfrm>
                <a:off x="0" y="0"/>
                <a:ext cx="900098" cy="898127"/>
              </a:xfrm>
              <a:custGeom>
                <a:avLst/>
                <a:gdLst/>
                <a:ahLst/>
                <a:cxnLst/>
                <a:rect l="l" t="t" r="r" b="b"/>
                <a:pathLst>
                  <a:path w="900098" h="898127">
                    <a:moveTo>
                      <a:pt x="450049" y="0"/>
                    </a:moveTo>
                    <a:cubicBezTo>
                      <a:pt x="201494" y="0"/>
                      <a:pt x="0" y="201053"/>
                      <a:pt x="0" y="449064"/>
                    </a:cubicBezTo>
                    <a:cubicBezTo>
                      <a:pt x="0" y="697075"/>
                      <a:pt x="201494" y="898127"/>
                      <a:pt x="450049" y="898127"/>
                    </a:cubicBezTo>
                    <a:cubicBezTo>
                      <a:pt x="698604" y="898127"/>
                      <a:pt x="900098" y="697075"/>
                      <a:pt x="900098" y="449064"/>
                    </a:cubicBezTo>
                    <a:cubicBezTo>
                      <a:pt x="900098" y="201053"/>
                      <a:pt x="698604" y="0"/>
                      <a:pt x="450049" y="0"/>
                    </a:cubicBezTo>
                    <a:close/>
                  </a:path>
                </a:pathLst>
              </a:custGeom>
              <a:solidFill>
                <a:srgbClr val="000000"/>
              </a:solidFill>
            </p:spPr>
          </p:sp>
          <p:sp>
            <p:nvSpPr>
              <p:cNvPr id="47" name="TextBox 47"/>
              <p:cNvSpPr txBox="1"/>
              <p:nvPr/>
            </p:nvSpPr>
            <p:spPr>
              <a:xfrm>
                <a:off x="84384" y="7999"/>
                <a:ext cx="731330" cy="805929"/>
              </a:xfrm>
              <a:prstGeom prst="rect">
                <a:avLst/>
              </a:prstGeom>
            </p:spPr>
            <p:txBody>
              <a:bodyPr lIns="50800" tIns="50800" rIns="50800" bIns="50800" rtlCol="0" anchor="ctr"/>
              <a:lstStyle/>
              <a:p>
                <a:pPr algn="ctr">
                  <a:lnSpc>
                    <a:spcPts val="2660"/>
                  </a:lnSpc>
                </a:pPr>
                <a:endParaRPr/>
              </a:p>
            </p:txBody>
          </p:sp>
        </p:grpSp>
        <p:sp>
          <p:nvSpPr>
            <p:cNvPr id="48" name="TextBox 48"/>
            <p:cNvSpPr txBox="1"/>
            <p:nvPr/>
          </p:nvSpPr>
          <p:spPr>
            <a:xfrm>
              <a:off x="-1" y="-101813"/>
              <a:ext cx="1086045" cy="678050"/>
            </a:xfrm>
            <a:prstGeom prst="rect">
              <a:avLst/>
            </a:prstGeom>
          </p:spPr>
          <p:txBody>
            <a:bodyPr lIns="0" tIns="0" rIns="0" bIns="0" rtlCol="0" anchor="t">
              <a:spAutoFit/>
            </a:bodyPr>
            <a:lstStyle/>
            <a:p>
              <a:pPr algn="ctr">
                <a:lnSpc>
                  <a:spcPts val="4202"/>
                </a:lnSpc>
              </a:pPr>
              <a:r>
                <a:rPr lang="en-US" sz="3001" spc="-489" dirty="0">
                  <a:solidFill>
                    <a:srgbClr val="FFFFFF"/>
                  </a:solidFill>
                  <a:latin typeface="Akzidenz-Grotesk"/>
                  <a:ea typeface="Akzidenz-Grotesk"/>
                  <a:cs typeface="Akzidenz-Grotesk"/>
                  <a:sym typeface="Akzidenz-Grotesk"/>
                </a:rPr>
                <a:t>7</a:t>
              </a:r>
            </a:p>
          </p:txBody>
        </p:sp>
      </p:grpSp>
      <p:sp>
        <p:nvSpPr>
          <p:cNvPr id="62" name="ZoneTexte 61">
            <a:extLst>
              <a:ext uri="{FF2B5EF4-FFF2-40B4-BE49-F238E27FC236}">
                <a16:creationId xmlns:a16="http://schemas.microsoft.com/office/drawing/2014/main" id="{B260E1D1-E371-37A4-922C-BDE71584821F}"/>
              </a:ext>
            </a:extLst>
          </p:cNvPr>
          <p:cNvSpPr txBox="1"/>
          <p:nvPr/>
        </p:nvSpPr>
        <p:spPr>
          <a:xfrm>
            <a:off x="17308286" y="4288971"/>
            <a:ext cx="184731" cy="369332"/>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p:spPr>
        <p:txBody>
          <a:bodyPr wrap="none" rtlCol="0">
            <a:spAutoFit/>
          </a:bodyPr>
          <a:lstStyle/>
          <a:p>
            <a:endParaRPr lang="fr-FR" dirty="0"/>
          </a:p>
        </p:txBody>
      </p:sp>
      <p:sp>
        <p:nvSpPr>
          <p:cNvPr id="49" name="TextBox 8">
            <a:extLst>
              <a:ext uri="{FF2B5EF4-FFF2-40B4-BE49-F238E27FC236}">
                <a16:creationId xmlns:a16="http://schemas.microsoft.com/office/drawing/2014/main" id="{BE8B374E-C35C-67D4-84FF-F48044105005}"/>
              </a:ext>
            </a:extLst>
          </p:cNvPr>
          <p:cNvSpPr txBox="1"/>
          <p:nvPr/>
        </p:nvSpPr>
        <p:spPr>
          <a:xfrm>
            <a:off x="2743200" y="5043240"/>
            <a:ext cx="8981144" cy="557460"/>
          </a:xfrm>
          <a:prstGeom prst="rect">
            <a:avLst/>
          </a:prstGeom>
        </p:spPr>
        <p:txBody>
          <a:bodyPr wrap="square" lIns="0" tIns="0" rIns="0" bIns="0" rtlCol="0" anchor="t">
            <a:spAutoFit/>
          </a:bodyPr>
          <a:lstStyle/>
          <a:p>
            <a:pPr>
              <a:lnSpc>
                <a:spcPts val="4622"/>
              </a:lnSpc>
            </a:pPr>
            <a:r>
              <a:rPr lang="fr-FR" sz="3302" dirty="0">
                <a:solidFill>
                  <a:srgbClr val="000000"/>
                </a:solidFill>
                <a:latin typeface="Akzidenz-Grotesk"/>
              </a:rPr>
              <a:t>LES NOTIONS FONDAMENTALES</a:t>
            </a:r>
            <a:endParaRPr lang="en-US" sz="3302" dirty="0">
              <a:solidFill>
                <a:srgbClr val="000000"/>
              </a:solidFill>
              <a:latin typeface="Akzidenz-Grotesk"/>
              <a:sym typeface="Akzidenz-Grotesk"/>
            </a:endParaRPr>
          </a:p>
        </p:txBody>
      </p:sp>
      <p:sp>
        <p:nvSpPr>
          <p:cNvPr id="50" name="TextBox 8">
            <a:extLst>
              <a:ext uri="{FF2B5EF4-FFF2-40B4-BE49-F238E27FC236}">
                <a16:creationId xmlns:a16="http://schemas.microsoft.com/office/drawing/2014/main" id="{0A6CFA2E-9D9A-152F-407A-2D2BCC3C13A7}"/>
              </a:ext>
            </a:extLst>
          </p:cNvPr>
          <p:cNvSpPr txBox="1"/>
          <p:nvPr/>
        </p:nvSpPr>
        <p:spPr>
          <a:xfrm>
            <a:off x="2743200" y="5652840"/>
            <a:ext cx="12337469" cy="557460"/>
          </a:xfrm>
          <a:prstGeom prst="rect">
            <a:avLst/>
          </a:prstGeom>
        </p:spPr>
        <p:txBody>
          <a:bodyPr wrap="square" lIns="0" tIns="0" rIns="0" bIns="0" rtlCol="0" anchor="t">
            <a:spAutoFit/>
          </a:bodyPr>
          <a:lstStyle/>
          <a:p>
            <a:pPr>
              <a:lnSpc>
                <a:spcPts val="4622"/>
              </a:lnSpc>
            </a:pPr>
            <a:r>
              <a:rPr lang="fr-FR" sz="3302" dirty="0">
                <a:solidFill>
                  <a:srgbClr val="000000"/>
                </a:solidFill>
                <a:latin typeface="Akzidenz-Grotesk"/>
              </a:rPr>
              <a:t>LES PRINCIPES DE CONCEPTION ARCHITECTURALE </a:t>
            </a:r>
            <a:endParaRPr lang="en-US" sz="3302" dirty="0">
              <a:solidFill>
                <a:srgbClr val="000000"/>
              </a:solidFill>
              <a:latin typeface="Akzidenz-Grotesk"/>
              <a:sym typeface="Akzidenz-Grotesk"/>
            </a:endParaRPr>
          </a:p>
        </p:txBody>
      </p:sp>
      <p:sp>
        <p:nvSpPr>
          <p:cNvPr id="54" name="TextBox 8">
            <a:extLst>
              <a:ext uri="{FF2B5EF4-FFF2-40B4-BE49-F238E27FC236}">
                <a16:creationId xmlns:a16="http://schemas.microsoft.com/office/drawing/2014/main" id="{A97A532D-1638-8F03-22F2-30BC9AF267DD}"/>
              </a:ext>
            </a:extLst>
          </p:cNvPr>
          <p:cNvSpPr txBox="1"/>
          <p:nvPr/>
        </p:nvSpPr>
        <p:spPr>
          <a:xfrm>
            <a:off x="2743200" y="6210300"/>
            <a:ext cx="10591800" cy="556050"/>
          </a:xfrm>
          <a:prstGeom prst="rect">
            <a:avLst/>
          </a:prstGeom>
        </p:spPr>
        <p:txBody>
          <a:bodyPr wrap="square" lIns="0" tIns="0" rIns="0" bIns="0" rtlCol="0" anchor="t">
            <a:spAutoFit/>
          </a:bodyPr>
          <a:lstStyle/>
          <a:p>
            <a:pPr>
              <a:lnSpc>
                <a:spcPts val="4622"/>
              </a:lnSpc>
            </a:pPr>
            <a:r>
              <a:rPr lang="fr-FR" sz="3600" kern="0" dirty="0">
                <a:latin typeface="Times New Roman" panose="02020603050405020304" pitchFamily="18" charset="0"/>
                <a:ea typeface="Times New Roman" panose="02020603050405020304" pitchFamily="18" charset="0"/>
              </a:rPr>
              <a:t>ROLE DE L’ARCHITECTE LOGICIEL</a:t>
            </a:r>
            <a:r>
              <a:rPr lang="fr-FR" sz="3302" dirty="0">
                <a:solidFill>
                  <a:srgbClr val="000000"/>
                </a:solidFill>
                <a:latin typeface="Akzidenz-Grotesk"/>
              </a:rPr>
              <a:t> </a:t>
            </a:r>
            <a:endParaRPr lang="en-US" sz="3302" dirty="0">
              <a:solidFill>
                <a:srgbClr val="000000"/>
              </a:solidFill>
              <a:latin typeface="Akzidenz-Grotesk"/>
              <a:sym typeface="Akzidenz-Grotesk"/>
            </a:endParaRPr>
          </a:p>
        </p:txBody>
      </p:sp>
      <p:sp>
        <p:nvSpPr>
          <p:cNvPr id="55" name="TextBox 8">
            <a:extLst>
              <a:ext uri="{FF2B5EF4-FFF2-40B4-BE49-F238E27FC236}">
                <a16:creationId xmlns:a16="http://schemas.microsoft.com/office/drawing/2014/main" id="{E6A7016B-94F9-9742-9489-2E1251D3050C}"/>
              </a:ext>
            </a:extLst>
          </p:cNvPr>
          <p:cNvSpPr txBox="1"/>
          <p:nvPr/>
        </p:nvSpPr>
        <p:spPr>
          <a:xfrm>
            <a:off x="2819400" y="6819900"/>
            <a:ext cx="10591800" cy="564001"/>
          </a:xfrm>
          <a:prstGeom prst="rect">
            <a:avLst/>
          </a:prstGeom>
        </p:spPr>
        <p:txBody>
          <a:bodyPr wrap="square" lIns="0" tIns="0" rIns="0" bIns="0" rtlCol="0" anchor="t">
            <a:spAutoFit/>
          </a:bodyPr>
          <a:lstStyle/>
          <a:p>
            <a:pPr>
              <a:lnSpc>
                <a:spcPts val="4622"/>
              </a:lnSpc>
            </a:pPr>
            <a:r>
              <a:rPr lang="fr-FR" sz="3600" kern="0" dirty="0">
                <a:latin typeface="Times New Roman" panose="02020603050405020304" pitchFamily="18" charset="0"/>
              </a:rPr>
              <a:t>LES QUALITES D’UNE BONNE ARCHITECTURE </a:t>
            </a:r>
            <a:endParaRPr lang="en-US" sz="3302" dirty="0">
              <a:solidFill>
                <a:srgbClr val="000000"/>
              </a:solidFill>
              <a:latin typeface="Akzidenz-Grotesk"/>
              <a:sym typeface="Akzidenz-Grotesk"/>
            </a:endParaRPr>
          </a:p>
        </p:txBody>
      </p:sp>
      <p:sp>
        <p:nvSpPr>
          <p:cNvPr id="56" name="TextBox 8">
            <a:extLst>
              <a:ext uri="{FF2B5EF4-FFF2-40B4-BE49-F238E27FC236}">
                <a16:creationId xmlns:a16="http://schemas.microsoft.com/office/drawing/2014/main" id="{474ABB4E-689C-C2CB-9D8C-AC0D53B3C13C}"/>
              </a:ext>
            </a:extLst>
          </p:cNvPr>
          <p:cNvSpPr txBox="1"/>
          <p:nvPr/>
        </p:nvSpPr>
        <p:spPr>
          <a:xfrm>
            <a:off x="2819400" y="7553368"/>
            <a:ext cx="10591800" cy="564001"/>
          </a:xfrm>
          <a:prstGeom prst="rect">
            <a:avLst/>
          </a:prstGeom>
        </p:spPr>
        <p:txBody>
          <a:bodyPr wrap="square" lIns="0" tIns="0" rIns="0" bIns="0" rtlCol="0" anchor="t">
            <a:spAutoFit/>
          </a:bodyPr>
          <a:lstStyle/>
          <a:p>
            <a:pPr>
              <a:lnSpc>
                <a:spcPts val="4622"/>
              </a:lnSpc>
            </a:pPr>
            <a:r>
              <a:rPr lang="fr-FR" sz="3600" dirty="0"/>
              <a:t>EXEMPLE D’ARCHITECTURE LOGICIELLE EN COUCHES </a:t>
            </a:r>
            <a:endParaRPr lang="en-US" sz="3600" dirty="0">
              <a:solidFill>
                <a:srgbClr val="000000"/>
              </a:solidFill>
              <a:latin typeface="Akzidenz-Grotesk"/>
              <a:sym typeface="Akzidenz-Grotesk"/>
            </a:endParaRPr>
          </a:p>
        </p:txBody>
      </p:sp>
      <p:sp>
        <p:nvSpPr>
          <p:cNvPr id="57" name="TextBox 8">
            <a:extLst>
              <a:ext uri="{FF2B5EF4-FFF2-40B4-BE49-F238E27FC236}">
                <a16:creationId xmlns:a16="http://schemas.microsoft.com/office/drawing/2014/main" id="{721F1F75-A455-B3E6-6B1E-20CB04BFCB22}"/>
              </a:ext>
            </a:extLst>
          </p:cNvPr>
          <p:cNvSpPr txBox="1"/>
          <p:nvPr/>
        </p:nvSpPr>
        <p:spPr>
          <a:xfrm>
            <a:off x="3048000" y="8313299"/>
            <a:ext cx="10591800" cy="564001"/>
          </a:xfrm>
          <a:prstGeom prst="rect">
            <a:avLst/>
          </a:prstGeom>
        </p:spPr>
        <p:txBody>
          <a:bodyPr wrap="square" lIns="0" tIns="0" rIns="0" bIns="0" rtlCol="0" anchor="t">
            <a:spAutoFit/>
          </a:bodyPr>
          <a:lstStyle/>
          <a:p>
            <a:pPr>
              <a:lnSpc>
                <a:spcPts val="4622"/>
              </a:lnSpc>
            </a:pPr>
            <a:r>
              <a:rPr lang="fr-FR" sz="3600" kern="0" dirty="0">
                <a:latin typeface="Times New Roman" panose="02020603050405020304" pitchFamily="18" charset="0"/>
              </a:rPr>
              <a:t>LES QUALITES D’UNE BONNE ARCHITECTURE </a:t>
            </a:r>
            <a:endParaRPr lang="en-US" sz="3302" dirty="0">
              <a:solidFill>
                <a:srgbClr val="000000"/>
              </a:solidFill>
              <a:latin typeface="Akzidenz-Grotesk"/>
              <a:sym typeface="Akzidenz-Grotesk"/>
            </a:endParaRPr>
          </a:p>
        </p:txBody>
      </p:sp>
      <p:grpSp>
        <p:nvGrpSpPr>
          <p:cNvPr id="58" name="Group 44">
            <a:extLst>
              <a:ext uri="{FF2B5EF4-FFF2-40B4-BE49-F238E27FC236}">
                <a16:creationId xmlns:a16="http://schemas.microsoft.com/office/drawing/2014/main" id="{2877BA62-14C0-5A56-DC2C-739735D03479}"/>
              </a:ext>
            </a:extLst>
          </p:cNvPr>
          <p:cNvGrpSpPr/>
          <p:nvPr/>
        </p:nvGrpSpPr>
        <p:grpSpPr>
          <a:xfrm>
            <a:off x="2057400" y="8267138"/>
            <a:ext cx="814535" cy="533962"/>
            <a:chOff x="0" y="-101813"/>
            <a:chExt cx="1086046" cy="711949"/>
          </a:xfrm>
        </p:grpSpPr>
        <p:grpSp>
          <p:nvGrpSpPr>
            <p:cNvPr id="59" name="Group 45">
              <a:extLst>
                <a:ext uri="{FF2B5EF4-FFF2-40B4-BE49-F238E27FC236}">
                  <a16:creationId xmlns:a16="http://schemas.microsoft.com/office/drawing/2014/main" id="{DC11A102-9D27-D63C-DF59-B18A05D7B891}"/>
                </a:ext>
              </a:extLst>
            </p:cNvPr>
            <p:cNvGrpSpPr/>
            <p:nvPr/>
          </p:nvGrpSpPr>
          <p:grpSpPr>
            <a:xfrm>
              <a:off x="237286" y="0"/>
              <a:ext cx="611475" cy="610136"/>
              <a:chOff x="0" y="0"/>
              <a:chExt cx="900098" cy="898127"/>
            </a:xfrm>
          </p:grpSpPr>
          <p:sp>
            <p:nvSpPr>
              <p:cNvPr id="61" name="Freeform 46">
                <a:extLst>
                  <a:ext uri="{FF2B5EF4-FFF2-40B4-BE49-F238E27FC236}">
                    <a16:creationId xmlns:a16="http://schemas.microsoft.com/office/drawing/2014/main" id="{F8BCE60F-99A8-DB86-F18C-B9CAD58356AE}"/>
                  </a:ext>
                </a:extLst>
              </p:cNvPr>
              <p:cNvSpPr/>
              <p:nvPr/>
            </p:nvSpPr>
            <p:spPr>
              <a:xfrm>
                <a:off x="0" y="0"/>
                <a:ext cx="900098" cy="898127"/>
              </a:xfrm>
              <a:custGeom>
                <a:avLst/>
                <a:gdLst/>
                <a:ahLst/>
                <a:cxnLst/>
                <a:rect l="l" t="t" r="r" b="b"/>
                <a:pathLst>
                  <a:path w="900098" h="898127">
                    <a:moveTo>
                      <a:pt x="450049" y="0"/>
                    </a:moveTo>
                    <a:cubicBezTo>
                      <a:pt x="201494" y="0"/>
                      <a:pt x="0" y="201053"/>
                      <a:pt x="0" y="449064"/>
                    </a:cubicBezTo>
                    <a:cubicBezTo>
                      <a:pt x="0" y="697075"/>
                      <a:pt x="201494" y="898127"/>
                      <a:pt x="450049" y="898127"/>
                    </a:cubicBezTo>
                    <a:cubicBezTo>
                      <a:pt x="698604" y="898127"/>
                      <a:pt x="900098" y="697075"/>
                      <a:pt x="900098" y="449064"/>
                    </a:cubicBezTo>
                    <a:cubicBezTo>
                      <a:pt x="900098" y="201053"/>
                      <a:pt x="698604" y="0"/>
                      <a:pt x="450049" y="0"/>
                    </a:cubicBezTo>
                    <a:close/>
                  </a:path>
                </a:pathLst>
              </a:custGeom>
              <a:solidFill>
                <a:srgbClr val="000000"/>
              </a:solidFill>
            </p:spPr>
          </p:sp>
          <p:sp>
            <p:nvSpPr>
              <p:cNvPr id="63" name="TextBox 47">
                <a:extLst>
                  <a:ext uri="{FF2B5EF4-FFF2-40B4-BE49-F238E27FC236}">
                    <a16:creationId xmlns:a16="http://schemas.microsoft.com/office/drawing/2014/main" id="{9887CA78-FAB8-4FDA-80A9-73F9D3881011}"/>
                  </a:ext>
                </a:extLst>
              </p:cNvPr>
              <p:cNvSpPr txBox="1"/>
              <p:nvPr/>
            </p:nvSpPr>
            <p:spPr>
              <a:xfrm>
                <a:off x="84384" y="7999"/>
                <a:ext cx="731330" cy="805929"/>
              </a:xfrm>
              <a:prstGeom prst="rect">
                <a:avLst/>
              </a:prstGeom>
            </p:spPr>
            <p:txBody>
              <a:bodyPr lIns="50800" tIns="50800" rIns="50800" bIns="50800" rtlCol="0" anchor="ctr"/>
              <a:lstStyle/>
              <a:p>
                <a:pPr algn="ctr">
                  <a:lnSpc>
                    <a:spcPts val="2660"/>
                  </a:lnSpc>
                </a:pPr>
                <a:endParaRPr/>
              </a:p>
            </p:txBody>
          </p:sp>
        </p:grpSp>
        <p:sp>
          <p:nvSpPr>
            <p:cNvPr id="60" name="TextBox 48">
              <a:extLst>
                <a:ext uri="{FF2B5EF4-FFF2-40B4-BE49-F238E27FC236}">
                  <a16:creationId xmlns:a16="http://schemas.microsoft.com/office/drawing/2014/main" id="{E8A1C0C0-411B-4325-1C0C-BA8C9DADDCAD}"/>
                </a:ext>
              </a:extLst>
            </p:cNvPr>
            <p:cNvSpPr txBox="1"/>
            <p:nvPr/>
          </p:nvSpPr>
          <p:spPr>
            <a:xfrm>
              <a:off x="0" y="-101813"/>
              <a:ext cx="1086046" cy="678050"/>
            </a:xfrm>
            <a:prstGeom prst="rect">
              <a:avLst/>
            </a:prstGeom>
          </p:spPr>
          <p:txBody>
            <a:bodyPr lIns="0" tIns="0" rIns="0" bIns="0" rtlCol="0" anchor="t">
              <a:spAutoFit/>
            </a:bodyPr>
            <a:lstStyle/>
            <a:p>
              <a:pPr algn="ctr">
                <a:lnSpc>
                  <a:spcPts val="4202"/>
                </a:lnSpc>
              </a:pPr>
              <a:r>
                <a:rPr lang="en-US" sz="3001" spc="-489" dirty="0">
                  <a:solidFill>
                    <a:srgbClr val="FFFFFF"/>
                  </a:solidFill>
                  <a:latin typeface="Akzidenz-Grotesk"/>
                  <a:ea typeface="Akzidenz-Grotesk"/>
                  <a:cs typeface="Akzidenz-Grotesk"/>
                  <a:sym typeface="Akzidenz-Grotesk"/>
                </a:rPr>
                <a:t>8</a:t>
              </a:r>
            </a:p>
          </p:txBody>
        </p:sp>
      </p:grpSp>
      <p:grpSp>
        <p:nvGrpSpPr>
          <p:cNvPr id="64" name="Group 44">
            <a:extLst>
              <a:ext uri="{FF2B5EF4-FFF2-40B4-BE49-F238E27FC236}">
                <a16:creationId xmlns:a16="http://schemas.microsoft.com/office/drawing/2014/main" id="{61AF4F58-D6B9-44E6-164A-6F053BE2610E}"/>
              </a:ext>
            </a:extLst>
          </p:cNvPr>
          <p:cNvGrpSpPr/>
          <p:nvPr/>
        </p:nvGrpSpPr>
        <p:grpSpPr>
          <a:xfrm>
            <a:off x="2057400" y="8801100"/>
            <a:ext cx="814535" cy="533962"/>
            <a:chOff x="0" y="-101813"/>
            <a:chExt cx="1086046" cy="711949"/>
          </a:xfrm>
        </p:grpSpPr>
        <p:grpSp>
          <p:nvGrpSpPr>
            <p:cNvPr id="65" name="Group 45">
              <a:extLst>
                <a:ext uri="{FF2B5EF4-FFF2-40B4-BE49-F238E27FC236}">
                  <a16:creationId xmlns:a16="http://schemas.microsoft.com/office/drawing/2014/main" id="{C3DE19D7-D966-9240-2EE8-DACF4A496A46}"/>
                </a:ext>
              </a:extLst>
            </p:cNvPr>
            <p:cNvGrpSpPr/>
            <p:nvPr/>
          </p:nvGrpSpPr>
          <p:grpSpPr>
            <a:xfrm>
              <a:off x="237286" y="0"/>
              <a:ext cx="611475" cy="610136"/>
              <a:chOff x="0" y="0"/>
              <a:chExt cx="900098" cy="898127"/>
            </a:xfrm>
          </p:grpSpPr>
          <p:sp>
            <p:nvSpPr>
              <p:cNvPr id="67" name="Freeform 46">
                <a:extLst>
                  <a:ext uri="{FF2B5EF4-FFF2-40B4-BE49-F238E27FC236}">
                    <a16:creationId xmlns:a16="http://schemas.microsoft.com/office/drawing/2014/main" id="{96FBA8BB-E6A1-FA6A-BF67-D4E71AE5BF99}"/>
                  </a:ext>
                </a:extLst>
              </p:cNvPr>
              <p:cNvSpPr/>
              <p:nvPr/>
            </p:nvSpPr>
            <p:spPr>
              <a:xfrm>
                <a:off x="0" y="0"/>
                <a:ext cx="900098" cy="898127"/>
              </a:xfrm>
              <a:custGeom>
                <a:avLst/>
                <a:gdLst/>
                <a:ahLst/>
                <a:cxnLst/>
                <a:rect l="l" t="t" r="r" b="b"/>
                <a:pathLst>
                  <a:path w="900098" h="898127">
                    <a:moveTo>
                      <a:pt x="450049" y="0"/>
                    </a:moveTo>
                    <a:cubicBezTo>
                      <a:pt x="201494" y="0"/>
                      <a:pt x="0" y="201053"/>
                      <a:pt x="0" y="449064"/>
                    </a:cubicBezTo>
                    <a:cubicBezTo>
                      <a:pt x="0" y="697075"/>
                      <a:pt x="201494" y="898127"/>
                      <a:pt x="450049" y="898127"/>
                    </a:cubicBezTo>
                    <a:cubicBezTo>
                      <a:pt x="698604" y="898127"/>
                      <a:pt x="900098" y="697075"/>
                      <a:pt x="900098" y="449064"/>
                    </a:cubicBezTo>
                    <a:cubicBezTo>
                      <a:pt x="900098" y="201053"/>
                      <a:pt x="698604" y="0"/>
                      <a:pt x="450049" y="0"/>
                    </a:cubicBezTo>
                    <a:close/>
                  </a:path>
                </a:pathLst>
              </a:custGeom>
              <a:solidFill>
                <a:srgbClr val="000000"/>
              </a:solidFill>
            </p:spPr>
          </p:sp>
          <p:sp>
            <p:nvSpPr>
              <p:cNvPr id="68" name="TextBox 47">
                <a:extLst>
                  <a:ext uri="{FF2B5EF4-FFF2-40B4-BE49-F238E27FC236}">
                    <a16:creationId xmlns:a16="http://schemas.microsoft.com/office/drawing/2014/main" id="{FF163666-5ACF-9C6D-ABB6-084414DE1F07}"/>
                  </a:ext>
                </a:extLst>
              </p:cNvPr>
              <p:cNvSpPr txBox="1"/>
              <p:nvPr/>
            </p:nvSpPr>
            <p:spPr>
              <a:xfrm>
                <a:off x="84384" y="7999"/>
                <a:ext cx="731330" cy="805929"/>
              </a:xfrm>
              <a:prstGeom prst="rect">
                <a:avLst/>
              </a:prstGeom>
            </p:spPr>
            <p:txBody>
              <a:bodyPr lIns="50800" tIns="50800" rIns="50800" bIns="50800" rtlCol="0" anchor="ctr"/>
              <a:lstStyle/>
              <a:p>
                <a:pPr algn="ctr">
                  <a:lnSpc>
                    <a:spcPts val="2660"/>
                  </a:lnSpc>
                </a:pPr>
                <a:endParaRPr/>
              </a:p>
            </p:txBody>
          </p:sp>
        </p:grpSp>
        <p:sp>
          <p:nvSpPr>
            <p:cNvPr id="66" name="TextBox 48">
              <a:extLst>
                <a:ext uri="{FF2B5EF4-FFF2-40B4-BE49-F238E27FC236}">
                  <a16:creationId xmlns:a16="http://schemas.microsoft.com/office/drawing/2014/main" id="{75492624-8DB3-54E3-6919-E377326508A6}"/>
                </a:ext>
              </a:extLst>
            </p:cNvPr>
            <p:cNvSpPr txBox="1"/>
            <p:nvPr/>
          </p:nvSpPr>
          <p:spPr>
            <a:xfrm>
              <a:off x="0" y="-101813"/>
              <a:ext cx="1086046" cy="678050"/>
            </a:xfrm>
            <a:prstGeom prst="rect">
              <a:avLst/>
            </a:prstGeom>
          </p:spPr>
          <p:txBody>
            <a:bodyPr lIns="0" tIns="0" rIns="0" bIns="0" rtlCol="0" anchor="t">
              <a:spAutoFit/>
            </a:bodyPr>
            <a:lstStyle/>
            <a:p>
              <a:pPr algn="ctr">
                <a:lnSpc>
                  <a:spcPts val="4202"/>
                </a:lnSpc>
              </a:pPr>
              <a:r>
                <a:rPr lang="en-US" sz="3001" spc="-489" dirty="0">
                  <a:solidFill>
                    <a:srgbClr val="FFFFFF"/>
                  </a:solidFill>
                  <a:latin typeface="Akzidenz-Grotesk"/>
                  <a:ea typeface="Akzidenz-Grotesk"/>
                  <a:cs typeface="Akzidenz-Grotesk"/>
                  <a:sym typeface="Akzidenz-Grotesk"/>
                </a:rPr>
                <a:t>9</a:t>
              </a:r>
            </a:p>
          </p:txBody>
        </p:sp>
      </p:grpSp>
      <p:sp>
        <p:nvSpPr>
          <p:cNvPr id="75" name="TextBox 8">
            <a:extLst>
              <a:ext uri="{FF2B5EF4-FFF2-40B4-BE49-F238E27FC236}">
                <a16:creationId xmlns:a16="http://schemas.microsoft.com/office/drawing/2014/main" id="{4910428B-F06D-9212-D7F6-408317CE3BC2}"/>
              </a:ext>
            </a:extLst>
          </p:cNvPr>
          <p:cNvSpPr txBox="1"/>
          <p:nvPr/>
        </p:nvSpPr>
        <p:spPr>
          <a:xfrm>
            <a:off x="3037902" y="8877300"/>
            <a:ext cx="13040298" cy="604909"/>
          </a:xfrm>
          <a:prstGeom prst="rect">
            <a:avLst/>
          </a:prstGeom>
        </p:spPr>
        <p:txBody>
          <a:bodyPr wrap="square" lIns="0" tIns="0" rIns="0" bIns="0" rtlCol="0" anchor="t">
            <a:spAutoFit/>
          </a:bodyPr>
          <a:lstStyle/>
          <a:p>
            <a:pPr>
              <a:lnSpc>
                <a:spcPts val="4622"/>
              </a:lnSpc>
            </a:pPr>
            <a:r>
              <a:rPr lang="fr-FR" sz="3600" kern="0" dirty="0">
                <a:latin typeface="Times New Roman" panose="02020603050405020304" pitchFamily="18" charset="0"/>
              </a:rPr>
              <a:t>IMPORTANCE</a:t>
            </a:r>
            <a:r>
              <a:rPr lang="fr-FR" sz="4800" dirty="0"/>
              <a:t> </a:t>
            </a:r>
            <a:r>
              <a:rPr lang="fr-FR" sz="3600" kern="0" dirty="0">
                <a:latin typeface="Times New Roman" panose="02020603050405020304" pitchFamily="18" charset="0"/>
              </a:rPr>
              <a:t>DE LA DOCUMENTATION ARCHITECTURALE </a:t>
            </a:r>
            <a:endParaRPr lang="en-US" sz="3600" kern="0" dirty="0">
              <a:latin typeface="Times New Roman" panose="02020603050405020304" pitchFamily="18" charset="0"/>
              <a:sym typeface="Akzidenz-Grotesk"/>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Freeform 2"/>
          <p:cNvSpPr/>
          <p:nvPr/>
        </p:nvSpPr>
        <p:spPr>
          <a:xfrm rot="2807232">
            <a:off x="10752155" y="1445807"/>
            <a:ext cx="9943320" cy="8022549"/>
          </a:xfrm>
          <a:custGeom>
            <a:avLst/>
            <a:gdLst/>
            <a:ahLst/>
            <a:cxnLst/>
            <a:rect l="l" t="t" r="r" b="b"/>
            <a:pathLst>
              <a:path w="9943320" h="8022549">
                <a:moveTo>
                  <a:pt x="0" y="0"/>
                </a:moveTo>
                <a:lnTo>
                  <a:pt x="9943319" y="0"/>
                </a:lnTo>
                <a:lnTo>
                  <a:pt x="9943319" y="8022549"/>
                </a:lnTo>
                <a:lnTo>
                  <a:pt x="0" y="80225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3" name="Group 3"/>
          <p:cNvGrpSpPr/>
          <p:nvPr/>
        </p:nvGrpSpPr>
        <p:grpSpPr>
          <a:xfrm>
            <a:off x="2438400" y="1603416"/>
            <a:ext cx="12420600" cy="6723779"/>
            <a:chOff x="0" y="0"/>
            <a:chExt cx="2864198" cy="1770872"/>
          </a:xfrm>
        </p:grpSpPr>
        <p:sp>
          <p:nvSpPr>
            <p:cNvPr id="4" name="Freeform 4"/>
            <p:cNvSpPr/>
            <p:nvPr/>
          </p:nvSpPr>
          <p:spPr>
            <a:xfrm>
              <a:off x="0" y="0"/>
              <a:ext cx="2864198" cy="1770872"/>
            </a:xfrm>
            <a:custGeom>
              <a:avLst/>
              <a:gdLst/>
              <a:ahLst/>
              <a:cxnLst/>
              <a:rect l="l" t="t" r="r" b="b"/>
              <a:pathLst>
                <a:path w="2864198" h="1770872">
                  <a:moveTo>
                    <a:pt x="0" y="0"/>
                  </a:moveTo>
                  <a:lnTo>
                    <a:pt x="2864198" y="0"/>
                  </a:lnTo>
                  <a:lnTo>
                    <a:pt x="2864198" y="1770872"/>
                  </a:lnTo>
                  <a:lnTo>
                    <a:pt x="0" y="1770872"/>
                  </a:lnTo>
                  <a:close/>
                </a:path>
              </a:pathLst>
            </a:custGeom>
            <a:solidFill>
              <a:srgbClr val="FFFFFF"/>
            </a:solidFill>
            <a:ln w="19050" cap="sq">
              <a:solidFill>
                <a:srgbClr val="000000"/>
              </a:solidFill>
              <a:prstDash val="solid"/>
              <a:miter/>
            </a:ln>
          </p:spPr>
        </p:sp>
        <p:sp>
          <p:nvSpPr>
            <p:cNvPr id="5" name="TextBox 5"/>
            <p:cNvSpPr txBox="1"/>
            <p:nvPr/>
          </p:nvSpPr>
          <p:spPr>
            <a:xfrm>
              <a:off x="0" y="-76200"/>
              <a:ext cx="2864198" cy="1847072"/>
            </a:xfrm>
            <a:prstGeom prst="rect">
              <a:avLst/>
            </a:prstGeom>
          </p:spPr>
          <p:txBody>
            <a:bodyPr lIns="50800" tIns="50800" rIns="50800" bIns="50800" rtlCol="0" anchor="ctr"/>
            <a:lstStyle/>
            <a:p>
              <a:pPr algn="ctr">
                <a:lnSpc>
                  <a:spcPts val="2660"/>
                </a:lnSpc>
              </a:pPr>
              <a:endParaRPr/>
            </a:p>
          </p:txBody>
        </p:sp>
      </p:grpSp>
      <p:sp>
        <p:nvSpPr>
          <p:cNvPr id="6" name="Freeform 6"/>
          <p:cNvSpPr/>
          <p:nvPr/>
        </p:nvSpPr>
        <p:spPr>
          <a:xfrm rot="4303617">
            <a:off x="-3542583" y="3745421"/>
            <a:ext cx="7085164" cy="6325897"/>
          </a:xfrm>
          <a:custGeom>
            <a:avLst/>
            <a:gdLst/>
            <a:ahLst/>
            <a:cxnLst/>
            <a:rect l="l" t="t" r="r" b="b"/>
            <a:pathLst>
              <a:path w="7085164" h="6325897">
                <a:moveTo>
                  <a:pt x="0" y="0"/>
                </a:moveTo>
                <a:lnTo>
                  <a:pt x="7085164" y="0"/>
                </a:lnTo>
                <a:lnTo>
                  <a:pt x="7085164" y="6325897"/>
                </a:lnTo>
                <a:lnTo>
                  <a:pt x="0" y="632589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TextBox 7"/>
          <p:cNvSpPr txBox="1"/>
          <p:nvPr/>
        </p:nvSpPr>
        <p:spPr>
          <a:xfrm>
            <a:off x="3319358" y="2919904"/>
            <a:ext cx="9058265" cy="859210"/>
          </a:xfrm>
          <a:prstGeom prst="rect">
            <a:avLst/>
          </a:prstGeom>
        </p:spPr>
        <p:txBody>
          <a:bodyPr wrap="square" lIns="0" tIns="0" rIns="0" bIns="0" rtlCol="0" anchor="t">
            <a:spAutoFit/>
          </a:bodyPr>
          <a:lstStyle/>
          <a:p>
            <a:pPr algn="ctr">
              <a:lnSpc>
                <a:spcPts val="6734"/>
              </a:lnSpc>
            </a:pPr>
            <a:r>
              <a:rPr lang="en-US" sz="6538" b="1" dirty="0">
                <a:solidFill>
                  <a:srgbClr val="000000"/>
                </a:solidFill>
                <a:latin typeface="Neue Machina Ultra-Bold"/>
                <a:ea typeface="Neue Machina Ultra-Bold"/>
                <a:cs typeface="Neue Machina Ultra-Bold"/>
                <a:sym typeface="Neue Machina Ultra-Bold"/>
              </a:rPr>
              <a:t>OJECTIF DU COURS </a:t>
            </a:r>
          </a:p>
        </p:txBody>
      </p:sp>
      <p:sp>
        <p:nvSpPr>
          <p:cNvPr id="8" name="TextBox 8"/>
          <p:cNvSpPr txBox="1"/>
          <p:nvPr/>
        </p:nvSpPr>
        <p:spPr>
          <a:xfrm>
            <a:off x="3048000" y="4017239"/>
            <a:ext cx="10820400" cy="2123658"/>
          </a:xfrm>
          <a:prstGeom prst="rect">
            <a:avLst/>
          </a:prstGeom>
        </p:spPr>
        <p:txBody>
          <a:bodyPr wrap="square" lIns="0" tIns="0" rIns="0" bIns="0" rtlCol="0" anchor="t">
            <a:spAutoFit/>
          </a:bodyPr>
          <a:lstStyle/>
          <a:p>
            <a:pPr algn="just">
              <a:lnSpc>
                <a:spcPts val="3642"/>
              </a:lnSpc>
            </a:pPr>
            <a:endParaRPr lang="en-US" sz="3600" dirty="0">
              <a:solidFill>
                <a:srgbClr val="000000"/>
              </a:solidFill>
              <a:latin typeface="Akzidenz-Grotesk"/>
              <a:ea typeface="Akzidenz-Grotesk"/>
              <a:cs typeface="Akzidenz-Grotesk"/>
              <a:sym typeface="Akzidenz-Grotesk"/>
            </a:endParaRPr>
          </a:p>
          <a:p>
            <a:pPr lvl="0"/>
            <a:r>
              <a:rPr lang="en-US" sz="3600" dirty="0">
                <a:solidFill>
                  <a:srgbClr val="000000"/>
                </a:solidFill>
                <a:latin typeface="Akzidenz-Grotesk"/>
                <a:ea typeface="Akzidenz-Grotesk"/>
                <a:cs typeface="Akzidenz-Grotesk"/>
                <a:sym typeface="Akzidenz-Grotesk"/>
              </a:rPr>
              <a:t>LE COURS </a:t>
            </a:r>
            <a:r>
              <a:rPr lang="es-ES" sz="3600" dirty="0">
                <a:solidFill>
                  <a:srgbClr val="000000"/>
                </a:solidFill>
                <a:latin typeface="Akzidenz-Grotesk"/>
              </a:rPr>
              <a:t>PERMETTRA AUX ETUDIANTS DE COMPRENDRE ET DE MAÎTRISER </a:t>
            </a:r>
            <a:r>
              <a:rPr lang="en-US" sz="3600" dirty="0">
                <a:solidFill>
                  <a:srgbClr val="000000"/>
                </a:solidFill>
                <a:latin typeface="Akzidenz-Grotesk"/>
                <a:ea typeface="Akzidenz-Grotesk"/>
                <a:cs typeface="Akzidenz-Grotesk"/>
                <a:sym typeface="Akzidenz-Grotesk"/>
              </a:rPr>
              <a:t> LES NOTIONS ET FONDEMENTS DE L’ARCHITECTURE LOGICIEL</a:t>
            </a:r>
            <a:r>
              <a:rPr lang="fr-FR" sz="3600" dirty="0">
                <a:solidFill>
                  <a:srgbClr val="000000"/>
                </a:solidFill>
                <a:latin typeface="Akzidenz-Grotesk"/>
              </a:rPr>
              <a:t>.</a:t>
            </a:r>
          </a:p>
        </p:txBody>
      </p:sp>
      <p:sp>
        <p:nvSpPr>
          <p:cNvPr id="9" name="ZoneTexte 8">
            <a:extLst>
              <a:ext uri="{FF2B5EF4-FFF2-40B4-BE49-F238E27FC236}">
                <a16:creationId xmlns:a16="http://schemas.microsoft.com/office/drawing/2014/main" id="{55078FFB-C3B8-2107-59F6-45CAEF7456D4}"/>
              </a:ext>
            </a:extLst>
          </p:cNvPr>
          <p:cNvSpPr txBox="1"/>
          <p:nvPr/>
        </p:nvSpPr>
        <p:spPr>
          <a:xfrm>
            <a:off x="14190133" y="6163733"/>
            <a:ext cx="184731" cy="369332"/>
          </a:xfrm>
          <a:prstGeom prst="rect">
            <a:avLst/>
          </a:prstGeom>
          <a:solidFill>
            <a:srgbClr val="E9DFCF"/>
          </a:solidFill>
        </p:spPr>
        <p:txBody>
          <a:bodyPr wrap="none" rtlCol="0">
            <a:spAutoFit/>
          </a:bodyPr>
          <a:lstStyle/>
          <a:p>
            <a:endParaRPr lang="fr-F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p:cNvGrpSpPr/>
        <p:nvPr/>
      </p:nvGrpSpPr>
      <p:grpSpPr>
        <a:xfrm>
          <a:off x="0" y="0"/>
          <a:ext cx="0" cy="0"/>
          <a:chOff x="0" y="0"/>
          <a:chExt cx="0" cy="0"/>
        </a:xfrm>
      </p:grpSpPr>
      <p:grpSp>
        <p:nvGrpSpPr>
          <p:cNvPr id="2" name="Group 2"/>
          <p:cNvGrpSpPr/>
          <p:nvPr/>
        </p:nvGrpSpPr>
        <p:grpSpPr>
          <a:xfrm>
            <a:off x="2276860" y="854798"/>
            <a:ext cx="15172940" cy="9272862"/>
            <a:chOff x="-3137" y="-110498"/>
            <a:chExt cx="2276066" cy="2015244"/>
          </a:xfrm>
        </p:grpSpPr>
        <p:sp>
          <p:nvSpPr>
            <p:cNvPr id="3" name="Freeform 3"/>
            <p:cNvSpPr/>
            <p:nvPr/>
          </p:nvSpPr>
          <p:spPr>
            <a:xfrm>
              <a:off x="-3137" y="-110498"/>
              <a:ext cx="2272929" cy="2015244"/>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p:cNvSpPr/>
          <p:nvPr/>
        </p:nvSpPr>
        <p:spPr>
          <a:xfrm rot="-5051927">
            <a:off x="16186958" y="636513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p:cNvSpPr txBox="1"/>
          <p:nvPr/>
        </p:nvSpPr>
        <p:spPr>
          <a:xfrm>
            <a:off x="2616221" y="969666"/>
            <a:ext cx="14473305" cy="8753102"/>
          </a:xfrm>
          <a:prstGeom prst="rect">
            <a:avLst/>
          </a:prstGeom>
        </p:spPr>
        <p:txBody>
          <a:bodyPr wrap="square" lIns="0" tIns="0" rIns="0" bIns="0" rtlCol="0" anchor="t">
            <a:spAutoFit/>
          </a:bodyPr>
          <a:lstStyle/>
          <a:p>
            <a:pPr>
              <a:lnSpc>
                <a:spcPct val="150000"/>
              </a:lnSpc>
            </a:pPr>
            <a:r>
              <a:rPr lang="fr-FR" sz="4800" dirty="0"/>
              <a:t>L’architecture logicielle constitue la structure fondamentale d’un système logiciel, décrivant la manière dont les différents composants interagissent, s’organisent et collaborent pour répondre aux besoins fonctionnels et non fonctionnels d’une application. Elle représente une vision d’ensemble du système, servant de plan directeur pour sa conception, son développement, sa maintenance et son évolution.</a:t>
            </a:r>
            <a:endParaRPr lang="en-US" sz="2602" dirty="0">
              <a:solidFill>
                <a:srgbClr val="000000"/>
              </a:solidFill>
              <a:latin typeface="Akzidenz-Grotesk"/>
              <a:ea typeface="Akzidenz-Grotesk"/>
              <a:cs typeface="Akzidenz-Grotesk"/>
              <a:sym typeface="Akzidenz-Grotesk"/>
            </a:endParaRPr>
          </a:p>
        </p:txBody>
      </p:sp>
      <p:pic>
        <p:nvPicPr>
          <p:cNvPr id="1026" name="Picture 2" descr="universite-assane-seck-zig-5af59 - Wincom">
            <a:extLst>
              <a:ext uri="{FF2B5EF4-FFF2-40B4-BE49-F238E27FC236}">
                <a16:creationId xmlns:a16="http://schemas.microsoft.com/office/drawing/2014/main" id="{4A5214F0-E0D9-DB48-A3CA-C443A0BAAB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p:cNvSpPr/>
          <p:nvPr/>
        </p:nvSpPr>
        <p:spPr>
          <a:xfrm rot="6308718">
            <a:off x="-1760956" y="-2320622"/>
            <a:ext cx="5198311" cy="4641244"/>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445A32C8-E28B-DC7E-0566-9633172FEF6D}"/>
              </a:ext>
            </a:extLst>
          </p:cNvPr>
          <p:cNvSpPr txBox="1"/>
          <p:nvPr/>
        </p:nvSpPr>
        <p:spPr>
          <a:xfrm>
            <a:off x="457200" y="159340"/>
            <a:ext cx="16992600" cy="730969"/>
          </a:xfrm>
          <a:prstGeom prst="rect">
            <a:avLst/>
          </a:prstGeom>
        </p:spPr>
        <p:txBody>
          <a:bodyPr wrap="square" lIns="0" tIns="0" rIns="0" bIns="0" rtlCol="0" anchor="t">
            <a:spAutoFit/>
          </a:bodyPr>
          <a:lstStyle/>
          <a:p>
            <a:pPr algn="ctr">
              <a:lnSpc>
                <a:spcPts val="5704"/>
              </a:lnSpc>
            </a:pPr>
            <a:r>
              <a:rPr lang="en-US" sz="5538" b="1" dirty="0">
                <a:solidFill>
                  <a:srgbClr val="000000"/>
                </a:solidFill>
                <a:latin typeface="Neue Machina Ultra-Bold"/>
                <a:sym typeface="Akzidenz-Grotesk"/>
              </a:rPr>
              <a:t>DEFINITION</a:t>
            </a:r>
            <a:endParaRPr lang="en-US" sz="5538" b="1" dirty="0">
              <a:solidFill>
                <a:srgbClr val="000000"/>
              </a:solidFill>
              <a:latin typeface="Neue Machina Ultra-Bold"/>
              <a:ea typeface="Neue Machina Ultra-Bold"/>
              <a:cs typeface="Neue Machina Ultra-Bold"/>
              <a:sym typeface="Neue Machina Ultra-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BE78C2E9-2576-46C2-5232-86A1222E826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4DAF905-6167-22B1-6DA2-CAFBDDE852FC}"/>
              </a:ext>
            </a:extLst>
          </p:cNvPr>
          <p:cNvGrpSpPr/>
          <p:nvPr/>
        </p:nvGrpSpPr>
        <p:grpSpPr>
          <a:xfrm>
            <a:off x="2297772" y="1929346"/>
            <a:ext cx="15152028" cy="8357654"/>
            <a:chOff x="0" y="0"/>
            <a:chExt cx="2272929" cy="1645889"/>
          </a:xfrm>
        </p:grpSpPr>
        <p:sp>
          <p:nvSpPr>
            <p:cNvPr id="3" name="Freeform 3">
              <a:extLst>
                <a:ext uri="{FF2B5EF4-FFF2-40B4-BE49-F238E27FC236}">
                  <a16:creationId xmlns:a16="http://schemas.microsoft.com/office/drawing/2014/main" id="{38F8E488-EE60-EC2D-2E0A-FA9FA43364E5}"/>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6EDBFFF3-F426-BC0A-29F8-B1E90FA17368}"/>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D4580858-4BCF-D30C-3BAD-B451A7F16526}"/>
              </a:ext>
            </a:extLst>
          </p:cNvPr>
          <p:cNvSpPr/>
          <p:nvPr/>
        </p:nvSpPr>
        <p:spPr>
          <a:xfrm rot="-5051927">
            <a:off x="16186958" y="636513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F8B8943B-35F9-8F8E-E35C-6A02B1465CD0}"/>
              </a:ext>
            </a:extLst>
          </p:cNvPr>
          <p:cNvSpPr txBox="1"/>
          <p:nvPr/>
        </p:nvSpPr>
        <p:spPr>
          <a:xfrm>
            <a:off x="2824095" y="2334896"/>
            <a:ext cx="14473305" cy="5909310"/>
          </a:xfrm>
          <a:prstGeom prst="rect">
            <a:avLst/>
          </a:prstGeom>
        </p:spPr>
        <p:txBody>
          <a:bodyPr wrap="square" lIns="0" tIns="0" rIns="0" bIns="0" rtlCol="0" anchor="t">
            <a:spAutoFit/>
          </a:bodyPr>
          <a:lstStyle/>
          <a:p>
            <a:r>
              <a:rPr lang="fr-FR" sz="4800" dirty="0"/>
              <a:t>L’architecture logicielle est l’organisation des composants d’un système, leurs relations mutuelles, ainsi que les principes et contraintes qui guident leur conception et leur évolution.</a:t>
            </a:r>
            <a:br>
              <a:rPr lang="fr-FR" sz="4800" dirty="0"/>
            </a:br>
            <a:r>
              <a:rPr lang="fr-FR" sz="4800" dirty="0"/>
              <a:t>Elle répond à la question :</a:t>
            </a:r>
          </a:p>
          <a:p>
            <a:r>
              <a:rPr lang="fr-FR" sz="4800" dirty="0"/>
              <a:t>« Comment les différentes parties du logiciel s’articulent-elles pour former un tout cohérent, performant et maintenable ? »</a:t>
            </a:r>
          </a:p>
        </p:txBody>
      </p:sp>
      <p:pic>
        <p:nvPicPr>
          <p:cNvPr id="1026" name="Picture 2" descr="universite-assane-seck-zig-5af59 - Wincom">
            <a:extLst>
              <a:ext uri="{FF2B5EF4-FFF2-40B4-BE49-F238E27FC236}">
                <a16:creationId xmlns:a16="http://schemas.microsoft.com/office/drawing/2014/main" id="{6CE10CCC-151E-90F0-533A-8D15CF29A7C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43F301CB-51CD-250E-36AE-876690371830}"/>
              </a:ext>
            </a:extLst>
          </p:cNvPr>
          <p:cNvSpPr/>
          <p:nvPr/>
        </p:nvSpPr>
        <p:spPr>
          <a:xfrm rot="6308718">
            <a:off x="-1289613" y="7568176"/>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816CDA63-FE64-7F61-104F-E2856C20926F}"/>
              </a:ext>
            </a:extLst>
          </p:cNvPr>
          <p:cNvSpPr txBox="1"/>
          <p:nvPr/>
        </p:nvSpPr>
        <p:spPr>
          <a:xfrm>
            <a:off x="457200" y="720435"/>
            <a:ext cx="16992600" cy="755913"/>
          </a:xfrm>
          <a:prstGeom prst="rect">
            <a:avLst/>
          </a:prstGeom>
        </p:spPr>
        <p:txBody>
          <a:bodyPr wrap="square" lIns="0" tIns="0" rIns="0" bIns="0" rtlCol="0" anchor="t">
            <a:spAutoFit/>
          </a:bodyPr>
          <a:lstStyle/>
          <a:p>
            <a:pPr algn="ctr">
              <a:lnSpc>
                <a:spcPts val="5704"/>
              </a:lnSpc>
            </a:pPr>
            <a:r>
              <a:rPr lang="fr-FR" sz="6000" dirty="0">
                <a:solidFill>
                  <a:srgbClr val="000000"/>
                </a:solidFill>
                <a:latin typeface="Akzidenz-Grotesk"/>
              </a:rPr>
              <a:t>DEFINITION DE L’ARCHITECURE LOGICIEL</a:t>
            </a:r>
            <a:endParaRPr lang="en-US" sz="6000" dirty="0">
              <a:solidFill>
                <a:srgbClr val="000000"/>
              </a:solidFill>
              <a:latin typeface="Akzidenz-Grotesk"/>
              <a:sym typeface="Akzidenz-Grotesk"/>
            </a:endParaRPr>
          </a:p>
        </p:txBody>
      </p:sp>
    </p:spTree>
    <p:extLst>
      <p:ext uri="{BB962C8B-B14F-4D97-AF65-F5344CB8AC3E}">
        <p14:creationId xmlns:p14="http://schemas.microsoft.com/office/powerpoint/2010/main" val="943653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A24A1B50-F490-BA01-01B9-D21FD67DFDA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C25D8DE-CAD2-6CC0-44D4-B1DF57ED8A8E}"/>
              </a:ext>
            </a:extLst>
          </p:cNvPr>
          <p:cNvGrpSpPr/>
          <p:nvPr/>
        </p:nvGrpSpPr>
        <p:grpSpPr>
          <a:xfrm>
            <a:off x="2297772" y="1929346"/>
            <a:ext cx="15152028" cy="8357654"/>
            <a:chOff x="0" y="0"/>
            <a:chExt cx="2272929" cy="1645889"/>
          </a:xfrm>
        </p:grpSpPr>
        <p:sp>
          <p:nvSpPr>
            <p:cNvPr id="3" name="Freeform 3">
              <a:extLst>
                <a:ext uri="{FF2B5EF4-FFF2-40B4-BE49-F238E27FC236}">
                  <a16:creationId xmlns:a16="http://schemas.microsoft.com/office/drawing/2014/main" id="{62848A2F-8895-AE3A-656B-D4C9D6E15755}"/>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F7776C75-63FF-8F7E-B5A4-592D5EBAC50F}"/>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8C8852D9-E257-A60D-79A6-8593726CC507}"/>
              </a:ext>
            </a:extLst>
          </p:cNvPr>
          <p:cNvSpPr/>
          <p:nvPr/>
        </p:nvSpPr>
        <p:spPr>
          <a:xfrm rot="-5051927">
            <a:off x="16186958" y="636513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7CF7C0B1-37D1-B037-4180-278D8640B3B7}"/>
              </a:ext>
            </a:extLst>
          </p:cNvPr>
          <p:cNvSpPr txBox="1"/>
          <p:nvPr/>
        </p:nvSpPr>
        <p:spPr>
          <a:xfrm>
            <a:off x="2824095" y="2334896"/>
            <a:ext cx="14473305" cy="5816977"/>
          </a:xfrm>
          <a:prstGeom prst="rect">
            <a:avLst/>
          </a:prstGeom>
        </p:spPr>
        <p:txBody>
          <a:bodyPr wrap="square" lIns="0" tIns="0" rIns="0" bIns="0" rtlCol="0" anchor="t">
            <a:spAutoFit/>
          </a:bodyPr>
          <a:lstStyle/>
          <a:p>
            <a:r>
              <a:rPr lang="fr-FR" sz="5400" dirty="0"/>
              <a:t>Une bonne architecture logicielle :</a:t>
            </a:r>
          </a:p>
          <a:p>
            <a:endParaRPr lang="fr-FR" sz="5400" dirty="0"/>
          </a:p>
          <a:p>
            <a:pPr lvl="0"/>
            <a:r>
              <a:rPr lang="fr-FR" sz="5400" dirty="0"/>
              <a:t>Facilite la compréhension du système ;</a:t>
            </a:r>
          </a:p>
          <a:p>
            <a:pPr lvl="0"/>
            <a:r>
              <a:rPr lang="fr-FR" sz="5400" dirty="0"/>
              <a:t>Permet la réutilisation et l’évolution du logiciel ;</a:t>
            </a:r>
          </a:p>
          <a:p>
            <a:pPr lvl="0"/>
            <a:r>
              <a:rPr lang="fr-FR" sz="5400" dirty="0"/>
              <a:t>Améliore la qualité, la performance et la sécurité ;</a:t>
            </a:r>
          </a:p>
          <a:p>
            <a:r>
              <a:rPr lang="fr-FR" sz="5400" dirty="0"/>
              <a:t>Réduit les coûts de maintenance à long terme </a:t>
            </a:r>
          </a:p>
          <a:p>
            <a:endParaRPr lang="en-US" sz="5400" dirty="0">
              <a:sym typeface="Akzidenz-Grotesk"/>
            </a:endParaRPr>
          </a:p>
        </p:txBody>
      </p:sp>
      <p:pic>
        <p:nvPicPr>
          <p:cNvPr id="1026" name="Picture 2" descr="universite-assane-seck-zig-5af59 - Wincom">
            <a:extLst>
              <a:ext uri="{FF2B5EF4-FFF2-40B4-BE49-F238E27FC236}">
                <a16:creationId xmlns:a16="http://schemas.microsoft.com/office/drawing/2014/main" id="{A6488248-4BF3-51F1-DF76-C32E990DA2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D7D37771-5C14-4493-3993-DC44819D19D4}"/>
              </a:ext>
            </a:extLst>
          </p:cNvPr>
          <p:cNvSpPr/>
          <p:nvPr/>
        </p:nvSpPr>
        <p:spPr>
          <a:xfrm rot="6308718">
            <a:off x="-1289613" y="7568176"/>
            <a:ext cx="4765886" cy="175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C9BFB495-2CD4-E3DE-D40E-3539FE6A9849}"/>
              </a:ext>
            </a:extLst>
          </p:cNvPr>
          <p:cNvSpPr txBox="1"/>
          <p:nvPr/>
        </p:nvSpPr>
        <p:spPr>
          <a:xfrm>
            <a:off x="457200" y="720435"/>
            <a:ext cx="16992600" cy="755913"/>
          </a:xfrm>
          <a:prstGeom prst="rect">
            <a:avLst/>
          </a:prstGeom>
        </p:spPr>
        <p:txBody>
          <a:bodyPr wrap="square" lIns="0" tIns="0" rIns="0" bIns="0" rtlCol="0" anchor="t">
            <a:spAutoFit/>
          </a:bodyPr>
          <a:lstStyle/>
          <a:p>
            <a:pPr algn="ctr">
              <a:lnSpc>
                <a:spcPts val="5704"/>
              </a:lnSpc>
            </a:pPr>
            <a:r>
              <a:rPr lang="fr-FR" sz="6000" dirty="0">
                <a:solidFill>
                  <a:srgbClr val="000000"/>
                </a:solidFill>
                <a:latin typeface="Akzidenz-Grotesk"/>
              </a:rPr>
              <a:t>DEFINITION DE L’ARCHITECURE LOGICIEL</a:t>
            </a:r>
            <a:endParaRPr lang="en-US" sz="6000" dirty="0">
              <a:solidFill>
                <a:srgbClr val="000000"/>
              </a:solidFill>
              <a:latin typeface="Akzidenz-Grotesk"/>
              <a:sym typeface="Akzidenz-Grotesk"/>
            </a:endParaRPr>
          </a:p>
        </p:txBody>
      </p:sp>
    </p:spTree>
    <p:extLst>
      <p:ext uri="{BB962C8B-B14F-4D97-AF65-F5344CB8AC3E}">
        <p14:creationId xmlns:p14="http://schemas.microsoft.com/office/powerpoint/2010/main" val="35948347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D0DA0893-495E-1DAD-41A1-068BB64E8F6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F826013-B6A6-B8FF-7593-E1B5141FA2E2}"/>
              </a:ext>
            </a:extLst>
          </p:cNvPr>
          <p:cNvGrpSpPr/>
          <p:nvPr/>
        </p:nvGrpSpPr>
        <p:grpSpPr>
          <a:xfrm>
            <a:off x="21785" y="1929346"/>
            <a:ext cx="18647215" cy="8357654"/>
            <a:chOff x="0" y="0"/>
            <a:chExt cx="2272929" cy="1645889"/>
          </a:xfrm>
        </p:grpSpPr>
        <p:sp>
          <p:nvSpPr>
            <p:cNvPr id="3" name="Freeform 3">
              <a:extLst>
                <a:ext uri="{FF2B5EF4-FFF2-40B4-BE49-F238E27FC236}">
                  <a16:creationId xmlns:a16="http://schemas.microsoft.com/office/drawing/2014/main" id="{3D1FE11C-D741-AA88-D4A3-956638AB1DF2}"/>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2432F200-9D1F-5A61-0405-B820AD14E7AB}"/>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4DC25128-7728-6281-19A9-66020DEF06B1}"/>
              </a:ext>
            </a:extLst>
          </p:cNvPr>
          <p:cNvSpPr/>
          <p:nvPr/>
        </p:nvSpPr>
        <p:spPr>
          <a:xfrm rot="-5051927">
            <a:off x="16186958" y="636513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6B14728D-5CA7-0FA2-9307-78DF5322503A}"/>
              </a:ext>
            </a:extLst>
          </p:cNvPr>
          <p:cNvSpPr txBox="1"/>
          <p:nvPr/>
        </p:nvSpPr>
        <p:spPr>
          <a:xfrm>
            <a:off x="2824095" y="2334896"/>
            <a:ext cx="14473305" cy="5909310"/>
          </a:xfrm>
          <a:prstGeom prst="rect">
            <a:avLst/>
          </a:prstGeom>
        </p:spPr>
        <p:txBody>
          <a:bodyPr wrap="square" lIns="0" tIns="0" rIns="0" bIns="0" rtlCol="0" anchor="t">
            <a:spAutoFit/>
          </a:bodyPr>
          <a:lstStyle/>
          <a:p>
            <a:r>
              <a:rPr lang="fr-FR" sz="4800" b="1" dirty="0"/>
              <a:t>L’architecture logicielle a pour objectifs principaux de :</a:t>
            </a:r>
          </a:p>
          <a:p>
            <a:pPr lvl="0"/>
            <a:r>
              <a:rPr lang="fr-FR" sz="4800" b="1" dirty="0"/>
              <a:t>Structurer le système : définir les composants, leurs rôles et leurs interactions.</a:t>
            </a:r>
          </a:p>
          <a:p>
            <a:pPr lvl="0"/>
            <a:r>
              <a:rPr lang="fr-FR" sz="4800" b="1" dirty="0"/>
              <a:t>Assurer la qualité : répondre aux exigences non fonctionnelles (performance, sécurité, fiabilité, etc.).</a:t>
            </a:r>
          </a:p>
          <a:p>
            <a:pPr lvl="0"/>
            <a:r>
              <a:rPr lang="fr-FR" sz="4800" b="1" dirty="0"/>
              <a:t>Faciliter la maintenance et l’évolution : permettre l’ajout ou la modification de fonctionnalités sans impacter tout le système.</a:t>
            </a:r>
            <a:endParaRPr lang="en-US" sz="2602" dirty="0">
              <a:solidFill>
                <a:srgbClr val="000000"/>
              </a:solidFill>
              <a:latin typeface="Akzidenz-Grotesk"/>
              <a:ea typeface="Akzidenz-Grotesk"/>
              <a:cs typeface="Akzidenz-Grotesk"/>
              <a:sym typeface="Akzidenz-Grotesk"/>
            </a:endParaRPr>
          </a:p>
        </p:txBody>
      </p:sp>
      <p:pic>
        <p:nvPicPr>
          <p:cNvPr id="1026" name="Picture 2" descr="universite-assane-seck-zig-5af59 - Wincom">
            <a:extLst>
              <a:ext uri="{FF2B5EF4-FFF2-40B4-BE49-F238E27FC236}">
                <a16:creationId xmlns:a16="http://schemas.microsoft.com/office/drawing/2014/main" id="{5E1AAFC9-FB8C-23D0-F777-687BD14FA65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55631159-4F21-2563-2628-49420D638BA4}"/>
              </a:ext>
            </a:extLst>
          </p:cNvPr>
          <p:cNvSpPr/>
          <p:nvPr/>
        </p:nvSpPr>
        <p:spPr>
          <a:xfrm rot="6308718">
            <a:off x="-322294" y="-1300941"/>
            <a:ext cx="5198311" cy="4641244"/>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9EFB5F95-01FE-C27D-04C8-271B31C37439}"/>
              </a:ext>
            </a:extLst>
          </p:cNvPr>
          <p:cNvSpPr txBox="1"/>
          <p:nvPr/>
        </p:nvSpPr>
        <p:spPr>
          <a:xfrm>
            <a:off x="457200" y="720435"/>
            <a:ext cx="16992600" cy="1488228"/>
          </a:xfrm>
          <a:prstGeom prst="rect">
            <a:avLst/>
          </a:prstGeom>
        </p:spPr>
        <p:txBody>
          <a:bodyPr wrap="square" lIns="0" tIns="0" rIns="0" bIns="0" rtlCol="0" anchor="t">
            <a:spAutoFit/>
          </a:bodyPr>
          <a:lstStyle/>
          <a:p>
            <a:pPr algn="ctr">
              <a:lnSpc>
                <a:spcPts val="5704"/>
              </a:lnSpc>
            </a:pPr>
            <a:r>
              <a:rPr lang="fr-FR" sz="6000" dirty="0">
                <a:solidFill>
                  <a:srgbClr val="000000"/>
                </a:solidFill>
                <a:latin typeface="Akzidenz-Grotesk"/>
              </a:rPr>
              <a:t>OBJECTIF DE L’ARCHIRECTURE LOGICIEL</a:t>
            </a:r>
            <a:endParaRPr lang="en-US" sz="6000" dirty="0">
              <a:solidFill>
                <a:srgbClr val="000000"/>
              </a:solidFill>
              <a:latin typeface="Akzidenz-Grotesk"/>
              <a:sym typeface="Akzidenz-Grotesk"/>
            </a:endParaRPr>
          </a:p>
          <a:p>
            <a:pPr algn="ctr">
              <a:lnSpc>
                <a:spcPts val="5704"/>
              </a:lnSpc>
            </a:pPr>
            <a:endParaRPr lang="en-US" sz="6000" dirty="0">
              <a:solidFill>
                <a:srgbClr val="000000"/>
              </a:solidFill>
              <a:latin typeface="Akzidenz-Grotesk"/>
              <a:ea typeface="Akzidenz-Grotesk"/>
              <a:cs typeface="Akzidenz-Grotesk"/>
              <a:sym typeface="Akzidenz-Grotesk"/>
            </a:endParaRPr>
          </a:p>
        </p:txBody>
      </p:sp>
    </p:spTree>
    <p:extLst>
      <p:ext uri="{BB962C8B-B14F-4D97-AF65-F5344CB8AC3E}">
        <p14:creationId xmlns:p14="http://schemas.microsoft.com/office/powerpoint/2010/main" val="3164351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48357A31-96CF-CD40-41B5-68C225F3223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FC85ECF-6FBD-8541-9F31-12DC84534320}"/>
              </a:ext>
            </a:extLst>
          </p:cNvPr>
          <p:cNvGrpSpPr/>
          <p:nvPr/>
        </p:nvGrpSpPr>
        <p:grpSpPr>
          <a:xfrm>
            <a:off x="21785" y="1929346"/>
            <a:ext cx="18647215" cy="8357654"/>
            <a:chOff x="0" y="0"/>
            <a:chExt cx="2272929" cy="1645889"/>
          </a:xfrm>
        </p:grpSpPr>
        <p:sp>
          <p:nvSpPr>
            <p:cNvPr id="3" name="Freeform 3">
              <a:extLst>
                <a:ext uri="{FF2B5EF4-FFF2-40B4-BE49-F238E27FC236}">
                  <a16:creationId xmlns:a16="http://schemas.microsoft.com/office/drawing/2014/main" id="{587B25B3-614C-7C75-7357-B5DE2CB5E1E9}"/>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D71B45E7-8621-1D8C-BC85-BC9D92BDCA0F}"/>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A32822AF-A92B-2CF0-9AA4-F78EE67885B2}"/>
              </a:ext>
            </a:extLst>
          </p:cNvPr>
          <p:cNvSpPr/>
          <p:nvPr/>
        </p:nvSpPr>
        <p:spPr>
          <a:xfrm rot="-5051927">
            <a:off x="16186958" y="636513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9942021D-6F0E-CA3C-255A-79466356A7B5}"/>
              </a:ext>
            </a:extLst>
          </p:cNvPr>
          <p:cNvSpPr txBox="1"/>
          <p:nvPr/>
        </p:nvSpPr>
        <p:spPr>
          <a:xfrm>
            <a:off x="2824095" y="2334896"/>
            <a:ext cx="14473305" cy="3391569"/>
          </a:xfrm>
          <a:prstGeom prst="rect">
            <a:avLst/>
          </a:prstGeom>
        </p:spPr>
        <p:txBody>
          <a:bodyPr wrap="square" lIns="0" tIns="0" rIns="0" bIns="0" rtlCol="0" anchor="t">
            <a:spAutoFit/>
          </a:bodyPr>
          <a:lstStyle/>
          <a:p>
            <a:pPr lvl="0"/>
            <a:r>
              <a:rPr lang="fr-FR" sz="4800" b="1" dirty="0"/>
              <a:t>Favoriser la réutilisation : concevoir des modules réutilisables dans d’autres projets.</a:t>
            </a:r>
          </a:p>
          <a:p>
            <a:pPr lvl="0"/>
            <a:r>
              <a:rPr lang="fr-FR" sz="4800" b="1" dirty="0"/>
              <a:t>Optimiser la communication entre les développeurs, les architectes et les parties prenantes.</a:t>
            </a:r>
          </a:p>
          <a:p>
            <a:pPr algn="just">
              <a:lnSpc>
                <a:spcPts val="3642"/>
              </a:lnSpc>
            </a:pPr>
            <a:endParaRPr lang="en-US" sz="2602" dirty="0">
              <a:solidFill>
                <a:srgbClr val="000000"/>
              </a:solidFill>
              <a:latin typeface="Akzidenz-Grotesk"/>
              <a:ea typeface="Akzidenz-Grotesk"/>
              <a:cs typeface="Akzidenz-Grotesk"/>
              <a:sym typeface="Akzidenz-Grotesk"/>
            </a:endParaRPr>
          </a:p>
        </p:txBody>
      </p:sp>
      <p:pic>
        <p:nvPicPr>
          <p:cNvPr id="1026" name="Picture 2" descr="universite-assane-seck-zig-5af59 - Wincom">
            <a:extLst>
              <a:ext uri="{FF2B5EF4-FFF2-40B4-BE49-F238E27FC236}">
                <a16:creationId xmlns:a16="http://schemas.microsoft.com/office/drawing/2014/main" id="{EBB4470A-C0F3-E62D-CD0C-1BCFBB10FF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1BC2CEA4-B044-ECD9-AC67-B7D84AEA6315}"/>
              </a:ext>
            </a:extLst>
          </p:cNvPr>
          <p:cNvSpPr/>
          <p:nvPr/>
        </p:nvSpPr>
        <p:spPr>
          <a:xfrm rot="6308718">
            <a:off x="-322294" y="-1300941"/>
            <a:ext cx="5198311" cy="4641244"/>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20BF398D-A8BB-FF74-EA99-66B7CC6AFAFD}"/>
              </a:ext>
            </a:extLst>
          </p:cNvPr>
          <p:cNvSpPr txBox="1"/>
          <p:nvPr/>
        </p:nvSpPr>
        <p:spPr>
          <a:xfrm>
            <a:off x="457200" y="720435"/>
            <a:ext cx="16992600" cy="1488228"/>
          </a:xfrm>
          <a:prstGeom prst="rect">
            <a:avLst/>
          </a:prstGeom>
        </p:spPr>
        <p:txBody>
          <a:bodyPr wrap="square" lIns="0" tIns="0" rIns="0" bIns="0" rtlCol="0" anchor="t">
            <a:spAutoFit/>
          </a:bodyPr>
          <a:lstStyle/>
          <a:p>
            <a:pPr algn="ctr">
              <a:lnSpc>
                <a:spcPts val="5704"/>
              </a:lnSpc>
            </a:pPr>
            <a:r>
              <a:rPr lang="fr-FR" sz="6000" dirty="0">
                <a:solidFill>
                  <a:srgbClr val="000000"/>
                </a:solidFill>
                <a:latin typeface="Akzidenz-Grotesk"/>
              </a:rPr>
              <a:t>OBJECTIF DE L’ARCHIRECTURE LOGICIEL</a:t>
            </a:r>
            <a:endParaRPr lang="en-US" sz="6000" dirty="0">
              <a:solidFill>
                <a:srgbClr val="000000"/>
              </a:solidFill>
              <a:latin typeface="Akzidenz-Grotesk"/>
              <a:sym typeface="Akzidenz-Grotesk"/>
            </a:endParaRPr>
          </a:p>
          <a:p>
            <a:pPr algn="ctr">
              <a:lnSpc>
                <a:spcPts val="5704"/>
              </a:lnSpc>
            </a:pPr>
            <a:endParaRPr lang="en-US" sz="6000" dirty="0">
              <a:solidFill>
                <a:srgbClr val="000000"/>
              </a:solidFill>
              <a:latin typeface="Akzidenz-Grotesk"/>
              <a:ea typeface="Akzidenz-Grotesk"/>
              <a:cs typeface="Akzidenz-Grotesk"/>
              <a:sym typeface="Akzidenz-Grotesk"/>
            </a:endParaRPr>
          </a:p>
        </p:txBody>
      </p:sp>
    </p:spTree>
    <p:extLst>
      <p:ext uri="{BB962C8B-B14F-4D97-AF65-F5344CB8AC3E}">
        <p14:creationId xmlns:p14="http://schemas.microsoft.com/office/powerpoint/2010/main" val="2629086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D172E2ED-44FC-F978-CCE1-BA2F43287EE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60FBCCE-C888-015D-97C4-18A8C8374F9A}"/>
              </a:ext>
            </a:extLst>
          </p:cNvPr>
          <p:cNvGrpSpPr/>
          <p:nvPr/>
        </p:nvGrpSpPr>
        <p:grpSpPr>
          <a:xfrm>
            <a:off x="21785" y="1929346"/>
            <a:ext cx="18647215" cy="8357654"/>
            <a:chOff x="0" y="0"/>
            <a:chExt cx="2272929" cy="1645889"/>
          </a:xfrm>
        </p:grpSpPr>
        <p:sp>
          <p:nvSpPr>
            <p:cNvPr id="3" name="Freeform 3">
              <a:extLst>
                <a:ext uri="{FF2B5EF4-FFF2-40B4-BE49-F238E27FC236}">
                  <a16:creationId xmlns:a16="http://schemas.microsoft.com/office/drawing/2014/main" id="{31EAB9CD-F742-5CAE-A92E-ED06C300A156}"/>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E27504C8-E082-94DD-703C-BF507C514104}"/>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B84101EB-C839-B018-8F51-F8CD773DBF07}"/>
              </a:ext>
            </a:extLst>
          </p:cNvPr>
          <p:cNvSpPr/>
          <p:nvPr/>
        </p:nvSpPr>
        <p:spPr>
          <a:xfrm rot="-5051927">
            <a:off x="16186958" y="636513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4C01999B-88A9-F61C-6F2F-CB6ABFA4838C}"/>
              </a:ext>
            </a:extLst>
          </p:cNvPr>
          <p:cNvSpPr txBox="1"/>
          <p:nvPr/>
        </p:nvSpPr>
        <p:spPr>
          <a:xfrm>
            <a:off x="2645219" y="2861861"/>
            <a:ext cx="14473305" cy="5607561"/>
          </a:xfrm>
          <a:prstGeom prst="rect">
            <a:avLst/>
          </a:prstGeom>
        </p:spPr>
        <p:txBody>
          <a:bodyPr wrap="square" lIns="0" tIns="0" rIns="0" bIns="0" rtlCol="0" anchor="t">
            <a:spAutoFit/>
          </a:bodyPr>
          <a:lstStyle/>
          <a:p>
            <a:pPr marL="914400" indent="-914400">
              <a:buAutoNum type="alphaLcParenR"/>
            </a:pPr>
            <a:r>
              <a:rPr lang="fr-FR" sz="4800" b="1" dirty="0"/>
              <a:t>COMPOSANTS</a:t>
            </a:r>
          </a:p>
          <a:p>
            <a:endParaRPr lang="fr-FR" sz="4800" b="1" dirty="0"/>
          </a:p>
          <a:p>
            <a:r>
              <a:rPr lang="fr-FR" sz="4800" dirty="0"/>
              <a:t>Les composants sont </a:t>
            </a:r>
            <a:r>
              <a:rPr lang="fr-FR" sz="4800" b="1" dirty="0"/>
              <a:t>les blocs de construction du système</a:t>
            </a:r>
            <a:r>
              <a:rPr lang="fr-FR" sz="4800" dirty="0"/>
              <a:t>. Chaque composant est une entité indépendante accomplissant une fonction précise (exemple : gestion des utilisateurs, facturation, authentification).</a:t>
            </a:r>
          </a:p>
          <a:p>
            <a:pPr lvl="0"/>
            <a:endParaRPr lang="fr-FR" sz="4800" b="1" dirty="0"/>
          </a:p>
          <a:p>
            <a:pPr algn="just">
              <a:lnSpc>
                <a:spcPts val="3642"/>
              </a:lnSpc>
            </a:pPr>
            <a:endParaRPr lang="en-US" sz="2602" dirty="0">
              <a:solidFill>
                <a:srgbClr val="000000"/>
              </a:solidFill>
              <a:latin typeface="Akzidenz-Grotesk"/>
              <a:ea typeface="Akzidenz-Grotesk"/>
              <a:cs typeface="Akzidenz-Grotesk"/>
              <a:sym typeface="Akzidenz-Grotesk"/>
            </a:endParaRPr>
          </a:p>
        </p:txBody>
      </p:sp>
      <p:pic>
        <p:nvPicPr>
          <p:cNvPr id="1026" name="Picture 2" descr="universite-assane-seck-zig-5af59 - Wincom">
            <a:extLst>
              <a:ext uri="{FF2B5EF4-FFF2-40B4-BE49-F238E27FC236}">
                <a16:creationId xmlns:a16="http://schemas.microsoft.com/office/drawing/2014/main" id="{70BABEA1-40BC-E8D7-9FF3-25D0FA7A6F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E4022507-6D7E-BA74-A426-2E2829854A3B}"/>
              </a:ext>
            </a:extLst>
          </p:cNvPr>
          <p:cNvSpPr/>
          <p:nvPr/>
        </p:nvSpPr>
        <p:spPr>
          <a:xfrm rot="6308718">
            <a:off x="-1185380" y="681701"/>
            <a:ext cx="3470772" cy="153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7E0986F3-4F46-6006-4508-B0139ED5E81F}"/>
              </a:ext>
            </a:extLst>
          </p:cNvPr>
          <p:cNvSpPr txBox="1"/>
          <p:nvPr/>
        </p:nvSpPr>
        <p:spPr>
          <a:xfrm>
            <a:off x="457200" y="720435"/>
            <a:ext cx="16992600" cy="1488228"/>
          </a:xfrm>
          <a:prstGeom prst="rect">
            <a:avLst/>
          </a:prstGeom>
        </p:spPr>
        <p:txBody>
          <a:bodyPr wrap="square" lIns="0" tIns="0" rIns="0" bIns="0" rtlCol="0" anchor="t">
            <a:spAutoFit/>
          </a:bodyPr>
          <a:lstStyle/>
          <a:p>
            <a:pPr algn="ctr">
              <a:lnSpc>
                <a:spcPts val="5704"/>
              </a:lnSpc>
            </a:pPr>
            <a:r>
              <a:rPr lang="fr-FR" sz="6000" dirty="0">
                <a:solidFill>
                  <a:srgbClr val="000000"/>
                </a:solidFill>
                <a:latin typeface="Akzidenz-Grotesk"/>
              </a:rPr>
              <a:t>LES NOTIONS FONDAMENTALES</a:t>
            </a:r>
            <a:endParaRPr lang="en-US" sz="6000" dirty="0">
              <a:solidFill>
                <a:srgbClr val="000000"/>
              </a:solidFill>
              <a:latin typeface="Akzidenz-Grotesk"/>
              <a:sym typeface="Akzidenz-Grotesk"/>
            </a:endParaRPr>
          </a:p>
          <a:p>
            <a:pPr algn="ctr">
              <a:lnSpc>
                <a:spcPts val="5704"/>
              </a:lnSpc>
            </a:pPr>
            <a:endParaRPr lang="en-US" sz="6000" dirty="0">
              <a:solidFill>
                <a:srgbClr val="000000"/>
              </a:solidFill>
              <a:latin typeface="Akzidenz-Grotesk"/>
              <a:ea typeface="Akzidenz-Grotesk"/>
              <a:cs typeface="Akzidenz-Grotesk"/>
              <a:sym typeface="Akzidenz-Grotesk"/>
            </a:endParaRPr>
          </a:p>
        </p:txBody>
      </p:sp>
    </p:spTree>
    <p:extLst>
      <p:ext uri="{BB962C8B-B14F-4D97-AF65-F5344CB8AC3E}">
        <p14:creationId xmlns:p14="http://schemas.microsoft.com/office/powerpoint/2010/main" val="23398224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90E76E52-91D0-D6AD-46DB-0459A4FEB76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10F00DA-584B-53D4-4343-94ACA7216CA1}"/>
              </a:ext>
            </a:extLst>
          </p:cNvPr>
          <p:cNvGrpSpPr/>
          <p:nvPr/>
        </p:nvGrpSpPr>
        <p:grpSpPr>
          <a:xfrm>
            <a:off x="21785" y="1929346"/>
            <a:ext cx="18647215" cy="8357654"/>
            <a:chOff x="0" y="0"/>
            <a:chExt cx="2272929" cy="1645889"/>
          </a:xfrm>
        </p:grpSpPr>
        <p:sp>
          <p:nvSpPr>
            <p:cNvPr id="3" name="Freeform 3">
              <a:extLst>
                <a:ext uri="{FF2B5EF4-FFF2-40B4-BE49-F238E27FC236}">
                  <a16:creationId xmlns:a16="http://schemas.microsoft.com/office/drawing/2014/main" id="{FF4B8103-023D-206A-C08D-C1EDCACA57D9}"/>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B24446F8-3C05-2E44-C7E0-7DEA219E617F}"/>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5D0CE674-7C0D-E09A-D0A6-D74347D24F4C}"/>
              </a:ext>
            </a:extLst>
          </p:cNvPr>
          <p:cNvSpPr/>
          <p:nvPr/>
        </p:nvSpPr>
        <p:spPr>
          <a:xfrm rot="-5051927">
            <a:off x="16186958" y="636513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115771CB-F87A-90F2-EC00-EB05C815DBB4}"/>
              </a:ext>
            </a:extLst>
          </p:cNvPr>
          <p:cNvSpPr txBox="1"/>
          <p:nvPr/>
        </p:nvSpPr>
        <p:spPr>
          <a:xfrm>
            <a:off x="2645219" y="2861861"/>
            <a:ext cx="14473305" cy="7084888"/>
          </a:xfrm>
          <a:prstGeom prst="rect">
            <a:avLst/>
          </a:prstGeom>
        </p:spPr>
        <p:txBody>
          <a:bodyPr wrap="square" lIns="0" tIns="0" rIns="0" bIns="0" rtlCol="0" anchor="t">
            <a:spAutoFit/>
          </a:bodyPr>
          <a:lstStyle/>
          <a:p>
            <a:r>
              <a:rPr lang="fr-FR" sz="4800" b="1" dirty="0"/>
              <a:t>b) INTERFACES</a:t>
            </a:r>
          </a:p>
          <a:p>
            <a:endParaRPr lang="fr-FR" sz="4800" b="1" dirty="0"/>
          </a:p>
          <a:p>
            <a:r>
              <a:rPr lang="fr-FR" sz="4800" dirty="0"/>
              <a:t>Les interfaces définissent </a:t>
            </a:r>
            <a:r>
              <a:rPr lang="fr-FR" sz="4800" b="1" dirty="0"/>
              <a:t>comment les composants communiquent entre eux</a:t>
            </a:r>
            <a:r>
              <a:rPr lang="fr-FR" sz="4800" dirty="0"/>
              <a:t>. Elles permettent l’échange d’informations sans exposer le code interne du composant </a:t>
            </a:r>
          </a:p>
          <a:p>
            <a:endParaRPr lang="fr-FR" sz="4800" dirty="0"/>
          </a:p>
          <a:p>
            <a:endParaRPr lang="fr-FR" sz="4800" dirty="0"/>
          </a:p>
          <a:p>
            <a:pPr lvl="0"/>
            <a:endParaRPr lang="fr-FR" sz="4800" b="1" dirty="0"/>
          </a:p>
          <a:p>
            <a:pPr algn="just">
              <a:lnSpc>
                <a:spcPts val="3642"/>
              </a:lnSpc>
            </a:pPr>
            <a:endParaRPr lang="en-US" sz="2602" dirty="0">
              <a:solidFill>
                <a:srgbClr val="000000"/>
              </a:solidFill>
              <a:latin typeface="Akzidenz-Grotesk"/>
              <a:ea typeface="Akzidenz-Grotesk"/>
              <a:cs typeface="Akzidenz-Grotesk"/>
              <a:sym typeface="Akzidenz-Grotesk"/>
            </a:endParaRPr>
          </a:p>
        </p:txBody>
      </p:sp>
      <p:pic>
        <p:nvPicPr>
          <p:cNvPr id="1026" name="Picture 2" descr="universite-assane-seck-zig-5af59 - Wincom">
            <a:extLst>
              <a:ext uri="{FF2B5EF4-FFF2-40B4-BE49-F238E27FC236}">
                <a16:creationId xmlns:a16="http://schemas.microsoft.com/office/drawing/2014/main" id="{FE944EA1-18D0-A9BA-2A2D-9F26705B20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EED24BCE-5257-2D3A-29C6-C65B0B28B367}"/>
              </a:ext>
            </a:extLst>
          </p:cNvPr>
          <p:cNvSpPr/>
          <p:nvPr/>
        </p:nvSpPr>
        <p:spPr>
          <a:xfrm rot="6308718">
            <a:off x="-1185380" y="681701"/>
            <a:ext cx="3470772" cy="153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85D9CEB3-2603-9D07-52B2-199723EC300B}"/>
              </a:ext>
            </a:extLst>
          </p:cNvPr>
          <p:cNvSpPr txBox="1"/>
          <p:nvPr/>
        </p:nvSpPr>
        <p:spPr>
          <a:xfrm>
            <a:off x="457200" y="720435"/>
            <a:ext cx="16992600" cy="1488228"/>
          </a:xfrm>
          <a:prstGeom prst="rect">
            <a:avLst/>
          </a:prstGeom>
        </p:spPr>
        <p:txBody>
          <a:bodyPr wrap="square" lIns="0" tIns="0" rIns="0" bIns="0" rtlCol="0" anchor="t">
            <a:spAutoFit/>
          </a:bodyPr>
          <a:lstStyle/>
          <a:p>
            <a:pPr algn="ctr">
              <a:lnSpc>
                <a:spcPts val="5704"/>
              </a:lnSpc>
            </a:pPr>
            <a:r>
              <a:rPr lang="fr-FR" sz="6000" dirty="0">
                <a:solidFill>
                  <a:srgbClr val="000000"/>
                </a:solidFill>
                <a:latin typeface="Akzidenz-Grotesk"/>
              </a:rPr>
              <a:t>LES NOTIONS FONDAMENTALES</a:t>
            </a:r>
            <a:endParaRPr lang="en-US" sz="6000" dirty="0">
              <a:solidFill>
                <a:srgbClr val="000000"/>
              </a:solidFill>
              <a:latin typeface="Akzidenz-Grotesk"/>
              <a:sym typeface="Akzidenz-Grotesk"/>
            </a:endParaRPr>
          </a:p>
          <a:p>
            <a:pPr algn="ctr">
              <a:lnSpc>
                <a:spcPts val="5704"/>
              </a:lnSpc>
            </a:pPr>
            <a:endParaRPr lang="en-US" sz="6000" dirty="0">
              <a:solidFill>
                <a:srgbClr val="000000"/>
              </a:solidFill>
              <a:latin typeface="Akzidenz-Grotesk"/>
              <a:ea typeface="Akzidenz-Grotesk"/>
              <a:cs typeface="Akzidenz-Grotesk"/>
              <a:sym typeface="Akzidenz-Grotesk"/>
            </a:endParaRPr>
          </a:p>
        </p:txBody>
      </p:sp>
    </p:spTree>
    <p:extLst>
      <p:ext uri="{BB962C8B-B14F-4D97-AF65-F5344CB8AC3E}">
        <p14:creationId xmlns:p14="http://schemas.microsoft.com/office/powerpoint/2010/main" val="936069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987CE636-EF70-CB7E-994C-90989E2B166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BEFDA54-0628-9604-590B-80146629C1E2}"/>
              </a:ext>
            </a:extLst>
          </p:cNvPr>
          <p:cNvGrpSpPr/>
          <p:nvPr/>
        </p:nvGrpSpPr>
        <p:grpSpPr>
          <a:xfrm>
            <a:off x="21785" y="1929346"/>
            <a:ext cx="18647215" cy="8357654"/>
            <a:chOff x="0" y="0"/>
            <a:chExt cx="2272929" cy="1645889"/>
          </a:xfrm>
        </p:grpSpPr>
        <p:sp>
          <p:nvSpPr>
            <p:cNvPr id="3" name="Freeform 3">
              <a:extLst>
                <a:ext uri="{FF2B5EF4-FFF2-40B4-BE49-F238E27FC236}">
                  <a16:creationId xmlns:a16="http://schemas.microsoft.com/office/drawing/2014/main" id="{BFB06300-709F-BAEA-7D8A-ACD322B4B25A}"/>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4BED9803-7A5E-1616-ECD9-EFB991A02F3C}"/>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DDAB2EDF-535F-809C-58AF-626B55D2C77C}"/>
              </a:ext>
            </a:extLst>
          </p:cNvPr>
          <p:cNvSpPr/>
          <p:nvPr/>
        </p:nvSpPr>
        <p:spPr>
          <a:xfrm rot="-5051927">
            <a:off x="16186958" y="636513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C0285855-8E60-3A4A-C725-7CEC05561EC9}"/>
              </a:ext>
            </a:extLst>
          </p:cNvPr>
          <p:cNvSpPr txBox="1"/>
          <p:nvPr/>
        </p:nvSpPr>
        <p:spPr>
          <a:xfrm>
            <a:off x="2645219" y="2861861"/>
            <a:ext cx="14473305" cy="4130233"/>
          </a:xfrm>
          <a:prstGeom prst="rect">
            <a:avLst/>
          </a:prstGeom>
        </p:spPr>
        <p:txBody>
          <a:bodyPr wrap="square" lIns="0" tIns="0" rIns="0" bIns="0" rtlCol="0" anchor="t">
            <a:spAutoFit/>
          </a:bodyPr>
          <a:lstStyle/>
          <a:p>
            <a:r>
              <a:rPr lang="fr-FR" sz="4800" b="1" dirty="0"/>
              <a:t>c) CONNECTEURS</a:t>
            </a:r>
            <a:endParaRPr lang="fr-FR" sz="4800" dirty="0"/>
          </a:p>
          <a:p>
            <a:r>
              <a:rPr lang="fr-FR" sz="4800" dirty="0"/>
              <a:t>Les connecteurs assurent la liaison entre les composants : appels de méthodes, échanges de messages, services web, API REST, etc.</a:t>
            </a:r>
          </a:p>
          <a:p>
            <a:pPr lvl="0"/>
            <a:endParaRPr lang="fr-FR" sz="4800" b="1" dirty="0"/>
          </a:p>
          <a:p>
            <a:pPr algn="just">
              <a:lnSpc>
                <a:spcPts val="3642"/>
              </a:lnSpc>
            </a:pPr>
            <a:endParaRPr lang="en-US" sz="2602" dirty="0">
              <a:solidFill>
                <a:srgbClr val="000000"/>
              </a:solidFill>
              <a:latin typeface="Akzidenz-Grotesk"/>
              <a:ea typeface="Akzidenz-Grotesk"/>
              <a:cs typeface="Akzidenz-Grotesk"/>
              <a:sym typeface="Akzidenz-Grotesk"/>
            </a:endParaRPr>
          </a:p>
        </p:txBody>
      </p:sp>
      <p:pic>
        <p:nvPicPr>
          <p:cNvPr id="1026" name="Picture 2" descr="universite-assane-seck-zig-5af59 - Wincom">
            <a:extLst>
              <a:ext uri="{FF2B5EF4-FFF2-40B4-BE49-F238E27FC236}">
                <a16:creationId xmlns:a16="http://schemas.microsoft.com/office/drawing/2014/main" id="{CC755EA8-5684-2318-31B4-FED902E365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14D6128D-41C6-2D4F-7E89-2FA24A83187E}"/>
              </a:ext>
            </a:extLst>
          </p:cNvPr>
          <p:cNvSpPr/>
          <p:nvPr/>
        </p:nvSpPr>
        <p:spPr>
          <a:xfrm rot="6308718">
            <a:off x="-1185380" y="681701"/>
            <a:ext cx="3470772" cy="153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E85AFDF4-7796-0284-2E30-A2931889F9B0}"/>
              </a:ext>
            </a:extLst>
          </p:cNvPr>
          <p:cNvSpPr txBox="1"/>
          <p:nvPr/>
        </p:nvSpPr>
        <p:spPr>
          <a:xfrm>
            <a:off x="457200" y="720435"/>
            <a:ext cx="16992600" cy="1488228"/>
          </a:xfrm>
          <a:prstGeom prst="rect">
            <a:avLst/>
          </a:prstGeom>
        </p:spPr>
        <p:txBody>
          <a:bodyPr wrap="square" lIns="0" tIns="0" rIns="0" bIns="0" rtlCol="0" anchor="t">
            <a:spAutoFit/>
          </a:bodyPr>
          <a:lstStyle/>
          <a:p>
            <a:pPr algn="ctr">
              <a:lnSpc>
                <a:spcPts val="5704"/>
              </a:lnSpc>
            </a:pPr>
            <a:r>
              <a:rPr lang="fr-FR" sz="6000" dirty="0">
                <a:solidFill>
                  <a:srgbClr val="000000"/>
                </a:solidFill>
                <a:latin typeface="Akzidenz-Grotesk"/>
              </a:rPr>
              <a:t>LES NOTIONS FONDAMENTALES</a:t>
            </a:r>
            <a:endParaRPr lang="en-US" sz="6000" dirty="0">
              <a:solidFill>
                <a:srgbClr val="000000"/>
              </a:solidFill>
              <a:latin typeface="Akzidenz-Grotesk"/>
              <a:sym typeface="Akzidenz-Grotesk"/>
            </a:endParaRPr>
          </a:p>
          <a:p>
            <a:pPr algn="ctr">
              <a:lnSpc>
                <a:spcPts val="5704"/>
              </a:lnSpc>
            </a:pPr>
            <a:endParaRPr lang="en-US" sz="6000" dirty="0">
              <a:solidFill>
                <a:srgbClr val="000000"/>
              </a:solidFill>
              <a:latin typeface="Akzidenz-Grotesk"/>
              <a:ea typeface="Akzidenz-Grotesk"/>
              <a:cs typeface="Akzidenz-Grotesk"/>
              <a:sym typeface="Akzidenz-Grotesk"/>
            </a:endParaRPr>
          </a:p>
        </p:txBody>
      </p:sp>
    </p:spTree>
    <p:extLst>
      <p:ext uri="{BB962C8B-B14F-4D97-AF65-F5344CB8AC3E}">
        <p14:creationId xmlns:p14="http://schemas.microsoft.com/office/powerpoint/2010/main" val="2121282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CA55D9A4-FE1D-6491-FFDD-8A6FE6921AA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B246835-EBD0-EF2A-EBD2-8062F064F29A}"/>
              </a:ext>
            </a:extLst>
          </p:cNvPr>
          <p:cNvGrpSpPr/>
          <p:nvPr/>
        </p:nvGrpSpPr>
        <p:grpSpPr>
          <a:xfrm>
            <a:off x="21785" y="1542410"/>
            <a:ext cx="18647215" cy="8849017"/>
            <a:chOff x="0" y="-76200"/>
            <a:chExt cx="2272929" cy="1742654"/>
          </a:xfrm>
        </p:grpSpPr>
        <p:sp>
          <p:nvSpPr>
            <p:cNvPr id="3" name="Freeform 3">
              <a:extLst>
                <a:ext uri="{FF2B5EF4-FFF2-40B4-BE49-F238E27FC236}">
                  <a16:creationId xmlns:a16="http://schemas.microsoft.com/office/drawing/2014/main" id="{E59E73C3-1084-D732-7AFD-E484CEC53646}"/>
                </a:ext>
              </a:extLst>
            </p:cNvPr>
            <p:cNvSpPr/>
            <p:nvPr/>
          </p:nvSpPr>
          <p:spPr>
            <a:xfrm>
              <a:off x="75341" y="20565"/>
              <a:ext cx="210390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DD68777B-06D7-AF7A-0EB2-EE74D31E6DF4}"/>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3CCAEA09-371C-9892-0E31-E16782562751}"/>
              </a:ext>
            </a:extLst>
          </p:cNvPr>
          <p:cNvSpPr/>
          <p:nvPr/>
        </p:nvSpPr>
        <p:spPr>
          <a:xfrm rot="-5051927">
            <a:off x="16186958" y="636513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72097720-1D40-860D-52AA-CCBBF185534B}"/>
              </a:ext>
            </a:extLst>
          </p:cNvPr>
          <p:cNvSpPr txBox="1"/>
          <p:nvPr/>
        </p:nvSpPr>
        <p:spPr>
          <a:xfrm>
            <a:off x="2406263" y="2205470"/>
            <a:ext cx="14473305" cy="8125301"/>
          </a:xfrm>
          <a:prstGeom prst="rect">
            <a:avLst/>
          </a:prstGeom>
        </p:spPr>
        <p:txBody>
          <a:bodyPr wrap="square" lIns="0" tIns="0" rIns="0" bIns="0" rtlCol="0" anchor="t">
            <a:spAutoFit/>
          </a:bodyPr>
          <a:lstStyle/>
          <a:p>
            <a:r>
              <a:rPr lang="fr-FR" sz="4800" b="1" dirty="0"/>
              <a:t>d) COUCHES (LAYERS)</a:t>
            </a:r>
          </a:p>
          <a:p>
            <a:r>
              <a:rPr lang="fr-FR" sz="4800" dirty="0"/>
              <a:t>Une architecture est souvent organisée en couches logiques, par exemple :</a:t>
            </a:r>
          </a:p>
          <a:p>
            <a:pPr marL="685800" lvl="0" indent="-685800">
              <a:buFont typeface="Wingdings" pitchFamily="2" charset="2"/>
              <a:buChar char="Ø"/>
            </a:pPr>
            <a:r>
              <a:rPr lang="fr-FR" sz="4800" b="1" dirty="0"/>
              <a:t>Couche présentation </a:t>
            </a:r>
            <a:r>
              <a:rPr lang="fr-FR" sz="4800" dirty="0"/>
              <a:t>: interface utilisateur (UI)</a:t>
            </a:r>
          </a:p>
          <a:p>
            <a:pPr marL="685800" lvl="0" indent="-685800">
              <a:buFont typeface="Wingdings" pitchFamily="2" charset="2"/>
              <a:buChar char="Ø"/>
            </a:pPr>
            <a:r>
              <a:rPr lang="fr-FR" sz="4800" b="1" dirty="0"/>
              <a:t>Couche métier </a:t>
            </a:r>
            <a:r>
              <a:rPr lang="fr-FR" sz="4800" dirty="0"/>
              <a:t>: logique fonctionnelle de l’application</a:t>
            </a:r>
          </a:p>
          <a:p>
            <a:pPr marL="685800" lvl="0" indent="-685800">
              <a:buFont typeface="Wingdings" pitchFamily="2" charset="2"/>
              <a:buChar char="Ø"/>
            </a:pPr>
            <a:r>
              <a:rPr lang="fr-FR" sz="4800" b="1" dirty="0"/>
              <a:t>Couche d’accès aux données </a:t>
            </a:r>
            <a:r>
              <a:rPr lang="fr-FR" sz="4800" dirty="0"/>
              <a:t>: gestion de la base de données</a:t>
            </a:r>
          </a:p>
          <a:p>
            <a:pPr marL="685800" lvl="0" indent="-685800">
              <a:buFont typeface="Wingdings" pitchFamily="2" charset="2"/>
              <a:buChar char="Ø"/>
            </a:pPr>
            <a:r>
              <a:rPr lang="fr-FR" sz="4800" b="1" dirty="0"/>
              <a:t>Couche infrastructure</a:t>
            </a:r>
            <a:r>
              <a:rPr lang="fr-FR" sz="4800" dirty="0"/>
              <a:t> : communication, sécurité, déploiement</a:t>
            </a:r>
          </a:p>
          <a:p>
            <a:r>
              <a:rPr lang="fr-FR" sz="4800" dirty="0"/>
              <a:t>Cette approche en couches favorise la séparation des préoccupations et la modularité.</a:t>
            </a:r>
            <a:endParaRPr lang="en-US" sz="2602" dirty="0">
              <a:solidFill>
                <a:srgbClr val="000000"/>
              </a:solidFill>
              <a:latin typeface="Akzidenz-Grotesk"/>
              <a:ea typeface="Akzidenz-Grotesk"/>
              <a:cs typeface="Akzidenz-Grotesk"/>
              <a:sym typeface="Akzidenz-Grotesk"/>
            </a:endParaRPr>
          </a:p>
        </p:txBody>
      </p:sp>
      <p:pic>
        <p:nvPicPr>
          <p:cNvPr id="1026" name="Picture 2" descr="universite-assane-seck-zig-5af59 - Wincom">
            <a:extLst>
              <a:ext uri="{FF2B5EF4-FFF2-40B4-BE49-F238E27FC236}">
                <a16:creationId xmlns:a16="http://schemas.microsoft.com/office/drawing/2014/main" id="{75EEF32F-BF9C-9122-BAA5-C5BB6BBFA9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8DD19130-56EC-AD9C-53AF-8EE0F92BEB67}"/>
              </a:ext>
            </a:extLst>
          </p:cNvPr>
          <p:cNvSpPr/>
          <p:nvPr/>
        </p:nvSpPr>
        <p:spPr>
          <a:xfrm rot="6308718">
            <a:off x="-1185380" y="681701"/>
            <a:ext cx="3470772" cy="153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C3A550F8-3FC6-8B9E-15E9-D93A6695285A}"/>
              </a:ext>
            </a:extLst>
          </p:cNvPr>
          <p:cNvSpPr txBox="1"/>
          <p:nvPr/>
        </p:nvSpPr>
        <p:spPr>
          <a:xfrm>
            <a:off x="457200" y="720435"/>
            <a:ext cx="16992600" cy="1488228"/>
          </a:xfrm>
          <a:prstGeom prst="rect">
            <a:avLst/>
          </a:prstGeom>
        </p:spPr>
        <p:txBody>
          <a:bodyPr wrap="square" lIns="0" tIns="0" rIns="0" bIns="0" rtlCol="0" anchor="t">
            <a:spAutoFit/>
          </a:bodyPr>
          <a:lstStyle/>
          <a:p>
            <a:pPr algn="ctr">
              <a:lnSpc>
                <a:spcPts val="5704"/>
              </a:lnSpc>
            </a:pPr>
            <a:r>
              <a:rPr lang="fr-FR" sz="6000" dirty="0">
                <a:solidFill>
                  <a:srgbClr val="000000"/>
                </a:solidFill>
                <a:latin typeface="Akzidenz-Grotesk"/>
              </a:rPr>
              <a:t>LES NOTIONS FONDAMENTALES</a:t>
            </a:r>
            <a:endParaRPr lang="en-US" sz="6000" dirty="0">
              <a:solidFill>
                <a:srgbClr val="000000"/>
              </a:solidFill>
              <a:latin typeface="Akzidenz-Grotesk"/>
              <a:sym typeface="Akzidenz-Grotesk"/>
            </a:endParaRPr>
          </a:p>
          <a:p>
            <a:pPr algn="ctr">
              <a:lnSpc>
                <a:spcPts val="5704"/>
              </a:lnSpc>
            </a:pPr>
            <a:endParaRPr lang="en-US" sz="6000" dirty="0">
              <a:solidFill>
                <a:srgbClr val="000000"/>
              </a:solidFill>
              <a:latin typeface="Akzidenz-Grotesk"/>
              <a:ea typeface="Akzidenz-Grotesk"/>
              <a:cs typeface="Akzidenz-Grotesk"/>
              <a:sym typeface="Akzidenz-Grotesk"/>
            </a:endParaRPr>
          </a:p>
        </p:txBody>
      </p:sp>
    </p:spTree>
    <p:extLst>
      <p:ext uri="{BB962C8B-B14F-4D97-AF65-F5344CB8AC3E}">
        <p14:creationId xmlns:p14="http://schemas.microsoft.com/office/powerpoint/2010/main" val="30556824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98E50D12-284B-49A7-C73F-72E2AC660C9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6D976D5-DFCA-C699-60C4-B33A5EA4E619}"/>
              </a:ext>
            </a:extLst>
          </p:cNvPr>
          <p:cNvGrpSpPr/>
          <p:nvPr/>
        </p:nvGrpSpPr>
        <p:grpSpPr>
          <a:xfrm>
            <a:off x="-8695" y="1008300"/>
            <a:ext cx="18647215" cy="10093992"/>
            <a:chOff x="0" y="-76200"/>
            <a:chExt cx="2272929" cy="1742654"/>
          </a:xfrm>
        </p:grpSpPr>
        <p:sp>
          <p:nvSpPr>
            <p:cNvPr id="3" name="Freeform 3">
              <a:extLst>
                <a:ext uri="{FF2B5EF4-FFF2-40B4-BE49-F238E27FC236}">
                  <a16:creationId xmlns:a16="http://schemas.microsoft.com/office/drawing/2014/main" id="{9F34961F-8AEE-EE86-99C0-E7AA1EA0152E}"/>
                </a:ext>
              </a:extLst>
            </p:cNvPr>
            <p:cNvSpPr/>
            <p:nvPr/>
          </p:nvSpPr>
          <p:spPr>
            <a:xfrm>
              <a:off x="75341" y="20565"/>
              <a:ext cx="210390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D55C0C96-D03E-EB91-2DD0-1D0F7CC0004C}"/>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E097FFCE-9200-2F69-14FC-30DD66BB69A6}"/>
              </a:ext>
            </a:extLst>
          </p:cNvPr>
          <p:cNvSpPr/>
          <p:nvPr/>
        </p:nvSpPr>
        <p:spPr>
          <a:xfrm rot="-5051927">
            <a:off x="16186958" y="636513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0021111D-2DC4-369B-6871-B5545DDDB1D2}"/>
              </a:ext>
            </a:extLst>
          </p:cNvPr>
          <p:cNvSpPr txBox="1"/>
          <p:nvPr/>
        </p:nvSpPr>
        <p:spPr>
          <a:xfrm>
            <a:off x="1955411" y="1623314"/>
            <a:ext cx="14473305" cy="8863965"/>
          </a:xfrm>
          <a:prstGeom prst="rect">
            <a:avLst/>
          </a:prstGeom>
        </p:spPr>
        <p:txBody>
          <a:bodyPr wrap="square" lIns="0" tIns="0" rIns="0" bIns="0" rtlCol="0" anchor="t">
            <a:spAutoFit/>
          </a:bodyPr>
          <a:lstStyle/>
          <a:p>
            <a:r>
              <a:rPr lang="fr-FR" sz="4800" b="1" dirty="0"/>
              <a:t>e) PATRONS ARCHITECTURAUX (Architectural Patterns)</a:t>
            </a:r>
          </a:p>
          <a:p>
            <a:endParaRPr lang="fr-FR" sz="4800" dirty="0"/>
          </a:p>
          <a:p>
            <a:r>
              <a:rPr lang="fr-FR" sz="4800" dirty="0"/>
              <a:t>Ce sont des </a:t>
            </a:r>
            <a:r>
              <a:rPr lang="fr-FR" sz="4800" b="1" dirty="0"/>
              <a:t>modèles éprouvés</a:t>
            </a:r>
            <a:r>
              <a:rPr lang="fr-FR" sz="4800" dirty="0"/>
              <a:t> pour organiser un système logiciel. Parmi les plus connus :</a:t>
            </a:r>
          </a:p>
          <a:p>
            <a:pPr marL="685800" lvl="0" indent="-685800">
              <a:buFont typeface="Wingdings" pitchFamily="2" charset="2"/>
              <a:buChar char="Ø"/>
            </a:pPr>
            <a:r>
              <a:rPr lang="fr-FR" sz="4800" b="1" dirty="0"/>
              <a:t>Architecture en couches (n-tiers)</a:t>
            </a:r>
            <a:endParaRPr lang="fr-FR" sz="4800" dirty="0"/>
          </a:p>
          <a:p>
            <a:pPr marL="685800" lvl="0" indent="-685800">
              <a:buFont typeface="Wingdings" pitchFamily="2" charset="2"/>
              <a:buChar char="Ø"/>
            </a:pPr>
            <a:r>
              <a:rPr lang="fr-FR" sz="4800" b="1" dirty="0"/>
              <a:t>Client-serveur</a:t>
            </a:r>
            <a:endParaRPr lang="fr-FR" sz="4800" dirty="0"/>
          </a:p>
          <a:p>
            <a:pPr marL="685800" lvl="0" indent="-685800">
              <a:buFont typeface="Wingdings" pitchFamily="2" charset="2"/>
              <a:buChar char="Ø"/>
            </a:pPr>
            <a:r>
              <a:rPr lang="fr-FR" sz="4800" b="1" dirty="0"/>
              <a:t>Modèle-Vue-Contrôleur (MVC)</a:t>
            </a:r>
            <a:endParaRPr lang="fr-FR" sz="4800" dirty="0"/>
          </a:p>
          <a:p>
            <a:pPr marL="685800" lvl="0" indent="-685800">
              <a:buFont typeface="Wingdings" pitchFamily="2" charset="2"/>
              <a:buChar char="Ø"/>
            </a:pPr>
            <a:r>
              <a:rPr lang="fr-FR" sz="4800" b="1" dirty="0" err="1"/>
              <a:t>Microservices</a:t>
            </a:r>
            <a:endParaRPr lang="fr-FR" sz="4800" dirty="0"/>
          </a:p>
          <a:p>
            <a:pPr marL="685800" lvl="0" indent="-685800">
              <a:buFont typeface="Wingdings" pitchFamily="2" charset="2"/>
              <a:buChar char="Ø"/>
            </a:pPr>
            <a:r>
              <a:rPr lang="fr-FR" sz="4800" b="1" dirty="0"/>
              <a:t>Architecture orientée services (SOA)</a:t>
            </a:r>
            <a:endParaRPr lang="fr-FR" sz="4800" dirty="0"/>
          </a:p>
          <a:p>
            <a:pPr marL="685800" lvl="0" indent="-685800">
              <a:buFont typeface="Wingdings" pitchFamily="2" charset="2"/>
              <a:buChar char="Ø"/>
            </a:pPr>
            <a:r>
              <a:rPr lang="fr-FR" sz="4800" b="1" dirty="0"/>
              <a:t>Event-</a:t>
            </a:r>
            <a:r>
              <a:rPr lang="fr-FR" sz="4800" b="1" dirty="0" err="1"/>
              <a:t>driven</a:t>
            </a:r>
            <a:r>
              <a:rPr lang="fr-FR" sz="4800" b="1" dirty="0"/>
              <a:t> architecture (EDA)</a:t>
            </a:r>
            <a:endParaRPr lang="fr-FR" sz="4800" dirty="0"/>
          </a:p>
          <a:p>
            <a:r>
              <a:rPr lang="fr-FR" sz="4800" dirty="0"/>
              <a:t>Chaque modèle répond à des besoins spécifiques selon la taille, la complexité et les exigences du projet.</a:t>
            </a:r>
          </a:p>
        </p:txBody>
      </p:sp>
      <p:pic>
        <p:nvPicPr>
          <p:cNvPr id="1026" name="Picture 2" descr="universite-assane-seck-zig-5af59 - Wincom">
            <a:extLst>
              <a:ext uri="{FF2B5EF4-FFF2-40B4-BE49-F238E27FC236}">
                <a16:creationId xmlns:a16="http://schemas.microsoft.com/office/drawing/2014/main" id="{FF980E44-7021-0D21-9EC4-920F3F64B6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F6C7CB78-5294-D8BA-7968-9E227B90718F}"/>
              </a:ext>
            </a:extLst>
          </p:cNvPr>
          <p:cNvSpPr/>
          <p:nvPr/>
        </p:nvSpPr>
        <p:spPr>
          <a:xfrm rot="6308718">
            <a:off x="-1185380" y="681701"/>
            <a:ext cx="3470772" cy="153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ED7FEE2A-9781-A1B0-610A-7BB0EA1EC98E}"/>
              </a:ext>
            </a:extLst>
          </p:cNvPr>
          <p:cNvSpPr txBox="1"/>
          <p:nvPr/>
        </p:nvSpPr>
        <p:spPr>
          <a:xfrm>
            <a:off x="519526" y="264186"/>
            <a:ext cx="16992600" cy="1488228"/>
          </a:xfrm>
          <a:prstGeom prst="rect">
            <a:avLst/>
          </a:prstGeom>
        </p:spPr>
        <p:txBody>
          <a:bodyPr wrap="square" lIns="0" tIns="0" rIns="0" bIns="0" rtlCol="0" anchor="t">
            <a:spAutoFit/>
          </a:bodyPr>
          <a:lstStyle/>
          <a:p>
            <a:pPr algn="ctr">
              <a:lnSpc>
                <a:spcPts val="5704"/>
              </a:lnSpc>
            </a:pPr>
            <a:r>
              <a:rPr lang="fr-FR" sz="6000" dirty="0">
                <a:solidFill>
                  <a:srgbClr val="000000"/>
                </a:solidFill>
                <a:latin typeface="Akzidenz-Grotesk"/>
              </a:rPr>
              <a:t>LES NOTIONS FONDAMENTALES</a:t>
            </a:r>
            <a:endParaRPr lang="en-US" sz="6000" dirty="0">
              <a:solidFill>
                <a:srgbClr val="000000"/>
              </a:solidFill>
              <a:latin typeface="Akzidenz-Grotesk"/>
              <a:sym typeface="Akzidenz-Grotesk"/>
            </a:endParaRPr>
          </a:p>
          <a:p>
            <a:pPr algn="ctr">
              <a:lnSpc>
                <a:spcPts val="5704"/>
              </a:lnSpc>
            </a:pPr>
            <a:endParaRPr lang="en-US" sz="6000" dirty="0">
              <a:solidFill>
                <a:srgbClr val="000000"/>
              </a:solidFill>
              <a:latin typeface="Akzidenz-Grotesk"/>
              <a:ea typeface="Akzidenz-Grotesk"/>
              <a:cs typeface="Akzidenz-Grotesk"/>
              <a:sym typeface="Akzidenz-Grotesk"/>
            </a:endParaRPr>
          </a:p>
        </p:txBody>
      </p:sp>
    </p:spTree>
    <p:extLst>
      <p:ext uri="{BB962C8B-B14F-4D97-AF65-F5344CB8AC3E}">
        <p14:creationId xmlns:p14="http://schemas.microsoft.com/office/powerpoint/2010/main" val="22442201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1BED9928-6E25-06AE-A802-B5622A30211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EBD4FA3-377E-2CB2-96F5-84CEB3B0027E}"/>
              </a:ext>
            </a:extLst>
          </p:cNvPr>
          <p:cNvGrpSpPr/>
          <p:nvPr/>
        </p:nvGrpSpPr>
        <p:grpSpPr>
          <a:xfrm>
            <a:off x="-8695" y="1008300"/>
            <a:ext cx="18647215" cy="10093992"/>
            <a:chOff x="0" y="-76200"/>
            <a:chExt cx="2272929" cy="1742654"/>
          </a:xfrm>
        </p:grpSpPr>
        <p:sp>
          <p:nvSpPr>
            <p:cNvPr id="3" name="Freeform 3">
              <a:extLst>
                <a:ext uri="{FF2B5EF4-FFF2-40B4-BE49-F238E27FC236}">
                  <a16:creationId xmlns:a16="http://schemas.microsoft.com/office/drawing/2014/main" id="{A60D4C7C-64D9-5177-E3E1-AFD4FD65C9BD}"/>
                </a:ext>
              </a:extLst>
            </p:cNvPr>
            <p:cNvSpPr/>
            <p:nvPr/>
          </p:nvSpPr>
          <p:spPr>
            <a:xfrm>
              <a:off x="75341" y="20565"/>
              <a:ext cx="210390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7C867322-23A1-29B9-68ED-5EFF388B43BC}"/>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A10B092D-CF51-3B4C-4A20-82A4B6EB5F93}"/>
              </a:ext>
            </a:extLst>
          </p:cNvPr>
          <p:cNvSpPr/>
          <p:nvPr/>
        </p:nvSpPr>
        <p:spPr>
          <a:xfrm rot="-5051927">
            <a:off x="16186958" y="636513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9B90174F-A711-21CF-CA73-90AE1511CBF4}"/>
              </a:ext>
            </a:extLst>
          </p:cNvPr>
          <p:cNvSpPr txBox="1"/>
          <p:nvPr/>
        </p:nvSpPr>
        <p:spPr>
          <a:xfrm>
            <a:off x="1955411" y="1623314"/>
            <a:ext cx="15813063" cy="7386638"/>
          </a:xfrm>
          <a:prstGeom prst="rect">
            <a:avLst/>
          </a:prstGeom>
        </p:spPr>
        <p:txBody>
          <a:bodyPr wrap="square" lIns="0" tIns="0" rIns="0" bIns="0" rtlCol="0" anchor="t">
            <a:spAutoFit/>
          </a:bodyPr>
          <a:lstStyle/>
          <a:p>
            <a:pPr lvl="0"/>
            <a:r>
              <a:rPr lang="fr-FR" sz="4800" b="1" dirty="0"/>
              <a:t>Modularité</a:t>
            </a:r>
            <a:r>
              <a:rPr lang="fr-FR" sz="4800" dirty="0"/>
              <a:t> : diviser le système en modules indépendants et cohérents.</a:t>
            </a:r>
          </a:p>
          <a:p>
            <a:pPr lvl="0"/>
            <a:r>
              <a:rPr lang="fr-FR" sz="4800" b="1" dirty="0"/>
              <a:t>Abstraction</a:t>
            </a:r>
            <a:r>
              <a:rPr lang="fr-FR" sz="4800" dirty="0"/>
              <a:t> : masquer les détails d’implémentation pour simplifier la compréhension.</a:t>
            </a:r>
          </a:p>
          <a:p>
            <a:pPr lvl="0"/>
            <a:r>
              <a:rPr lang="fr-FR" sz="4800" b="1" dirty="0"/>
              <a:t>Réutilisabilité</a:t>
            </a:r>
            <a:r>
              <a:rPr lang="fr-FR" sz="4800" dirty="0"/>
              <a:t> : concevoir des composants réutilisables.</a:t>
            </a:r>
          </a:p>
          <a:p>
            <a:pPr lvl="0"/>
            <a:r>
              <a:rPr lang="fr-FR" sz="4800" b="1" dirty="0"/>
              <a:t>Cohésion forte, couplage faible</a:t>
            </a:r>
            <a:r>
              <a:rPr lang="fr-FR" sz="4800" dirty="0"/>
              <a:t> : chaque module doit être centré sur une seule responsabilité, et dépendre le moins possible des autres.</a:t>
            </a:r>
          </a:p>
          <a:p>
            <a:pPr lvl="0"/>
            <a:r>
              <a:rPr lang="fr-FR" sz="4800" b="1" dirty="0"/>
              <a:t>Séparation des préoccupations</a:t>
            </a:r>
            <a:r>
              <a:rPr lang="fr-FR" sz="4800" dirty="0"/>
              <a:t> : distinguer les aspects fonctionnels, techniques et métier.</a:t>
            </a:r>
          </a:p>
        </p:txBody>
      </p:sp>
      <p:pic>
        <p:nvPicPr>
          <p:cNvPr id="1026" name="Picture 2" descr="universite-assane-seck-zig-5af59 - Wincom">
            <a:extLst>
              <a:ext uri="{FF2B5EF4-FFF2-40B4-BE49-F238E27FC236}">
                <a16:creationId xmlns:a16="http://schemas.microsoft.com/office/drawing/2014/main" id="{FFFFD086-8C30-4845-E5F5-7587E63BF84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82BF9385-2F88-54C7-3490-D23C363209E7}"/>
              </a:ext>
            </a:extLst>
          </p:cNvPr>
          <p:cNvSpPr/>
          <p:nvPr/>
        </p:nvSpPr>
        <p:spPr>
          <a:xfrm rot="6308718">
            <a:off x="-1185380" y="681701"/>
            <a:ext cx="3470772" cy="153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15C1612F-292E-B605-DD92-702D0B85E85D}"/>
              </a:ext>
            </a:extLst>
          </p:cNvPr>
          <p:cNvSpPr txBox="1"/>
          <p:nvPr/>
        </p:nvSpPr>
        <p:spPr>
          <a:xfrm>
            <a:off x="519526" y="264186"/>
            <a:ext cx="17768474" cy="1467325"/>
          </a:xfrm>
          <a:prstGeom prst="rect">
            <a:avLst/>
          </a:prstGeom>
        </p:spPr>
        <p:txBody>
          <a:bodyPr wrap="square" lIns="0" tIns="0" rIns="0" bIns="0" rtlCol="0" anchor="t">
            <a:spAutoFit/>
          </a:bodyPr>
          <a:lstStyle/>
          <a:p>
            <a:pPr algn="ctr">
              <a:lnSpc>
                <a:spcPts val="5704"/>
              </a:lnSpc>
            </a:pPr>
            <a:r>
              <a:rPr lang="fr-FR" sz="5400" dirty="0">
                <a:solidFill>
                  <a:srgbClr val="000000"/>
                </a:solidFill>
                <a:latin typeface="Akzidenz-Grotesk"/>
              </a:rPr>
              <a:t>LES PRINCIPES DE CONCEPTION ARCHITECTURALE </a:t>
            </a:r>
            <a:endParaRPr lang="en-US" sz="5400" dirty="0">
              <a:solidFill>
                <a:srgbClr val="000000"/>
              </a:solidFill>
              <a:latin typeface="Akzidenz-Grotesk"/>
              <a:sym typeface="Akzidenz-Grotesk"/>
            </a:endParaRPr>
          </a:p>
          <a:p>
            <a:pPr algn="ctr">
              <a:lnSpc>
                <a:spcPts val="5704"/>
              </a:lnSpc>
            </a:pPr>
            <a:endParaRPr lang="en-US" sz="5400" dirty="0">
              <a:solidFill>
                <a:srgbClr val="000000"/>
              </a:solidFill>
              <a:latin typeface="Akzidenz-Grotesk"/>
              <a:ea typeface="Akzidenz-Grotesk"/>
              <a:cs typeface="Akzidenz-Grotesk"/>
              <a:sym typeface="Akzidenz-Grotesk"/>
            </a:endParaRPr>
          </a:p>
        </p:txBody>
      </p:sp>
    </p:spTree>
    <p:extLst>
      <p:ext uri="{BB962C8B-B14F-4D97-AF65-F5344CB8AC3E}">
        <p14:creationId xmlns:p14="http://schemas.microsoft.com/office/powerpoint/2010/main" val="4285070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E652C5CE-E7F1-9D99-80E5-8B406A4A4C7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16A6EDD-ED61-DDFB-1D04-103F6BD84BC1}"/>
              </a:ext>
            </a:extLst>
          </p:cNvPr>
          <p:cNvGrpSpPr/>
          <p:nvPr/>
        </p:nvGrpSpPr>
        <p:grpSpPr>
          <a:xfrm>
            <a:off x="-8695" y="1008300"/>
            <a:ext cx="18647215" cy="10093992"/>
            <a:chOff x="0" y="-76200"/>
            <a:chExt cx="2272929" cy="1742654"/>
          </a:xfrm>
        </p:grpSpPr>
        <p:sp>
          <p:nvSpPr>
            <p:cNvPr id="3" name="Freeform 3">
              <a:extLst>
                <a:ext uri="{FF2B5EF4-FFF2-40B4-BE49-F238E27FC236}">
                  <a16:creationId xmlns:a16="http://schemas.microsoft.com/office/drawing/2014/main" id="{FCA7D471-61E5-2AAA-54CF-B47A68EBBFAA}"/>
                </a:ext>
              </a:extLst>
            </p:cNvPr>
            <p:cNvSpPr/>
            <p:nvPr/>
          </p:nvSpPr>
          <p:spPr>
            <a:xfrm>
              <a:off x="75341" y="20565"/>
              <a:ext cx="210390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6BCCED47-0910-6BE2-CA51-D875DE483C53}"/>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7009BF21-9BF1-8E8E-9659-BF637A5A83C1}"/>
              </a:ext>
            </a:extLst>
          </p:cNvPr>
          <p:cNvSpPr/>
          <p:nvPr/>
        </p:nvSpPr>
        <p:spPr>
          <a:xfrm rot="-5051927">
            <a:off x="16186958" y="636513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E5D0C50A-E32F-649E-E72F-D3D230BD7774}"/>
              </a:ext>
            </a:extLst>
          </p:cNvPr>
          <p:cNvSpPr txBox="1"/>
          <p:nvPr/>
        </p:nvSpPr>
        <p:spPr>
          <a:xfrm>
            <a:off x="1955411" y="1623314"/>
            <a:ext cx="15813063" cy="5170646"/>
          </a:xfrm>
          <a:prstGeom prst="rect">
            <a:avLst/>
          </a:prstGeom>
        </p:spPr>
        <p:txBody>
          <a:bodyPr wrap="square" lIns="0" tIns="0" rIns="0" bIns="0" rtlCol="0" anchor="t">
            <a:spAutoFit/>
          </a:bodyPr>
          <a:lstStyle/>
          <a:p>
            <a:pPr lvl="0"/>
            <a:r>
              <a:rPr lang="fr-FR" sz="4800" b="1" dirty="0"/>
              <a:t>Scalabilité</a:t>
            </a:r>
            <a:r>
              <a:rPr lang="fr-FR" sz="4800" dirty="0"/>
              <a:t> : permettre au système de gérer une augmentation de la charge.</a:t>
            </a:r>
          </a:p>
          <a:p>
            <a:pPr lvl="0"/>
            <a:r>
              <a:rPr lang="fr-FR" sz="4800" b="1" dirty="0"/>
              <a:t>Sécurité</a:t>
            </a:r>
            <a:r>
              <a:rPr lang="fr-FR" sz="4800" dirty="0"/>
              <a:t> : protéger les données et les communications entre composants.</a:t>
            </a:r>
          </a:p>
          <a:p>
            <a:pPr lvl="0"/>
            <a:r>
              <a:rPr lang="fr-FR" sz="4800" b="1" dirty="0"/>
              <a:t>Interopérabilité</a:t>
            </a:r>
            <a:r>
              <a:rPr lang="fr-FR" sz="4800" dirty="0"/>
              <a:t> : garantir la compatibilité entre systèmes hétérogènes.</a:t>
            </a:r>
          </a:p>
          <a:p>
            <a:endParaRPr lang="fr-FR" sz="4800" b="1" dirty="0"/>
          </a:p>
        </p:txBody>
      </p:sp>
      <p:pic>
        <p:nvPicPr>
          <p:cNvPr id="1026" name="Picture 2" descr="universite-assane-seck-zig-5af59 - Wincom">
            <a:extLst>
              <a:ext uri="{FF2B5EF4-FFF2-40B4-BE49-F238E27FC236}">
                <a16:creationId xmlns:a16="http://schemas.microsoft.com/office/drawing/2014/main" id="{7961F34E-E10B-4380-2EB6-768E5A5A595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E89D8C79-1EC9-9A20-A7C7-4C4A81398DEB}"/>
              </a:ext>
            </a:extLst>
          </p:cNvPr>
          <p:cNvSpPr/>
          <p:nvPr/>
        </p:nvSpPr>
        <p:spPr>
          <a:xfrm rot="6308718">
            <a:off x="-1185380" y="681701"/>
            <a:ext cx="3470772" cy="153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A1F5EDB8-689F-09C0-F804-8825D0BC2113}"/>
              </a:ext>
            </a:extLst>
          </p:cNvPr>
          <p:cNvSpPr txBox="1"/>
          <p:nvPr/>
        </p:nvSpPr>
        <p:spPr>
          <a:xfrm>
            <a:off x="519526" y="264186"/>
            <a:ext cx="17768474" cy="1467325"/>
          </a:xfrm>
          <a:prstGeom prst="rect">
            <a:avLst/>
          </a:prstGeom>
        </p:spPr>
        <p:txBody>
          <a:bodyPr wrap="square" lIns="0" tIns="0" rIns="0" bIns="0" rtlCol="0" anchor="t">
            <a:spAutoFit/>
          </a:bodyPr>
          <a:lstStyle/>
          <a:p>
            <a:pPr algn="ctr">
              <a:lnSpc>
                <a:spcPts val="5704"/>
              </a:lnSpc>
            </a:pPr>
            <a:r>
              <a:rPr lang="fr-FR" sz="5400" dirty="0">
                <a:solidFill>
                  <a:srgbClr val="000000"/>
                </a:solidFill>
                <a:latin typeface="Akzidenz-Grotesk"/>
              </a:rPr>
              <a:t>LES PRINCIPES DE CONCEPTION ARCHITECTURALE </a:t>
            </a:r>
            <a:endParaRPr lang="en-US" sz="5400" dirty="0">
              <a:solidFill>
                <a:srgbClr val="000000"/>
              </a:solidFill>
              <a:latin typeface="Akzidenz-Grotesk"/>
              <a:sym typeface="Akzidenz-Grotesk"/>
            </a:endParaRPr>
          </a:p>
          <a:p>
            <a:pPr algn="ctr">
              <a:lnSpc>
                <a:spcPts val="5704"/>
              </a:lnSpc>
            </a:pPr>
            <a:endParaRPr lang="en-US" sz="5400" dirty="0">
              <a:solidFill>
                <a:srgbClr val="000000"/>
              </a:solidFill>
              <a:latin typeface="Akzidenz-Grotesk"/>
              <a:ea typeface="Akzidenz-Grotesk"/>
              <a:cs typeface="Akzidenz-Grotesk"/>
              <a:sym typeface="Akzidenz-Grotesk"/>
            </a:endParaRPr>
          </a:p>
        </p:txBody>
      </p:sp>
    </p:spTree>
    <p:extLst>
      <p:ext uri="{BB962C8B-B14F-4D97-AF65-F5344CB8AC3E}">
        <p14:creationId xmlns:p14="http://schemas.microsoft.com/office/powerpoint/2010/main" val="35415132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87C1160C-8E4D-6200-2E0A-73C698E8CD5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8EE8F81-5B23-CEE7-30E3-BAF0C1EFD1B3}"/>
              </a:ext>
            </a:extLst>
          </p:cNvPr>
          <p:cNvGrpSpPr/>
          <p:nvPr/>
        </p:nvGrpSpPr>
        <p:grpSpPr>
          <a:xfrm>
            <a:off x="-8695" y="1008300"/>
            <a:ext cx="18647215" cy="10093992"/>
            <a:chOff x="0" y="-76200"/>
            <a:chExt cx="2272929" cy="1742654"/>
          </a:xfrm>
        </p:grpSpPr>
        <p:sp>
          <p:nvSpPr>
            <p:cNvPr id="3" name="Freeform 3">
              <a:extLst>
                <a:ext uri="{FF2B5EF4-FFF2-40B4-BE49-F238E27FC236}">
                  <a16:creationId xmlns:a16="http://schemas.microsoft.com/office/drawing/2014/main" id="{5810FD78-B31C-683C-0961-4C1DCBF8D8F6}"/>
                </a:ext>
              </a:extLst>
            </p:cNvPr>
            <p:cNvSpPr/>
            <p:nvPr/>
          </p:nvSpPr>
          <p:spPr>
            <a:xfrm>
              <a:off x="75341" y="20565"/>
              <a:ext cx="210390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82B6FD86-1EFF-D32E-9FB9-B90535D17741}"/>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FEE7EC7E-BCD0-C190-5CBC-A6A2847A8B0D}"/>
              </a:ext>
            </a:extLst>
          </p:cNvPr>
          <p:cNvSpPr/>
          <p:nvPr/>
        </p:nvSpPr>
        <p:spPr>
          <a:xfrm rot="-5051927">
            <a:off x="16186958" y="636513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599D9CA5-4ADC-FFA8-7AA5-175B741E902C}"/>
              </a:ext>
            </a:extLst>
          </p:cNvPr>
          <p:cNvSpPr txBox="1"/>
          <p:nvPr/>
        </p:nvSpPr>
        <p:spPr>
          <a:xfrm>
            <a:off x="1955411" y="1623314"/>
            <a:ext cx="15813063" cy="8125301"/>
          </a:xfrm>
          <a:prstGeom prst="rect">
            <a:avLst/>
          </a:prstGeom>
        </p:spPr>
        <p:txBody>
          <a:bodyPr wrap="square" lIns="0" tIns="0" rIns="0" bIns="0" rtlCol="0" anchor="t">
            <a:spAutoFit/>
          </a:bodyPr>
          <a:lstStyle/>
          <a:p>
            <a:r>
              <a:rPr lang="fr-FR" sz="4800" dirty="0"/>
              <a:t>L’</a:t>
            </a:r>
            <a:r>
              <a:rPr lang="fr-FR" sz="4800" b="1" dirty="0"/>
              <a:t>architecte logiciel</a:t>
            </a:r>
            <a:r>
              <a:rPr lang="fr-FR" sz="4800" dirty="0"/>
              <a:t> est responsable de :</a:t>
            </a:r>
          </a:p>
          <a:p>
            <a:endParaRPr lang="fr-FR" sz="4800" dirty="0"/>
          </a:p>
          <a:p>
            <a:pPr lvl="0"/>
            <a:r>
              <a:rPr lang="fr-FR" sz="4800" dirty="0"/>
              <a:t>Concevoir la </a:t>
            </a:r>
            <a:r>
              <a:rPr lang="fr-FR" sz="4800" b="1" dirty="0"/>
              <a:t>structure globale du système</a:t>
            </a:r>
            <a:r>
              <a:rPr lang="fr-FR" sz="4800" dirty="0"/>
              <a:t> ;</a:t>
            </a:r>
          </a:p>
          <a:p>
            <a:pPr lvl="0"/>
            <a:r>
              <a:rPr lang="fr-FR" sz="4800" dirty="0"/>
              <a:t>Choisir les </a:t>
            </a:r>
            <a:r>
              <a:rPr lang="fr-FR" sz="4800" b="1" dirty="0"/>
              <a:t>technologies, langages, </a:t>
            </a:r>
            <a:r>
              <a:rPr lang="fr-FR" sz="4800" b="1" dirty="0" err="1"/>
              <a:t>frameworks</a:t>
            </a:r>
            <a:r>
              <a:rPr lang="fr-FR" sz="4800" b="1" dirty="0"/>
              <a:t> et outils</a:t>
            </a:r>
            <a:r>
              <a:rPr lang="fr-FR" sz="4800" dirty="0"/>
              <a:t> adaptés ;</a:t>
            </a:r>
          </a:p>
          <a:p>
            <a:pPr lvl="0"/>
            <a:r>
              <a:rPr lang="fr-FR" sz="4800" dirty="0"/>
              <a:t>Définir les </a:t>
            </a:r>
            <a:r>
              <a:rPr lang="fr-FR" sz="4800" b="1" dirty="0"/>
              <a:t>normes de développement</a:t>
            </a:r>
            <a:r>
              <a:rPr lang="fr-FR" sz="4800" dirty="0"/>
              <a:t> ;</a:t>
            </a:r>
          </a:p>
          <a:p>
            <a:pPr lvl="0"/>
            <a:r>
              <a:rPr lang="fr-FR" sz="4800" dirty="0"/>
              <a:t>Évaluer les </a:t>
            </a:r>
            <a:r>
              <a:rPr lang="fr-FR" sz="4800" b="1" dirty="0"/>
              <a:t>risques techniques</a:t>
            </a:r>
            <a:r>
              <a:rPr lang="fr-FR" sz="4800" dirty="0"/>
              <a:t> et les compromis (performance vs coût, simplicité vs flexibilité) ;</a:t>
            </a:r>
          </a:p>
          <a:p>
            <a:pPr lvl="0"/>
            <a:r>
              <a:rPr lang="fr-FR" sz="4800" dirty="0"/>
              <a:t>Documenter et </a:t>
            </a:r>
            <a:r>
              <a:rPr lang="fr-FR" sz="4800" b="1" dirty="0"/>
              <a:t>communiquer la vision architecturale</a:t>
            </a:r>
            <a:r>
              <a:rPr lang="fr-FR" sz="4800" dirty="0"/>
              <a:t> à l’équipe.</a:t>
            </a:r>
          </a:p>
          <a:p>
            <a:endParaRPr lang="fr-FR" sz="4800" b="1" dirty="0"/>
          </a:p>
        </p:txBody>
      </p:sp>
      <p:pic>
        <p:nvPicPr>
          <p:cNvPr id="1026" name="Picture 2" descr="universite-assane-seck-zig-5af59 - Wincom">
            <a:extLst>
              <a:ext uri="{FF2B5EF4-FFF2-40B4-BE49-F238E27FC236}">
                <a16:creationId xmlns:a16="http://schemas.microsoft.com/office/drawing/2014/main" id="{E28104F3-F27A-3C6E-AC2A-57E62935E59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9F183468-FFAC-C81B-21C8-A54F5F99F26D}"/>
              </a:ext>
            </a:extLst>
          </p:cNvPr>
          <p:cNvSpPr/>
          <p:nvPr/>
        </p:nvSpPr>
        <p:spPr>
          <a:xfrm rot="6308718">
            <a:off x="-1185380" y="681701"/>
            <a:ext cx="3470772" cy="153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22C7409C-D1E6-9DC7-B2A0-EF0FF6F5EB94}"/>
              </a:ext>
            </a:extLst>
          </p:cNvPr>
          <p:cNvSpPr txBox="1"/>
          <p:nvPr/>
        </p:nvSpPr>
        <p:spPr>
          <a:xfrm>
            <a:off x="519526" y="264187"/>
            <a:ext cx="17260567" cy="1467325"/>
          </a:xfrm>
          <a:prstGeom prst="rect">
            <a:avLst/>
          </a:prstGeom>
        </p:spPr>
        <p:txBody>
          <a:bodyPr wrap="square" lIns="0" tIns="0" rIns="0" bIns="0" rtlCol="0" anchor="t">
            <a:spAutoFit/>
          </a:bodyPr>
          <a:lstStyle/>
          <a:p>
            <a:pPr algn="ctr">
              <a:lnSpc>
                <a:spcPts val="5704"/>
              </a:lnSpc>
            </a:pPr>
            <a:r>
              <a:rPr lang="fr-FR" sz="5400" kern="0" dirty="0">
                <a:latin typeface="Times New Roman" panose="02020603050405020304" pitchFamily="18" charset="0"/>
                <a:ea typeface="Times New Roman" panose="02020603050405020304" pitchFamily="18" charset="0"/>
              </a:rPr>
              <a:t>ROLE DE L’ARCHITECTE LOGICIEL</a:t>
            </a:r>
            <a:r>
              <a:rPr lang="fr-FR" sz="5400" dirty="0">
                <a:solidFill>
                  <a:srgbClr val="000000"/>
                </a:solidFill>
                <a:latin typeface="Akzidenz-Grotesk"/>
              </a:rPr>
              <a:t> </a:t>
            </a:r>
            <a:endParaRPr lang="en-US" sz="5400" dirty="0">
              <a:solidFill>
                <a:srgbClr val="000000"/>
              </a:solidFill>
              <a:latin typeface="Akzidenz-Grotesk"/>
              <a:sym typeface="Akzidenz-Grotesk"/>
            </a:endParaRPr>
          </a:p>
          <a:p>
            <a:pPr algn="ctr">
              <a:lnSpc>
                <a:spcPts val="5704"/>
              </a:lnSpc>
            </a:pPr>
            <a:endParaRPr lang="en-US" sz="5400" dirty="0">
              <a:solidFill>
                <a:srgbClr val="000000"/>
              </a:solidFill>
              <a:latin typeface="Akzidenz-Grotesk"/>
              <a:ea typeface="Akzidenz-Grotesk"/>
              <a:cs typeface="Akzidenz-Grotesk"/>
              <a:sym typeface="Akzidenz-Grotesk"/>
            </a:endParaRPr>
          </a:p>
        </p:txBody>
      </p:sp>
    </p:spTree>
    <p:extLst>
      <p:ext uri="{BB962C8B-B14F-4D97-AF65-F5344CB8AC3E}">
        <p14:creationId xmlns:p14="http://schemas.microsoft.com/office/powerpoint/2010/main" val="17803904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7FED54EE-443D-127C-63A0-653B9989D2A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C23E848-26F1-D496-D211-8F3E76800A0E}"/>
              </a:ext>
            </a:extLst>
          </p:cNvPr>
          <p:cNvGrpSpPr/>
          <p:nvPr/>
        </p:nvGrpSpPr>
        <p:grpSpPr>
          <a:xfrm>
            <a:off x="-15240" y="193008"/>
            <a:ext cx="18647215" cy="10093992"/>
            <a:chOff x="0" y="-76200"/>
            <a:chExt cx="2272929" cy="1742654"/>
          </a:xfrm>
        </p:grpSpPr>
        <p:sp>
          <p:nvSpPr>
            <p:cNvPr id="3" name="Freeform 3">
              <a:extLst>
                <a:ext uri="{FF2B5EF4-FFF2-40B4-BE49-F238E27FC236}">
                  <a16:creationId xmlns:a16="http://schemas.microsoft.com/office/drawing/2014/main" id="{D9FAC2A8-4DC6-D30C-549A-4CD53CFA19DB}"/>
                </a:ext>
              </a:extLst>
            </p:cNvPr>
            <p:cNvSpPr/>
            <p:nvPr/>
          </p:nvSpPr>
          <p:spPr>
            <a:xfrm>
              <a:off x="75341" y="20565"/>
              <a:ext cx="210390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9EE33510-3D39-5E1E-6A0D-D2E0B702BCA4}"/>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034279F3-6D9F-227E-5AD4-57AC61697010}"/>
              </a:ext>
            </a:extLst>
          </p:cNvPr>
          <p:cNvSpPr/>
          <p:nvPr/>
        </p:nvSpPr>
        <p:spPr>
          <a:xfrm rot="-5051927">
            <a:off x="16186958" y="636513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E7A1FBE3-5CBD-3C0E-49DA-E8C3FD4C7E98}"/>
              </a:ext>
            </a:extLst>
          </p:cNvPr>
          <p:cNvSpPr txBox="1"/>
          <p:nvPr/>
        </p:nvSpPr>
        <p:spPr>
          <a:xfrm>
            <a:off x="1899577" y="1092124"/>
            <a:ext cx="15813063" cy="9233297"/>
          </a:xfrm>
          <a:prstGeom prst="rect">
            <a:avLst/>
          </a:prstGeom>
        </p:spPr>
        <p:txBody>
          <a:bodyPr wrap="square" lIns="0" tIns="0" rIns="0" bIns="0" rtlCol="0" anchor="t">
            <a:spAutoFit/>
          </a:bodyPr>
          <a:lstStyle/>
          <a:p>
            <a:r>
              <a:rPr lang="fr-FR" sz="5000" dirty="0"/>
              <a:t>Une architecture logicielle réussie doit être :</a:t>
            </a:r>
          </a:p>
          <a:p>
            <a:endParaRPr lang="fr-FR" sz="5000" dirty="0"/>
          </a:p>
          <a:p>
            <a:pPr marL="914400" lvl="0" indent="-914400">
              <a:buFont typeface="Wingdings" pitchFamily="2" charset="2"/>
              <a:buChar char="Ø"/>
            </a:pPr>
            <a:r>
              <a:rPr lang="fr-FR" sz="5000" b="1" dirty="0"/>
              <a:t>Claire et compréhensible</a:t>
            </a:r>
            <a:r>
              <a:rPr lang="fr-FR" sz="5000" dirty="0"/>
              <a:t> ;</a:t>
            </a:r>
          </a:p>
          <a:p>
            <a:pPr marL="914400" lvl="0" indent="-914400">
              <a:buFont typeface="Wingdings" pitchFamily="2" charset="2"/>
              <a:buChar char="Ø"/>
            </a:pPr>
            <a:r>
              <a:rPr lang="fr-FR" sz="5000" b="1" dirty="0"/>
              <a:t>Évolutive</a:t>
            </a:r>
            <a:r>
              <a:rPr lang="fr-FR" sz="5000" dirty="0"/>
              <a:t> (facile à modifier ou étendre) ;</a:t>
            </a:r>
          </a:p>
          <a:p>
            <a:pPr marL="914400" lvl="0" indent="-914400">
              <a:buFont typeface="Wingdings" pitchFamily="2" charset="2"/>
              <a:buChar char="Ø"/>
            </a:pPr>
            <a:r>
              <a:rPr lang="fr-FR" sz="5000" b="1" dirty="0"/>
              <a:t>Performante</a:t>
            </a:r>
            <a:r>
              <a:rPr lang="fr-FR" sz="5000" dirty="0"/>
              <a:t> (répond aux besoins de rapidité et de charge) ;</a:t>
            </a:r>
          </a:p>
          <a:p>
            <a:pPr marL="914400" lvl="0" indent="-914400">
              <a:buFont typeface="Wingdings" pitchFamily="2" charset="2"/>
              <a:buChar char="Ø"/>
            </a:pPr>
            <a:r>
              <a:rPr lang="fr-FR" sz="5000" b="1" dirty="0"/>
              <a:t>Sécurisée</a:t>
            </a:r>
            <a:r>
              <a:rPr lang="fr-FR" sz="5000" dirty="0"/>
              <a:t> (protection des données et des accès) ;</a:t>
            </a:r>
          </a:p>
          <a:p>
            <a:pPr marL="914400" lvl="0" indent="-914400">
              <a:buFont typeface="Wingdings" pitchFamily="2" charset="2"/>
              <a:buChar char="Ø"/>
            </a:pPr>
            <a:r>
              <a:rPr lang="fr-FR" sz="5000" b="1" dirty="0"/>
              <a:t>Testable</a:t>
            </a:r>
            <a:r>
              <a:rPr lang="fr-FR" sz="5000" dirty="0"/>
              <a:t> (chaque module peut être vérifié indépendamment) ;</a:t>
            </a:r>
          </a:p>
          <a:p>
            <a:pPr marL="914400" lvl="0" indent="-914400">
              <a:buFont typeface="Wingdings" pitchFamily="2" charset="2"/>
              <a:buChar char="Ø"/>
            </a:pPr>
            <a:r>
              <a:rPr lang="fr-FR" sz="5000" b="1" dirty="0"/>
              <a:t>Portable</a:t>
            </a:r>
            <a:r>
              <a:rPr lang="fr-FR" sz="5000" dirty="0"/>
              <a:t> (adaptable à différents environnements matériels ou logiciels).</a:t>
            </a:r>
          </a:p>
          <a:p>
            <a:endParaRPr lang="fr-FR" sz="5000" dirty="0"/>
          </a:p>
        </p:txBody>
      </p:sp>
      <p:pic>
        <p:nvPicPr>
          <p:cNvPr id="1026" name="Picture 2" descr="universite-assane-seck-zig-5af59 - Wincom">
            <a:extLst>
              <a:ext uri="{FF2B5EF4-FFF2-40B4-BE49-F238E27FC236}">
                <a16:creationId xmlns:a16="http://schemas.microsoft.com/office/drawing/2014/main" id="{B7C4B496-5C56-474B-8415-24A0C597372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9EF74B40-B288-FBB4-9AE6-52F9E6F194E6}"/>
              </a:ext>
            </a:extLst>
          </p:cNvPr>
          <p:cNvSpPr/>
          <p:nvPr/>
        </p:nvSpPr>
        <p:spPr>
          <a:xfrm rot="6308718">
            <a:off x="-1185380" y="681701"/>
            <a:ext cx="3470772" cy="153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77236D93-B52E-B884-E84D-D67DB90ED4D8}"/>
              </a:ext>
            </a:extLst>
          </p:cNvPr>
          <p:cNvSpPr txBox="1"/>
          <p:nvPr/>
        </p:nvSpPr>
        <p:spPr>
          <a:xfrm>
            <a:off x="519526" y="264187"/>
            <a:ext cx="17260567" cy="730969"/>
          </a:xfrm>
          <a:prstGeom prst="rect">
            <a:avLst/>
          </a:prstGeom>
        </p:spPr>
        <p:txBody>
          <a:bodyPr wrap="square" lIns="0" tIns="0" rIns="0" bIns="0" rtlCol="0" anchor="t">
            <a:spAutoFit/>
          </a:bodyPr>
          <a:lstStyle/>
          <a:p>
            <a:pPr algn="ctr">
              <a:lnSpc>
                <a:spcPts val="5704"/>
              </a:lnSpc>
            </a:pPr>
            <a:r>
              <a:rPr lang="fr-FR" sz="5400" kern="0" dirty="0">
                <a:latin typeface="Times New Roman" panose="02020603050405020304" pitchFamily="18" charset="0"/>
              </a:rPr>
              <a:t>LES QUALITES D’UNE BONNE ARCHITECTURE </a:t>
            </a:r>
            <a:endParaRPr lang="en-US" sz="5400" dirty="0">
              <a:solidFill>
                <a:srgbClr val="000000"/>
              </a:solidFill>
              <a:latin typeface="Akzidenz-Grotesk"/>
              <a:ea typeface="Akzidenz-Grotesk"/>
              <a:cs typeface="Akzidenz-Grotesk"/>
              <a:sym typeface="Akzidenz-Grotesk"/>
            </a:endParaRPr>
          </a:p>
        </p:txBody>
      </p:sp>
    </p:spTree>
    <p:extLst>
      <p:ext uri="{BB962C8B-B14F-4D97-AF65-F5344CB8AC3E}">
        <p14:creationId xmlns:p14="http://schemas.microsoft.com/office/powerpoint/2010/main" val="36728550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6B5D9779-0EF6-EED9-AB78-ACFCB9D76EC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413AB78-C603-31CA-72F4-D8C5BD521CF3}"/>
              </a:ext>
            </a:extLst>
          </p:cNvPr>
          <p:cNvGrpSpPr/>
          <p:nvPr/>
        </p:nvGrpSpPr>
        <p:grpSpPr>
          <a:xfrm>
            <a:off x="-8695" y="1008300"/>
            <a:ext cx="18647215" cy="10093992"/>
            <a:chOff x="0" y="-76200"/>
            <a:chExt cx="2272929" cy="1742654"/>
          </a:xfrm>
        </p:grpSpPr>
        <p:sp>
          <p:nvSpPr>
            <p:cNvPr id="3" name="Freeform 3">
              <a:extLst>
                <a:ext uri="{FF2B5EF4-FFF2-40B4-BE49-F238E27FC236}">
                  <a16:creationId xmlns:a16="http://schemas.microsoft.com/office/drawing/2014/main" id="{A4670C3B-9271-D7DE-1BF0-9DC9A589B6B2}"/>
                </a:ext>
              </a:extLst>
            </p:cNvPr>
            <p:cNvSpPr/>
            <p:nvPr/>
          </p:nvSpPr>
          <p:spPr>
            <a:xfrm>
              <a:off x="75341" y="20565"/>
              <a:ext cx="210390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56A44148-BDDD-BE8D-F72D-B6563C363D51}"/>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A836293B-BD1F-E55C-F182-E9804914131B}"/>
              </a:ext>
            </a:extLst>
          </p:cNvPr>
          <p:cNvSpPr/>
          <p:nvPr/>
        </p:nvSpPr>
        <p:spPr>
          <a:xfrm rot="-5051927">
            <a:off x="16186958" y="636513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61F1598F-5196-CADE-CEC1-91C5572D41D0}"/>
              </a:ext>
            </a:extLst>
          </p:cNvPr>
          <p:cNvSpPr txBox="1"/>
          <p:nvPr/>
        </p:nvSpPr>
        <p:spPr>
          <a:xfrm>
            <a:off x="1865531" y="3020853"/>
            <a:ext cx="15914562" cy="8894743"/>
          </a:xfrm>
          <a:prstGeom prst="rect">
            <a:avLst/>
          </a:prstGeom>
        </p:spPr>
        <p:txBody>
          <a:bodyPr wrap="square" lIns="0" tIns="0" rIns="0" bIns="0" rtlCol="0" anchor="t">
            <a:spAutoFit/>
          </a:bodyPr>
          <a:lstStyle/>
          <a:p>
            <a:pPr marL="685800" indent="-685800">
              <a:buFont typeface="Wingdings" pitchFamily="2" charset="2"/>
              <a:buChar char="Ø"/>
            </a:pPr>
            <a:r>
              <a:rPr lang="fr-FR" sz="4800" dirty="0"/>
              <a:t>Couche Présentation       → Interface utilisateur (web, mobile)</a:t>
            </a:r>
          </a:p>
          <a:p>
            <a:pPr marL="685800" indent="-685800">
              <a:buFont typeface="Wingdings" pitchFamily="2" charset="2"/>
              <a:buChar char="Ø"/>
            </a:pPr>
            <a:endParaRPr lang="fr-FR" sz="4800" dirty="0"/>
          </a:p>
          <a:p>
            <a:pPr marL="685800" indent="-685800">
              <a:buFont typeface="Wingdings" pitchFamily="2" charset="2"/>
              <a:buChar char="Ø"/>
            </a:pPr>
            <a:r>
              <a:rPr lang="fr-FR" sz="4800" dirty="0"/>
              <a:t>Couche Métier        → Logique fonctionnelle et règles métiers</a:t>
            </a:r>
          </a:p>
          <a:p>
            <a:pPr marL="685800" indent="-685800">
              <a:buFont typeface="Wingdings" pitchFamily="2" charset="2"/>
              <a:buChar char="Ø"/>
            </a:pPr>
            <a:endParaRPr lang="fr-FR" sz="4800" dirty="0"/>
          </a:p>
          <a:p>
            <a:pPr marL="685800" indent="-685800">
              <a:buFont typeface="Wingdings" pitchFamily="2" charset="2"/>
              <a:buChar char="Ø"/>
            </a:pPr>
            <a:r>
              <a:rPr lang="fr-FR" sz="4800" dirty="0"/>
              <a:t>Couche d’Accès aux Données  → DAO, ORM, gestion BD</a:t>
            </a:r>
          </a:p>
          <a:p>
            <a:pPr marL="685800" indent="-685800">
              <a:buFont typeface="Wingdings" pitchFamily="2" charset="2"/>
              <a:buChar char="Ø"/>
            </a:pPr>
            <a:endParaRPr lang="fr-FR" sz="4800" dirty="0"/>
          </a:p>
          <a:p>
            <a:pPr marL="685800" indent="-685800">
              <a:buFont typeface="Wingdings" pitchFamily="2" charset="2"/>
              <a:buChar char="Ø"/>
            </a:pPr>
            <a:r>
              <a:rPr lang="fr-FR" sz="4800" dirty="0"/>
              <a:t>Couche Infrastructure  → Réseau, sécurité, communication</a:t>
            </a:r>
          </a:p>
          <a:p>
            <a:pPr marL="685800" indent="-685800">
              <a:buFont typeface="Wingdings" pitchFamily="2" charset="2"/>
              <a:buChar char="Ø"/>
            </a:pPr>
            <a:endParaRPr lang="fr-FR" sz="4800" dirty="0"/>
          </a:p>
          <a:p>
            <a:r>
              <a:rPr lang="fr-FR" sz="4800" dirty="0"/>
              <a:t>Cette structure permet une meilleure organisation du code, une isolation des responsabilités, et une facilité d’évolution.</a:t>
            </a:r>
          </a:p>
          <a:p>
            <a:pPr marL="685800" indent="-685800">
              <a:buFont typeface="Wingdings" pitchFamily="2" charset="2"/>
              <a:buChar char="Ø"/>
            </a:pPr>
            <a:endParaRPr lang="fr-FR" sz="4800" dirty="0"/>
          </a:p>
          <a:p>
            <a:endParaRPr lang="fr-FR" sz="5000" b="1" dirty="0"/>
          </a:p>
        </p:txBody>
      </p:sp>
      <p:pic>
        <p:nvPicPr>
          <p:cNvPr id="1026" name="Picture 2" descr="universite-assane-seck-zig-5af59 - Wincom">
            <a:extLst>
              <a:ext uri="{FF2B5EF4-FFF2-40B4-BE49-F238E27FC236}">
                <a16:creationId xmlns:a16="http://schemas.microsoft.com/office/drawing/2014/main" id="{5440EF75-1497-417C-3736-EA420AFA71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C107A388-4912-33AE-202E-8B69448517B9}"/>
              </a:ext>
            </a:extLst>
          </p:cNvPr>
          <p:cNvSpPr/>
          <p:nvPr/>
        </p:nvSpPr>
        <p:spPr>
          <a:xfrm rot="6308718">
            <a:off x="-1185380" y="681701"/>
            <a:ext cx="3470772" cy="153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9C078599-7C71-382B-85C1-0F4085DE5B4B}"/>
              </a:ext>
            </a:extLst>
          </p:cNvPr>
          <p:cNvSpPr txBox="1"/>
          <p:nvPr/>
        </p:nvSpPr>
        <p:spPr>
          <a:xfrm>
            <a:off x="519526" y="264187"/>
            <a:ext cx="17260567" cy="735138"/>
          </a:xfrm>
          <a:prstGeom prst="rect">
            <a:avLst/>
          </a:prstGeom>
        </p:spPr>
        <p:txBody>
          <a:bodyPr wrap="square" lIns="0" tIns="0" rIns="0" bIns="0" rtlCol="0" anchor="t">
            <a:spAutoFit/>
          </a:bodyPr>
          <a:lstStyle/>
          <a:p>
            <a:pPr algn="ctr">
              <a:lnSpc>
                <a:spcPts val="5704"/>
              </a:lnSpc>
            </a:pPr>
            <a:r>
              <a:rPr lang="fr-FR" sz="5400" dirty="0"/>
              <a:t>EXEMPLE D’ARCHITECTURE LOGICIELLE EN COUCHES </a:t>
            </a:r>
            <a:endParaRPr lang="en-US" sz="5400" dirty="0">
              <a:solidFill>
                <a:srgbClr val="000000"/>
              </a:solidFill>
              <a:latin typeface="Akzidenz-Grotesk"/>
              <a:sym typeface="Akzidenz-Grotesk"/>
            </a:endParaRPr>
          </a:p>
        </p:txBody>
      </p:sp>
    </p:spTree>
    <p:extLst>
      <p:ext uri="{BB962C8B-B14F-4D97-AF65-F5344CB8AC3E}">
        <p14:creationId xmlns:p14="http://schemas.microsoft.com/office/powerpoint/2010/main" val="8569037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B2961212-B4F7-9E59-3E05-7C37BFABF30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B51E947-26BA-F03F-B48C-8CBC332B7C4E}"/>
              </a:ext>
            </a:extLst>
          </p:cNvPr>
          <p:cNvGrpSpPr/>
          <p:nvPr/>
        </p:nvGrpSpPr>
        <p:grpSpPr>
          <a:xfrm>
            <a:off x="-6927" y="999325"/>
            <a:ext cx="18647215" cy="10093992"/>
            <a:chOff x="0" y="-76200"/>
            <a:chExt cx="2272929" cy="1742654"/>
          </a:xfrm>
        </p:grpSpPr>
        <p:sp>
          <p:nvSpPr>
            <p:cNvPr id="3" name="Freeform 3">
              <a:extLst>
                <a:ext uri="{FF2B5EF4-FFF2-40B4-BE49-F238E27FC236}">
                  <a16:creationId xmlns:a16="http://schemas.microsoft.com/office/drawing/2014/main" id="{73D3D8EA-76FF-0829-B1D5-3D5FCA09E7A1}"/>
                </a:ext>
              </a:extLst>
            </p:cNvPr>
            <p:cNvSpPr/>
            <p:nvPr/>
          </p:nvSpPr>
          <p:spPr>
            <a:xfrm>
              <a:off x="75341" y="20565"/>
              <a:ext cx="210390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txBody>
            <a:bodyPr/>
            <a:lstStyle/>
            <a:p>
              <a:endParaRPr lang="fr-FR" dirty="0"/>
            </a:p>
          </p:txBody>
        </p:sp>
        <p:sp>
          <p:nvSpPr>
            <p:cNvPr id="4" name="TextBox 4">
              <a:extLst>
                <a:ext uri="{FF2B5EF4-FFF2-40B4-BE49-F238E27FC236}">
                  <a16:creationId xmlns:a16="http://schemas.microsoft.com/office/drawing/2014/main" id="{8A98A415-5B97-11C5-D15E-FC6A4B58EFD2}"/>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4FDB6EF5-9041-3219-8E9D-FCB83C09C9A8}"/>
              </a:ext>
            </a:extLst>
          </p:cNvPr>
          <p:cNvSpPr/>
          <p:nvPr/>
        </p:nvSpPr>
        <p:spPr>
          <a:xfrm rot="-5051927">
            <a:off x="16186958" y="636513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1026" name="Picture 2" descr="universite-assane-seck-zig-5af59 - Wincom">
            <a:extLst>
              <a:ext uri="{FF2B5EF4-FFF2-40B4-BE49-F238E27FC236}">
                <a16:creationId xmlns:a16="http://schemas.microsoft.com/office/drawing/2014/main" id="{382DAF50-E4A7-6F6A-0C0C-5DF34D3F552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AD119518-C525-330D-FBE8-8F14039887AB}"/>
              </a:ext>
            </a:extLst>
          </p:cNvPr>
          <p:cNvSpPr/>
          <p:nvPr/>
        </p:nvSpPr>
        <p:spPr>
          <a:xfrm rot="6308718">
            <a:off x="-1185380" y="681701"/>
            <a:ext cx="3470772" cy="153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41DA0C5F-B7F0-BEE0-C36B-6DF61720C70A}"/>
              </a:ext>
            </a:extLst>
          </p:cNvPr>
          <p:cNvSpPr txBox="1"/>
          <p:nvPr/>
        </p:nvSpPr>
        <p:spPr>
          <a:xfrm>
            <a:off x="519526" y="264187"/>
            <a:ext cx="17260567" cy="735138"/>
          </a:xfrm>
          <a:prstGeom prst="rect">
            <a:avLst/>
          </a:prstGeom>
        </p:spPr>
        <p:txBody>
          <a:bodyPr wrap="square" lIns="0" tIns="0" rIns="0" bIns="0" rtlCol="0" anchor="t">
            <a:spAutoFit/>
          </a:bodyPr>
          <a:lstStyle/>
          <a:p>
            <a:pPr algn="ctr">
              <a:lnSpc>
                <a:spcPts val="5704"/>
              </a:lnSpc>
            </a:pPr>
            <a:r>
              <a:rPr lang="fr-FR" sz="5400" dirty="0"/>
              <a:t>EXEMPLE D’ARCHITECTURE LOGICIELLE EN COUCHES </a:t>
            </a:r>
            <a:endParaRPr lang="en-US" sz="5400" dirty="0">
              <a:solidFill>
                <a:srgbClr val="000000"/>
              </a:solidFill>
              <a:latin typeface="Akzidenz-Grotesk"/>
              <a:sym typeface="Akzidenz-Grotesk"/>
            </a:endParaRPr>
          </a:p>
        </p:txBody>
      </p:sp>
      <p:pic>
        <p:nvPicPr>
          <p:cNvPr id="20" name="Image 19">
            <a:extLst>
              <a:ext uri="{FF2B5EF4-FFF2-40B4-BE49-F238E27FC236}">
                <a16:creationId xmlns:a16="http://schemas.microsoft.com/office/drawing/2014/main" id="{DAAB06A6-3B3E-1F97-8A6B-A31A56145DD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63440" y="1910915"/>
            <a:ext cx="8382000" cy="9025183"/>
          </a:xfrm>
          <a:prstGeom prst="rect">
            <a:avLst/>
          </a:prstGeom>
        </p:spPr>
      </p:pic>
    </p:spTree>
    <p:extLst>
      <p:ext uri="{BB962C8B-B14F-4D97-AF65-F5344CB8AC3E}">
        <p14:creationId xmlns:p14="http://schemas.microsoft.com/office/powerpoint/2010/main" val="25884508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E9AB8D90-A34F-49F6-E59B-9B13BE39B0A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7524895-6C18-9C69-9E72-E129A2505C8A}"/>
              </a:ext>
            </a:extLst>
          </p:cNvPr>
          <p:cNvGrpSpPr/>
          <p:nvPr/>
        </p:nvGrpSpPr>
        <p:grpSpPr>
          <a:xfrm>
            <a:off x="-8695" y="1008300"/>
            <a:ext cx="18647215" cy="10093992"/>
            <a:chOff x="0" y="-76200"/>
            <a:chExt cx="2272929" cy="1742654"/>
          </a:xfrm>
        </p:grpSpPr>
        <p:sp>
          <p:nvSpPr>
            <p:cNvPr id="3" name="Freeform 3">
              <a:extLst>
                <a:ext uri="{FF2B5EF4-FFF2-40B4-BE49-F238E27FC236}">
                  <a16:creationId xmlns:a16="http://schemas.microsoft.com/office/drawing/2014/main" id="{73349B59-F4D8-969D-2A64-894B8EEF7014}"/>
                </a:ext>
              </a:extLst>
            </p:cNvPr>
            <p:cNvSpPr/>
            <p:nvPr/>
          </p:nvSpPr>
          <p:spPr>
            <a:xfrm>
              <a:off x="75341" y="20565"/>
              <a:ext cx="210390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745086B7-D33F-EB7A-1E8F-90DF58C7954C}"/>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CBE725A5-06DA-4DC5-B6C2-09133ACA7A94}"/>
              </a:ext>
            </a:extLst>
          </p:cNvPr>
          <p:cNvSpPr/>
          <p:nvPr/>
        </p:nvSpPr>
        <p:spPr>
          <a:xfrm rot="-5051927">
            <a:off x="16186958" y="636513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CBCA0F63-CE3E-2C7D-4E70-EBC2147E6C29}"/>
              </a:ext>
            </a:extLst>
          </p:cNvPr>
          <p:cNvSpPr txBox="1"/>
          <p:nvPr/>
        </p:nvSpPr>
        <p:spPr>
          <a:xfrm>
            <a:off x="2011681" y="1888170"/>
            <a:ext cx="15260512" cy="7478970"/>
          </a:xfrm>
          <a:prstGeom prst="rect">
            <a:avLst/>
          </a:prstGeom>
        </p:spPr>
        <p:txBody>
          <a:bodyPr wrap="square" lIns="0" tIns="0" rIns="0" bIns="0" rtlCol="0" anchor="t">
            <a:spAutoFit/>
          </a:bodyPr>
          <a:lstStyle/>
          <a:p>
            <a:r>
              <a:rPr lang="fr-FR" sz="5400" dirty="0"/>
              <a:t>La documentation d’architecture logicielle décrit :</a:t>
            </a:r>
          </a:p>
          <a:p>
            <a:endParaRPr lang="fr-FR" sz="5400" dirty="0"/>
          </a:p>
          <a:p>
            <a:pPr marL="685800" lvl="0" indent="-685800">
              <a:buFont typeface="Wingdings" pitchFamily="2" charset="2"/>
              <a:buChar char="Ø"/>
            </a:pPr>
            <a:r>
              <a:rPr lang="fr-FR" sz="5400" dirty="0"/>
              <a:t>les </a:t>
            </a:r>
            <a:r>
              <a:rPr lang="fr-FR" sz="5400" b="1" dirty="0"/>
              <a:t>composants du système</a:t>
            </a:r>
            <a:r>
              <a:rPr lang="fr-FR" sz="5400" dirty="0"/>
              <a:t>,</a:t>
            </a:r>
          </a:p>
          <a:p>
            <a:pPr marL="685800" lvl="0" indent="-685800">
              <a:buFont typeface="Wingdings" pitchFamily="2" charset="2"/>
              <a:buChar char="Ø"/>
            </a:pPr>
            <a:r>
              <a:rPr lang="fr-FR" sz="5400" dirty="0"/>
              <a:t>les </a:t>
            </a:r>
            <a:r>
              <a:rPr lang="fr-FR" sz="5400" b="1" dirty="0"/>
              <a:t>relations</a:t>
            </a:r>
            <a:r>
              <a:rPr lang="fr-FR" sz="5400" dirty="0"/>
              <a:t> entre eux,</a:t>
            </a:r>
          </a:p>
          <a:p>
            <a:pPr marL="685800" lvl="0" indent="-685800">
              <a:buFont typeface="Wingdings" pitchFamily="2" charset="2"/>
              <a:buChar char="Ø"/>
            </a:pPr>
            <a:r>
              <a:rPr lang="fr-FR" sz="5400" dirty="0"/>
              <a:t>les </a:t>
            </a:r>
            <a:r>
              <a:rPr lang="fr-FR" sz="5400" b="1" dirty="0"/>
              <a:t>décisions techniques</a:t>
            </a:r>
            <a:r>
              <a:rPr lang="fr-FR" sz="5400" dirty="0"/>
              <a:t> prises et leurs </a:t>
            </a:r>
            <a:r>
              <a:rPr lang="fr-FR" sz="5400" b="1" dirty="0"/>
              <a:t>motivations</a:t>
            </a:r>
            <a:r>
              <a:rPr lang="fr-FR" sz="5400" dirty="0"/>
              <a:t>.</a:t>
            </a:r>
          </a:p>
          <a:p>
            <a:pPr lvl="0"/>
            <a:endParaRPr lang="fr-FR" sz="5400" dirty="0"/>
          </a:p>
          <a:p>
            <a:r>
              <a:rPr lang="fr-FR" sz="5400" dirty="0"/>
              <a:t>Elle facilite la </a:t>
            </a:r>
            <a:r>
              <a:rPr lang="fr-FR" sz="5400" b="1" dirty="0"/>
              <a:t>transmission du savoir</a:t>
            </a:r>
            <a:r>
              <a:rPr lang="fr-FR" sz="5400" dirty="0"/>
              <a:t> au sein de l’équipe et permet de </a:t>
            </a:r>
            <a:r>
              <a:rPr lang="fr-FR" sz="5400" b="1" dirty="0"/>
              <a:t>garantir la cohérence</a:t>
            </a:r>
            <a:r>
              <a:rPr lang="fr-FR" sz="5400" dirty="0"/>
              <a:t> du système au fil du temps.</a:t>
            </a:r>
            <a:endParaRPr lang="fr-FR" sz="5400" b="1" dirty="0"/>
          </a:p>
        </p:txBody>
      </p:sp>
      <p:pic>
        <p:nvPicPr>
          <p:cNvPr id="1026" name="Picture 2" descr="universite-assane-seck-zig-5af59 - Wincom">
            <a:extLst>
              <a:ext uri="{FF2B5EF4-FFF2-40B4-BE49-F238E27FC236}">
                <a16:creationId xmlns:a16="http://schemas.microsoft.com/office/drawing/2014/main" id="{0BC5B7BE-BD4E-3DF5-D5E1-8C401E0617E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BFCEB826-90F1-63F1-898D-CBDFBCB76EE8}"/>
              </a:ext>
            </a:extLst>
          </p:cNvPr>
          <p:cNvSpPr/>
          <p:nvPr/>
        </p:nvSpPr>
        <p:spPr>
          <a:xfrm rot="6308718">
            <a:off x="-1185380" y="681701"/>
            <a:ext cx="3470772" cy="153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A6648A25-8015-B95C-C594-D9672840A92C}"/>
              </a:ext>
            </a:extLst>
          </p:cNvPr>
          <p:cNvSpPr txBox="1"/>
          <p:nvPr/>
        </p:nvSpPr>
        <p:spPr>
          <a:xfrm>
            <a:off x="-159140" y="264187"/>
            <a:ext cx="17939234" cy="730969"/>
          </a:xfrm>
          <a:prstGeom prst="rect">
            <a:avLst/>
          </a:prstGeom>
        </p:spPr>
        <p:txBody>
          <a:bodyPr wrap="square" lIns="0" tIns="0" rIns="0" bIns="0" rtlCol="0" anchor="t">
            <a:spAutoFit/>
          </a:bodyPr>
          <a:lstStyle/>
          <a:p>
            <a:pPr algn="ctr">
              <a:lnSpc>
                <a:spcPts val="5704"/>
              </a:lnSpc>
            </a:pPr>
            <a:r>
              <a:rPr lang="fr-FR" sz="4800" kern="0" dirty="0">
                <a:latin typeface="Times New Roman" panose="02020603050405020304" pitchFamily="18" charset="0"/>
              </a:rPr>
              <a:t>IMPORTANCE</a:t>
            </a:r>
            <a:r>
              <a:rPr lang="fr-FR" sz="4800" dirty="0"/>
              <a:t> </a:t>
            </a:r>
            <a:r>
              <a:rPr lang="fr-FR" sz="4800" kern="0" dirty="0">
                <a:latin typeface="Times New Roman" panose="02020603050405020304" pitchFamily="18" charset="0"/>
              </a:rPr>
              <a:t>DE LA DOCUMENTATION ARCHITECTURALE </a:t>
            </a:r>
            <a:endParaRPr lang="en-US" sz="4800" kern="0" dirty="0">
              <a:latin typeface="Times New Roman" panose="02020603050405020304" pitchFamily="18" charset="0"/>
              <a:sym typeface="Akzidenz-Grotesk"/>
            </a:endParaRPr>
          </a:p>
        </p:txBody>
      </p:sp>
    </p:spTree>
    <p:extLst>
      <p:ext uri="{BB962C8B-B14F-4D97-AF65-F5344CB8AC3E}">
        <p14:creationId xmlns:p14="http://schemas.microsoft.com/office/powerpoint/2010/main" val="19757983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64E88B47-1B71-0322-EA88-E9D722F1249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547C517-9591-0A3A-1DCB-C6FA5D46827E}"/>
              </a:ext>
            </a:extLst>
          </p:cNvPr>
          <p:cNvGrpSpPr/>
          <p:nvPr/>
        </p:nvGrpSpPr>
        <p:grpSpPr>
          <a:xfrm>
            <a:off x="-8695" y="1008300"/>
            <a:ext cx="18647215" cy="10093992"/>
            <a:chOff x="0" y="-76200"/>
            <a:chExt cx="2272929" cy="1742654"/>
          </a:xfrm>
        </p:grpSpPr>
        <p:sp>
          <p:nvSpPr>
            <p:cNvPr id="3" name="Freeform 3">
              <a:extLst>
                <a:ext uri="{FF2B5EF4-FFF2-40B4-BE49-F238E27FC236}">
                  <a16:creationId xmlns:a16="http://schemas.microsoft.com/office/drawing/2014/main" id="{758F664F-7DDC-A76F-C26D-30F5E2EAE8C6}"/>
                </a:ext>
              </a:extLst>
            </p:cNvPr>
            <p:cNvSpPr/>
            <p:nvPr/>
          </p:nvSpPr>
          <p:spPr>
            <a:xfrm>
              <a:off x="75341" y="20565"/>
              <a:ext cx="210390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sp>
          <p:nvSpPr>
            <p:cNvPr id="4" name="TextBox 4">
              <a:extLst>
                <a:ext uri="{FF2B5EF4-FFF2-40B4-BE49-F238E27FC236}">
                  <a16:creationId xmlns:a16="http://schemas.microsoft.com/office/drawing/2014/main" id="{E1C2D6F4-4B03-211E-9D99-9CC20C7EA42D}"/>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grpSp>
      <p:sp>
        <p:nvSpPr>
          <p:cNvPr id="5" name="Freeform 5">
            <a:extLst>
              <a:ext uri="{FF2B5EF4-FFF2-40B4-BE49-F238E27FC236}">
                <a16:creationId xmlns:a16="http://schemas.microsoft.com/office/drawing/2014/main" id="{117D7D6B-D3BD-A94F-EDBF-7B76D92F636C}"/>
              </a:ext>
            </a:extLst>
          </p:cNvPr>
          <p:cNvSpPr/>
          <p:nvPr/>
        </p:nvSpPr>
        <p:spPr>
          <a:xfrm rot="-5051927">
            <a:off x="16186958" y="6365130"/>
            <a:ext cx="3607162" cy="4243810"/>
          </a:xfrm>
          <a:custGeom>
            <a:avLst/>
            <a:gdLst/>
            <a:ahLst/>
            <a:cxnLst/>
            <a:rect l="l" t="t" r="r" b="b"/>
            <a:pathLst>
              <a:path w="7536633" h="6080767">
                <a:moveTo>
                  <a:pt x="0" y="0"/>
                </a:moveTo>
                <a:lnTo>
                  <a:pt x="7536634" y="0"/>
                </a:lnTo>
                <a:lnTo>
                  <a:pt x="7536634" y="6080767"/>
                </a:lnTo>
                <a:lnTo>
                  <a:pt x="0" y="60807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TextBox 9">
            <a:extLst>
              <a:ext uri="{FF2B5EF4-FFF2-40B4-BE49-F238E27FC236}">
                <a16:creationId xmlns:a16="http://schemas.microsoft.com/office/drawing/2014/main" id="{D371403C-DEC7-48DD-11B2-FD9CD8918D44}"/>
              </a:ext>
            </a:extLst>
          </p:cNvPr>
          <p:cNvSpPr txBox="1"/>
          <p:nvPr/>
        </p:nvSpPr>
        <p:spPr>
          <a:xfrm>
            <a:off x="2011681" y="1888170"/>
            <a:ext cx="15260512" cy="6647974"/>
          </a:xfrm>
          <a:prstGeom prst="rect">
            <a:avLst/>
          </a:prstGeom>
        </p:spPr>
        <p:txBody>
          <a:bodyPr wrap="square" lIns="0" tIns="0" rIns="0" bIns="0" rtlCol="0" anchor="t">
            <a:spAutoFit/>
          </a:bodyPr>
          <a:lstStyle/>
          <a:p>
            <a:endParaRPr lang="fr-FR" sz="5400" dirty="0"/>
          </a:p>
          <a:p>
            <a:r>
              <a:rPr lang="fr-FR" sz="5400" dirty="0"/>
              <a:t>L’architecture logicielle n’est pas seulement un plan technique : c’est un </a:t>
            </a:r>
            <a:r>
              <a:rPr lang="fr-FR" sz="5400" b="1" dirty="0"/>
              <a:t>ensemble de principes, de modèles et de bonnes pratiques</a:t>
            </a:r>
            <a:r>
              <a:rPr lang="fr-FR" sz="5400" dirty="0"/>
              <a:t> destinés à concevoir des systèmes </a:t>
            </a:r>
            <a:r>
              <a:rPr lang="fr-FR" sz="5400" b="1" dirty="0"/>
              <a:t>fiables, évolutifs et maintenables</a:t>
            </a:r>
            <a:r>
              <a:rPr lang="fr-FR" sz="5400" dirty="0"/>
              <a:t>.</a:t>
            </a:r>
            <a:br>
              <a:rPr lang="fr-FR" sz="5400" dirty="0"/>
            </a:br>
            <a:r>
              <a:rPr lang="fr-FR" sz="5400" dirty="0"/>
              <a:t>Elle constitue le </a:t>
            </a:r>
            <a:r>
              <a:rPr lang="fr-FR" sz="5400" b="1" dirty="0"/>
              <a:t>socle</a:t>
            </a:r>
            <a:r>
              <a:rPr lang="fr-FR" sz="5400" dirty="0"/>
              <a:t> sur lequel repose toute la qualité et la pérennité d’un logiciel.</a:t>
            </a:r>
          </a:p>
          <a:p>
            <a:endParaRPr lang="fr-FR" sz="5400" dirty="0"/>
          </a:p>
        </p:txBody>
      </p:sp>
      <p:pic>
        <p:nvPicPr>
          <p:cNvPr id="1026" name="Picture 2" descr="universite-assane-seck-zig-5af59 - Wincom">
            <a:extLst>
              <a:ext uri="{FF2B5EF4-FFF2-40B4-BE49-F238E27FC236}">
                <a16:creationId xmlns:a16="http://schemas.microsoft.com/office/drawing/2014/main" id="{9E8AE8ED-DFAB-1AB5-858F-07EBAF2F692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5" y="2922887"/>
            <a:ext cx="1959416" cy="4277917"/>
          </a:xfrm>
          <a:prstGeom prst="rect">
            <a:avLst/>
          </a:prstGeom>
          <a:noFill/>
          <a:extLst>
            <a:ext uri="{909E8E84-426E-40DD-AFC4-6F175D3DCCD1}">
              <a14:hiddenFill xmlns:a14="http://schemas.microsoft.com/office/drawing/2010/main">
                <a:solidFill>
                  <a:srgbClr val="FFFFFF"/>
                </a:solidFill>
              </a14:hiddenFill>
            </a:ext>
          </a:extLst>
        </p:spPr>
      </p:pic>
      <p:sp>
        <p:nvSpPr>
          <p:cNvPr id="8" name="Freeform 8">
            <a:extLst>
              <a:ext uri="{FF2B5EF4-FFF2-40B4-BE49-F238E27FC236}">
                <a16:creationId xmlns:a16="http://schemas.microsoft.com/office/drawing/2014/main" id="{9A334757-3D38-670A-36FF-E22D44CBD361}"/>
              </a:ext>
            </a:extLst>
          </p:cNvPr>
          <p:cNvSpPr/>
          <p:nvPr/>
        </p:nvSpPr>
        <p:spPr>
          <a:xfrm rot="6308718">
            <a:off x="-1185380" y="681701"/>
            <a:ext cx="3470772" cy="1530849"/>
          </a:xfrm>
          <a:custGeom>
            <a:avLst/>
            <a:gdLst/>
            <a:ahLst/>
            <a:cxnLst/>
            <a:rect l="l" t="t" r="r" b="b"/>
            <a:pathLst>
              <a:path w="5198311" h="4641244">
                <a:moveTo>
                  <a:pt x="0" y="0"/>
                </a:moveTo>
                <a:lnTo>
                  <a:pt x="5198310" y="0"/>
                </a:lnTo>
                <a:lnTo>
                  <a:pt x="5198310" y="4641244"/>
                </a:lnTo>
                <a:lnTo>
                  <a:pt x="0" y="4641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a:extLst>
              <a:ext uri="{FF2B5EF4-FFF2-40B4-BE49-F238E27FC236}">
                <a16:creationId xmlns:a16="http://schemas.microsoft.com/office/drawing/2014/main" id="{E292BED1-DA67-E644-EC1B-574EBC5AA307}"/>
              </a:ext>
            </a:extLst>
          </p:cNvPr>
          <p:cNvSpPr txBox="1"/>
          <p:nvPr/>
        </p:nvSpPr>
        <p:spPr>
          <a:xfrm>
            <a:off x="-159140" y="264187"/>
            <a:ext cx="17939234" cy="730969"/>
          </a:xfrm>
          <a:prstGeom prst="rect">
            <a:avLst/>
          </a:prstGeom>
        </p:spPr>
        <p:txBody>
          <a:bodyPr wrap="square" lIns="0" tIns="0" rIns="0" bIns="0" rtlCol="0" anchor="t">
            <a:spAutoFit/>
          </a:bodyPr>
          <a:lstStyle/>
          <a:p>
            <a:pPr algn="ctr">
              <a:lnSpc>
                <a:spcPts val="5704"/>
              </a:lnSpc>
            </a:pPr>
            <a:r>
              <a:rPr lang="fr-FR" sz="4800" kern="0" dirty="0">
                <a:latin typeface="Times New Roman" panose="02020603050405020304" pitchFamily="18" charset="0"/>
              </a:rPr>
              <a:t>EN RESUME</a:t>
            </a:r>
            <a:endParaRPr lang="en-US" sz="4800" kern="0" dirty="0">
              <a:latin typeface="Times New Roman" panose="02020603050405020304" pitchFamily="18" charset="0"/>
              <a:sym typeface="Akzidenz-Grotesk"/>
            </a:endParaRPr>
          </a:p>
        </p:txBody>
      </p:sp>
    </p:spTree>
    <p:extLst>
      <p:ext uri="{BB962C8B-B14F-4D97-AF65-F5344CB8AC3E}">
        <p14:creationId xmlns:p14="http://schemas.microsoft.com/office/powerpoint/2010/main" val="12004841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C6311920-132D-9766-94FA-76E328BCAE22}"/>
            </a:ext>
          </a:extLst>
        </p:cNvPr>
        <p:cNvGrpSpPr/>
        <p:nvPr/>
      </p:nvGrpSpPr>
      <p:grpSpPr>
        <a:xfrm>
          <a:off x="0" y="0"/>
          <a:ext cx="0" cy="0"/>
          <a:chOff x="0" y="0"/>
          <a:chExt cx="0" cy="0"/>
        </a:xfrm>
      </p:grpSpPr>
      <p:sp>
        <p:nvSpPr>
          <p:cNvPr id="21" name="Freeform 4">
            <a:extLst>
              <a:ext uri="{FF2B5EF4-FFF2-40B4-BE49-F238E27FC236}">
                <a16:creationId xmlns:a16="http://schemas.microsoft.com/office/drawing/2014/main" id="{7CED2294-752D-8F3E-E705-49F048C6DF3C}"/>
              </a:ext>
            </a:extLst>
          </p:cNvPr>
          <p:cNvSpPr/>
          <p:nvPr/>
        </p:nvSpPr>
        <p:spPr>
          <a:xfrm rot="4303617">
            <a:off x="324784" y="1212141"/>
            <a:ext cx="3833334" cy="2776856"/>
          </a:xfrm>
          <a:custGeom>
            <a:avLst/>
            <a:gdLst/>
            <a:ahLst/>
            <a:cxnLst/>
            <a:rect l="l" t="t" r="r" b="b"/>
            <a:pathLst>
              <a:path w="7085164" h="6325897">
                <a:moveTo>
                  <a:pt x="0" y="0"/>
                </a:moveTo>
                <a:lnTo>
                  <a:pt x="7085164" y="0"/>
                </a:lnTo>
                <a:lnTo>
                  <a:pt x="7085164" y="6325897"/>
                </a:lnTo>
                <a:lnTo>
                  <a:pt x="0" y="63258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2" name="TextBox 8">
            <a:extLst>
              <a:ext uri="{FF2B5EF4-FFF2-40B4-BE49-F238E27FC236}">
                <a16:creationId xmlns:a16="http://schemas.microsoft.com/office/drawing/2014/main" id="{DFC837B6-EB9B-4C60-5B99-9A538796A854}"/>
              </a:ext>
            </a:extLst>
          </p:cNvPr>
          <p:cNvSpPr txBox="1"/>
          <p:nvPr/>
        </p:nvSpPr>
        <p:spPr>
          <a:xfrm>
            <a:off x="7947926" y="2429523"/>
            <a:ext cx="4266282" cy="835887"/>
          </a:xfrm>
          <a:prstGeom prst="rect">
            <a:avLst/>
          </a:prstGeom>
        </p:spPr>
        <p:txBody>
          <a:bodyPr lIns="0" tIns="0" rIns="0" bIns="0" rtlCol="0" anchor="t">
            <a:spAutoFit/>
          </a:bodyPr>
          <a:lstStyle/>
          <a:p>
            <a:pPr algn="ctr">
              <a:lnSpc>
                <a:spcPts val="6251"/>
              </a:lnSpc>
            </a:pPr>
            <a:r>
              <a:rPr lang="en-US" sz="6069" b="1" dirty="0">
                <a:solidFill>
                  <a:srgbClr val="000000"/>
                </a:solidFill>
                <a:latin typeface="Neue Machina Ultra-Bold"/>
                <a:ea typeface="Neue Machina Ultra-Bold"/>
                <a:cs typeface="Neue Machina Ultra-Bold"/>
                <a:sym typeface="Neue Machina Ultra-Bold"/>
              </a:rPr>
              <a:t>MERCI</a:t>
            </a:r>
          </a:p>
        </p:txBody>
      </p:sp>
      <p:sp>
        <p:nvSpPr>
          <p:cNvPr id="23" name="Freeform 18">
            <a:extLst>
              <a:ext uri="{FF2B5EF4-FFF2-40B4-BE49-F238E27FC236}">
                <a16:creationId xmlns:a16="http://schemas.microsoft.com/office/drawing/2014/main" id="{F1DF4ED8-1C24-350C-7596-AD18DA2EB20B}"/>
              </a:ext>
            </a:extLst>
          </p:cNvPr>
          <p:cNvSpPr/>
          <p:nvPr/>
        </p:nvSpPr>
        <p:spPr>
          <a:xfrm rot="2807232">
            <a:off x="11897451" y="352843"/>
            <a:ext cx="6236818" cy="8416774"/>
          </a:xfrm>
          <a:custGeom>
            <a:avLst/>
            <a:gdLst/>
            <a:ahLst/>
            <a:cxnLst/>
            <a:rect l="l" t="t" r="r" b="b"/>
            <a:pathLst>
              <a:path w="9505647" h="7669422">
                <a:moveTo>
                  <a:pt x="0" y="0"/>
                </a:moveTo>
                <a:lnTo>
                  <a:pt x="9505647" y="0"/>
                </a:lnTo>
                <a:lnTo>
                  <a:pt x="9505647" y="7669422"/>
                </a:lnTo>
                <a:lnTo>
                  <a:pt x="0" y="766942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24" name="Group 2">
            <a:extLst>
              <a:ext uri="{FF2B5EF4-FFF2-40B4-BE49-F238E27FC236}">
                <a16:creationId xmlns:a16="http://schemas.microsoft.com/office/drawing/2014/main" id="{2A6F2A5E-A32F-5029-D1D4-892823878A9A}"/>
              </a:ext>
            </a:extLst>
          </p:cNvPr>
          <p:cNvGrpSpPr/>
          <p:nvPr/>
        </p:nvGrpSpPr>
        <p:grpSpPr>
          <a:xfrm>
            <a:off x="4670867" y="3955250"/>
            <a:ext cx="10820400" cy="3050066"/>
            <a:chOff x="0" y="0"/>
            <a:chExt cx="2272929" cy="1645889"/>
          </a:xfrm>
        </p:grpSpPr>
        <p:sp>
          <p:nvSpPr>
            <p:cNvPr id="25" name="TextBox 4">
              <a:extLst>
                <a:ext uri="{FF2B5EF4-FFF2-40B4-BE49-F238E27FC236}">
                  <a16:creationId xmlns:a16="http://schemas.microsoft.com/office/drawing/2014/main" id="{4D1FAC6A-062E-3798-72F0-E6748EEC6735}"/>
                </a:ext>
              </a:extLst>
            </p:cNvPr>
            <p:cNvSpPr txBox="1"/>
            <p:nvPr/>
          </p:nvSpPr>
          <p:spPr>
            <a:xfrm>
              <a:off x="0" y="-76200"/>
              <a:ext cx="2272929" cy="1722089"/>
            </a:xfrm>
            <a:prstGeom prst="rect">
              <a:avLst/>
            </a:prstGeom>
          </p:spPr>
          <p:txBody>
            <a:bodyPr lIns="50800" tIns="50800" rIns="50800" bIns="50800" rtlCol="0" anchor="ctr"/>
            <a:lstStyle/>
            <a:p>
              <a:pPr algn="ctr">
                <a:lnSpc>
                  <a:spcPts val="2660"/>
                </a:lnSpc>
              </a:pPr>
              <a:endParaRPr/>
            </a:p>
          </p:txBody>
        </p:sp>
        <p:sp>
          <p:nvSpPr>
            <p:cNvPr id="26" name="Freeform 3">
              <a:extLst>
                <a:ext uri="{FF2B5EF4-FFF2-40B4-BE49-F238E27FC236}">
                  <a16:creationId xmlns:a16="http://schemas.microsoft.com/office/drawing/2014/main" id="{9F5274E9-FC9B-80C5-80AF-6FAC23EC96C8}"/>
                </a:ext>
              </a:extLst>
            </p:cNvPr>
            <p:cNvSpPr/>
            <p:nvPr/>
          </p:nvSpPr>
          <p:spPr>
            <a:xfrm>
              <a:off x="0" y="0"/>
              <a:ext cx="2272929" cy="1645889"/>
            </a:xfrm>
            <a:custGeom>
              <a:avLst/>
              <a:gdLst/>
              <a:ahLst/>
              <a:cxnLst/>
              <a:rect l="l" t="t" r="r" b="b"/>
              <a:pathLst>
                <a:path w="2272929" h="1645889">
                  <a:moveTo>
                    <a:pt x="0" y="0"/>
                  </a:moveTo>
                  <a:lnTo>
                    <a:pt x="2272929" y="0"/>
                  </a:lnTo>
                  <a:lnTo>
                    <a:pt x="2272929" y="1645889"/>
                  </a:lnTo>
                  <a:lnTo>
                    <a:pt x="0" y="1645889"/>
                  </a:lnTo>
                  <a:close/>
                </a:path>
              </a:pathLst>
            </a:custGeom>
            <a:solidFill>
              <a:srgbClr val="FFFFFF"/>
            </a:solidFill>
            <a:ln w="19050" cap="sq">
              <a:solidFill>
                <a:srgbClr val="000000"/>
              </a:solidFill>
              <a:prstDash val="solid"/>
              <a:miter/>
            </a:ln>
          </p:spPr>
        </p:sp>
      </p:grpSp>
      <p:pic>
        <p:nvPicPr>
          <p:cNvPr id="27" name="Picture 2" descr="universite-assane-seck-zig-5af59 - Wincom">
            <a:extLst>
              <a:ext uri="{FF2B5EF4-FFF2-40B4-BE49-F238E27FC236}">
                <a16:creationId xmlns:a16="http://schemas.microsoft.com/office/drawing/2014/main" id="{65D6DB2E-4459-A196-EBC6-B45AA6F879B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0385" y="4700887"/>
            <a:ext cx="1273615" cy="2525413"/>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9">
            <a:extLst>
              <a:ext uri="{FF2B5EF4-FFF2-40B4-BE49-F238E27FC236}">
                <a16:creationId xmlns:a16="http://schemas.microsoft.com/office/drawing/2014/main" id="{1839AE76-7EFC-7C88-91B9-D0D9FA00FED8}"/>
              </a:ext>
            </a:extLst>
          </p:cNvPr>
          <p:cNvSpPr txBox="1"/>
          <p:nvPr/>
        </p:nvSpPr>
        <p:spPr>
          <a:xfrm>
            <a:off x="5486696" y="4855919"/>
            <a:ext cx="8228427" cy="738664"/>
          </a:xfrm>
          <a:prstGeom prst="rect">
            <a:avLst/>
          </a:prstGeom>
        </p:spPr>
        <p:txBody>
          <a:bodyPr wrap="square" lIns="0" tIns="0" rIns="0" bIns="0" rtlCol="0" anchor="t">
            <a:spAutoFit/>
          </a:bodyPr>
          <a:lstStyle/>
          <a:p>
            <a:pPr lvl="1"/>
            <a:r>
              <a:rPr lang="fr-FR" sz="4800" b="1" dirty="0"/>
              <a:t>POUR LA PROCHAINE ETAPE</a:t>
            </a:r>
            <a:endParaRPr lang="en-US" sz="2602" dirty="0">
              <a:solidFill>
                <a:srgbClr val="000000"/>
              </a:solidFill>
              <a:latin typeface="Akzidenz-Grotesk"/>
              <a:ea typeface="Akzidenz-Grotesk"/>
              <a:cs typeface="Akzidenz-Grotesk"/>
              <a:sym typeface="Akzidenz-Grotesk"/>
            </a:endParaRPr>
          </a:p>
        </p:txBody>
      </p:sp>
    </p:spTree>
    <p:extLst>
      <p:ext uri="{BB962C8B-B14F-4D97-AF65-F5344CB8AC3E}">
        <p14:creationId xmlns:p14="http://schemas.microsoft.com/office/powerpoint/2010/main" val="5122900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1297</TotalTime>
  <Words>994</Words>
  <Application>Microsoft Macintosh PowerPoint</Application>
  <PresentationFormat>Personnalisé</PresentationFormat>
  <Paragraphs>151</Paragraphs>
  <Slides>22</Slides>
  <Notes>22</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22</vt:i4>
      </vt:variant>
    </vt:vector>
  </HeadingPairs>
  <TitlesOfParts>
    <vt:vector size="29" baseType="lpstr">
      <vt:lpstr>Neue Machina Ultra-Bold</vt:lpstr>
      <vt:lpstr>Arial</vt:lpstr>
      <vt:lpstr>Times New Roman</vt:lpstr>
      <vt:lpstr>Calibri</vt:lpstr>
      <vt:lpstr>Wingdings</vt:lpstr>
      <vt:lpstr>Akzidenz-Grotesk</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Entreprise Présentation  Minimaliste Organique Noir Beige </dc:title>
  <cp:lastModifiedBy>Microsoft Office User</cp:lastModifiedBy>
  <cp:revision>9</cp:revision>
  <dcterms:created xsi:type="dcterms:W3CDTF">2006-08-16T00:00:00Z</dcterms:created>
  <dcterms:modified xsi:type="dcterms:W3CDTF">2025-10-16T19:02:48Z</dcterms:modified>
  <dc:identifier>DAGyTjyv83I</dc:identifier>
</cp:coreProperties>
</file>